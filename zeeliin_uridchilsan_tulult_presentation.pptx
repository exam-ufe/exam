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05156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Зээлийг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хугацаанаас өмнө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төлөх нөхцөл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12648" y="3035808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0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Банкны эх үүсвэр, ашигт ажиллагаа, эрх зүйн орчин болон олон улсын практикт суурилсан санал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12648" y="58978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0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оны 10 сар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46520" y="11155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8D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 асуудал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15087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Харилцагч зээлээ хугацаанаас өмнө хаах үед эх үүсвэрийг мөн буцааж чаддаггүй бол банк үлдсэн хугацааны funding cost-ийг өөрөө даах эрсдэлтэй.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446520" y="2971800"/>
            <a:ext cx="1508760" cy="978408"/>
          </a:xfrm>
          <a:prstGeom prst="rect">
            <a:avLst/>
          </a:prstGeom>
          <a:solidFill>
            <a:srgbClr val="EAF3FF"/>
          </a:solidFill>
          <a:ln w="12700">
            <a:solidFill>
              <a:srgbClr val="D0D5D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03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Нийт төлсөн
</a:t>
            </a:r>
            <a:pPr indent="0" marL="0">
              <a:buNone/>
            </a:pPr>
            <a:r>
              <a:rPr lang="en-US" sz="2400" b="1" dirty="0">
                <a:solidFill>
                  <a:srgbClr val="0B6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436
</a:t>
            </a:r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харилцагч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174736" y="2971800"/>
            <a:ext cx="1508760" cy="978408"/>
          </a:xfrm>
          <a:prstGeom prst="rect">
            <a:avLst/>
          </a:prstGeom>
          <a:solidFill>
            <a:srgbClr val="EAF3FF"/>
          </a:solidFill>
          <a:ln w="12700">
            <a:solidFill>
              <a:srgbClr val="D0D5D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03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Урт хугацаа
</a:t>
            </a:r>
            <a:pPr indent="0" marL="0">
              <a:buNone/>
            </a:pPr>
            <a:r>
              <a:rPr lang="en-US" sz="2400" b="1" dirty="0">
                <a:solidFill>
                  <a:srgbClr val="0B6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416
</a:t>
            </a:r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харилцагч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902952" y="2971800"/>
            <a:ext cx="1508760" cy="978408"/>
          </a:xfrm>
          <a:prstGeom prst="rect">
            <a:avLst/>
          </a:prstGeom>
          <a:solidFill>
            <a:srgbClr val="E9F7F2"/>
          </a:solidFill>
          <a:ln w="12700">
            <a:solidFill>
              <a:srgbClr val="D0D5D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03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DFC эх үүсвэр
</a:t>
            </a:r>
            <a:pPr indent="0" marL="0">
              <a:buNone/>
            </a:pPr>
            <a:r>
              <a:rPr lang="en-US" sz="2400" b="1" dirty="0">
                <a:solidFill>
                  <a:srgbClr val="0F8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
</a:t>
            </a:r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харилцагч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46520" y="47548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0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Танилцуулгын чиглэл: бүх бүтээгдэхүүнээс эхлээд зөвхөн эрсдэл үүсгэж буй эх үүсвэртэй бүтээгдэхүүнийг ялгана.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11384280" y="635508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D0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0424160" cy="402336"/>
          </a:xfrm>
          <a:prstGeom prst="rect">
            <a:avLst/>
          </a:prstGeom>
          <a:solidFill>
            <a:srgbClr val="003057"/>
          </a:solidFill>
          <a:ln>
            <a:solidFill>
              <a:srgbClr val="00305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Банкны нийт бүтээгдэхүүнээс эрсдэлтэй хүрээг ялгах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365992" y="6446520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Алхам 1: нийт зээлийн бүтээгдэхүүнийг хугацаа, хүүгийн төрөл, эх үүсвэр, харилцагчийн сегментээр ангилж, 24 сараас дээш хугацаатай бүтээгдэхүүнийг эхний хүрээ болгоно.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03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Нийт бүтээгдэхүүн
</a:t>
            </a:r>
            <a:pPr indent="0" marL="0">
              <a:buNone/>
            </a:pPr>
            <a:r>
              <a:rPr lang="en-US" sz="2400" b="1" dirty="0">
                <a:solidFill>
                  <a:srgbClr val="003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
</a:t>
            </a:r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бүтээгдэхүүн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88920" y="1572768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03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сараас дээш
</a:t>
            </a:r>
            <a:pPr indent="0" marL="0">
              <a:buNone/>
            </a:pPr>
            <a:r>
              <a:rPr lang="en-US" sz="2400" b="1" dirty="0">
                <a:solidFill>
                  <a:srgbClr val="0B6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
</a:t>
            </a:r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бүтээгдэхүүн / XX%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4920" y="1572768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03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Гадаад эх үүсвэртэй
</a:t>
            </a:r>
            <a:pPr indent="0" marL="0">
              <a:buNone/>
            </a:pPr>
            <a:r>
              <a:rPr lang="en-US" sz="2400" b="1" dirty="0">
                <a:solidFill>
                  <a:srgbClr val="0F8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
</a:t>
            </a:r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бүтээгдэхүүн / XX%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60920" y="1572768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03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funding
</a:t>
            </a:r>
            <a:pPr indent="0" marL="0">
              <a:buNone/>
            </a:pPr>
            <a:r>
              <a:rPr lang="en-US" sz="24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
</a:t>
            </a:r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буцаах боломжгүй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29800" y="16002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03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Шүүлт хийх логик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829800" y="1883664"/>
            <a:ext cx="1508760" cy="24688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6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24+ сар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9829800" y="2148840"/>
            <a:ext cx="1508760" cy="24688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6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гадаад эх үүсвэр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9829800" y="2414016"/>
            <a:ext cx="1508760" cy="24688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6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тогтмол/бага хүү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9829800" y="2679192"/>
            <a:ext cx="1508760" cy="246888"/>
          </a:xfrm>
          <a:prstGeom prst="rect">
            <a:avLst/>
          </a:prstGeom>
          <a:solidFill>
            <a:srgbClr val="FDECEC"/>
          </a:solidFill>
          <a:ln>
            <a:solidFill>
              <a:srgbClr val="FDECEC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буцаах боломжгүй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502920" y="2880360"/>
            <a:ext cx="405994" cy="387706"/>
          </a:xfrm>
          <a:prstGeom prst="rect">
            <a:avLst/>
          </a:prstGeom>
          <a:solidFill>
            <a:srgbClr val="003057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914400" y="2880360"/>
            <a:ext cx="2417674" cy="387706"/>
          </a:xfrm>
          <a:prstGeom prst="rect">
            <a:avLst/>
          </a:prstGeom>
          <a:solidFill>
            <a:srgbClr val="003057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Бүтээгдэхүүний бүлэг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3337560" y="2880360"/>
            <a:ext cx="1320394" cy="387706"/>
          </a:xfrm>
          <a:prstGeom prst="rect">
            <a:avLst/>
          </a:prstGeom>
          <a:solidFill>
            <a:srgbClr val="003057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Хугацаа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4663440" y="2880360"/>
            <a:ext cx="1640434" cy="387706"/>
          </a:xfrm>
          <a:prstGeom prst="rect">
            <a:avLst/>
          </a:prstGeom>
          <a:solidFill>
            <a:srgbClr val="003057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Хүүгийн төрөл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6309360" y="2880360"/>
            <a:ext cx="1320394" cy="387706"/>
          </a:xfrm>
          <a:prstGeom prst="rect">
            <a:avLst/>
          </a:prstGeom>
          <a:solidFill>
            <a:srgbClr val="003057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үүсвэр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7635240" y="2880360"/>
            <a:ext cx="1137514" cy="387706"/>
          </a:xfrm>
          <a:prstGeom prst="rect">
            <a:avLst/>
          </a:prstGeom>
          <a:solidFill>
            <a:srgbClr val="003057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Харилцагч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502920" y="3273552"/>
            <a:ext cx="40599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14400" y="3273552"/>
            <a:ext cx="241767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Ипотекийн зээл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37560" y="3273552"/>
            <a:ext cx="132039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 жил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63440" y="3273552"/>
            <a:ext cx="164043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Тогтмол/хувьсах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09360" y="3273552"/>
            <a:ext cx="132039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Дотоод/гадаад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635240" y="3273552"/>
            <a:ext cx="113751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Иргэн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" y="3666744"/>
            <a:ext cx="40599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14400" y="3666744"/>
            <a:ext cx="241767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Бизнесийн зээл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37560" y="3666744"/>
            <a:ext cx="132039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5–10 жил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63440" y="3666744"/>
            <a:ext cx="164043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Тогтмол/хувьсах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09360" y="3666744"/>
            <a:ext cx="132039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Гадаад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635240" y="3666744"/>
            <a:ext cx="113751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ААН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4059936"/>
            <a:ext cx="40599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14400" y="4059936"/>
            <a:ext cx="241767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Төслийн санхүүжилт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37560" y="4059936"/>
            <a:ext cx="132039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 жил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3440" y="4059936"/>
            <a:ext cx="164043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Тогтмол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09360" y="4059936"/>
            <a:ext cx="132039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Гадаад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635240" y="4059936"/>
            <a:ext cx="113751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ААН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2920" y="4453128"/>
            <a:ext cx="40599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14400" y="4453128"/>
            <a:ext cx="241767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Ногоон зээл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37560" y="4453128"/>
            <a:ext cx="132039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5–15 жил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663440" y="4453128"/>
            <a:ext cx="164043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Тогтмол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309360" y="4453128"/>
            <a:ext cx="132039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Гадаад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635240" y="4453128"/>
            <a:ext cx="113751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ААН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2920" y="4846320"/>
            <a:ext cx="40599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914400" y="4846320"/>
            <a:ext cx="241767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Эргэлтийн хөрөнгө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337560" y="4846320"/>
            <a:ext cx="132039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жил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663440" y="4846320"/>
            <a:ext cx="164043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Хувьсах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309360" y="4846320"/>
            <a:ext cx="132039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Дотоод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635240" y="4846320"/>
            <a:ext cx="113751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ААН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02920" y="5239512"/>
            <a:ext cx="40599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914400" y="5239512"/>
            <a:ext cx="241767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Синдикат зээл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337560" y="5239512"/>
            <a:ext cx="132039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5–15 жил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663440" y="5239512"/>
            <a:ext cx="164043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Тогтмол/хувьсах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309360" y="5239512"/>
            <a:ext cx="132039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Гадаад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635240" y="5239512"/>
            <a:ext cx="113751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ААН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11480" y="6446520"/>
            <a:ext cx="78638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Тэмдэглэл: хүснэгт нь бүтээгдэхүүн ангилах загвар; эцсийн жагсаалтыг банкны бүтээгдэхүүний нөхцлөөр баталгаажуулна.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0424160" cy="402336"/>
          </a:xfrm>
          <a:prstGeom prst="rect">
            <a:avLst/>
          </a:prstGeom>
          <a:solidFill>
            <a:srgbClr val="003057"/>
          </a:solidFill>
          <a:ln>
            <a:solidFill>
              <a:srgbClr val="00305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Гадаад эх үүсвэртэй зээлийг эх үүсвэрийн нөхцлөөр ангилах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365992" y="6446520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Гадаад эх үүсвэртэй зээл бүр ижил эрсдэлтэй биш. Эрсдэл нь эх үүсвэрийг буцаах боломж, notice period, break cost болон дахин байршуулалтын боломж дээр төвлөрнө.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394960" cy="1691640"/>
          </a:xfrm>
          <a:prstGeom prst="rect">
            <a:avLst/>
          </a:prstGeom>
          <a:solidFill>
            <a:srgbClr val="E9F7F2"/>
          </a:solidFill>
          <a:ln>
            <a:solidFill>
              <a:srgbClr val="0F8B6F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8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Буцаах боломжтой эх үүсвэр
</a:t>
            </a:r>
            <a:pPr indent="0" marL="0">
              <a:buNone/>
            </a:pPr>
            <a:r>
              <a:rPr lang="en-US" sz="92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Харилцагчийн үндсэн төлөлттэй уялдуулан source repayment хийх боломжтой</a:t>
            </a:r>
            <a:endParaRPr lang="en-US" sz="1300" dirty="0"/>
          </a:p>
          <a:p>
            <a:pPr indent="0" marL="0">
              <a:buNone/>
            </a:pPr>
            <a:r>
              <a:rPr lang="en-US" sz="92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Банкны үлдэгдэл funding cost бага</a:t>
            </a:r>
            <a:endParaRPr lang="en-US" sz="1300" dirty="0"/>
          </a:p>
          <a:p>
            <a:pPr indent="0" marL="0">
              <a:buNone/>
            </a:pPr>
            <a:r>
              <a:rPr lang="en-US" sz="92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Prepayment fee шаардлага бага; notice period хангалттай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63640" y="1572768"/>
            <a:ext cx="5394960" cy="1691640"/>
          </a:xfrm>
          <a:prstGeom prst="rect">
            <a:avLst/>
          </a:prstGeom>
          <a:solidFill>
            <a:srgbClr val="FDECEC"/>
          </a:solidFill>
          <a:ln>
            <a:solidFill>
              <a:srgbClr val="D92D20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Буцаах боломжгүй / хугацаатай эх үүсвэр
</a:t>
            </a:r>
            <a:pPr indent="0" marL="0">
              <a:buNone/>
            </a:pPr>
            <a:r>
              <a:rPr lang="en-US" sz="92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Эх үүсвэрийн гэрээ хүчинтэй хэвээр; банк хүүгийн зардлаа үргэлжлүүлэн төлнө</a:t>
            </a:r>
            <a:endParaRPr lang="en-US" sz="1300" dirty="0"/>
          </a:p>
          <a:p>
            <a:pPr indent="0" marL="0">
              <a:buNone/>
            </a:pPr>
            <a:r>
              <a:rPr lang="en-US" sz="92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Дахин байршуулалт хийхгүй бол negative carry үүснэ</a:t>
            </a:r>
            <a:endParaRPr lang="en-US" sz="1300" dirty="0"/>
          </a:p>
          <a:p>
            <a:pPr indent="0" marL="0">
              <a:buNone/>
            </a:pPr>
            <a:r>
              <a:rPr lang="en-US" sz="92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Break cost / prepayment fee шаардах үндэслэл өндөр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657600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3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Эрсдэлийн матриц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950208"/>
            <a:ext cx="1828800" cy="0"/>
          </a:xfrm>
          <a:prstGeom prst="line">
            <a:avLst/>
          </a:prstGeom>
          <a:noFill/>
          <a:ln w="16510">
            <a:solidFill>
              <a:srgbClr val="0030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069080"/>
            <a:ext cx="2143354" cy="387706"/>
          </a:xfrm>
          <a:prstGeom prst="rect">
            <a:avLst/>
          </a:prstGeom>
          <a:solidFill>
            <a:srgbClr val="003057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Бүтээгдэхүүн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2651760" y="4069080"/>
            <a:ext cx="1503274" cy="387706"/>
          </a:xfrm>
          <a:prstGeom prst="rect">
            <a:avLst/>
          </a:prstGeom>
          <a:solidFill>
            <a:srgbClr val="003057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үүсвэрийн хугацаа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4160520" y="4069080"/>
            <a:ext cx="1640434" cy="387706"/>
          </a:xfrm>
          <a:prstGeom prst="rect">
            <a:avLst/>
          </a:prstGeom>
          <a:solidFill>
            <a:srgbClr val="003057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Буцаах боломж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5806440" y="4069080"/>
            <a:ext cx="1000354" cy="387706"/>
          </a:xfrm>
          <a:prstGeom prst="rect">
            <a:avLst/>
          </a:prstGeom>
          <a:solidFill>
            <a:srgbClr val="003057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Эрсдэл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6812280" y="4069080"/>
            <a:ext cx="1914754" cy="387706"/>
          </a:xfrm>
          <a:prstGeom prst="rect">
            <a:avLst/>
          </a:prstGeom>
          <a:solidFill>
            <a:srgbClr val="003057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Санал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502920" y="4462272"/>
            <a:ext cx="214335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Төслийн санхүүжилт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651760" y="4462272"/>
            <a:ext cx="150327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 жил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60520" y="4462272"/>
            <a:ext cx="164043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Үгүй / хязгаартай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806440" y="4462272"/>
            <a:ext cx="100035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Өндөр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12280" y="4462272"/>
            <a:ext cx="191475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Lock-in + break cost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" y="4855464"/>
            <a:ext cx="214335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Ногоон зээл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51760" y="4855464"/>
            <a:ext cx="150327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5–15 жил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60520" y="4855464"/>
            <a:ext cx="164043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Нөхцөлтэй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806440" y="4855464"/>
            <a:ext cx="100035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Дунд–өндөр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12280" y="4855464"/>
            <a:ext cx="191475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Penalty-free cap + fee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5248656"/>
            <a:ext cx="214335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Синдикат зээл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651760" y="5248656"/>
            <a:ext cx="150327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5–15 жил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60520" y="5248656"/>
            <a:ext cx="164043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Үгүй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06440" y="5248656"/>
            <a:ext cx="100035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Өндөр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12280" y="5248656"/>
            <a:ext cx="1914754" cy="3877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 consent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2920" y="5641848"/>
            <a:ext cx="214335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Богино хугацаат бизнес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651760" y="5641848"/>
            <a:ext cx="150327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жил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160520" y="5641848"/>
            <a:ext cx="164043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Тийм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806440" y="5641848"/>
            <a:ext cx="100035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Бага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12280" y="5641848"/>
            <a:ext cx="1914754" cy="3877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period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11480" y="6446520"/>
            <a:ext cx="78638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 санаа: “гадаад эх үүсвэртэй” гэдгээс илүү “буцаах боломжгүй, өртөгтэй эх үүсвэртэй” хэсгийг ялгана.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0424160" cy="402336"/>
          </a:xfrm>
          <a:prstGeom prst="rect">
            <a:avLst/>
          </a:prstGeom>
          <a:solidFill>
            <a:srgbClr val="003057"/>
          </a:solidFill>
          <a:ln>
            <a:solidFill>
              <a:srgbClr val="00305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Банкинд үүсэх алдагдлын жишээ тооцоолол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365992" y="6446520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Жишээ: харилцагч 20 жилийн зээлийг 15 дахь жилдээ бүрэн хаасан. Зээлийн хүүгийн орлого зогсоно, харин эх үүсвэрийг хугацаанаас өмнө буцаах боломжгүй бол үлдсэн 5 жилийн зардал банкинд үлдэнэ.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704088" y="1847088"/>
            <a:ext cx="274320" cy="274320"/>
          </a:xfrm>
          <a:prstGeom prst="rect">
            <a:avLst/>
          </a:prstGeom>
          <a:solidFill>
            <a:srgbClr val="0B65C2"/>
          </a:solidFill>
          <a:ln>
            <a:solidFill>
              <a:srgbClr val="0B65C2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2514600" cy="914400"/>
          </a:xfrm>
          <a:prstGeom prst="rect">
            <a:avLst/>
          </a:prstGeom>
          <a:solidFill>
            <a:srgbClr val="EAF3FF"/>
          </a:solidFill>
          <a:ln>
            <a:solidFill>
              <a:srgbClr val="D6E2EF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6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үүсвэр
</a:t>
            </a:r>
            <a:pPr indent="0" marL="0">
              <a:buNone/>
            </a:pPr>
            <a:r>
              <a:rPr lang="en-US" sz="84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жил, 3% өртөгтэй гадаад funding татсан.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47288" y="1847088"/>
            <a:ext cx="274320" cy="274320"/>
          </a:xfrm>
          <a:prstGeom prst="rect">
            <a:avLst/>
          </a:prstGeom>
          <a:solidFill>
            <a:srgbClr val="0F8B6F"/>
          </a:solidFill>
          <a:ln>
            <a:solidFill>
              <a:srgbClr val="0F8B6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37560" y="1737360"/>
            <a:ext cx="2514600" cy="914400"/>
          </a:xfrm>
          <a:prstGeom prst="rect">
            <a:avLst/>
          </a:prstGeom>
          <a:solidFill>
            <a:srgbClr val="E9F7F2"/>
          </a:solidFill>
          <a:ln>
            <a:solidFill>
              <a:srgbClr val="D6E2EF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8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Зээл олголт
</a:t>
            </a:r>
            <a:pPr indent="0" marL="0">
              <a:buNone/>
            </a:pPr>
            <a:r>
              <a:rPr lang="en-US" sz="84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жил, 7% хүүтэй урт хугацааны зээл олгосон.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90488" y="1847088"/>
            <a:ext cx="274320" cy="274320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80760" y="1737360"/>
            <a:ext cx="2514600" cy="914400"/>
          </a:xfrm>
          <a:prstGeom prst="rect">
            <a:avLst/>
          </a:prstGeom>
          <a:solidFill>
            <a:srgbClr val="FDECEC"/>
          </a:solidFill>
          <a:ln>
            <a:solidFill>
              <a:srgbClr val="D6E2EF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Урьдчилсан хаалт
</a:t>
            </a:r>
            <a:pPr indent="0" marL="0">
              <a:buNone/>
            </a:pPr>
            <a:r>
              <a:rPr lang="en-US" sz="84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дахь жилд харилцагч зээлээ бүрэн хаасан.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933688" y="1847088"/>
            <a:ext cx="274320" cy="274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23960" y="1737360"/>
            <a:ext cx="2514600" cy="914400"/>
          </a:xfrm>
          <a:prstGeom prst="rect">
            <a:avLst/>
          </a:prstGeom>
          <a:solidFill>
            <a:srgbClr val="FFF4DF"/>
          </a:solidFill>
          <a:ln>
            <a:solidFill>
              <a:srgbClr val="D6E2EF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Үлдсэн эрсдэл
</a:t>
            </a:r>
            <a:pPr indent="0" marL="0">
              <a:buNone/>
            </a:pPr>
            <a:r>
              <a:rPr lang="en-US" sz="84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үүсвэр 5 жил үлдэж, банк funding cost төлнө.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017520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3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Алдагдлын томъёо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310128"/>
            <a:ext cx="2011680" cy="0"/>
          </a:xfrm>
          <a:prstGeom prst="line">
            <a:avLst/>
          </a:prstGeom>
          <a:noFill/>
          <a:ln w="16510">
            <a:solidFill>
              <a:srgbClr val="0030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429000"/>
            <a:ext cx="5166360" cy="640080"/>
          </a:xfrm>
          <a:prstGeom prst="rect">
            <a:avLst/>
          </a:prstGeom>
          <a:solidFill>
            <a:srgbClr val="FFF4DF"/>
          </a:solidFill>
          <a:ln>
            <a:solidFill>
              <a:srgbClr val="FEE0A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Алдагдал = Үлдсэн эх үүсвэр × (Funding cost – дахин байршуулалтын өгөөж) × үлдсэн хугацаа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4343400"/>
            <a:ext cx="2966314" cy="305410"/>
          </a:xfrm>
          <a:prstGeom prst="rect">
            <a:avLst/>
          </a:prstGeom>
          <a:solidFill>
            <a:srgbClr val="003057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Үзүүлэлт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3566160" y="4343400"/>
            <a:ext cx="1823314" cy="305410"/>
          </a:xfrm>
          <a:prstGeom prst="rect">
            <a:avLst/>
          </a:prstGeom>
          <a:solidFill>
            <a:srgbClr val="003057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Жишээ утга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94360" y="4654296"/>
            <a:ext cx="2966314" cy="305410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Үлдсэн эх үүсвэр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566160" y="4654296"/>
            <a:ext cx="1823314" cy="305410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тэрбум ₮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4360" y="4965192"/>
            <a:ext cx="2966314" cy="305410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үүсвэрийн өртөг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566160" y="4965192"/>
            <a:ext cx="1823314" cy="305410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4360" y="5276088"/>
            <a:ext cx="2966314" cy="305410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Боломжит дахин байршуулалт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566160" y="5276088"/>
            <a:ext cx="1823314" cy="305410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4360" y="5586984"/>
            <a:ext cx="2966314" cy="305410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Үлдсэн хугацаа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566160" y="5586984"/>
            <a:ext cx="1823314" cy="305410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жил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94360" y="5897880"/>
            <a:ext cx="2966314" cy="305410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Банкны боломжит алдагдал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66160" y="5897880"/>
            <a:ext cx="1823314" cy="305410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~10.0 тэрбум ₮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63640" y="3017520"/>
            <a:ext cx="3200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3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Портфелийн датагаар харах жишээ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3310128"/>
            <a:ext cx="3200400" cy="0"/>
          </a:xfrm>
          <a:prstGeom prst="line">
            <a:avLst/>
          </a:prstGeom>
          <a:noFill/>
          <a:ln w="16510">
            <a:solidFill>
              <a:srgbClr val="0030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3429000"/>
            <a:ext cx="4892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файлд 383 харилцагчийн чөлөөлөгдсөн эх үүсвэр ~94.2 тэрбум ₮, дахин байршуулалт хийгдээгүй үеийн тооцоолсон алдагдал ~47.2 тэрбум ₮ гэж тусгасан.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6263640" y="4434840"/>
            <a:ext cx="2103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03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Чөлөөлөгдсөн эх үүсвэр
</a:t>
            </a:r>
            <a:pPr indent="0" marL="0">
              <a:buNone/>
            </a:pPr>
            <a:r>
              <a:rPr lang="en-US" sz="2400" b="1" dirty="0">
                <a:solidFill>
                  <a:srgbClr val="0B6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94.2
</a:t>
            </a:r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тэрбум ₮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732520" y="4434840"/>
            <a:ext cx="2103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03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Тооцоолсон алдагдал
</a:t>
            </a:r>
            <a:pPr indent="0" marL="0">
              <a:buNone/>
            </a:pPr>
            <a:r>
              <a:rPr lang="en-US" sz="24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47.2
</a:t>
            </a:r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тэрбум ₮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1480" y="6446520"/>
            <a:ext cx="78638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Тайлбар: тооцоо нь дахин байршуулалт хийгдээгүй, эх үүсвэр хугацаанаас өмнө буцаагдаагүй нөхцөлд суурилсан жишээ.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0424160" cy="402336"/>
          </a:xfrm>
          <a:prstGeom prst="rect">
            <a:avLst/>
          </a:prstGeom>
          <a:solidFill>
            <a:srgbClr val="003057"/>
          </a:solidFill>
          <a:ln>
            <a:solidFill>
              <a:srgbClr val="00305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Олон улсын практик: “торгууль” бус funding loss нөхөх механизм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365992" y="6446520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Олон улсын практикт урьдчилсан төлөлтийг хязгаарлахдаа бүх зээлд ижил хориг тавихаас илүү эх үүсвэрийн өртөг, зээлийн хугацаа, бүтээгдэхүүний шинж чанартай уялдуулсан нөхөн төлбөрийн механизмыг хэрэглэдэг.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1640434" cy="616306"/>
          </a:xfrm>
          <a:prstGeom prst="rect">
            <a:avLst/>
          </a:prstGeom>
          <a:solidFill>
            <a:srgbClr val="003057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Улс / байгууллага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2148840" y="1600200"/>
            <a:ext cx="1823314" cy="616306"/>
          </a:xfrm>
          <a:prstGeom prst="rect">
            <a:avLst/>
          </a:prstGeom>
          <a:solidFill>
            <a:srgbClr val="003057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Зээлийн төрөл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3977640" y="1600200"/>
            <a:ext cx="4337914" cy="616306"/>
          </a:xfrm>
          <a:prstGeom prst="rect">
            <a:avLst/>
          </a:prstGeom>
          <a:solidFill>
            <a:srgbClr val="003057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 нөхцөл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8321040" y="1600200"/>
            <a:ext cx="1914754" cy="616306"/>
          </a:xfrm>
          <a:prstGeom prst="rect">
            <a:avLst/>
          </a:prstGeom>
          <a:solidFill>
            <a:srgbClr val="003057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Манайд өгөх санаа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502920" y="2221992"/>
            <a:ext cx="1640434" cy="6163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Fannie Mae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АНУ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148840" y="2221992"/>
            <a:ext cx="1823314" cy="6163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Үл хөдлөх хөрөнгийн санхүүжилт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977640" y="2221992"/>
            <a:ext cx="4337914" cy="6163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Эхний 12 сард сайн дурын бүрэн хаалтыг хязгаарлах / тохирсон төлбөр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321040" y="2221992"/>
            <a:ext cx="1914754" cy="6163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Lock-in period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02920" y="2843784"/>
            <a:ext cx="1640434" cy="6163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SBA 7(a)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АНУ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148840" y="2843784"/>
            <a:ext cx="1823314" cy="6163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жилийн ЖДБ зээл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977640" y="2843784"/>
            <a:ext cx="4337914" cy="6163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Эхний 3 жилд үлдэгдлийн 25%-аас дээш төлбөл 5% → 3% → 1%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321040" y="2843784"/>
            <a:ext cx="1914754" cy="6163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Шаталсан fee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2920" y="3465576"/>
            <a:ext cx="1640434" cy="6163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Bank IBRD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148840" y="3465576"/>
            <a:ext cx="1823314" cy="6163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Төслийн санхүүжилт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977640" y="3465576"/>
            <a:ext cx="4337914" cy="6163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хоногийн мэдэгдэл; бодит санхүүгийн зардлаар тооцох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321040" y="3465576"/>
            <a:ext cx="1914754" cy="616306"/>
          </a:xfrm>
          <a:prstGeom prst="rect">
            <a:avLst/>
          </a:prstGeom>
          <a:solidFill>
            <a:srgbClr val="FFFF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funding cost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02920" y="4087368"/>
            <a:ext cx="1640434" cy="6163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Halifax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Их Британи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148840" y="4087368"/>
            <a:ext cx="1823314" cy="6163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Тогтмол хүүтэй ипотек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977640" y="4087368"/>
            <a:ext cx="4337914" cy="6163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Жил бүр 10% хүртэл үнэгүй, давсан хэсэгт төлбөр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321040" y="4087368"/>
            <a:ext cx="1914754" cy="616306"/>
          </a:xfrm>
          <a:prstGeom prst="rect">
            <a:avLst/>
          </a:prstGeom>
          <a:solidFill>
            <a:srgbClr val="F8FBFF"/>
          </a:solidFill>
          <a:ln w="7620">
            <a:solidFill>
              <a:srgbClr val="D6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Penalty-free cap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94360" y="5440680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3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Дүгнэх зарчим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5733288"/>
            <a:ext cx="1554480" cy="0"/>
          </a:xfrm>
          <a:prstGeom prst="line">
            <a:avLst/>
          </a:prstGeom>
          <a:noFill/>
          <a:ln w="16510">
            <a:solidFill>
              <a:srgbClr val="0030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5833872"/>
            <a:ext cx="2514600" cy="384048"/>
          </a:xfrm>
          <a:prstGeom prst="rect">
            <a:avLst/>
          </a:prstGeom>
          <a:solidFill>
            <a:srgbClr val="EAF3FF"/>
          </a:solidFill>
          <a:ln>
            <a:solidFill>
              <a:srgbClr val="D6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6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Бүтээгдэхүүнээр ялгах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83280" y="5833872"/>
            <a:ext cx="2514600" cy="384048"/>
          </a:xfrm>
          <a:prstGeom prst="rect">
            <a:avLst/>
          </a:prstGeom>
          <a:solidFill>
            <a:srgbClr val="E9F7F2"/>
          </a:solidFill>
          <a:ln>
            <a:solidFill>
              <a:srgbClr val="D6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8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Үнэгүй хэсгийг үлдээх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72200" y="5833872"/>
            <a:ext cx="2514600" cy="384048"/>
          </a:xfrm>
          <a:prstGeom prst="rect">
            <a:avLst/>
          </a:prstGeom>
          <a:solidFill>
            <a:srgbClr val="FFF4DF"/>
          </a:solidFill>
          <a:ln>
            <a:solidFill>
              <a:srgbClr val="D6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Бодит зардлаас хэтрүүлэхгүй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961120" y="5833872"/>
            <a:ext cx="2514600" cy="384048"/>
          </a:xfrm>
          <a:prstGeom prst="rect">
            <a:avLst/>
          </a:prstGeom>
          <a:solidFill>
            <a:srgbClr val="FDECEC"/>
          </a:solidFill>
          <a:ln>
            <a:solidFill>
              <a:srgbClr val="D6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Гэрээнд урьдчилан тодорхой тусгах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6446520"/>
            <a:ext cx="78638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 файлд дурдсан олон улсын жишээнүүд: Fannie Mae, SBA 7(a), World Bank IBRD, Halifax.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0424160" cy="402336"/>
          </a:xfrm>
          <a:prstGeom prst="rect">
            <a:avLst/>
          </a:prstGeom>
          <a:solidFill>
            <a:srgbClr val="003057"/>
          </a:solidFill>
          <a:ln>
            <a:solidFill>
              <a:srgbClr val="00305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Монголд хэрэгжүүлэх боломж ба санал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365992" y="6446520"/>
            <a:ext cx="365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Хуулийн болон харилцагчийн эрхийн эрсдэлийг бууруулахын тулд урьдчилсан төлөлтийг бүхэлд нь хориглох бус, бодит funding loss-той уялдсан, гэрээнд тодорхой туссан нөхөн төлбөрийн механизм санал болгоно.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25780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003057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3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Хууль эрх зүйн орчин
</a:t>
            </a:r>
            <a:pPr indent="0" marL="0">
              <a:buNone/>
            </a:pPr>
            <a:r>
              <a:rPr lang="en-US" sz="92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Зээлдүүлэгч татгалзаагүй бол үүргийг хугацаанаас өмнө гүйцэтгэх боломжтой гэж үзэх эрсдэл бий</a:t>
            </a:r>
            <a:endParaRPr lang="en-US" sz="1300" dirty="0"/>
          </a:p>
          <a:p>
            <a:pPr indent="0" marL="0">
              <a:buNone/>
            </a:pPr>
            <a:r>
              <a:rPr lang="en-US" sz="92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Шимтгэл, нөхцөл нь гэрээнд урьдчилан, тодорхой туссан байх шаардлагатай</a:t>
            </a:r>
            <a:endParaRPr lang="en-US" sz="1300" dirty="0"/>
          </a:p>
          <a:p>
            <a:pPr indent="0" marL="0">
              <a:buNone/>
            </a:pPr>
            <a:r>
              <a:rPr lang="en-US" sz="92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Хүүг ашигласан хугацаагаар тооцох; давхар төлбөр авах эрсдэлийг хянах хэрэгтэй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63640" y="1572768"/>
            <a:ext cx="539496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0F8B6F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8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 дүгнэлт
</a:t>
            </a:r>
            <a:pPr indent="0" marL="0">
              <a:buNone/>
            </a:pPr>
            <a:r>
              <a:rPr lang="en-US" sz="92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Бүх зээлд ижил хориг тавих нь тохиромжгүй</a:t>
            </a:r>
            <a:endParaRPr lang="en-US" sz="1300" dirty="0"/>
          </a:p>
          <a:p>
            <a:pPr indent="0" marL="0">
              <a:buNone/>
            </a:pPr>
            <a:r>
              <a:rPr lang="en-US" sz="92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Гадаад, урт хугацаатай, бага/тогтмол хүүтэй, буцаах боломжгүй эх үүсвэр дээр хэрэглэх үндэслэлтэй</a:t>
            </a:r>
            <a:endParaRPr lang="en-US" sz="1300" dirty="0"/>
          </a:p>
          <a:p>
            <a:pPr indent="0" marL="0">
              <a:buNone/>
            </a:pPr>
            <a:r>
              <a:rPr lang="en-US" sz="92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Төлбөр нь “торгууль” бус бодит санхүүгийн алдагдлын нөхөн төлбөр байх ёстой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520440"/>
            <a:ext cx="2514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3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Санал болгож буй механизм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813048"/>
            <a:ext cx="2514600" cy="0"/>
          </a:xfrm>
          <a:prstGeom prst="line">
            <a:avLst/>
          </a:prstGeom>
          <a:noFill/>
          <a:ln w="16510">
            <a:solidFill>
              <a:srgbClr val="0030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4023360"/>
            <a:ext cx="274320" cy="274320"/>
          </a:xfrm>
          <a:prstGeom prst="rect">
            <a:avLst/>
          </a:prstGeom>
          <a:solidFill>
            <a:srgbClr val="0B65C2"/>
          </a:solidFill>
          <a:ln>
            <a:solidFill>
              <a:srgbClr val="0B65C2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3913632"/>
            <a:ext cx="2606040" cy="960120"/>
          </a:xfrm>
          <a:prstGeom prst="rect">
            <a:avLst/>
          </a:prstGeom>
          <a:solidFill>
            <a:srgbClr val="EAF3FF"/>
          </a:solidFill>
          <a:ln>
            <a:solidFill>
              <a:srgbClr val="D6E2EF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6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Lock-in period
</a:t>
            </a:r>
            <a:pPr indent="0" marL="0">
              <a:buNone/>
            </a:pPr>
            <a:r>
              <a:rPr lang="en-US" sz="84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Эхний 12–24 сард бүрэн хаахыг хязгаарлах.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55848" y="4023360"/>
            <a:ext cx="274320" cy="274320"/>
          </a:xfrm>
          <a:prstGeom prst="rect">
            <a:avLst/>
          </a:prstGeom>
          <a:solidFill>
            <a:srgbClr val="0F8B6F"/>
          </a:solidFill>
          <a:ln>
            <a:solidFill>
              <a:srgbClr val="0F8B6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46120" y="3913632"/>
            <a:ext cx="2606040" cy="960120"/>
          </a:xfrm>
          <a:prstGeom prst="rect">
            <a:avLst/>
          </a:prstGeom>
          <a:solidFill>
            <a:srgbClr val="E9F7F2"/>
          </a:solidFill>
          <a:ln>
            <a:solidFill>
              <a:srgbClr val="D6E2EF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8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Penalty-free cap
</a:t>
            </a:r>
            <a:pPr indent="0" marL="0">
              <a:buNone/>
            </a:pPr>
            <a:r>
              <a:rPr lang="en-US" sz="84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Жил бүр үндсэн үлдэгдлийн X% хүртэл торгуульгүй.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99048" y="4023360"/>
            <a:ext cx="274320" cy="274320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89320" y="3913632"/>
            <a:ext cx="2606040" cy="960120"/>
          </a:xfrm>
          <a:prstGeom prst="rect">
            <a:avLst/>
          </a:prstGeom>
          <a:solidFill>
            <a:srgbClr val="FDECEC"/>
          </a:solidFill>
          <a:ln>
            <a:solidFill>
              <a:srgbClr val="D6E2EF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cost / fee
</a:t>
            </a:r>
            <a:pPr indent="0" marL="0">
              <a:buNone/>
            </a:pPr>
            <a:r>
              <a:rPr lang="en-US" sz="84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Давсан хэсэгт бодит funding loss-оор тооцох.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42248" y="4023360"/>
            <a:ext cx="274320" cy="274320"/>
          </a:xfrm>
          <a:prstGeom prst="rect">
            <a:avLst/>
          </a:prstGeom>
          <a:solidFill>
            <a:srgbClr val="003057"/>
          </a:solidFill>
          <a:ln>
            <a:solidFill>
              <a:srgbClr val="00305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732520" y="3913632"/>
            <a:ext cx="2606040" cy="960120"/>
          </a:xfrm>
          <a:prstGeom prst="rect">
            <a:avLst/>
          </a:prstGeom>
          <a:solidFill>
            <a:srgbClr val="EEF4FF"/>
          </a:solidFill>
          <a:ln>
            <a:solidFill>
              <a:srgbClr val="D6E2EF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3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setup
</a:t>
            </a:r>
            <a:pPr indent="0" marL="0">
              <a:buNone/>
            </a:pPr>
            <a:r>
              <a:rPr lang="en-US" sz="84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Temenos дээр бүтээгдэхүүний түвшинд тохиргоо шалгах.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55321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3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Шийдвэрийн санал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583387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Зөвхөн 24 сараас дээш хугацаатай, гадаад эх үүсвэр нь хугацаанаас өмнө буцаагдах боломжгүй, тогтмол/бага хүүтэй ААН болон төслийн зээлд тусгай prepayment нөхцөл боловсруулах.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6446520"/>
            <a:ext cx="78638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Дараагийн алхам: бүтээгдэхүүний жагсаалт + эх үүсвэрийн гэрээний нөхцөл + Temenos тохиргооны боломжийг нэг матрицад баталгаажуулах.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TDBM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Зээлийг хугацаанаас өмнө төлөх нөхцөл</dc:title>
  <dc:subject>Зээлийг хугацаанаас өмнө төлөх нөхцөл</dc:subject>
  <dc:creator>OpenAI</dc:creator>
  <cp:lastModifiedBy>OpenAI</cp:lastModifiedBy>
  <cp:revision>1</cp:revision>
  <dcterms:created xsi:type="dcterms:W3CDTF">2026-10-01T10:28:56Z</dcterms:created>
  <dcterms:modified xsi:type="dcterms:W3CDTF">2026-10-01T10:28:56Z</dcterms:modified>
</cp:coreProperties>
</file>