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links:
1. Fannie Mae SARM term sheet: https://multifamily.fanniemae.com/financing-options/variable-rate-financing-options/structured-adjustable-rate-mortgage/structured-adjustable-rate-mortgage-loans-sarm-loans-term-sheet
2. U.S. SBA 7(a) terms: https://legacy.sba.gov/partners/lenders/7a-loan-program/terms-conditions-eligibility
3. World Bank IBRD financial products FAQs: https://treasury.worldbank.org/en/about/unit/treasury/ibrd-financial-products/financial-products-faqs
4. Halifax early repayment charges: https://www.halifax.co.uk/mortgages/existing-customers/early-repayment-charges.html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multifamily.fanniemae.com/financing-options/variable-rate-financing-options/structured-adjustable-rate-mortgage/structured-adjustable-rate-mortgage-loans-sarm-loans-term-sheet" TargetMode="External"/><Relationship Id="rId2" Type="http://schemas.openxmlformats.org/officeDocument/2006/relationships/hyperlink" Target="https://legacy.sba.gov/partners/lenders/7a-loan-program/terms-conditions-eligibility" TargetMode="External"/><Relationship Id="rId3" Type="http://schemas.openxmlformats.org/officeDocument/2006/relationships/hyperlink" Target="https://treasury.worldbank.org/en/about/unit/treasury/ibrd-financial-products/financial-products-faqs" TargetMode="External"/><Relationship Id="rId4" Type="http://schemas.openxmlformats.org/officeDocument/2006/relationships/hyperlink" Target="https://www.halifax.co.uk/mortgages/existing-customers/early-repayment-charges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1F6B5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66928"/>
            <a:ext cx="11430000" cy="9144"/>
          </a:xfrm>
          <a:prstGeom prst="rect">
            <a:avLst/>
          </a:prstGeom>
          <a:solidFill>
            <a:srgbClr val="D9DED7"/>
          </a:solidFill>
          <a:ln w="12700">
            <a:solidFill>
              <a:srgbClr val="D9DED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8912" y="201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Олон улсын бодит шийдлүүд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577840" y="24688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Гадаад эх үүсвэртэй / урт хугацааны зээлийн урьдчилсан төлөлтийн хамгаалалт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8412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Практик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127248" y="841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Гол нөхцөл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12280" y="84124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ХХБ-д авах санаа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1161288"/>
            <a:ext cx="11247120" cy="0"/>
          </a:xfrm>
          <a:prstGeom prst="line">
            <a:avLst/>
          </a:prstGeom>
          <a:noFill/>
          <a:ln w="10160">
            <a:solidFill>
              <a:srgbClr val="D9DE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331720"/>
            <a:ext cx="11247120" cy="0"/>
          </a:xfrm>
          <a:prstGeom prst="line">
            <a:avLst/>
          </a:prstGeom>
          <a:noFill/>
          <a:ln w="10160">
            <a:solidFill>
              <a:srgbClr val="D9DE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3502152"/>
            <a:ext cx="11247120" cy="0"/>
          </a:xfrm>
          <a:prstGeom prst="line">
            <a:avLst/>
          </a:prstGeom>
          <a:noFill/>
          <a:ln w="10160">
            <a:solidFill>
              <a:srgbClr val="D9DE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4672584"/>
            <a:ext cx="11247120" cy="0"/>
          </a:xfrm>
          <a:prstGeom prst="line">
            <a:avLst/>
          </a:prstGeom>
          <a:noFill/>
          <a:ln w="10160">
            <a:solidFill>
              <a:srgbClr val="D9DE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5843016"/>
            <a:ext cx="11247120" cy="0"/>
          </a:xfrm>
          <a:prstGeom prst="line">
            <a:avLst/>
          </a:prstGeom>
          <a:noFill/>
          <a:ln w="10160">
            <a:solidFill>
              <a:srgbClr val="D9DE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1362456"/>
            <a:ext cx="530352" cy="283464"/>
          </a:xfrm>
          <a:prstGeom prst="roundRect">
            <a:avLst>
              <a:gd name="adj" fmla="val 25806"/>
            </a:avLst>
          </a:prstGeom>
          <a:solidFill>
            <a:srgbClr val="1F6B54"/>
          </a:solidFill>
          <a:ln w="12700">
            <a:solidFill>
              <a:srgbClr val="1F6B5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37617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25296" y="130759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holding / lockout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1225296" y="15910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algn="l" indent="0" marL="0">
              <a:buNone/>
            </a:pPr>
            <a:r>
              <a:rPr lang="en-US" sz="820" u="sng" dirty="0">
                <a:solidFill>
                  <a:srgbClr val="1F6B5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Fannie Mae SARM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145536" y="129844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Эхний loan year-д буюу ойролцоогоор 12 сар сайн дурын prepayment хязгаарлана; дараа нь premium.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6821424" y="129844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сар minimum use нөхцөлийг зөвхөн source-linked project loan-д судлах.</a:t>
            </a:r>
            <a:endParaRPr lang="en-US" sz="1010" dirty="0"/>
          </a:p>
        </p:txBody>
      </p:sp>
      <p:sp>
        <p:nvSpPr>
          <p:cNvPr id="21" name="Shape 19"/>
          <p:cNvSpPr/>
          <p:nvPr/>
        </p:nvSpPr>
        <p:spPr>
          <a:xfrm>
            <a:off x="603504" y="2532888"/>
            <a:ext cx="530352" cy="283464"/>
          </a:xfrm>
          <a:prstGeom prst="roundRect">
            <a:avLst>
              <a:gd name="adj" fmla="val 25806"/>
            </a:avLst>
          </a:prstGeom>
          <a:solidFill>
            <a:srgbClr val="1F6B54"/>
          </a:solidFill>
          <a:ln w="12700">
            <a:solidFill>
              <a:srgbClr val="1F6B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54660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25296" y="247802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Step-down penalty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1225296" y="27614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algn="l" indent="0" marL="0">
              <a:buNone/>
            </a:pPr>
            <a:r>
              <a:rPr lang="en-US" sz="820" u="sng" dirty="0">
                <a:solidFill>
                  <a:srgbClr val="1F6B5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U.S. SBA 7(a)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145536" y="24688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≥15 жилийн зээлд эхний 3 жилд ≥25% prepay хийвэл 5% → 3% → 1% бүтэцтэй.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6821424" y="246888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Эхний жилүүдэд өндөр, хугацаа өнгөрөх тусам буурах cap тогтоох.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603504" y="3703320"/>
            <a:ext cx="530352" cy="283464"/>
          </a:xfrm>
          <a:prstGeom prst="roundRect">
            <a:avLst>
              <a:gd name="adj" fmla="val 25806"/>
            </a:avLst>
          </a:prstGeom>
          <a:solidFill>
            <a:srgbClr val="264B63"/>
          </a:solidFill>
          <a:ln w="12700">
            <a:solidFill>
              <a:srgbClr val="264B6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" y="371703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25296" y="36484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break cost / yield maintenance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1225296" y="39319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algn="l" indent="0" marL="0">
              <a:buNone/>
            </a:pPr>
            <a:r>
              <a:rPr lang="en-US" sz="820" u="sng" dirty="0">
                <a:solidFill>
                  <a:srgbClr val="1F6B5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World Bank IBRD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145536" y="363931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хоногийн notice; дахин байршуулалтын алдагдлыг PV-р тооцно. Loss ≤ 0 бол fee = 0.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6821424" y="363931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min(actual break cost, contractual cap) — бодит зардлаас хэтрүүлэхгүй.</a:t>
            </a:r>
            <a:endParaRPr lang="en-US" sz="1010" dirty="0"/>
          </a:p>
        </p:txBody>
      </p:sp>
      <p:sp>
        <p:nvSpPr>
          <p:cNvPr id="33" name="Shape 31"/>
          <p:cNvSpPr/>
          <p:nvPr/>
        </p:nvSpPr>
        <p:spPr>
          <a:xfrm>
            <a:off x="603504" y="4873752"/>
            <a:ext cx="530352" cy="283464"/>
          </a:xfrm>
          <a:prstGeom prst="roundRect">
            <a:avLst>
              <a:gd name="adj" fmla="val 25806"/>
            </a:avLst>
          </a:prstGeom>
          <a:solidFill>
            <a:srgbClr val="1F6B54"/>
          </a:solidFill>
          <a:ln w="12700">
            <a:solidFill>
              <a:srgbClr val="1F6B5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48874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225296" y="48188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allowance + excess charge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1225296" y="51023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pPr algn="l" indent="0" marL="0">
              <a:buNone/>
            </a:pPr>
            <a:r>
              <a:rPr lang="en-US" sz="820" u="sng" dirty="0">
                <a:solidFill>
                  <a:srgbClr val="1F6B5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Halifax UK ERC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145536" y="480974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Жилд тодорхой хувь хүртэл үнэгүй төлөх эрх; давсан хэсэгт early repayment charge.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6821424" y="48097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Жилд X% free prepayment + давсан хэсэгт actual cost/cap хэрэглэх.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10040112" y="1115568"/>
            <a:ext cx="1682496" cy="4773168"/>
          </a:xfrm>
          <a:prstGeom prst="roundRect">
            <a:avLst>
              <a:gd name="adj" fmla="val 6522"/>
            </a:avLst>
          </a:prstGeom>
          <a:solidFill>
            <a:srgbClr val="EDF2EE"/>
          </a:solidFill>
          <a:ln w="10160">
            <a:solidFill>
              <a:srgbClr val="D9DED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77272" y="1344168"/>
            <a:ext cx="1389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Санал болгох hybrid загвар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10222992" y="1947672"/>
            <a:ext cx="1316736" cy="0"/>
          </a:xfrm>
          <a:prstGeom prst="line">
            <a:avLst/>
          </a:prstGeom>
          <a:noFill/>
          <a:ln w="10160">
            <a:solidFill>
              <a:srgbClr val="D9DED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222992" y="2176272"/>
            <a:ext cx="134416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сар minimum use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30–45 хоног notice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жилд X% free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min(actual break cost, cap)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 = 0 хэрэв эх үүсвэр зардалгүй хаагдвал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585216" y="6144768"/>
            <a:ext cx="10954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870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Анхаарах зарчим: “гадаад эх үүсвэртэй” гэдгээр автоматаар торгууль тавихгүй; non-cancellable funding + бодит break/reinvestment loss үүссэн үед л хамгаалалтын нөхцөл хэрэглэх.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TDBM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2 - International prepayment practices</dc:title>
  <dc:subject>Loan prepayment international practices</dc:subject>
  <dc:creator>OpenAI</dc:creator>
  <cp:lastModifiedBy>OpenAI</cp:lastModifiedBy>
  <cp:revision>1</cp:revision>
  <dcterms:created xsi:type="dcterms:W3CDTF">2026-09-30T02:17:40Z</dcterms:created>
  <dcterms:modified xsi:type="dcterms:W3CDTF">2026-09-30T02:17:40Z</dcterms:modified>
</cp:coreProperties>
</file>