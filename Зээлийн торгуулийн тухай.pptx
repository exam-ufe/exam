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335" r:id="rId2"/>
    <p:sldId id="1811" r:id="rId3"/>
    <p:sldId id="256" r:id="rId4"/>
    <p:sldId id="1814" r:id="rId5"/>
    <p:sldId id="257" r:id="rId6"/>
    <p:sldId id="1786" r:id="rId7"/>
    <p:sldId id="1813" r:id="rId8"/>
    <p:sldId id="1815" r:id="rId9"/>
    <p:sldId id="181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11DDCC7-354A-9543-BCB9-A9300A32866A}" name="Munkhbolor E" initials="ME" userId="S::munkhbolor.e@tdbm.mn::7cbe93c7-7bd9-45a0-89e9-865c0631733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A705"/>
    <a:srgbClr val="0080FF"/>
    <a:srgbClr val="E6F2FF"/>
    <a:srgbClr val="4DA3FF"/>
    <a:srgbClr val="B8DCFF"/>
    <a:srgbClr val="705A4D"/>
    <a:srgbClr val="6F594B"/>
    <a:srgbClr val="FFFFFF"/>
    <a:srgbClr val="00B0F0"/>
    <a:srgbClr val="85C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3559" autoAdjust="0"/>
  </p:normalViewPr>
  <p:slideViewPr>
    <p:cSldViewPr snapToGrid="0">
      <p:cViewPr varScale="1">
        <p:scale>
          <a:sx n="78" d="100"/>
          <a:sy n="78" d="100"/>
        </p:scale>
        <p:origin x="72" y="3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lackmamba\Downloads\&#1053;&#1086;&#1086;&#1088;&#1086;&#1075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nyamdavaa.e\Documents\&#1047;&#1072;&#1093;&#1080;&#1088;&#1072;&#1083;\4\&#1044;&#1072;&#1090;&#1072;%2020260929+sm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Sheet2!$B$39</c:f>
              <c:strCache>
                <c:ptCount val="1"/>
                <c:pt idx="0">
                  <c:v>Чөлөөлөгдсөн эх үүсвэр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numFmt formatCode="#,##0.00,,," sourceLinked="0"/>
            <c:spPr>
              <a:solidFill>
                <a:srgbClr val="FFA70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Sheet2!$A$40:$A$41</c:f>
              <c:strCache>
                <c:ptCount val="2"/>
                <c:pt idx="0">
                  <c:v>12 сараас доош</c:v>
                </c:pt>
                <c:pt idx="1">
                  <c:v>24 сараас доош</c:v>
                </c:pt>
              </c:strCache>
            </c:strRef>
          </c:cat>
          <c:val>
            <c:numRef>
              <c:f>Sheet2!$B$40:$B$41</c:f>
              <c:numCache>
                <c:formatCode>_(* #,##0.00_);_(* \(#,##0.00\);_(* "-"??_);_(@_)</c:formatCode>
                <c:ptCount val="2"/>
                <c:pt idx="0">
                  <c:v>38817230874.769455</c:v>
                </c:pt>
                <c:pt idx="1">
                  <c:v>1154285907.9087796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6F-490F-BECF-FFD1757DD9BB}"/>
            </c:ext>
          </c:extLst>
        </c:ser>
        <c:ser>
          <c:idx val="1"/>
          <c:order val="1"/>
          <c:tx>
            <c:strRef>
              <c:f>Sheet2!$C$39</c:f>
              <c:strCache>
                <c:ptCount val="1"/>
                <c:pt idx="0">
                  <c:v>Дахин байршуулалт хийгдээгүй үеийн алдагдал</c:v>
                </c:pt>
              </c:strCache>
            </c:strRef>
          </c:tx>
          <c:spPr>
            <a:solidFill>
              <a:srgbClr val="0080FF"/>
            </a:solidFill>
            <a:ln>
              <a:noFill/>
            </a:ln>
            <a:effectLst/>
          </c:spPr>
          <c:invertIfNegative val="0"/>
          <c:dLbls>
            <c:numFmt formatCode="#,##0.00,,," sourceLinked="0"/>
            <c:spPr>
              <a:solidFill>
                <a:srgbClr val="FFA70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Sheet2!$A$40:$A$41</c:f>
              <c:strCache>
                <c:ptCount val="2"/>
                <c:pt idx="0">
                  <c:v>12 сараас доош</c:v>
                </c:pt>
                <c:pt idx="1">
                  <c:v>24 сараас доош</c:v>
                </c:pt>
              </c:strCache>
            </c:strRef>
          </c:cat>
          <c:val>
            <c:numRef>
              <c:f>Sheet2!$C$40:$C$41</c:f>
              <c:numCache>
                <c:formatCode>_(* #,##0.00_);_(* \(#,##0.00\);_(* "-"??_);_(@_)</c:formatCode>
                <c:ptCount val="2"/>
                <c:pt idx="0">
                  <c:v>6132722989.6969776</c:v>
                </c:pt>
                <c:pt idx="1">
                  <c:v>328340197.12509179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6F-490F-BECF-FFD1757DD9B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476749840"/>
        <c:axId val="1349446288"/>
      </c:barChart>
      <c:catAx>
        <c:axId val="147674984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49446288"/>
        <c:crosses val="autoZero"/>
        <c:auto val="1"/>
        <c:lblAlgn val="ctr"/>
        <c:lblOffset val="100"/>
        <c:noMultiLvlLbl val="0"/>
      </c:catAx>
      <c:valAx>
        <c:axId val="1349446288"/>
        <c:scaling>
          <c:orientation val="minMax"/>
          <c:max val="40000000000"/>
        </c:scaling>
        <c:delete val="0"/>
        <c:axPos val="b"/>
        <c:numFmt formatCode="_(* #,##0.00,,,_);_(* \(#,##0.00\);_(* &quot;-&quot;??_);_(@_)" sourceLinked="0"/>
        <c:majorTickMark val="in"/>
        <c:minorTickMark val="none"/>
        <c:tickLblPos val="nextTo"/>
        <c:spPr>
          <a:noFill/>
          <a:ln>
            <a:solidFill>
              <a:schemeClr val="accent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7674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2"/>
          <c:order val="0"/>
          <c:tx>
            <c:strRef>
              <c:f>GRAPH!$D$13</c:f>
              <c:strCache>
                <c:ptCount val="1"/>
                <c:pt idx="0">
                  <c:v> Чөлөөлөгдсөн эх үүсвэр 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numFmt formatCode="#,##0.00,,," sourceLinked="0"/>
            <c:spPr>
              <a:solidFill>
                <a:srgbClr val="FFA70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GRAPH!$A$14:$A$16</c:f>
              <c:strCache>
                <c:ptCount val="3"/>
                <c:pt idx="0">
                  <c:v> 12 сараас доош </c:v>
                </c:pt>
                <c:pt idx="1">
                  <c:v> 24 сараас доош </c:v>
                </c:pt>
                <c:pt idx="2">
                  <c:v> 24 сараас дээш  </c:v>
                </c:pt>
              </c:strCache>
            </c:strRef>
          </c:cat>
          <c:val>
            <c:numRef>
              <c:f>GRAPH!$D$14:$D$16</c:f>
              <c:numCache>
                <c:formatCode>_(* #,##0.00_);_(* \(#,##0.00\);_(* "-"??_);_(@_)</c:formatCode>
                <c:ptCount val="3"/>
                <c:pt idx="0">
                  <c:v>49014209239.245697</c:v>
                </c:pt>
                <c:pt idx="1">
                  <c:v>26961069037.338356</c:v>
                </c:pt>
                <c:pt idx="2">
                  <c:v>6156537863.4259262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01-41E5-9786-F912F03DDB10}"/>
            </c:ext>
          </c:extLst>
        </c:ser>
        <c:ser>
          <c:idx val="3"/>
          <c:order val="1"/>
          <c:tx>
            <c:strRef>
              <c:f>GRAPH!$E$13</c:f>
              <c:strCache>
                <c:ptCount val="1"/>
                <c:pt idx="0">
                  <c:v> Дахин байршуулалт хийгдээгүй үеийн алдагдал </c:v>
                </c:pt>
              </c:strCache>
            </c:strRef>
          </c:tx>
          <c:spPr>
            <a:solidFill>
              <a:srgbClr val="0080FF"/>
            </a:solidFill>
            <a:ln>
              <a:noFill/>
            </a:ln>
            <a:effectLst/>
          </c:spPr>
          <c:invertIfNegative val="0"/>
          <c:dLbls>
            <c:numFmt formatCode="#,##0.00,,," sourceLinked="0"/>
            <c:spPr>
              <a:solidFill>
                <a:srgbClr val="FFA70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GRAPH!$A$14:$A$16</c:f>
              <c:strCache>
                <c:ptCount val="3"/>
                <c:pt idx="0">
                  <c:v> 12 сараас доош </c:v>
                </c:pt>
                <c:pt idx="1">
                  <c:v> 24 сараас доош </c:v>
                </c:pt>
                <c:pt idx="2">
                  <c:v> 24 сараас дээш  </c:v>
                </c:pt>
              </c:strCache>
            </c:strRef>
          </c:cat>
          <c:val>
            <c:numRef>
              <c:f>GRAPH!$E$14:$E$16</c:f>
              <c:numCache>
                <c:formatCode>_(* #,##0.00_);_(* \(#,##0.00\);_(* "-"??_);_(@_)</c:formatCode>
                <c:ptCount val="3"/>
                <c:pt idx="0">
                  <c:v>28449642198.2701</c:v>
                </c:pt>
                <c:pt idx="1">
                  <c:v>13857632462.263161</c:v>
                </c:pt>
                <c:pt idx="2">
                  <c:v>3148556651.703774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01-41E5-9786-F912F03DDB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0"/>
        <c:axId val="473251583"/>
        <c:axId val="473252063"/>
      </c:barChart>
      <c:catAx>
        <c:axId val="47325158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3252063"/>
        <c:crosses val="autoZero"/>
        <c:auto val="1"/>
        <c:lblAlgn val="ctr"/>
        <c:lblOffset val="100"/>
        <c:noMultiLvlLbl val="0"/>
      </c:catAx>
      <c:valAx>
        <c:axId val="473252063"/>
        <c:scaling>
          <c:orientation val="minMax"/>
          <c:max val="50000000000"/>
        </c:scaling>
        <c:delete val="0"/>
        <c:axPos val="b"/>
        <c:numFmt formatCode="_(* #,##0.00,,,_);_(* \(#,##0\);_(* &quot;-&quot;_);_(@_)" sourceLinked="0"/>
        <c:majorTickMark val="in"/>
        <c:minorTickMark val="none"/>
        <c:tickLblPos val="nextTo"/>
        <c:spPr>
          <a:noFill/>
          <a:ln>
            <a:solidFill>
              <a:schemeClr val="accent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32515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A72402-1D3B-453C-A2A8-792C439189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237E22-A92D-433F-956B-2655A6306F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800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Эх сурвалжийн холбоосууд:
1) Fannie Mae Structured Adjustable-Rate Mortgage term sheet: https://multifamily.fanniemae.com/financing-options/variable-rate-financing-options/structured-adjustable-rate-mortgage/structured-adjustable-rate-mortgage-loans-sarm-loans-term-sheet
2) SBA 7(a) terms and prepayment penalties: https://legacy.sba.gov/partners/lenders/7a-loan-program/terms-conditions-eligibility
3) World Bank Treasury IBRD financial products FAQs: https://treasury.worldbank.org/en/about/unit/treasury/ibrd-financial-products/financial-products-faqs
4) Halifax early repayment charges: https://www.halifax.co.uk/mortgages/existing-customers/early-repayment-charges.html
Тайлбар: Монголын банкны нийтэд нээлттэй нөхцөлийг бүрэн баталгаажуулахын тулд банк тус бүрийн хүчин төгөлдөр гэрээний загвар, тариф, бүтээгдэхүүний нөхцөлийг шалгах шаардлагатай.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Эх сурвалжийн холбоосууд:
1) Fannie Mae Structured Adjustable-Rate Mortgage term sheet: https://multifamily.fanniemae.com/financing-options/variable-rate-financing-options/structured-adjustable-rate-mortgage/structured-adjustable-rate-mortgage-loans-sarm-loans-term-sheet
2) SBA 7(a) terms and prepayment penalties: https://legacy.sba.gov/partners/lenders/7a-loan-program/terms-conditions-eligibility
3) World Bank Treasury IBRD financial products FAQs: https://treasury.worldbank.org/en/about/unit/treasury/ibrd-financial-products/financial-products-faqs
4) Halifax early repayment charges: https://www.halifax.co.uk/mortgages/existing-customers/early-repayment-charges.html
Тайлбар: Монголын банкны нийтэд нээлттэй нөхцөлийг бүрэн баталгаажуулахын тулд банк тус бүрийн хүчин төгөлдөр гэрээний загвар, тариф, бүтээгдэхүүний нөхцөлийг шалгах шаардлагатай.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241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Эх сурвалжийн холбоосууд:
1) Fannie Mae Structured Adjustable-Rate Mortgage term sheet: https://multifamily.fanniemae.com/financing-options/variable-rate-financing-options/structured-adjustable-rate-mortgage/structured-adjustable-rate-mortgage-loans-sarm-loans-term-sheet
2) SBA 7(a) terms and prepayment penalties: https://legacy.sba.gov/partners/lenders/7a-loan-program/terms-conditions-eligibility
3) World Bank Treasury IBRD financial products FAQs: https://treasury.worldbank.org/en/about/unit/treasury/ibrd-financial-products/financial-products-faqs
4) Halifax early repayment charges: https://www.halifax.co.uk/mortgages/existing-customers/early-repayment-charges.html
Тайлбар: Монголын банкны нийтэд нээлттэй нөхцөлийг бүрэн баталгаажуулахын тулд банк тус бүрийн хүчин төгөлдөр гэрээний загвар, тариф, бүтээгдэхүүний нөхцөлийг шалгах шаардлагатай.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965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Эх сурвалжийн холбоосууд:
1) Fannie Mae Structured Adjustable-Rate Mortgage term sheet: https://multifamily.fanniemae.com/financing-options/variable-rate-financing-options/structured-adjustable-rate-mortgage/structured-adjustable-rate-mortgage-loans-sarm-loans-term-sheet
2) SBA 7(a) terms and prepayment penalties: https://legacy.sba.gov/partners/lenders/7a-loan-program/terms-conditions-eligibility
3) World Bank Treasury IBRD financial products FAQs: https://treasury.worldbank.org/en/about/unit/treasury/ibrd-financial-products/financial-products-faqs
4) Halifax early repayment charges: https://www.halifax.co.uk/mortgages/existing-customers/early-repayment-charges.html
Тайлбар: Монголын банкны нийтэд нээлттэй нөхцөлийг бүрэн баталгаажуулахын тулд банк тус бүрийн хүчин төгөлдөр гэрээний загвар, тариф, бүтээгдэхүүний нөхцөлийг шалгах шаардлагатай.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8434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Эх сурвалжийн холбоосууд:
1) Fannie Mae Structured Adjustable-Rate Mortgage term sheet: https://multifamily.fanniemae.com/financing-options/variable-rate-financing-options/structured-adjustable-rate-mortgage/structured-adjustable-rate-mortgage-loans-sarm-loans-term-sheet
2) SBA 7(a) terms and prepayment penalties: https://legacy.sba.gov/partners/lenders/7a-loan-program/terms-conditions-eligibility
3) World Bank Treasury IBRD financial products FAQs: https://treasury.worldbank.org/en/about/unit/treasury/ibrd-financial-products/financial-products-faqs
4) Halifax early repayment charges: https://www.halifax.co.uk/mortgages/existing-customers/early-repayment-charges.html
Тайлбар: Монголын банкны нийтэд нээлттэй нөхцөлийг бүрэн баталгаажуулахын тулд банк тус бүрийн хүчин төгөлдөр гэрээний загвар, тариф, бүтээгдэхүүний нөхцөлийг шалгах шаардлагатай.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33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8321F-FA39-34F7-C881-5F9842768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DACF1D-B803-DFE8-B44C-D611681B16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99E82-800D-94B3-1403-A462686D7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4B618-F486-4B6E-9943-82CD7239B66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0ABB2-4755-6D6D-88DE-8E2178DA9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6204F-0EC9-3BB2-DDFC-707A75D3E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1951-B940-4AED-9AD8-3137A80A65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824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A90E8-DBDF-2047-EE05-338992551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E8150-317A-0F12-8FBD-37962AF3BF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09E1D-09D5-A7C9-D996-7AB34385F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4B618-F486-4B6E-9943-82CD7239B66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C9D00-7EB4-4F41-2207-856582616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047B2-4673-266F-C929-DCD95A176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1951-B940-4AED-9AD8-3137A80A65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951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520B9-CAE3-5841-6574-70CCC4AD1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EA82C-8003-C0A3-5024-547F4F95D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10210A-A9A4-E181-7A15-92E133AD8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4B618-F486-4B6E-9943-82CD7239B66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2C36E2-DFA1-52B1-86D5-50567C8F3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83E4B-EA05-ABC9-3D30-AF0C6A5FD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1951-B940-4AED-9AD8-3137A80A65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002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7C01-E6E2-70DE-550E-2B766900A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31BE2-BFB2-5295-04BA-5F2D29BC8D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35C96D-DB68-B35B-2DE8-5384865AE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BC2C83-1F61-D833-47EF-E5998072C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4B618-F486-4B6E-9943-82CD7239B66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9B0167-FEFD-38B4-0412-9D094FC7E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F5E948-1E07-5DDC-CDB3-953D8A261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1951-B940-4AED-9AD8-3137A80A65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6151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46A93-3CD4-4140-84C9-CCEF82731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BB069D-8837-9CB3-A1F7-AAA0AB6F1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26BBC6-4C2D-060E-0E7B-4272E2984E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238779-1AB5-624C-121C-C1C0974786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516AEE-F9AB-5F7F-D2E4-34E040A490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D67135-AFEA-2710-9762-4B22BF78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4B618-F486-4B6E-9943-82CD7239B66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2A68F4-FD90-815D-3999-330D7D18E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60EEB4-3D52-E44A-8C1D-8FC618927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1951-B940-4AED-9AD8-3137A80A65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9413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41EA7-19C2-BD49-DCAD-074F1766A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355516-5305-72AB-4B4F-670180D05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4B618-F486-4B6E-9943-82CD7239B66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2B96D5-03E0-2932-C09E-3927E44BC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CF068-4291-DE1B-4DD9-17350479D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1951-B940-4AED-9AD8-3137A80A65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262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4D1BAC-BACC-3F4E-6DAD-46DD2F85F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4B618-F486-4B6E-9943-82CD7239B66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80CC4F-139E-A47D-38E4-7AA9741BC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6BE22-10B0-8790-C6B2-D03E240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1951-B940-4AED-9AD8-3137A80A65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46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06A19-7414-489E-7128-71E081813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B22DE8-39A4-EA5C-AA97-C35FC9E7AD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9770A8-F539-5661-0708-276A0E6B3F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46CEC2-DEBD-0A32-5E64-8DE900715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4B618-F486-4B6E-9943-82CD7239B66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08FE9-FFFE-6FA6-8B5D-EF71B4160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65269-B905-F9A5-011A-0FEFC855B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1951-B940-4AED-9AD8-3137A80A65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908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0C300-9BCA-25D5-0C79-D44C25CA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E87E32-5EBD-4FC5-95BE-B076E772FC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F9B88D-0847-13EE-06D8-4B6EB2405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11437-6B3F-4507-674D-ED8EE3704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4B618-F486-4B6E-9943-82CD7239B66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DA281-4399-16E7-A1E2-FA4F865D8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F2E6E3-44A5-67D7-046F-B1274F971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1951-B940-4AED-9AD8-3137A80A65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690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0D947-DB05-59A7-8DAD-7DCE9447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052B79-7559-845F-862F-B10E29DC23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CDB08-6693-B4D0-B7FD-219DC1BF4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4B618-F486-4B6E-9943-82CD7239B66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46E2F-339F-A536-4EA1-0DC7B92FE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2BFB0-0F7F-2574-F75C-88FAF1376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1951-B940-4AED-9AD8-3137A80A65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408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C9741F-68FE-08B0-35CD-94B04BA8E0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C3650D-C2B9-9BA7-3ABB-6451F9E482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92C58-A161-C482-DD13-0E83B521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4B618-F486-4B6E-9943-82CD7239B66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1EC8C-04F2-7C6E-0A13-A03F00D55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D5B3B-784E-EFEB-3D75-713F0EB73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1951-B940-4AED-9AD8-3137A80A65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323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0122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4143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72484A-1AED-3660-5F5C-A5116ECD4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1D4F6A-D787-47D1-AE5A-879A147FC8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70CB2-833E-FC18-921C-AAE1C92E85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F4B618-F486-4B6E-9943-82CD7239B66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E9D498-A9E2-EF7D-8354-75CDBDE423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1FE1FC-498E-0317-0DF7-BFFCA63FF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311951-B940-4AED-9AD8-3137A80A65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41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6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legacy.sba.gov/partners/lenders/7a-loan-program/terms-conditions-eligibility" TargetMode="External"/><Relationship Id="rId13" Type="http://schemas.openxmlformats.org/officeDocument/2006/relationships/image" Target="../media/image11.svg"/><Relationship Id="rId3" Type="http://schemas.openxmlformats.org/officeDocument/2006/relationships/image" Target="../media/image4.png"/><Relationship Id="rId7" Type="http://schemas.openxmlformats.org/officeDocument/2006/relationships/image" Target="../media/image7.svg"/><Relationship Id="rId12" Type="http://schemas.openxmlformats.org/officeDocument/2006/relationships/image" Target="../media/image10.png"/><Relationship Id="rId1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sv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.png"/><Relationship Id="rId11" Type="http://schemas.openxmlformats.org/officeDocument/2006/relationships/hyperlink" Target="https://treasury.worldbank.org/en/about/unit/treasury/ibrd-financial-products/financial-products-faqs" TargetMode="External"/><Relationship Id="rId5" Type="http://schemas.openxmlformats.org/officeDocument/2006/relationships/hyperlink" Target="https://multifamily.fanniemae.com/financing-options/variable-rate-financing-options/structured-adjustable-rate-mortgage/structured-adjustable-rate-mortgage-loans-sarm-loans-term-sheet" TargetMode="External"/><Relationship Id="rId15" Type="http://schemas.openxmlformats.org/officeDocument/2006/relationships/image" Target="../media/image12.png"/><Relationship Id="rId10" Type="http://schemas.openxmlformats.org/officeDocument/2006/relationships/image" Target="../media/image9.svg"/><Relationship Id="rId4" Type="http://schemas.openxmlformats.org/officeDocument/2006/relationships/image" Target="../media/image5.svg"/><Relationship Id="rId9" Type="http://schemas.openxmlformats.org/officeDocument/2006/relationships/image" Target="../media/image8.png"/><Relationship Id="rId14" Type="http://schemas.openxmlformats.org/officeDocument/2006/relationships/hyperlink" Target="https://www.halifax.co.uk/mortgages/existing-customers/early-repayment-charges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legacy.sba.gov/partners/lenders/7a-loan-program/terms-conditions-eligibility" TargetMode="External"/><Relationship Id="rId13" Type="http://schemas.openxmlformats.org/officeDocument/2006/relationships/image" Target="../media/image11.svg"/><Relationship Id="rId3" Type="http://schemas.openxmlformats.org/officeDocument/2006/relationships/image" Target="../media/image4.png"/><Relationship Id="rId7" Type="http://schemas.openxmlformats.org/officeDocument/2006/relationships/image" Target="../media/image15.svg"/><Relationship Id="rId12" Type="http://schemas.openxmlformats.org/officeDocument/2006/relationships/image" Target="../media/image10.png"/><Relationship Id="rId1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3.sv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png"/><Relationship Id="rId11" Type="http://schemas.openxmlformats.org/officeDocument/2006/relationships/hyperlink" Target="https://treasury.worldbank.org/en/about/unit/treasury/ibrd-financial-products/financial-products-faqs" TargetMode="External"/><Relationship Id="rId5" Type="http://schemas.openxmlformats.org/officeDocument/2006/relationships/hyperlink" Target="https://multifamily.fanniemae.com/financing-options/variable-rate-financing-options/structured-adjustable-rate-mortgage/structured-adjustable-rate-mortgage-loans-sarm-loans-term-sheet" TargetMode="External"/><Relationship Id="rId1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5.svg"/><Relationship Id="rId9" Type="http://schemas.openxmlformats.org/officeDocument/2006/relationships/image" Target="../media/image16.png"/><Relationship Id="rId14" Type="http://schemas.openxmlformats.org/officeDocument/2006/relationships/hyperlink" Target="https://www.halifax.co.uk/mortgages/existing-customers/early-repayment-charge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24712" y="5504076"/>
            <a:ext cx="110672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mn-MN" sz="2400" b="1">
                <a:solidFill>
                  <a:schemeClr val="accent1">
                    <a:lumMod val="75000"/>
                  </a:schemeClr>
                </a:solidFill>
                <a:latin typeface="+mj-lt"/>
                <a:cs typeface="Segoe UI" panose="020B0502040204020203" pitchFamily="34" charset="0"/>
              </a:rPr>
              <a:t>ЗЭЭЛИЙГ ХУГАЦААНААС НЬ ӨМНӨ ТӨЛӨХ ТОРГУУЛЬ</a:t>
            </a:r>
            <a:endParaRPr lang="en-US" sz="2400" b="1" dirty="0">
              <a:solidFill>
                <a:schemeClr val="accent1">
                  <a:lumMod val="75000"/>
                </a:schemeClr>
              </a:solidFill>
              <a:latin typeface="+mj-lt"/>
              <a:cs typeface="Segoe UI" panose="020B0502040204020203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08B5CE-0120-DE15-8A20-0DC7D4BCBE0E}"/>
              </a:ext>
            </a:extLst>
          </p:cNvPr>
          <p:cNvSpPr txBox="1">
            <a:spLocks/>
          </p:cNvSpPr>
          <p:nvPr/>
        </p:nvSpPr>
        <p:spPr>
          <a:xfrm>
            <a:off x="11828237" y="6454298"/>
            <a:ext cx="228689" cy="3256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58AB41-0EFE-4ABA-B5B9-FE6F944C252A}" type="slidenum">
              <a:rPr lang="en-US" sz="1200" smtClean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pPr/>
              <a:t>1</a:t>
            </a:fld>
            <a:endParaRPr lang="en-US" sz="1200" dirty="0">
              <a:solidFill>
                <a:schemeClr val="bg1">
                  <a:lumMod val="65000"/>
                </a:schemeClr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3654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lide Number Placeholder 1">
            <a:extLst>
              <a:ext uri="{FF2B5EF4-FFF2-40B4-BE49-F238E27FC236}">
                <a16:creationId xmlns:a16="http://schemas.microsoft.com/office/drawing/2014/main" id="{F7C1509A-4797-2CB8-5C79-0041D4C3BD96}"/>
              </a:ext>
            </a:extLst>
          </p:cNvPr>
          <p:cNvSpPr txBox="1">
            <a:spLocks/>
          </p:cNvSpPr>
          <p:nvPr/>
        </p:nvSpPr>
        <p:spPr>
          <a:xfrm>
            <a:off x="11828237" y="6454298"/>
            <a:ext cx="228689" cy="3256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58AB41-0EFE-4ABA-B5B9-FE6F944C252A}" type="slidenum">
              <a:rPr lang="en-US" sz="1200" smtClean="0">
                <a:solidFill>
                  <a:schemeClr val="bg1">
                    <a:lumMod val="65000"/>
                  </a:schemeClr>
                </a:solidFill>
                <a:cs typeface="Segoe UI Light" panose="020B0502040204020203" pitchFamily="34" charset="0"/>
              </a:rPr>
              <a:pPr/>
              <a:t>2</a:t>
            </a:fld>
            <a:endParaRPr lang="en-US" sz="1200" dirty="0">
              <a:solidFill>
                <a:schemeClr val="bg1">
                  <a:lumMod val="65000"/>
                </a:schemeClr>
              </a:solidFill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33203A-AFB6-5F27-0980-9ABC4C2FDB9A}"/>
              </a:ext>
            </a:extLst>
          </p:cNvPr>
          <p:cNvSpPr txBox="1"/>
          <p:nvPr/>
        </p:nvSpPr>
        <p:spPr>
          <a:xfrm>
            <a:off x="290637" y="1108227"/>
            <a:ext cx="4121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mn-MN" sz="1200" b="1">
                <a:solidFill>
                  <a:srgbClr val="002060"/>
                </a:solidFill>
                <a:cs typeface="Segoe UI" panose="020B0502040204020203" pitchFamily="34" charset="0"/>
              </a:rPr>
              <a:t>Гадаад эх үүсвэртэй зээл </a:t>
            </a:r>
            <a:r>
              <a:rPr lang="en-US" sz="1200" i="1">
                <a:solidFill>
                  <a:srgbClr val="002060"/>
                </a:solidFill>
                <a:cs typeface="Segoe UI" panose="020B0502040204020203" pitchFamily="34" charset="0"/>
              </a:rPr>
              <a:t>/</a:t>
            </a:r>
            <a:r>
              <a:rPr lang="mn-MN" sz="1200" i="1">
                <a:solidFill>
                  <a:srgbClr val="002060"/>
                </a:solidFill>
                <a:cs typeface="Segoe UI" panose="020B0502040204020203" pitchFamily="34" charset="0"/>
              </a:rPr>
              <a:t> 2024-2026</a:t>
            </a:r>
            <a:r>
              <a:rPr lang="en-US" sz="1200" i="1">
                <a:solidFill>
                  <a:srgbClr val="002060"/>
                </a:solidFill>
                <a:cs typeface="Segoe UI" panose="020B0502040204020203" pitchFamily="34" charset="0"/>
              </a:rPr>
              <a:t>.</a:t>
            </a:r>
            <a:r>
              <a:rPr lang="mn-MN" sz="1200" i="1">
                <a:solidFill>
                  <a:srgbClr val="002060"/>
                </a:solidFill>
                <a:cs typeface="Segoe UI" panose="020B0502040204020203" pitchFamily="34" charset="0"/>
              </a:rPr>
              <a:t>10</a:t>
            </a:r>
            <a:r>
              <a:rPr lang="en-US" sz="1200" i="1">
                <a:solidFill>
                  <a:srgbClr val="002060"/>
                </a:solidFill>
                <a:cs typeface="Segoe UI" panose="020B0502040204020203" pitchFamily="34" charset="0"/>
              </a:rPr>
              <a:t>/</a:t>
            </a:r>
            <a:endParaRPr lang="mn-MN" sz="1200" b="1">
              <a:solidFill>
                <a:srgbClr val="002060"/>
              </a:solidFill>
              <a:cs typeface="Segoe UI" panose="020B05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E035EED-BCC7-0767-F6F7-E613FCFE89F3}"/>
              </a:ext>
            </a:extLst>
          </p:cNvPr>
          <p:cNvSpPr/>
          <p:nvPr/>
        </p:nvSpPr>
        <p:spPr>
          <a:xfrm>
            <a:off x="1384726" y="1791215"/>
            <a:ext cx="1127298" cy="522637"/>
          </a:xfrm>
          <a:prstGeom prst="roundRect">
            <a:avLst/>
          </a:prstGeom>
          <a:solidFill>
            <a:schemeClr val="bg1"/>
          </a:solidFill>
          <a:ln w="9525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4000"/>
              </a:lnSpc>
            </a:pPr>
            <a:r>
              <a:rPr lang="mn-MN" sz="1200">
                <a:solidFill>
                  <a:schemeClr val="tx1"/>
                </a:solidFill>
                <a:cs typeface="Segoe UI" panose="020B0502040204020203" pitchFamily="34" charset="0"/>
              </a:rPr>
              <a:t>16</a:t>
            </a:r>
            <a:endParaRPr lang="en-US" sz="1200">
              <a:solidFill>
                <a:schemeClr val="tx1"/>
              </a:solidFill>
              <a:cs typeface="Segoe UI" panose="020B050204020402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E04F25-A58B-3DAE-4F47-88CD8D3D1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436" y="1731465"/>
            <a:ext cx="157610" cy="1576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672EC3-95F8-FB9D-ABD8-0561FC62256D}"/>
              </a:ext>
            </a:extLst>
          </p:cNvPr>
          <p:cNvSpPr txBox="1"/>
          <p:nvPr/>
        </p:nvSpPr>
        <p:spPr>
          <a:xfrm>
            <a:off x="1384726" y="1555520"/>
            <a:ext cx="11272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i="1">
                <a:cs typeface="Segoe UI" panose="020B0502040204020203" pitchFamily="34" charset="0"/>
              </a:rPr>
              <a:t>COR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4E22E5-F2DB-2329-737E-A2B5E96F9895}"/>
              </a:ext>
            </a:extLst>
          </p:cNvPr>
          <p:cNvSpPr txBox="1"/>
          <p:nvPr/>
        </p:nvSpPr>
        <p:spPr>
          <a:xfrm>
            <a:off x="107182" y="1855356"/>
            <a:ext cx="12734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mn-MN" sz="1000" b="1" i="1" dirty="0">
                <a:cs typeface="Segoe UI" panose="020B0502040204020203" pitchFamily="34" charset="0"/>
              </a:rPr>
              <a:t>ХУГАЦААНААС ӨМНӨ ТӨЛСӨН</a:t>
            </a:r>
            <a:endParaRPr lang="en-US" sz="1000" b="1" i="1" dirty="0">
              <a:cs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A36E62F-33A8-B4A0-04DD-69C1B386AB36}"/>
              </a:ext>
            </a:extLst>
          </p:cNvPr>
          <p:cNvSpPr/>
          <p:nvPr/>
        </p:nvSpPr>
        <p:spPr>
          <a:xfrm>
            <a:off x="2916523" y="1791215"/>
            <a:ext cx="1536160" cy="522637"/>
          </a:xfrm>
          <a:prstGeom prst="roundRect">
            <a:avLst/>
          </a:prstGeom>
          <a:solidFill>
            <a:schemeClr val="bg1"/>
          </a:solidFill>
          <a:ln w="9525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4000"/>
              </a:lnSpc>
            </a:pPr>
            <a:r>
              <a:rPr lang="mn-MN" sz="1100">
                <a:solidFill>
                  <a:schemeClr val="tx1"/>
                </a:solidFill>
                <a:cs typeface="Segoe UI" panose="020B0502040204020203" pitchFamily="34" charset="0"/>
              </a:rPr>
              <a:t>Нийт </a:t>
            </a:r>
            <a:r>
              <a:rPr lang="en-US" sz="1100">
                <a:solidFill>
                  <a:schemeClr val="tx1"/>
                </a:solidFill>
                <a:cs typeface="Segoe UI" panose="020B0502040204020203" pitchFamily="34" charset="0"/>
              </a:rPr>
              <a:t>= </a:t>
            </a:r>
            <a:r>
              <a:rPr lang="mn-MN" sz="1100">
                <a:solidFill>
                  <a:schemeClr val="tx1"/>
                </a:solidFill>
                <a:cs typeface="Segoe UI" panose="020B0502040204020203" pitchFamily="34" charset="0"/>
              </a:rPr>
              <a:t>436</a:t>
            </a:r>
            <a:endParaRPr lang="en-US" sz="1100">
              <a:solidFill>
                <a:schemeClr val="tx1"/>
              </a:solidFill>
              <a:cs typeface="Segoe UI" panose="020B0502040204020203" pitchFamily="34" charset="0"/>
            </a:endParaRPr>
          </a:p>
          <a:p>
            <a:pPr algn="ctr">
              <a:lnSpc>
                <a:spcPct val="114000"/>
              </a:lnSpc>
            </a:pPr>
            <a:r>
              <a:rPr lang="mn-MN" sz="1100">
                <a:solidFill>
                  <a:schemeClr val="tx1"/>
                </a:solidFill>
                <a:cs typeface="Segoe UI" panose="020B0502040204020203" pitchFamily="34" charset="0"/>
              </a:rPr>
              <a:t>Урт хугацаатай </a:t>
            </a:r>
            <a:r>
              <a:rPr lang="en-US" sz="1100">
                <a:solidFill>
                  <a:schemeClr val="tx1"/>
                </a:solidFill>
                <a:cs typeface="Segoe UI" panose="020B0502040204020203" pitchFamily="34" charset="0"/>
              </a:rPr>
              <a:t>= 416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9D7163-BE57-9706-08A1-42E77653F1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664" y="1731465"/>
            <a:ext cx="157610" cy="15761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9B25791-320E-F00A-CAD1-14C66C44CF7F}"/>
              </a:ext>
            </a:extLst>
          </p:cNvPr>
          <p:cNvSpPr txBox="1"/>
          <p:nvPr/>
        </p:nvSpPr>
        <p:spPr>
          <a:xfrm>
            <a:off x="3120954" y="1555520"/>
            <a:ext cx="11272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i="1">
                <a:cs typeface="Segoe UI" panose="020B0502040204020203" pitchFamily="34" charset="0"/>
              </a:rPr>
              <a:t>SME</a:t>
            </a:r>
          </a:p>
        </p:txBody>
      </p:sp>
      <p:sp>
        <p:nvSpPr>
          <p:cNvPr id="15" name="Plus Sign 14">
            <a:extLst>
              <a:ext uri="{FF2B5EF4-FFF2-40B4-BE49-F238E27FC236}">
                <a16:creationId xmlns:a16="http://schemas.microsoft.com/office/drawing/2014/main" id="{2AEEC782-0588-0E4B-F065-1DE113021D82}"/>
              </a:ext>
            </a:extLst>
          </p:cNvPr>
          <p:cNvSpPr/>
          <p:nvPr/>
        </p:nvSpPr>
        <p:spPr>
          <a:xfrm>
            <a:off x="2618640" y="1936771"/>
            <a:ext cx="216534" cy="208412"/>
          </a:xfrm>
          <a:prstGeom prst="mathPlus">
            <a:avLst>
              <a:gd name="adj1" fmla="val 923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Equals 16">
            <a:extLst>
              <a:ext uri="{FF2B5EF4-FFF2-40B4-BE49-F238E27FC236}">
                <a16:creationId xmlns:a16="http://schemas.microsoft.com/office/drawing/2014/main" id="{716E3408-E60D-6931-1DAA-A0D80AADF752}"/>
              </a:ext>
            </a:extLst>
          </p:cNvPr>
          <p:cNvSpPr/>
          <p:nvPr/>
        </p:nvSpPr>
        <p:spPr>
          <a:xfrm>
            <a:off x="4533767" y="1954494"/>
            <a:ext cx="205392" cy="180208"/>
          </a:xfrm>
          <a:prstGeom prst="mathEqual">
            <a:avLst>
              <a:gd name="adj1" fmla="val 11892"/>
              <a:gd name="adj2" fmla="val 1176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73D8E9F-1C1B-DE00-AA0E-C7FF9138B83F}"/>
              </a:ext>
            </a:extLst>
          </p:cNvPr>
          <p:cNvSpPr/>
          <p:nvPr/>
        </p:nvSpPr>
        <p:spPr>
          <a:xfrm>
            <a:off x="4792449" y="1794093"/>
            <a:ext cx="1127298" cy="522637"/>
          </a:xfrm>
          <a:prstGeom prst="roundRect">
            <a:avLst/>
          </a:prstGeom>
          <a:solidFill>
            <a:schemeClr val="bg1"/>
          </a:solidFill>
          <a:ln w="9525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4000"/>
              </a:lnSpc>
            </a:pPr>
            <a:r>
              <a:rPr lang="mn-MN" sz="1200">
                <a:solidFill>
                  <a:schemeClr val="tx1"/>
                </a:solidFill>
                <a:cs typeface="Segoe UI" panose="020B0502040204020203" pitchFamily="34" charset="0"/>
              </a:rPr>
              <a:t>4</a:t>
            </a:r>
            <a:r>
              <a:rPr lang="en-US" sz="1200">
                <a:solidFill>
                  <a:schemeClr val="tx1"/>
                </a:solidFill>
                <a:cs typeface="Segoe UI" panose="020B0502040204020203" pitchFamily="34" charset="0"/>
              </a:rPr>
              <a:t>52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E7D59C7-A43B-9E7E-5F3F-47C659ADA9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159" y="1734343"/>
            <a:ext cx="157610" cy="15761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E159BB4-4670-DD2B-8DB7-DBFFB87698C8}"/>
              </a:ext>
            </a:extLst>
          </p:cNvPr>
          <p:cNvSpPr txBox="1"/>
          <p:nvPr/>
        </p:nvSpPr>
        <p:spPr>
          <a:xfrm>
            <a:off x="4792449" y="1558398"/>
            <a:ext cx="11272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mn-MN" sz="1000" b="1" i="1">
                <a:cs typeface="Segoe UI" panose="020B0502040204020203" pitchFamily="34" charset="0"/>
              </a:rPr>
              <a:t>Нийт</a:t>
            </a:r>
            <a:endParaRPr lang="en-US" sz="1000" b="1" i="1"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3F022B-0370-DF2B-0E5B-AC9A2A431C22}"/>
              </a:ext>
            </a:extLst>
          </p:cNvPr>
          <p:cNvSpPr txBox="1"/>
          <p:nvPr/>
        </p:nvSpPr>
        <p:spPr>
          <a:xfrm>
            <a:off x="6341051" y="1097403"/>
            <a:ext cx="39634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cs typeface="Segoe UI" panose="020B0502040204020203" pitchFamily="34" charset="0"/>
              </a:rPr>
              <a:t>DFC </a:t>
            </a:r>
            <a:r>
              <a:rPr lang="mn-MN" sz="1200" b="1" dirty="0">
                <a:solidFill>
                  <a:srgbClr val="002060"/>
                </a:solidFill>
                <a:cs typeface="Segoe UI" panose="020B0502040204020203" pitchFamily="34" charset="0"/>
              </a:rPr>
              <a:t>эх үүсвэртэй </a:t>
            </a:r>
            <a:r>
              <a:rPr lang="mn-MN" sz="1200" b="1">
                <a:solidFill>
                  <a:srgbClr val="002060"/>
                </a:solidFill>
                <a:cs typeface="Segoe UI" panose="020B0502040204020203" pitchFamily="34" charset="0"/>
              </a:rPr>
              <a:t>зээл </a:t>
            </a:r>
            <a:r>
              <a:rPr lang="en-US" sz="1200" i="1">
                <a:solidFill>
                  <a:srgbClr val="002060"/>
                </a:solidFill>
                <a:cs typeface="Segoe UI" panose="020B0502040204020203" pitchFamily="34" charset="0"/>
              </a:rPr>
              <a:t>/</a:t>
            </a:r>
            <a:r>
              <a:rPr lang="mn-MN" sz="1200" i="1">
                <a:solidFill>
                  <a:srgbClr val="002060"/>
                </a:solidFill>
                <a:cs typeface="Segoe UI" panose="020B0502040204020203" pitchFamily="34" charset="0"/>
              </a:rPr>
              <a:t> 2024-2026</a:t>
            </a:r>
            <a:r>
              <a:rPr lang="en-US" sz="1200" i="1">
                <a:solidFill>
                  <a:srgbClr val="002060"/>
                </a:solidFill>
                <a:cs typeface="Segoe UI" panose="020B0502040204020203" pitchFamily="34" charset="0"/>
              </a:rPr>
              <a:t>.</a:t>
            </a:r>
            <a:r>
              <a:rPr lang="mn-MN" sz="1200" i="1">
                <a:solidFill>
                  <a:srgbClr val="002060"/>
                </a:solidFill>
                <a:cs typeface="Segoe UI" panose="020B0502040204020203" pitchFamily="34" charset="0"/>
              </a:rPr>
              <a:t>10</a:t>
            </a:r>
            <a:r>
              <a:rPr lang="en-US" sz="1200" i="1">
                <a:solidFill>
                  <a:srgbClr val="002060"/>
                </a:solidFill>
                <a:cs typeface="Segoe UI" panose="020B0502040204020203" pitchFamily="34" charset="0"/>
              </a:rPr>
              <a:t>/</a:t>
            </a:r>
            <a:endParaRPr lang="en-US" sz="1200" i="1" dirty="0">
              <a:solidFill>
                <a:srgbClr val="002060"/>
              </a:solidFill>
              <a:cs typeface="Segoe UI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C788F8-B107-8A8D-CB0C-2594279FB5CE}"/>
              </a:ext>
            </a:extLst>
          </p:cNvPr>
          <p:cNvSpPr txBox="1"/>
          <p:nvPr/>
        </p:nvSpPr>
        <p:spPr>
          <a:xfrm>
            <a:off x="6415593" y="1844831"/>
            <a:ext cx="1462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mn-MN" sz="1000" b="1" i="1" dirty="0">
                <a:cs typeface="Segoe UI" panose="020B0502040204020203" pitchFamily="34" charset="0"/>
              </a:rPr>
              <a:t>ХУГАЦААНААС ӨМНӨ ТӨЛСӨН</a:t>
            </a:r>
            <a:endParaRPr lang="en-US" sz="1000" b="1" i="1" dirty="0">
              <a:cs typeface="Segoe UI" panose="020B0502040204020203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C39FFB-3FA6-F5F7-B3D8-7C2B4E209F1E}"/>
              </a:ext>
            </a:extLst>
          </p:cNvPr>
          <p:cNvSpPr txBox="1"/>
          <p:nvPr/>
        </p:nvSpPr>
        <p:spPr>
          <a:xfrm>
            <a:off x="288152" y="2512713"/>
            <a:ext cx="62705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mn-MN" sz="1200" b="1" i="1">
                <a:solidFill>
                  <a:srgbClr val="002060"/>
                </a:solidFill>
                <a:cs typeface="Segoe UI" panose="020B0502040204020203" pitchFamily="34" charset="0"/>
              </a:rPr>
              <a:t>Гадаад эх үүсвэртэй зээлийн тооцоолсон алдагдал </a:t>
            </a:r>
            <a:r>
              <a:rPr lang="en-US" sz="1200" i="1">
                <a:solidFill>
                  <a:srgbClr val="002060"/>
                </a:solidFill>
                <a:cs typeface="Segoe UI" panose="020B0502040204020203" pitchFamily="34" charset="0"/>
              </a:rPr>
              <a:t>/</a:t>
            </a:r>
            <a:r>
              <a:rPr lang="mn-MN" sz="1200" i="1">
                <a:solidFill>
                  <a:srgbClr val="002060"/>
                </a:solidFill>
                <a:cs typeface="Segoe UI" panose="020B0502040204020203" pitchFamily="34" charset="0"/>
              </a:rPr>
              <a:t>2024-2026</a:t>
            </a:r>
            <a:r>
              <a:rPr lang="en-US" sz="1200" i="1">
                <a:solidFill>
                  <a:srgbClr val="002060"/>
                </a:solidFill>
                <a:cs typeface="Segoe UI" panose="020B0502040204020203" pitchFamily="34" charset="0"/>
              </a:rPr>
              <a:t>.</a:t>
            </a:r>
            <a:r>
              <a:rPr lang="mn-MN" sz="1200" i="1">
                <a:solidFill>
                  <a:srgbClr val="002060"/>
                </a:solidFill>
                <a:cs typeface="Segoe UI" panose="020B0502040204020203" pitchFamily="34" charset="0"/>
              </a:rPr>
              <a:t>10</a:t>
            </a:r>
            <a:r>
              <a:rPr lang="en-US" sz="1200" i="1">
                <a:solidFill>
                  <a:srgbClr val="002060"/>
                </a:solidFill>
                <a:cs typeface="Segoe UI" panose="020B0502040204020203" pitchFamily="34" charset="0"/>
              </a:rPr>
              <a:t>/</a:t>
            </a:r>
            <a:endParaRPr lang="en-US" sz="1200" i="1" dirty="0">
              <a:solidFill>
                <a:srgbClr val="002060"/>
              </a:solidFill>
              <a:cs typeface="Segoe UI" panose="020B0502040204020203" pitchFamily="34" charset="0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5BF2851-A9DE-9713-9221-1521A7164FD3}"/>
              </a:ext>
            </a:extLst>
          </p:cNvPr>
          <p:cNvSpPr/>
          <p:nvPr/>
        </p:nvSpPr>
        <p:spPr>
          <a:xfrm>
            <a:off x="7846394" y="1794093"/>
            <a:ext cx="1127298" cy="522637"/>
          </a:xfrm>
          <a:prstGeom prst="roundRect">
            <a:avLst/>
          </a:prstGeom>
          <a:solidFill>
            <a:schemeClr val="bg1"/>
          </a:solidFill>
          <a:ln w="9525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4000"/>
              </a:lnSpc>
            </a:pPr>
            <a:r>
              <a:rPr lang="mn-MN" sz="1200" dirty="0">
                <a:solidFill>
                  <a:schemeClr val="tx1"/>
                </a:solidFill>
                <a:cs typeface="Segoe UI" panose="020B0502040204020203" pitchFamily="34" charset="0"/>
              </a:rPr>
              <a:t>6</a:t>
            </a:r>
            <a:endParaRPr lang="en-US" sz="1200" dirty="0">
              <a:solidFill>
                <a:schemeClr val="tx1"/>
              </a:solidFill>
              <a:cs typeface="Segoe UI" panose="020B0502040204020203" pitchFamily="34" charset="0"/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ED64B2C6-8436-A7CC-A6D3-F613A492F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3104" y="1734343"/>
            <a:ext cx="157610" cy="157610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C3EA75EB-B5BF-DFDB-020F-DCEFD1B176AC}"/>
              </a:ext>
            </a:extLst>
          </p:cNvPr>
          <p:cNvSpPr txBox="1"/>
          <p:nvPr/>
        </p:nvSpPr>
        <p:spPr>
          <a:xfrm>
            <a:off x="7846394" y="1558398"/>
            <a:ext cx="11272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i="1">
                <a:cs typeface="Segoe UI" panose="020B0502040204020203" pitchFamily="34" charset="0"/>
              </a:rPr>
              <a:t>COR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8513800A-B46A-71D1-7D29-876C7C009BC1}"/>
              </a:ext>
            </a:extLst>
          </p:cNvPr>
          <p:cNvSpPr/>
          <p:nvPr/>
        </p:nvSpPr>
        <p:spPr>
          <a:xfrm>
            <a:off x="9346677" y="1794093"/>
            <a:ext cx="1127298" cy="522637"/>
          </a:xfrm>
          <a:prstGeom prst="roundRect">
            <a:avLst/>
          </a:prstGeom>
          <a:solidFill>
            <a:schemeClr val="bg1"/>
          </a:solidFill>
          <a:ln w="9525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4000"/>
              </a:lnSpc>
            </a:pPr>
            <a:r>
              <a:rPr lang="mn-MN" sz="1200">
                <a:solidFill>
                  <a:schemeClr val="tx1"/>
                </a:solidFill>
                <a:cs typeface="Segoe UI" panose="020B0502040204020203" pitchFamily="34" charset="0"/>
              </a:rPr>
              <a:t>78</a:t>
            </a:r>
            <a:endParaRPr lang="en-US" sz="1200" dirty="0">
              <a:solidFill>
                <a:schemeClr val="tx1"/>
              </a:solidFill>
              <a:cs typeface="Segoe UI" panose="020B0502040204020203" pitchFamily="34" charset="0"/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37309B3-BDEA-4D33-FBEF-3584279E6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3387" y="1734343"/>
            <a:ext cx="157610" cy="157610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F8B3043-1695-B9AA-A8DF-8CA0C65273EA}"/>
              </a:ext>
            </a:extLst>
          </p:cNvPr>
          <p:cNvSpPr txBox="1"/>
          <p:nvPr/>
        </p:nvSpPr>
        <p:spPr>
          <a:xfrm>
            <a:off x="9346677" y="1558398"/>
            <a:ext cx="11272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i="1">
                <a:cs typeface="Segoe UI" panose="020B0502040204020203" pitchFamily="34" charset="0"/>
              </a:rPr>
              <a:t>SME</a:t>
            </a:r>
          </a:p>
        </p:txBody>
      </p:sp>
      <p:sp>
        <p:nvSpPr>
          <p:cNvPr id="56" name="Plus Sign 55">
            <a:extLst>
              <a:ext uri="{FF2B5EF4-FFF2-40B4-BE49-F238E27FC236}">
                <a16:creationId xmlns:a16="http://schemas.microsoft.com/office/drawing/2014/main" id="{6F1C9D77-80F9-4F90-AFE4-C86304E0F003}"/>
              </a:ext>
            </a:extLst>
          </p:cNvPr>
          <p:cNvSpPr/>
          <p:nvPr/>
        </p:nvSpPr>
        <p:spPr>
          <a:xfrm>
            <a:off x="9067756" y="1937103"/>
            <a:ext cx="216534" cy="208412"/>
          </a:xfrm>
          <a:prstGeom prst="mathPlus">
            <a:avLst>
              <a:gd name="adj1" fmla="val 923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Equals 56">
            <a:extLst>
              <a:ext uri="{FF2B5EF4-FFF2-40B4-BE49-F238E27FC236}">
                <a16:creationId xmlns:a16="http://schemas.microsoft.com/office/drawing/2014/main" id="{6333A6AD-9515-7C92-A3DD-151EC0F70F34}"/>
              </a:ext>
            </a:extLst>
          </p:cNvPr>
          <p:cNvSpPr/>
          <p:nvPr/>
        </p:nvSpPr>
        <p:spPr>
          <a:xfrm>
            <a:off x="10541933" y="1965307"/>
            <a:ext cx="205392" cy="180208"/>
          </a:xfrm>
          <a:prstGeom prst="mathEqual">
            <a:avLst>
              <a:gd name="adj1" fmla="val 11892"/>
              <a:gd name="adj2" fmla="val 1176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08911C09-FDF4-3D50-BC60-6799570109A3}"/>
              </a:ext>
            </a:extLst>
          </p:cNvPr>
          <p:cNvSpPr/>
          <p:nvPr/>
        </p:nvSpPr>
        <p:spPr>
          <a:xfrm>
            <a:off x="10815283" y="1794093"/>
            <a:ext cx="1127298" cy="522637"/>
          </a:xfrm>
          <a:prstGeom prst="roundRect">
            <a:avLst/>
          </a:prstGeom>
          <a:solidFill>
            <a:schemeClr val="bg1"/>
          </a:solidFill>
          <a:ln w="9525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4000"/>
              </a:lnSpc>
            </a:pPr>
            <a:r>
              <a:rPr lang="mn-MN" sz="1200">
                <a:solidFill>
                  <a:schemeClr val="tx1"/>
                </a:solidFill>
                <a:cs typeface="Segoe UI" panose="020B0502040204020203" pitchFamily="34" charset="0"/>
              </a:rPr>
              <a:t>84</a:t>
            </a:r>
            <a:endParaRPr lang="en-US" sz="1200" dirty="0">
              <a:solidFill>
                <a:schemeClr val="tx1"/>
              </a:solidFill>
              <a:cs typeface="Segoe UI" panose="020B0502040204020203" pitchFamily="34" charset="0"/>
            </a:endParaRP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931BEC4-52BD-BF45-2447-4B909039B5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1993" y="1734343"/>
            <a:ext cx="157610" cy="157610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7C828041-CE57-4FA6-BAC1-E260C690D3EF}"/>
              </a:ext>
            </a:extLst>
          </p:cNvPr>
          <p:cNvSpPr txBox="1"/>
          <p:nvPr/>
        </p:nvSpPr>
        <p:spPr>
          <a:xfrm>
            <a:off x="10815283" y="1558398"/>
            <a:ext cx="11272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mn-MN" sz="1000" b="1" i="1">
                <a:cs typeface="Segoe UI" panose="020B0502040204020203" pitchFamily="34" charset="0"/>
              </a:rPr>
              <a:t>Нийт</a:t>
            </a:r>
            <a:endParaRPr lang="en-US" sz="1000" b="1" i="1">
              <a:cs typeface="Segoe UI" panose="020B0502040204020203" pitchFamily="34" charset="0"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55BE342-1226-8CCD-30E9-3AE0BD52099C}"/>
              </a:ext>
            </a:extLst>
          </p:cNvPr>
          <p:cNvCxnSpPr>
            <a:cxnSpLocks/>
          </p:cNvCxnSpPr>
          <p:nvPr/>
        </p:nvCxnSpPr>
        <p:spPr>
          <a:xfrm>
            <a:off x="6095999" y="889323"/>
            <a:ext cx="0" cy="1460659"/>
          </a:xfrm>
          <a:prstGeom prst="line">
            <a:avLst/>
          </a:prstGeom>
          <a:ln w="9525">
            <a:solidFill>
              <a:srgbClr val="00206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3" name="Table 62">
            <a:extLst>
              <a:ext uri="{FF2B5EF4-FFF2-40B4-BE49-F238E27FC236}">
                <a16:creationId xmlns:a16="http://schemas.microsoft.com/office/drawing/2014/main" id="{7AE605C7-8AD9-83CE-3678-0FA251AF46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7762215"/>
              </p:ext>
            </p:extLst>
          </p:nvPr>
        </p:nvGraphicFramePr>
        <p:xfrm>
          <a:off x="720199" y="3067835"/>
          <a:ext cx="4712992" cy="76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9023">
                  <a:extLst>
                    <a:ext uri="{9D8B030D-6E8A-4147-A177-3AD203B41FA5}">
                      <a16:colId xmlns:a16="http://schemas.microsoft.com/office/drawing/2014/main" val="3668361561"/>
                    </a:ext>
                  </a:extLst>
                </a:gridCol>
                <a:gridCol w="2703969">
                  <a:extLst>
                    <a:ext uri="{9D8B030D-6E8A-4147-A177-3AD203B41FA5}">
                      <a16:colId xmlns:a16="http://schemas.microsoft.com/office/drawing/2014/main" val="2460905158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Үлдсэн</a:t>
                      </a:r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хугацааны</a:t>
                      </a:r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ангилал</a:t>
                      </a:r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Хугацаанаас</a:t>
                      </a: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өмнө</a:t>
                      </a: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төлсөн</a:t>
                      </a: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харилцагчийн</a:t>
                      </a: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тоо</a:t>
                      </a: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9103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12 сараас доош </a:t>
                      </a: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255</a:t>
                      </a: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61685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12-24 </a:t>
                      </a:r>
                      <a:r>
                        <a:rPr lang="mn-MN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Сар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149</a:t>
                      </a: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812086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24 сараас дээш  </a:t>
                      </a: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0860104"/>
                  </a:ext>
                </a:extLst>
              </a:tr>
            </a:tbl>
          </a:graphicData>
        </a:graphic>
      </p:graphicFrame>
      <p:graphicFrame>
        <p:nvGraphicFramePr>
          <p:cNvPr id="66" name="Table 65">
            <a:extLst>
              <a:ext uri="{FF2B5EF4-FFF2-40B4-BE49-F238E27FC236}">
                <a16:creationId xmlns:a16="http://schemas.microsoft.com/office/drawing/2014/main" id="{25F91F80-F1FB-6AD3-FC5A-665F6FA9C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8733518"/>
              </p:ext>
            </p:extLst>
          </p:nvPr>
        </p:nvGraphicFramePr>
        <p:xfrm>
          <a:off x="6711260" y="3089203"/>
          <a:ext cx="4712992" cy="571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9023">
                  <a:extLst>
                    <a:ext uri="{9D8B030D-6E8A-4147-A177-3AD203B41FA5}">
                      <a16:colId xmlns:a16="http://schemas.microsoft.com/office/drawing/2014/main" val="3668361561"/>
                    </a:ext>
                  </a:extLst>
                </a:gridCol>
                <a:gridCol w="2703969">
                  <a:extLst>
                    <a:ext uri="{9D8B030D-6E8A-4147-A177-3AD203B41FA5}">
                      <a16:colId xmlns:a16="http://schemas.microsoft.com/office/drawing/2014/main" val="2460905158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Үлдсэн</a:t>
                      </a:r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хугацааны</a:t>
                      </a:r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ангилал</a:t>
                      </a:r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Хугацаанаас</a:t>
                      </a: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өмнө</a:t>
                      </a: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төлсөн</a:t>
                      </a: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харилцагчийн</a:t>
                      </a: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тоо</a:t>
                      </a: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9103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12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сараас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доош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61685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mn-MN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12- 24 сар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8120864"/>
                  </a:ext>
                </a:extLst>
              </a:tr>
            </a:tbl>
          </a:graphicData>
        </a:graphic>
      </p:graphicFrame>
      <p:graphicFrame>
        <p:nvGraphicFramePr>
          <p:cNvPr id="67" name="Chart 66">
            <a:extLst>
              <a:ext uri="{FF2B5EF4-FFF2-40B4-BE49-F238E27FC236}">
                <a16:creationId xmlns:a16="http://schemas.microsoft.com/office/drawing/2014/main" id="{E8BE28B3-2F18-AE45-0DB4-6E075BF0B58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63193870"/>
              </p:ext>
            </p:extLst>
          </p:nvPr>
        </p:nvGraphicFramePr>
        <p:xfrm>
          <a:off x="6249850" y="4338904"/>
          <a:ext cx="5635812" cy="24628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68" name="Picture 67" descr="A blue and black logo&#10;&#10;AI-generated content may be incorrect.">
            <a:extLst>
              <a:ext uri="{FF2B5EF4-FFF2-40B4-BE49-F238E27FC236}">
                <a16:creationId xmlns:a16="http://schemas.microsoft.com/office/drawing/2014/main" id="{C81EB427-B329-10A5-71C5-288F2DFAC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189" y="343598"/>
            <a:ext cx="1140210" cy="425077"/>
          </a:xfrm>
          <a:prstGeom prst="rect">
            <a:avLst/>
          </a:prstGeom>
          <a:noFill/>
        </p:spPr>
      </p:pic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EC44731-ED5A-B2FD-4002-7779A3A3DBAC}"/>
              </a:ext>
            </a:extLst>
          </p:cNvPr>
          <p:cNvCxnSpPr>
            <a:cxnSpLocks/>
          </p:cNvCxnSpPr>
          <p:nvPr/>
        </p:nvCxnSpPr>
        <p:spPr>
          <a:xfrm>
            <a:off x="1683488" y="548810"/>
            <a:ext cx="9892816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3489AEF-49DE-7296-CDC4-6F2F8690F328}"/>
              </a:ext>
            </a:extLst>
          </p:cNvPr>
          <p:cNvGrpSpPr/>
          <p:nvPr/>
        </p:nvGrpSpPr>
        <p:grpSpPr>
          <a:xfrm>
            <a:off x="3903126" y="386359"/>
            <a:ext cx="4385748" cy="322352"/>
            <a:chOff x="4033374" y="215436"/>
            <a:chExt cx="4065373" cy="338092"/>
          </a:xfrm>
        </p:grpSpPr>
        <p:sp>
          <p:nvSpPr>
            <p:cNvPr id="71" name="Rounded Rectangle 40">
              <a:extLst>
                <a:ext uri="{FF2B5EF4-FFF2-40B4-BE49-F238E27FC236}">
                  <a16:creationId xmlns:a16="http://schemas.microsoft.com/office/drawing/2014/main" id="{48D4CA94-C575-1C6B-BE5A-BE1C4C39B448}"/>
                </a:ext>
              </a:extLst>
            </p:cNvPr>
            <p:cNvSpPr/>
            <p:nvPr/>
          </p:nvSpPr>
          <p:spPr>
            <a:xfrm>
              <a:off x="4033374" y="215436"/>
              <a:ext cx="4065373" cy="338092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0B0F0"/>
                </a:gs>
                <a:gs pos="55000">
                  <a:srgbClr val="0080FF"/>
                </a:gs>
                <a:gs pos="100000">
                  <a:srgbClr val="0086C5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Segoe UI" panose="020B0502040204020203" pitchFamily="34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00824230-8BAF-095F-2453-34C5AB00FFEB}"/>
                </a:ext>
              </a:extLst>
            </p:cNvPr>
            <p:cNvSpPr/>
            <p:nvPr/>
          </p:nvSpPr>
          <p:spPr>
            <a:xfrm>
              <a:off x="4244477" y="219631"/>
              <a:ext cx="3643166" cy="322804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mn-MN" sz="1400" b="1">
                  <a:solidFill>
                    <a:schemeClr val="bg1"/>
                  </a:solidFill>
                  <a:cs typeface="Segoe UI" panose="020B0502040204020203" pitchFamily="34" charset="0"/>
                </a:rPr>
                <a:t>Тоон мэдээлэл</a:t>
              </a:r>
              <a:endParaRPr lang="en-US" sz="1400" b="1" dirty="0">
                <a:solidFill>
                  <a:schemeClr val="bg1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BACE99E-BB77-19FF-5D4A-ACB22EC960B1}"/>
              </a:ext>
            </a:extLst>
          </p:cNvPr>
          <p:cNvSpPr txBox="1"/>
          <p:nvPr/>
        </p:nvSpPr>
        <p:spPr>
          <a:xfrm>
            <a:off x="6254811" y="2805511"/>
            <a:ext cx="11272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i="1">
                <a:cs typeface="Segoe UI" panose="020B0502040204020203" pitchFamily="34" charset="0"/>
              </a:rPr>
              <a:t>COR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4E917F-7461-A25E-CA72-D3CB53CF33D4}"/>
              </a:ext>
            </a:extLst>
          </p:cNvPr>
          <p:cNvSpPr txBox="1"/>
          <p:nvPr/>
        </p:nvSpPr>
        <p:spPr>
          <a:xfrm>
            <a:off x="328785" y="2805511"/>
            <a:ext cx="11272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i="1">
                <a:cs typeface="Segoe UI" panose="020B0502040204020203" pitchFamily="34" charset="0"/>
              </a:rPr>
              <a:t>SME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53957A-9C89-1A69-4C05-EF75AA57064B}"/>
              </a:ext>
            </a:extLst>
          </p:cNvPr>
          <p:cNvSpPr txBox="1"/>
          <p:nvPr/>
        </p:nvSpPr>
        <p:spPr>
          <a:xfrm>
            <a:off x="3013701" y="4031127"/>
            <a:ext cx="62705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mn-MN" sz="1200" b="1" i="1">
                <a:solidFill>
                  <a:srgbClr val="002060"/>
                </a:solidFill>
                <a:cs typeface="Segoe UI" panose="020B0502040204020203" pitchFamily="34" charset="0"/>
              </a:rPr>
              <a:t>Тооцоолсон алдагдал </a:t>
            </a:r>
            <a:r>
              <a:rPr lang="en-US" sz="1200" b="1" i="1">
                <a:solidFill>
                  <a:srgbClr val="002060"/>
                </a:solidFill>
                <a:cs typeface="Segoe UI" panose="020B0502040204020203" pitchFamily="34" charset="0"/>
              </a:rPr>
              <a:t>~</a:t>
            </a:r>
            <a:r>
              <a:rPr lang="en-US" sz="1200" i="1">
                <a:solidFill>
                  <a:srgbClr val="002060"/>
                </a:solidFill>
                <a:cs typeface="Segoe UI" panose="020B0502040204020203" pitchFamily="34" charset="0"/>
              </a:rPr>
              <a:t>/</a:t>
            </a:r>
            <a:r>
              <a:rPr lang="mn-MN" sz="1200" i="1">
                <a:solidFill>
                  <a:srgbClr val="002060"/>
                </a:solidFill>
                <a:cs typeface="Segoe UI" panose="020B0502040204020203" pitchFamily="34" charset="0"/>
              </a:rPr>
              <a:t>Тэрбум </a:t>
            </a:r>
            <a:r>
              <a:rPr lang="mn-MN" sz="1200" i="1" u="none" strike="noStrike">
                <a:solidFill>
                  <a:srgbClr val="002060"/>
                </a:solidFill>
                <a:effectLst/>
              </a:rPr>
              <a:t>₮</a:t>
            </a:r>
            <a:r>
              <a:rPr lang="en-US" sz="1200" i="1" u="none" strike="noStrike">
                <a:solidFill>
                  <a:srgbClr val="002060"/>
                </a:solidFill>
                <a:effectLst/>
              </a:rPr>
              <a:t>/</a:t>
            </a:r>
            <a:r>
              <a:rPr lang="mn-MN" sz="1200" i="1">
                <a:solidFill>
                  <a:srgbClr val="002060"/>
                </a:solidFill>
                <a:cs typeface="Segoe UI" panose="020B0502040204020203" pitchFamily="34" charset="0"/>
              </a:rPr>
              <a:t> </a:t>
            </a:r>
            <a:endParaRPr lang="en-US" sz="1200" i="1" dirty="0">
              <a:solidFill>
                <a:srgbClr val="002060"/>
              </a:solidFill>
              <a:cs typeface="Segoe UI" panose="020B0502040204020203" pitchFamily="34" charset="0"/>
            </a:endParaRPr>
          </a:p>
        </p:txBody>
      </p:sp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0C88B530-492D-FB18-9C3B-5D12D4B78CF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1770472"/>
              </p:ext>
            </p:extLst>
          </p:nvPr>
        </p:nvGraphicFramePr>
        <p:xfrm>
          <a:off x="135074" y="4256247"/>
          <a:ext cx="5665729" cy="24482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708313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91282" y="672084"/>
            <a:ext cx="90068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411502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50800" dir="2700000" algn="bl" rotWithShape="0">
              <a:srgbClr val="D6DCE5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11502"/>
            <a:ext cx="109728" cy="1737360"/>
          </a:xfrm>
          <a:prstGeom prst="roundRect">
            <a:avLst>
              <a:gd name="adj" fmla="val 75000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" y="1630958"/>
            <a:ext cx="493776" cy="493776"/>
          </a:xfrm>
          <a:prstGeom prst="ellipse">
            <a:avLst/>
          </a:prstGeom>
          <a:solidFill>
            <a:srgbClr val="DDF5F2"/>
          </a:solidFill>
          <a:ln w="12700">
            <a:solidFill>
              <a:srgbClr val="DDF5F2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520" y="1744526"/>
            <a:ext cx="266639" cy="266639"/>
          </a:xfrm>
          <a:prstGeom prst="rect">
            <a:avLst/>
          </a:prstGeom>
        </p:spPr>
      </p:pic>
      <p:sp>
        <p:nvSpPr>
          <p:cNvPr id="10" name="Text 7">
            <a:hlinkClick r:id="rId5"/>
          </p:cNvPr>
          <p:cNvSpPr/>
          <p:nvPr/>
        </p:nvSpPr>
        <p:spPr>
          <a:xfrm>
            <a:off x="1362456" y="1576094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450" b="1" u="sng" dirty="0">
                <a:solidFill>
                  <a:srgbClr val="102A43"/>
                </a:solidFill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Fannie Mae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362456" y="1850414"/>
            <a:ext cx="41148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АНУ 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mn-MN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Ү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л хөдлөх</a:t>
            </a:r>
            <a:r>
              <a:rPr lang="mn-MN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 хөрөнгийн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 </a:t>
            </a: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санхүүжилт</a:t>
            </a:r>
            <a:endParaRPr lang="en-US" sz="960" dirty="0"/>
          </a:p>
        </p:txBody>
      </p:sp>
      <p:sp>
        <p:nvSpPr>
          <p:cNvPr id="12" name="Text 9"/>
          <p:cNvSpPr/>
          <p:nvPr/>
        </p:nvSpPr>
        <p:spPr>
          <a:xfrm>
            <a:off x="813816" y="2216174"/>
            <a:ext cx="1234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0E7C7B"/>
                </a:solidFill>
                <a:ea typeface="Arial" pitchFamily="34" charset="-122"/>
                <a:cs typeface="Arial" pitchFamily="34" charset="-120"/>
              </a:rPr>
              <a:t>Ямар зээл вэ?</a:t>
            </a:r>
            <a:endParaRPr lang="en-US" sz="980" dirty="0"/>
          </a:p>
        </p:txBody>
      </p:sp>
      <p:sp>
        <p:nvSpPr>
          <p:cNvPr id="13" name="Text 10"/>
          <p:cNvSpPr/>
          <p:nvPr/>
        </p:nvSpPr>
        <p:spPr>
          <a:xfrm>
            <a:off x="813816" y="2417342"/>
            <a:ext cx="221284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5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И</a:t>
            </a:r>
            <a:r>
              <a:rPr lang="mn-MN" sz="95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ргэдэд олгодог үл хөдлөх хөрөнгийн зээл.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218688" y="2216174"/>
            <a:ext cx="24109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mn-MN" sz="980" b="1">
                <a:solidFill>
                  <a:srgbClr val="0E7C7B"/>
                </a:solidFill>
                <a:ea typeface="Arial" pitchFamily="34" charset="-122"/>
                <a:cs typeface="Arial" pitchFamily="34" charset="-120"/>
              </a:rPr>
              <a:t>Хугацаанаас өмнө</a:t>
            </a:r>
            <a:r>
              <a:rPr lang="en-US" sz="980" b="1">
                <a:solidFill>
                  <a:srgbClr val="0E7C7B"/>
                </a:solidFill>
                <a:ea typeface="Arial" pitchFamily="34" charset="-122"/>
                <a:cs typeface="Arial" pitchFamily="34" charset="-120"/>
              </a:rPr>
              <a:t> </a:t>
            </a:r>
            <a:r>
              <a:rPr lang="mn-MN" sz="980" b="1">
                <a:solidFill>
                  <a:srgbClr val="0E7C7B"/>
                </a:solidFill>
                <a:ea typeface="Arial" pitchFamily="34" charset="-122"/>
                <a:cs typeface="Arial" pitchFamily="34" charset="-120"/>
              </a:rPr>
              <a:t>төлөгдөх нөхцөл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3218688" y="2417342"/>
            <a:ext cx="22402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Эхний 12 сард сайн дураар бүрэн хаахыг хязгаарладаг. Дараа нь хугацаанаас өмнө төлөх бол урьдчилан тохирсон төлбөр тооцож болно.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327648" y="1411502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50800" dir="2700000" algn="bl" rotWithShape="0">
              <a:srgbClr val="D6DCE5">
                <a:alpha val="2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27648" y="1411502"/>
            <a:ext cx="109728" cy="1737360"/>
          </a:xfrm>
          <a:prstGeom prst="roundRect">
            <a:avLst>
              <a:gd name="adj" fmla="val 75000"/>
            </a:avLst>
          </a:prstGeom>
          <a:solidFill>
            <a:srgbClr val="0080FF"/>
          </a:solidFill>
          <a:ln w="12700">
            <a:noFill/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630958"/>
            <a:ext cx="493776" cy="493776"/>
          </a:xfrm>
          <a:prstGeom prst="ellipse">
            <a:avLst/>
          </a:prstGeom>
          <a:solidFill>
            <a:srgbClr val="EEEFFC"/>
          </a:solidFill>
          <a:ln w="12700">
            <a:solidFill>
              <a:srgbClr val="EEEFFC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97248" y="1744526"/>
            <a:ext cx="266639" cy="266639"/>
          </a:xfrm>
          <a:prstGeom prst="rect">
            <a:avLst/>
          </a:prstGeom>
        </p:spPr>
      </p:pic>
      <p:sp>
        <p:nvSpPr>
          <p:cNvPr id="20" name="Text 16">
            <a:hlinkClick r:id="rId8"/>
          </p:cNvPr>
          <p:cNvSpPr/>
          <p:nvPr/>
        </p:nvSpPr>
        <p:spPr>
          <a:xfrm>
            <a:off x="7187184" y="1576094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450" b="1" u="sng" dirty="0">
                <a:solidFill>
                  <a:srgbClr val="102A43"/>
                </a:solidFill>
                <a:ea typeface="Arial" pitchFamily="34" charset="-122"/>
                <a:cs typeface="Arial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SBA 7(a)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7187184" y="1850414"/>
            <a:ext cx="41148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АНУ 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mn-MN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Ж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ижиг</a:t>
            </a:r>
            <a:r>
              <a:rPr lang="mn-MN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 дунд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 </a:t>
            </a: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бизнесийн урт хугацааны зээл</a:t>
            </a:r>
            <a:endParaRPr lang="en-US" sz="960" dirty="0"/>
          </a:p>
        </p:txBody>
      </p:sp>
      <p:sp>
        <p:nvSpPr>
          <p:cNvPr id="22" name="Text 18"/>
          <p:cNvSpPr/>
          <p:nvPr/>
        </p:nvSpPr>
        <p:spPr>
          <a:xfrm>
            <a:off x="6638544" y="2216174"/>
            <a:ext cx="1234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0080FF"/>
                </a:solidFill>
                <a:ea typeface="Arial" pitchFamily="34" charset="-122"/>
                <a:cs typeface="Arial" pitchFamily="34" charset="-120"/>
              </a:rPr>
              <a:t>Ямар зээл вэ?</a:t>
            </a:r>
            <a:endParaRPr lang="en-US" sz="980" dirty="0">
              <a:solidFill>
                <a:srgbClr val="0080FF"/>
              </a:solidFill>
            </a:endParaRPr>
          </a:p>
        </p:txBody>
      </p:sp>
      <p:sp>
        <p:nvSpPr>
          <p:cNvPr id="23" name="Text 19"/>
          <p:cNvSpPr/>
          <p:nvPr/>
        </p:nvSpPr>
        <p:spPr>
          <a:xfrm>
            <a:off x="6638544" y="2417342"/>
            <a:ext cx="221284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15 жилээс дээш хугацаатай бизнесийн зээлд том хэмжээний эрт төлөлт банкны мөнгөн урсгалд нөлөөлөх боломжтой гэж үздэг.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9043416" y="2216174"/>
            <a:ext cx="24109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mn-MN" sz="980" b="1">
                <a:solidFill>
                  <a:srgbClr val="0080FF"/>
                </a:solidFill>
                <a:ea typeface="Arial" pitchFamily="34" charset="-122"/>
                <a:cs typeface="Arial" pitchFamily="34" charset="-120"/>
              </a:rPr>
              <a:t>Хугацаанаас өмнө төлөгдөх нөхцөл</a:t>
            </a:r>
            <a:endParaRPr lang="en-US" sz="980" dirty="0">
              <a:solidFill>
                <a:srgbClr val="0080FF"/>
              </a:solidFill>
            </a:endParaRPr>
          </a:p>
        </p:txBody>
      </p:sp>
      <p:sp>
        <p:nvSpPr>
          <p:cNvPr id="25" name="Text 21"/>
          <p:cNvSpPr/>
          <p:nvPr/>
        </p:nvSpPr>
        <p:spPr>
          <a:xfrm>
            <a:off x="9043416" y="2417342"/>
            <a:ext cx="22402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Эхний 3 жилд үлдэгдлийн 25 хувиас дээш төлбөл шаталсан төлбөр хэрэглэдэг: 1-р жил 5%, 2-р жил 3%, 3-р жил 1%.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502920" y="3514622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50800" dir="2700000" algn="bl" rotWithShape="0">
              <a:srgbClr val="D6DCE5">
                <a:alpha val="25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502920" y="3514622"/>
            <a:ext cx="109728" cy="1737360"/>
          </a:xfrm>
          <a:prstGeom prst="roundRect">
            <a:avLst>
              <a:gd name="adj" fmla="val 75000"/>
            </a:avLst>
          </a:prstGeom>
          <a:solidFill>
            <a:srgbClr val="002060"/>
          </a:solidFill>
          <a:ln w="12700">
            <a:noFill/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58952" y="3734078"/>
            <a:ext cx="493776" cy="493776"/>
          </a:xfrm>
          <a:prstGeom prst="ellipse">
            <a:avLst/>
          </a:prstGeom>
          <a:solidFill>
            <a:srgbClr val="E6F2FF"/>
          </a:solidFill>
          <a:ln w="12700">
            <a:solidFill>
              <a:srgbClr val="002060"/>
            </a:solidFill>
            <a:prstDash val="solid"/>
          </a:ln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2520" y="3847646"/>
            <a:ext cx="266639" cy="266639"/>
          </a:xfrm>
          <a:prstGeom prst="rect">
            <a:avLst/>
          </a:prstGeom>
        </p:spPr>
      </p:pic>
      <p:sp>
        <p:nvSpPr>
          <p:cNvPr id="30" name="Text 25">
            <a:hlinkClick r:id="rId11"/>
          </p:cNvPr>
          <p:cNvSpPr/>
          <p:nvPr/>
        </p:nvSpPr>
        <p:spPr>
          <a:xfrm>
            <a:off x="1362456" y="3679214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450" b="1" u="sng" dirty="0">
                <a:solidFill>
                  <a:srgbClr val="102A43"/>
                </a:solidFill>
                <a:ea typeface="Arial" pitchFamily="34" charset="-122"/>
                <a:cs typeface="Arial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World Bank IBRD</a:t>
            </a:r>
            <a:endParaRPr lang="en-US" sz="1450" dirty="0"/>
          </a:p>
        </p:txBody>
      </p:sp>
      <p:sp>
        <p:nvSpPr>
          <p:cNvPr id="31" name="Text 26"/>
          <p:cNvSpPr/>
          <p:nvPr/>
        </p:nvSpPr>
        <p:spPr>
          <a:xfrm>
            <a:off x="1362456" y="3953534"/>
            <a:ext cx="41148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Олон улсын байгууллага • төсөл, улс орны санхүүжилт</a:t>
            </a:r>
            <a:endParaRPr lang="en-US" sz="960" dirty="0"/>
          </a:p>
        </p:txBody>
      </p:sp>
      <p:sp>
        <p:nvSpPr>
          <p:cNvPr id="32" name="Text 27"/>
          <p:cNvSpPr/>
          <p:nvPr/>
        </p:nvSpPr>
        <p:spPr>
          <a:xfrm>
            <a:off x="813816" y="4319294"/>
            <a:ext cx="1234440" cy="182880"/>
          </a:xfrm>
          <a:prstGeom prst="rect">
            <a:avLst/>
          </a:prstGeom>
          <a:noFill/>
          <a:ln>
            <a:noFill/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002060"/>
                </a:solidFill>
                <a:ea typeface="Arial" pitchFamily="34" charset="-122"/>
                <a:cs typeface="Arial" pitchFamily="34" charset="-120"/>
              </a:rPr>
              <a:t>Ямар зээл вэ?</a:t>
            </a:r>
            <a:endParaRPr lang="en-US" sz="980" dirty="0">
              <a:solidFill>
                <a:srgbClr val="002060"/>
              </a:solidFill>
            </a:endParaRPr>
          </a:p>
        </p:txBody>
      </p:sp>
      <p:sp>
        <p:nvSpPr>
          <p:cNvPr id="33" name="Text 28"/>
          <p:cNvSpPr/>
          <p:nvPr/>
        </p:nvSpPr>
        <p:spPr>
          <a:xfrm>
            <a:off x="813816" y="4520462"/>
            <a:ext cx="221284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Урт хугацааны томоохон төслийн санхүүжилт. Эх үүсвэр, хедж, дахин байршуулалтын нөхцөл нь зээлийн үнэд шууд нөлөөлдөг.</a:t>
            </a:r>
            <a:endParaRPr lang="en-US" sz="950" dirty="0"/>
          </a:p>
        </p:txBody>
      </p:sp>
      <p:sp>
        <p:nvSpPr>
          <p:cNvPr id="34" name="Text 29"/>
          <p:cNvSpPr/>
          <p:nvPr/>
        </p:nvSpPr>
        <p:spPr>
          <a:xfrm>
            <a:off x="3218688" y="4319294"/>
            <a:ext cx="2410968" cy="146304"/>
          </a:xfrm>
          <a:prstGeom prst="rect">
            <a:avLst/>
          </a:prstGeom>
          <a:noFill/>
          <a:ln>
            <a:noFill/>
          </a:ln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mn-MN" sz="980" b="1">
                <a:solidFill>
                  <a:srgbClr val="002060"/>
                </a:solidFill>
                <a:ea typeface="Arial" pitchFamily="34" charset="-122"/>
                <a:cs typeface="Arial" pitchFamily="34" charset="-120"/>
              </a:rPr>
              <a:t>Хугацаанаас өмнө төлөгдөх нөхцөл</a:t>
            </a:r>
            <a:endParaRPr lang="en-US" sz="980" dirty="0">
              <a:solidFill>
                <a:srgbClr val="002060"/>
              </a:solidFill>
            </a:endParaRPr>
          </a:p>
        </p:txBody>
      </p:sp>
      <p:sp>
        <p:nvSpPr>
          <p:cNvPr id="35" name="Text 30"/>
          <p:cNvSpPr/>
          <p:nvPr/>
        </p:nvSpPr>
        <p:spPr>
          <a:xfrm>
            <a:off x="3218688" y="4520462"/>
            <a:ext cx="22402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45 хоногийн өмнө мэдэгдэнэ. Төлбөрийг банканд бодитоор гарах санхүүгийн зардлаар тооцдог; алдагдал гарахгүй бол төлбөр авахгүй.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327648" y="3514622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50800" dir="2700000" algn="bl" rotWithShape="0">
              <a:srgbClr val="D6DCE5">
                <a:alpha val="25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27648" y="3514622"/>
            <a:ext cx="109728" cy="1737360"/>
          </a:xfrm>
          <a:prstGeom prst="roundRect">
            <a:avLst>
              <a:gd name="adj" fmla="val 7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583680" y="3734078"/>
            <a:ext cx="493776" cy="493776"/>
          </a:xfrm>
          <a:prstGeom prst="ellipse">
            <a:avLst/>
          </a:prstGeom>
          <a:solidFill>
            <a:srgbClr val="FFF4DF"/>
          </a:solidFill>
          <a:ln w="12700">
            <a:solidFill>
              <a:srgbClr val="FFF4DF"/>
            </a:solidFill>
            <a:prstDash val="solid"/>
          </a:ln>
        </p:spPr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97248" y="3847646"/>
            <a:ext cx="266639" cy="266639"/>
          </a:xfrm>
          <a:prstGeom prst="rect">
            <a:avLst/>
          </a:prstGeom>
        </p:spPr>
      </p:pic>
      <p:sp>
        <p:nvSpPr>
          <p:cNvPr id="40" name="Text 34">
            <a:hlinkClick r:id="rId14"/>
          </p:cNvPr>
          <p:cNvSpPr/>
          <p:nvPr/>
        </p:nvSpPr>
        <p:spPr>
          <a:xfrm>
            <a:off x="7187184" y="3679214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450" b="1" u="sng" dirty="0">
                <a:solidFill>
                  <a:srgbClr val="102A43"/>
                </a:solidFill>
                <a:ea typeface="Arial" pitchFamily="34" charset="-122"/>
                <a:cs typeface="Arial" pitchFamily="34" charset="-12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Halifax</a:t>
            </a:r>
            <a:endParaRPr lang="en-US" sz="1450" dirty="0"/>
          </a:p>
        </p:txBody>
      </p:sp>
      <p:sp>
        <p:nvSpPr>
          <p:cNvPr id="41" name="Text 35"/>
          <p:cNvSpPr/>
          <p:nvPr/>
        </p:nvSpPr>
        <p:spPr>
          <a:xfrm>
            <a:off x="7187184" y="3953534"/>
            <a:ext cx="41148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Их Британи 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mn-MN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Т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огтмол </a:t>
            </a: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хүүтэй орон сууцны зээл</a:t>
            </a:r>
            <a:endParaRPr lang="en-US" sz="960" dirty="0"/>
          </a:p>
        </p:txBody>
      </p:sp>
      <p:sp>
        <p:nvSpPr>
          <p:cNvPr id="42" name="Text 36"/>
          <p:cNvSpPr/>
          <p:nvPr/>
        </p:nvSpPr>
        <p:spPr>
          <a:xfrm>
            <a:off x="6638544" y="4319294"/>
            <a:ext cx="1234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F59E0B"/>
                </a:solidFill>
                <a:ea typeface="Arial" pitchFamily="34" charset="-122"/>
                <a:cs typeface="Arial" pitchFamily="34" charset="-120"/>
              </a:rPr>
              <a:t>Ямар зээл вэ?</a:t>
            </a:r>
            <a:endParaRPr lang="en-US" sz="980" dirty="0"/>
          </a:p>
        </p:txBody>
      </p:sp>
      <p:sp>
        <p:nvSpPr>
          <p:cNvPr id="43" name="Text 37"/>
          <p:cNvSpPr/>
          <p:nvPr/>
        </p:nvSpPr>
        <p:spPr>
          <a:xfrm>
            <a:off x="6638544" y="4520462"/>
            <a:ext cx="221284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Тогтмол хүүтэй орон сууцны зээлд банк хүүгийн орлого, эх үүсвэрийн төлөвлөгөөг урьдчилан тооцсон байдаг.</a:t>
            </a:r>
            <a:endParaRPr lang="en-US" sz="950" dirty="0"/>
          </a:p>
        </p:txBody>
      </p:sp>
      <p:sp>
        <p:nvSpPr>
          <p:cNvPr id="44" name="Text 38"/>
          <p:cNvSpPr/>
          <p:nvPr/>
        </p:nvSpPr>
        <p:spPr>
          <a:xfrm>
            <a:off x="9043416" y="4319294"/>
            <a:ext cx="24109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mn-MN" sz="980" b="1">
                <a:solidFill>
                  <a:srgbClr val="F59E0B"/>
                </a:solidFill>
                <a:ea typeface="Arial" pitchFamily="34" charset="-122"/>
                <a:cs typeface="Arial" pitchFamily="34" charset="-120"/>
              </a:rPr>
              <a:t>Хугацаанаас өмнө төлөгдөх нөхцөл</a:t>
            </a:r>
            <a:endParaRPr lang="en-US" sz="980" dirty="0"/>
          </a:p>
        </p:txBody>
      </p:sp>
      <p:sp>
        <p:nvSpPr>
          <p:cNvPr id="45" name="Text 39"/>
          <p:cNvSpPr/>
          <p:nvPr/>
        </p:nvSpPr>
        <p:spPr>
          <a:xfrm>
            <a:off x="9043416" y="4520462"/>
            <a:ext cx="22402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Жил бүр үндсэн үлдэгдлийн 10 хувь хүртэл дүнг үнэгүй төлж болно. Энэ хэмжээнээс давсан хэсэгт хугацаанаас өмнө төлөх төлбөр ногдоно.</a:t>
            </a:r>
            <a:endParaRPr lang="en-US" sz="950" dirty="0"/>
          </a:p>
        </p:txBody>
      </p:sp>
      <p:sp>
        <p:nvSpPr>
          <p:cNvPr id="46" name="Shape 40"/>
          <p:cNvSpPr/>
          <p:nvPr/>
        </p:nvSpPr>
        <p:spPr>
          <a:xfrm>
            <a:off x="502920" y="5562878"/>
            <a:ext cx="11155680" cy="841248"/>
          </a:xfrm>
          <a:prstGeom prst="roundRect">
            <a:avLst>
              <a:gd name="adj" fmla="val 13043"/>
            </a:avLst>
          </a:prstGeom>
          <a:solidFill>
            <a:srgbClr val="EAF0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749808" y="5745758"/>
            <a:ext cx="438912" cy="438912"/>
          </a:xfrm>
          <a:prstGeom prst="ellipse">
            <a:avLst/>
          </a:prstGeom>
          <a:solidFill>
            <a:srgbClr val="DDE7F0"/>
          </a:solidFill>
          <a:ln w="12700">
            <a:solidFill>
              <a:srgbClr val="DDE7F0"/>
            </a:solidFill>
            <a:prstDash val="solid"/>
          </a:ln>
        </p:spPr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50758" y="5846708"/>
            <a:ext cx="237012" cy="237012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298448" y="5663462"/>
            <a:ext cx="29260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02A43"/>
                </a:solidFill>
                <a:ea typeface="Arial" pitchFamily="34" charset="-122"/>
                <a:cs typeface="Arial" pitchFamily="34" charset="-120"/>
              </a:rPr>
              <a:t>Монголын банкуудын одоогийн байдал</a:t>
            </a:r>
            <a:endParaRPr lang="en-US" sz="1250" dirty="0"/>
          </a:p>
        </p:txBody>
      </p:sp>
      <p:sp>
        <p:nvSpPr>
          <p:cNvPr id="50" name="Text 43"/>
          <p:cNvSpPr/>
          <p:nvPr/>
        </p:nvSpPr>
        <p:spPr>
          <a:xfrm>
            <a:off x="1298448" y="5919494"/>
            <a:ext cx="982980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Нийтэд нээлттэй мэдээллээр “12 сар заавал ашиглах + бодит зардлын нөхөн төлбөр + жил бүр үнэгүй хэсэгчилсэн төлөлт” гэсэн нэгтгэсэн стандарт нөхцөл </a:t>
            </a:r>
            <a:r>
              <a:rPr lang="en-US" sz="97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түгээмэл ашиглаг</a:t>
            </a:r>
            <a:r>
              <a:rPr lang="mn-MN" sz="97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даггүй болно</a:t>
            </a:r>
            <a:r>
              <a:rPr lang="en-US" sz="97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.</a:t>
            </a:r>
            <a:endParaRPr lang="en-US" sz="97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3FEA39-7C34-A386-C4C2-C7F3354B5886}"/>
              </a:ext>
            </a:extLst>
          </p:cNvPr>
          <p:cNvSpPr txBox="1"/>
          <p:nvPr/>
        </p:nvSpPr>
        <p:spPr>
          <a:xfrm>
            <a:off x="466374" y="975082"/>
            <a:ext cx="100217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1200" b="1">
                <a:solidFill>
                  <a:srgbClr val="002060"/>
                </a:solidFill>
                <a:ea typeface="Arial" pitchFamily="34" charset="-122"/>
                <a:cs typeface="Arial" pitchFamily="34" charset="-120"/>
              </a:rPr>
              <a:t>Олон улсын практик: ямар зээл дээр хугацаанаас өмнө төлөлтөд нөхцөл тавьдаг вэ?</a:t>
            </a:r>
            <a:endParaRPr lang="en-US" sz="1200" dirty="0">
              <a:solidFill>
                <a:srgbClr val="002060"/>
              </a:solidFill>
            </a:endParaRPr>
          </a:p>
        </p:txBody>
      </p:sp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97EF37D1-3EF6-B8A5-61F5-A29B19F6BBC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13189" y="343598"/>
            <a:ext cx="1140210" cy="425077"/>
          </a:xfrm>
          <a:prstGeom prst="rect">
            <a:avLst/>
          </a:prstGeom>
          <a:noFill/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814CF16-E7AC-A238-A294-A94A6F4B691E}"/>
              </a:ext>
            </a:extLst>
          </p:cNvPr>
          <p:cNvCxnSpPr>
            <a:cxnSpLocks/>
          </p:cNvCxnSpPr>
          <p:nvPr/>
        </p:nvCxnSpPr>
        <p:spPr>
          <a:xfrm>
            <a:off x="1683488" y="548810"/>
            <a:ext cx="9892816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AC895B9-B824-FD36-0AF7-16476EBE9D03}"/>
              </a:ext>
            </a:extLst>
          </p:cNvPr>
          <p:cNvGrpSpPr/>
          <p:nvPr/>
        </p:nvGrpSpPr>
        <p:grpSpPr>
          <a:xfrm>
            <a:off x="3903126" y="386359"/>
            <a:ext cx="4385748" cy="322352"/>
            <a:chOff x="4033374" y="215436"/>
            <a:chExt cx="4065373" cy="338092"/>
          </a:xfrm>
        </p:grpSpPr>
        <p:sp>
          <p:nvSpPr>
            <p:cNvPr id="57" name="Rounded Rectangle 40">
              <a:extLst>
                <a:ext uri="{FF2B5EF4-FFF2-40B4-BE49-F238E27FC236}">
                  <a16:creationId xmlns:a16="http://schemas.microsoft.com/office/drawing/2014/main" id="{115ABF8B-71F6-60A7-1817-9F15A8F080FE}"/>
                </a:ext>
              </a:extLst>
            </p:cNvPr>
            <p:cNvSpPr/>
            <p:nvPr/>
          </p:nvSpPr>
          <p:spPr>
            <a:xfrm>
              <a:off x="4033374" y="215436"/>
              <a:ext cx="4065373" cy="338092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0B0F0"/>
                </a:gs>
                <a:gs pos="55000">
                  <a:srgbClr val="0080FF"/>
                </a:gs>
                <a:gs pos="100000">
                  <a:srgbClr val="0086C5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Segoe UI" panose="020B0502040204020203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D3497B65-6B51-8CDD-E3CB-70629547259A}"/>
                </a:ext>
              </a:extLst>
            </p:cNvPr>
            <p:cNvSpPr/>
            <p:nvPr/>
          </p:nvSpPr>
          <p:spPr>
            <a:xfrm>
              <a:off x="4244477" y="219631"/>
              <a:ext cx="3643166" cy="322804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mn-MN" sz="1400" b="1">
                  <a:solidFill>
                    <a:schemeClr val="bg1"/>
                  </a:solidFill>
                  <a:cs typeface="Segoe UI" panose="020B0502040204020203" pitchFamily="34" charset="0"/>
                </a:rPr>
                <a:t>Олон улсын бодит шийдэлүүд </a:t>
              </a:r>
              <a:endParaRPr lang="en-US" sz="1400" b="1" dirty="0">
                <a:solidFill>
                  <a:schemeClr val="bg1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59" name="Slide Number Placeholder 1">
            <a:extLst>
              <a:ext uri="{FF2B5EF4-FFF2-40B4-BE49-F238E27FC236}">
                <a16:creationId xmlns:a16="http://schemas.microsoft.com/office/drawing/2014/main" id="{0C0CF783-037F-7230-939F-FE603D7AA189}"/>
              </a:ext>
            </a:extLst>
          </p:cNvPr>
          <p:cNvSpPr txBox="1">
            <a:spLocks/>
          </p:cNvSpPr>
          <p:nvPr/>
        </p:nvSpPr>
        <p:spPr>
          <a:xfrm>
            <a:off x="11828237" y="6454298"/>
            <a:ext cx="228689" cy="3256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58AB41-0EFE-4ABA-B5B9-FE6F944C252A}" type="slidenum">
              <a:rPr lang="en-US" sz="1200" smtClean="0">
                <a:solidFill>
                  <a:schemeClr val="bg1">
                    <a:lumMod val="65000"/>
                  </a:schemeClr>
                </a:solidFill>
                <a:cs typeface="Segoe UI Light" panose="020B0502040204020203" pitchFamily="34" charset="0"/>
              </a:rPr>
              <a:pPr/>
              <a:t>3</a:t>
            </a:fld>
            <a:endParaRPr lang="en-US" sz="1200" dirty="0">
              <a:solidFill>
                <a:schemeClr val="bg1">
                  <a:lumMod val="65000"/>
                </a:schemeClr>
              </a:solidFill>
              <a:cs typeface="Segoe UI Light" panose="020B0502040204020203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91282" y="672084"/>
            <a:ext cx="90068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3FEA39-7C34-A386-C4C2-C7F3354B5886}"/>
              </a:ext>
            </a:extLst>
          </p:cNvPr>
          <p:cNvSpPr txBox="1"/>
          <p:nvPr/>
        </p:nvSpPr>
        <p:spPr>
          <a:xfrm>
            <a:off x="491283" y="1097161"/>
            <a:ext cx="16423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mn-MN" sz="1400" b="1">
                <a:solidFill>
                  <a:srgbClr val="002060"/>
                </a:solidFill>
                <a:ea typeface="Arial" pitchFamily="34" charset="-122"/>
                <a:cs typeface="Arial" pitchFamily="34" charset="-120"/>
              </a:rPr>
              <a:t>Таамаглал</a:t>
            </a:r>
            <a:endParaRPr lang="en-US" sz="1400" dirty="0">
              <a:solidFill>
                <a:srgbClr val="002060"/>
              </a:solidFill>
            </a:endParaRPr>
          </a:p>
        </p:txBody>
      </p:sp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97EF37D1-3EF6-B8A5-61F5-A29B19F6BB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89" y="343598"/>
            <a:ext cx="1140210" cy="425077"/>
          </a:xfrm>
          <a:prstGeom prst="rect">
            <a:avLst/>
          </a:prstGeom>
          <a:noFill/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814CF16-E7AC-A238-A294-A94A6F4B691E}"/>
              </a:ext>
            </a:extLst>
          </p:cNvPr>
          <p:cNvCxnSpPr>
            <a:cxnSpLocks/>
          </p:cNvCxnSpPr>
          <p:nvPr/>
        </p:nvCxnSpPr>
        <p:spPr>
          <a:xfrm>
            <a:off x="1683488" y="548810"/>
            <a:ext cx="9892816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AC895B9-B824-FD36-0AF7-16476EBE9D03}"/>
              </a:ext>
            </a:extLst>
          </p:cNvPr>
          <p:cNvGrpSpPr/>
          <p:nvPr/>
        </p:nvGrpSpPr>
        <p:grpSpPr>
          <a:xfrm>
            <a:off x="3903126" y="386359"/>
            <a:ext cx="4385748" cy="322352"/>
            <a:chOff x="4033374" y="215436"/>
            <a:chExt cx="4065373" cy="338092"/>
          </a:xfrm>
        </p:grpSpPr>
        <p:sp>
          <p:nvSpPr>
            <p:cNvPr id="57" name="Rounded Rectangle 40">
              <a:extLst>
                <a:ext uri="{FF2B5EF4-FFF2-40B4-BE49-F238E27FC236}">
                  <a16:creationId xmlns:a16="http://schemas.microsoft.com/office/drawing/2014/main" id="{115ABF8B-71F6-60A7-1817-9F15A8F080FE}"/>
                </a:ext>
              </a:extLst>
            </p:cNvPr>
            <p:cNvSpPr/>
            <p:nvPr/>
          </p:nvSpPr>
          <p:spPr>
            <a:xfrm>
              <a:off x="4033374" y="215436"/>
              <a:ext cx="4065373" cy="338092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0B0F0"/>
                </a:gs>
                <a:gs pos="55000">
                  <a:srgbClr val="0080FF"/>
                </a:gs>
                <a:gs pos="100000">
                  <a:srgbClr val="0086C5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Segoe UI" panose="020B0502040204020203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D3497B65-6B51-8CDD-E3CB-70629547259A}"/>
                </a:ext>
              </a:extLst>
            </p:cNvPr>
            <p:cNvSpPr/>
            <p:nvPr/>
          </p:nvSpPr>
          <p:spPr>
            <a:xfrm>
              <a:off x="4244477" y="219631"/>
              <a:ext cx="3643166" cy="322804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mn-MN" sz="1400" b="1">
                  <a:solidFill>
                    <a:schemeClr val="bg1"/>
                  </a:solidFill>
                  <a:cs typeface="Segoe UI" panose="020B0502040204020203" pitchFamily="34" charset="0"/>
                </a:rPr>
                <a:t>Ашигт ажиллагаа</a:t>
              </a:r>
              <a:endParaRPr lang="en-US" sz="1400" b="1" dirty="0">
                <a:solidFill>
                  <a:schemeClr val="bg1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59" name="Slide Number Placeholder 1">
            <a:extLst>
              <a:ext uri="{FF2B5EF4-FFF2-40B4-BE49-F238E27FC236}">
                <a16:creationId xmlns:a16="http://schemas.microsoft.com/office/drawing/2014/main" id="{0C0CF783-037F-7230-939F-FE603D7AA189}"/>
              </a:ext>
            </a:extLst>
          </p:cNvPr>
          <p:cNvSpPr txBox="1">
            <a:spLocks/>
          </p:cNvSpPr>
          <p:nvPr/>
        </p:nvSpPr>
        <p:spPr>
          <a:xfrm>
            <a:off x="11828237" y="6454298"/>
            <a:ext cx="228689" cy="3256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58AB41-0EFE-4ABA-B5B9-FE6F944C252A}" type="slidenum">
              <a:rPr lang="en-US" sz="1200" smtClean="0">
                <a:solidFill>
                  <a:schemeClr val="bg1">
                    <a:lumMod val="65000"/>
                  </a:schemeClr>
                </a:solidFill>
                <a:cs typeface="Segoe UI Light" panose="020B0502040204020203" pitchFamily="34" charset="0"/>
              </a:rPr>
              <a:pPr/>
              <a:t>4</a:t>
            </a:fld>
            <a:endParaRPr lang="en-US" sz="1200" dirty="0">
              <a:solidFill>
                <a:schemeClr val="bg1">
                  <a:lumMod val="65000"/>
                </a:schemeClr>
              </a:solidFill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8183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lide Number Placeholder 1">
            <a:extLst>
              <a:ext uri="{FF2B5EF4-FFF2-40B4-BE49-F238E27FC236}">
                <a16:creationId xmlns:a16="http://schemas.microsoft.com/office/drawing/2014/main" id="{F7C1509A-4797-2CB8-5C79-0041D4C3BD96}"/>
              </a:ext>
            </a:extLst>
          </p:cNvPr>
          <p:cNvSpPr txBox="1">
            <a:spLocks/>
          </p:cNvSpPr>
          <p:nvPr/>
        </p:nvSpPr>
        <p:spPr>
          <a:xfrm>
            <a:off x="11828237" y="6454298"/>
            <a:ext cx="228689" cy="3256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58AB41-0EFE-4ABA-B5B9-FE6F944C252A}" type="slidenum">
              <a:rPr lang="en-US" sz="1200" smtClean="0">
                <a:solidFill>
                  <a:schemeClr val="bg1">
                    <a:lumMod val="65000"/>
                  </a:schemeClr>
                </a:solidFill>
                <a:cs typeface="Segoe UI Light" panose="020B0502040204020203" pitchFamily="34" charset="0"/>
              </a:rPr>
              <a:pPr/>
              <a:t>5</a:t>
            </a:fld>
            <a:endParaRPr lang="en-US" sz="1200" dirty="0">
              <a:solidFill>
                <a:schemeClr val="bg1">
                  <a:lumMod val="65000"/>
                </a:schemeClr>
              </a:solidFill>
              <a:cs typeface="Segoe UI Light" panose="020B0502040204020203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C95BEBC-345E-62EE-46F8-BE7CFDBA86F1}"/>
              </a:ext>
            </a:extLst>
          </p:cNvPr>
          <p:cNvSpPr/>
          <p:nvPr/>
        </p:nvSpPr>
        <p:spPr>
          <a:xfrm>
            <a:off x="207819" y="370535"/>
            <a:ext cx="6096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mn-MN" b="1">
                <a:solidFill>
                  <a:srgbClr val="0080FF"/>
                </a:solidFill>
                <a:cs typeface="Segoe UI" panose="020B0502040204020203" pitchFamily="34" charset="0"/>
              </a:rPr>
              <a:t>МОНГОЛ УЛСЫН ХУУЛЬ БА ӨӨРЧЛӨЛТИЙН ЭРСДЭЛ</a:t>
            </a:r>
            <a:endParaRPr lang="mn-MN" b="1" dirty="0">
              <a:solidFill>
                <a:srgbClr val="0080FF"/>
              </a:solidFill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33203A-AFB6-5F27-0980-9ABC4C2FDB9A}"/>
              </a:ext>
            </a:extLst>
          </p:cNvPr>
          <p:cNvSpPr txBox="1"/>
          <p:nvPr/>
        </p:nvSpPr>
        <p:spPr>
          <a:xfrm>
            <a:off x="479444" y="917382"/>
            <a:ext cx="4163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mn-MN" sz="1400" b="1">
                <a:solidFill>
                  <a:srgbClr val="002060"/>
                </a:solidFill>
                <a:cs typeface="Segoe UI" panose="020B0502040204020203" pitchFamily="34" charset="0"/>
              </a:rPr>
              <a:t>Хязгаарлалт байхгүй</a:t>
            </a:r>
            <a:r>
              <a:rPr lang="en-US" sz="1400" b="1">
                <a:solidFill>
                  <a:srgbClr val="002060"/>
                </a:solidFill>
                <a:cs typeface="Segoe UI" panose="020B0502040204020203" pitchFamily="34" charset="0"/>
              </a:rPr>
              <a:t>/</a:t>
            </a:r>
            <a:r>
              <a:rPr lang="mn-MN" sz="1400" b="1">
                <a:solidFill>
                  <a:srgbClr val="002060"/>
                </a:solidFill>
                <a:cs typeface="Segoe UI" panose="020B0502040204020203" pitchFamily="34" charset="0"/>
              </a:rPr>
              <a:t>байгаа </a:t>
            </a:r>
            <a:endParaRPr lang="en-US" sz="1400" b="1" dirty="0">
              <a:solidFill>
                <a:srgbClr val="002060"/>
              </a:solidFill>
              <a:cs typeface="Segoe UI" panose="020B0502040204020203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A39B5C1-D057-ED27-28E1-8E0B1477FC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2675576"/>
              </p:ext>
            </p:extLst>
          </p:nvPr>
        </p:nvGraphicFramePr>
        <p:xfrm>
          <a:off x="381000" y="1672590"/>
          <a:ext cx="8641080" cy="1614170"/>
        </p:xfrm>
        <a:graphic>
          <a:graphicData uri="http://schemas.openxmlformats.org/drawingml/2006/table">
            <a:tbl>
              <a:tblPr/>
              <a:tblGrid>
                <a:gridCol w="3320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0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40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bg1"/>
                          </a:solidFill>
                          <a:latin typeface="+mn-lt"/>
                          <a:ea typeface="DejaVu Sans"/>
                          <a:cs typeface="DejaVu Sans"/>
                        </a:rPr>
                        <a:t>Хүчин төгөлдөр зохицуулалт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8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bg1"/>
                          </a:solidFill>
                          <a:latin typeface="+mn-lt"/>
                          <a:ea typeface="DejaVu Sans"/>
                          <a:cs typeface="DejaVu Sans"/>
                        </a:rPr>
                        <a:t>Шийдвэрт үзүүлэх нөлөө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8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01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2060"/>
                          </a:solidFill>
                          <a:latin typeface="+mn-lt"/>
                          <a:ea typeface="DejaVu Sans"/>
                          <a:cs typeface="DejaVu Sans"/>
                        </a:rPr>
                        <a:t>Иргэний хууль 208.5, 202.1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2060"/>
                          </a:solidFill>
                          <a:latin typeface="+mn-lt"/>
                          <a:ea typeface="DejaVu Sans"/>
                          <a:cs typeface="DejaVu Sans"/>
                        </a:rPr>
                        <a:t>Зээлдүүлэгч татгалзаагүй бол эрт гүйцэтгэж болно. Шударга бус стандарт нөхцөл хүчин төгөлдөр бус болох эрсдэлтэй.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01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002060"/>
                          </a:solidFill>
                          <a:latin typeface="+mn-lt"/>
                          <a:ea typeface="DejaVu Sans"/>
                          <a:cs typeface="DejaVu Sans"/>
                        </a:rPr>
                        <a:t>“</a:t>
                      </a:r>
                      <a:r>
                        <a:rPr lang="mn-MN" sz="1200" b="0">
                          <a:solidFill>
                            <a:srgbClr val="002060"/>
                          </a:solidFill>
                          <a:latin typeface="+mn-lt"/>
                          <a:ea typeface="DejaVu Sans"/>
                          <a:cs typeface="DejaVu Sans"/>
                        </a:rPr>
                        <a:t>Банк, эрх бүхий хуулийн этгээдийн мөнгөн хадгаламж, мөнгөн хөрөнгийн шилжүүлэг, зээлийн үйл ажиллагааны тухай</a:t>
                      </a:r>
                      <a:r>
                        <a:rPr lang="en-US" sz="1200" b="0">
                          <a:solidFill>
                            <a:srgbClr val="002060"/>
                          </a:solidFill>
                          <a:latin typeface="+mn-lt"/>
                          <a:ea typeface="DejaVu Sans"/>
                          <a:cs typeface="DejaVu Sans"/>
                        </a:rPr>
                        <a:t>”</a:t>
                      </a:r>
                      <a:endParaRPr lang="mn-MN" sz="1200" b="0">
                        <a:solidFill>
                          <a:srgbClr val="002060"/>
                        </a:solidFill>
                        <a:latin typeface="+mn-lt"/>
                        <a:ea typeface="DejaVu Sans"/>
                        <a:cs typeface="DejaVu Sans"/>
                      </a:endParaRPr>
                    </a:p>
                    <a:p>
                      <a:r>
                        <a:rPr sz="1200" b="0">
                          <a:solidFill>
                            <a:srgbClr val="002060"/>
                          </a:solidFill>
                          <a:latin typeface="+mn-lt"/>
                          <a:ea typeface="DejaVu Sans"/>
                          <a:cs typeface="DejaVu Sans"/>
                        </a:rPr>
                        <a:t>6.5–6.7, 20.2.6, 21.1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2060"/>
                          </a:solidFill>
                          <a:latin typeface="+mn-lt"/>
                          <a:ea typeface="DejaVu Sans"/>
                          <a:cs typeface="DejaVu Sans"/>
                        </a:rPr>
                        <a:t>Гэрээнд тусгасан, үндэслэлтэй шимтгэл. Давхар авахгүй. Хүүг ашигласан хугацаагаар тооцно.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6687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875293" y="5285401"/>
            <a:ext cx="110672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mn-MN" sz="2400" b="1">
                <a:solidFill>
                  <a:schemeClr val="accent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АНХААРАЛ ХАНДУУЛСАНД БАЯРЛАЛАА</a:t>
            </a:r>
            <a:endParaRPr lang="en-US" sz="2400" b="1" dirty="0">
              <a:solidFill>
                <a:schemeClr val="accent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08B5CE-0120-DE15-8A20-0DC7D4BCBE0E}"/>
              </a:ext>
            </a:extLst>
          </p:cNvPr>
          <p:cNvSpPr txBox="1">
            <a:spLocks/>
          </p:cNvSpPr>
          <p:nvPr/>
        </p:nvSpPr>
        <p:spPr>
          <a:xfrm>
            <a:off x="11828237" y="6454298"/>
            <a:ext cx="228689" cy="3256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58AB41-0EFE-4ABA-B5B9-FE6F944C252A}" type="slidenum">
              <a:rPr lang="en-US" sz="1200" smtClean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pPr/>
              <a:t>6</a:t>
            </a:fld>
            <a:endParaRPr lang="en-US" sz="1200" dirty="0">
              <a:solidFill>
                <a:schemeClr val="bg1">
                  <a:lumMod val="65000"/>
                </a:schemeClr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5048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91282" y="672084"/>
            <a:ext cx="90068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endParaRPr lang="en-US" sz="2200" dirty="0"/>
          </a:p>
        </p:txBody>
      </p:sp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97EF37D1-3EF6-B8A5-61F5-A29B19F6BB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89" y="343598"/>
            <a:ext cx="1140210" cy="425077"/>
          </a:xfrm>
          <a:prstGeom prst="rect">
            <a:avLst/>
          </a:prstGeom>
          <a:noFill/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814CF16-E7AC-A238-A294-A94A6F4B691E}"/>
              </a:ext>
            </a:extLst>
          </p:cNvPr>
          <p:cNvCxnSpPr>
            <a:cxnSpLocks/>
          </p:cNvCxnSpPr>
          <p:nvPr/>
        </p:nvCxnSpPr>
        <p:spPr>
          <a:xfrm>
            <a:off x="1683488" y="548810"/>
            <a:ext cx="9892816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AC895B9-B824-FD36-0AF7-16476EBE9D03}"/>
              </a:ext>
            </a:extLst>
          </p:cNvPr>
          <p:cNvGrpSpPr/>
          <p:nvPr/>
        </p:nvGrpSpPr>
        <p:grpSpPr>
          <a:xfrm>
            <a:off x="3903126" y="386359"/>
            <a:ext cx="4385748" cy="322352"/>
            <a:chOff x="4033374" y="215436"/>
            <a:chExt cx="4065373" cy="338092"/>
          </a:xfrm>
        </p:grpSpPr>
        <p:sp>
          <p:nvSpPr>
            <p:cNvPr id="57" name="Rounded Rectangle 40">
              <a:extLst>
                <a:ext uri="{FF2B5EF4-FFF2-40B4-BE49-F238E27FC236}">
                  <a16:creationId xmlns:a16="http://schemas.microsoft.com/office/drawing/2014/main" id="{115ABF8B-71F6-60A7-1817-9F15A8F080FE}"/>
                </a:ext>
              </a:extLst>
            </p:cNvPr>
            <p:cNvSpPr/>
            <p:nvPr/>
          </p:nvSpPr>
          <p:spPr>
            <a:xfrm>
              <a:off x="4033374" y="215436"/>
              <a:ext cx="4065373" cy="338092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0B0F0"/>
                </a:gs>
                <a:gs pos="55000">
                  <a:srgbClr val="0080FF"/>
                </a:gs>
                <a:gs pos="100000">
                  <a:srgbClr val="0086C5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Segoe UI" panose="020B0502040204020203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D3497B65-6B51-8CDD-E3CB-70629547259A}"/>
                </a:ext>
              </a:extLst>
            </p:cNvPr>
            <p:cNvSpPr/>
            <p:nvPr/>
          </p:nvSpPr>
          <p:spPr>
            <a:xfrm>
              <a:off x="4244477" y="219631"/>
              <a:ext cx="3643166" cy="322804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mn-MN" sz="1400" b="1">
                  <a:solidFill>
                    <a:schemeClr val="bg1"/>
                  </a:solidFill>
                  <a:cs typeface="Segoe UI" panose="020B0502040204020203" pitchFamily="34" charset="0"/>
                </a:rPr>
                <a:t>ХАВСРАЛТ</a:t>
              </a:r>
              <a:endParaRPr lang="en-US" sz="1400" b="1" dirty="0">
                <a:solidFill>
                  <a:schemeClr val="bg1"/>
                </a:solidFill>
                <a:cs typeface="Segoe UI" panose="020B0502040204020203" pitchFamily="34" charset="0"/>
              </a:endParaRPr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A848DDD2-5BCD-1045-FA57-28382C394C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644640"/>
              </p:ext>
            </p:extLst>
          </p:nvPr>
        </p:nvGraphicFramePr>
        <p:xfrm>
          <a:off x="491282" y="1748412"/>
          <a:ext cx="5345295" cy="47320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88553">
                  <a:extLst>
                    <a:ext uri="{9D8B030D-6E8A-4147-A177-3AD203B41FA5}">
                      <a16:colId xmlns:a16="http://schemas.microsoft.com/office/drawing/2014/main" val="2731035160"/>
                    </a:ext>
                  </a:extLst>
                </a:gridCol>
                <a:gridCol w="1264236">
                  <a:extLst>
                    <a:ext uri="{9D8B030D-6E8A-4147-A177-3AD203B41FA5}">
                      <a16:colId xmlns:a16="http://schemas.microsoft.com/office/drawing/2014/main" val="1065254699"/>
                    </a:ext>
                  </a:extLst>
                </a:gridCol>
                <a:gridCol w="926394">
                  <a:extLst>
                    <a:ext uri="{9D8B030D-6E8A-4147-A177-3AD203B41FA5}">
                      <a16:colId xmlns:a16="http://schemas.microsoft.com/office/drawing/2014/main" val="1370235925"/>
                    </a:ext>
                  </a:extLst>
                </a:gridCol>
                <a:gridCol w="2566112">
                  <a:extLst>
                    <a:ext uri="{9D8B030D-6E8A-4147-A177-3AD203B41FA5}">
                      <a16:colId xmlns:a16="http://schemas.microsoft.com/office/drawing/2014/main" val="35252987"/>
                    </a:ext>
                  </a:extLst>
                </a:gridCol>
              </a:tblGrid>
              <a:tr h="125218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u="none" strike="noStrike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mn-MN" sz="800" b="1" u="none" strike="noStrike">
                          <a:solidFill>
                            <a:schemeClr val="bg1"/>
                          </a:solidFill>
                          <a:effectLst/>
                        </a:rPr>
                        <a:t>Хугацааны матриц</a:t>
                      </a:r>
                      <a:r>
                        <a:rPr lang="en-US" sz="800" b="1" u="none" strike="noStrike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endParaRPr lang="en-US" sz="8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Хугацаанаас өмнө төлсөн харилцагчийн тоо </a:t>
                      </a: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n-MN" sz="800" b="1" u="none" strike="noStrike">
                          <a:solidFill>
                            <a:schemeClr val="bg1"/>
                          </a:solidFill>
                          <a:effectLst/>
                        </a:rPr>
                        <a:t>Чөлөөлөгдсөн эх үүсвэр </a:t>
                      </a:r>
                      <a:endParaRPr lang="mn-MN" sz="8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n-MN" sz="800" b="1" u="none" strike="noStrike">
                          <a:solidFill>
                            <a:schemeClr val="bg1"/>
                          </a:solidFill>
                          <a:effectLst/>
                        </a:rPr>
                        <a:t>Дахин хөрөнгө оруулалт хийгээгүй үеийн алдагдал </a:t>
                      </a:r>
                      <a:endParaRPr lang="mn-MN" sz="8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473883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24.00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27.00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5,018,024,133.41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    572,684,530.48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23497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27.00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1.00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2,614,040.67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               343,746.95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8798822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29.00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1.00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27,436,781.61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          2,661,451.46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3605698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30.00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27.00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1,814,504,888.89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    258,046,823.35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6727995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36.00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79.00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22,877,522,071.75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3,424,317,697.20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9519728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48.00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98.00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7,934,133,340.28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1,965,684,342.12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0838301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60.00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36.00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9,959,039,833.33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2,917,976,070.85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7165781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72.00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3.00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286,816,666.67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    117,401,096.08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243781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84.00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2.00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301,806,944.44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    135,336,904.41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436291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96.00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28.00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4,711,510,920.14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2,532,041,106.94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999474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108.00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2.00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1,975,796,296.30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1,059,129,696.96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630211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109.00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1.00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459,724,678.90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    282,495,659.75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3391063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115.00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1.00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156,912,627.91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    107,237,891.12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129689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120.00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43.00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17,011,121,272.55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11,249,975,907.00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624285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125.00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1.00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190,013,616.36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    144,063,981.17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503324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137.00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1.00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1,825,839,416.06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   1,258,884,019.35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7146431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180.00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44.00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19,690,109,721.85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21,190,859,737.03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008017"/>
                  </a:ext>
                </a:extLst>
              </a:tr>
              <a:tr h="234784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</a:t>
                      </a:r>
                      <a:r>
                        <a:rPr lang="mn-MN" sz="800" u="none" strike="noStrike">
                          <a:effectLst/>
                        </a:rPr>
                        <a:t>Нийт</a:t>
                      </a:r>
                      <a:r>
                        <a:rPr lang="en-US" sz="800" u="none" strike="noStrike">
                          <a:effectLst/>
                        </a:rPr>
                        <a:t> 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383.00 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94,242,927,251.12 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                                                                                                         47,219,140,662.24 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444658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26265EAA-0F76-C069-7740-714CBC1D3746}"/>
              </a:ext>
            </a:extLst>
          </p:cNvPr>
          <p:cNvSpPr txBox="1"/>
          <p:nvPr/>
        </p:nvSpPr>
        <p:spPr>
          <a:xfrm>
            <a:off x="8547830" y="1461058"/>
            <a:ext cx="11272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i="1">
                <a:cs typeface="Segoe UI" panose="020B0502040204020203" pitchFamily="34" charset="0"/>
              </a:rPr>
              <a:t>COR</a:t>
            </a:r>
          </a:p>
        </p:txBody>
      </p:sp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D21B046F-D4C9-BA76-DFE1-53FA72DA7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8611189"/>
              </p:ext>
            </p:extLst>
          </p:nvPr>
        </p:nvGraphicFramePr>
        <p:xfrm>
          <a:off x="6355423" y="1748412"/>
          <a:ext cx="5512112" cy="30595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0099">
                  <a:extLst>
                    <a:ext uri="{9D8B030D-6E8A-4147-A177-3AD203B41FA5}">
                      <a16:colId xmlns:a16="http://schemas.microsoft.com/office/drawing/2014/main" val="3527738604"/>
                    </a:ext>
                  </a:extLst>
                </a:gridCol>
                <a:gridCol w="1281887">
                  <a:extLst>
                    <a:ext uri="{9D8B030D-6E8A-4147-A177-3AD203B41FA5}">
                      <a16:colId xmlns:a16="http://schemas.microsoft.com/office/drawing/2014/main" val="305462183"/>
                    </a:ext>
                  </a:extLst>
                </a:gridCol>
                <a:gridCol w="876256">
                  <a:extLst>
                    <a:ext uri="{9D8B030D-6E8A-4147-A177-3AD203B41FA5}">
                      <a16:colId xmlns:a16="http://schemas.microsoft.com/office/drawing/2014/main" val="751367216"/>
                    </a:ext>
                  </a:extLst>
                </a:gridCol>
                <a:gridCol w="2703870">
                  <a:extLst>
                    <a:ext uri="{9D8B030D-6E8A-4147-A177-3AD203B41FA5}">
                      <a16:colId xmlns:a16="http://schemas.microsoft.com/office/drawing/2014/main" val="4064818492"/>
                    </a:ext>
                  </a:extLst>
                </a:gridCol>
              </a:tblGrid>
              <a:tr h="346401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mn-MN" sz="800" b="1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Хугацааны матриц</a:t>
                      </a:r>
                      <a:r>
                        <a:rPr lang="en-US" sz="800" b="1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 </a:t>
                      </a:r>
                      <a:endParaRPr lang="en-US" sz="800" b="1" i="0" u="none" strike="noStrike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Хугацаанаас өмнө төлсөн харилцагчийн тоо </a:t>
                      </a: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n-MN" sz="800" b="1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Чөлөөлөгдсөн эх үүсвэр </a:t>
                      </a:r>
                      <a:endParaRPr lang="mn-MN" sz="800" b="1" i="0" u="none" strike="noStrike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n-MN" sz="800" b="1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Дахин хөрөнгө оруулалт хийгээгүй үеийн алдагдал </a:t>
                      </a:r>
                      <a:endParaRPr lang="mn-MN" sz="800" b="1" i="0" u="none" strike="noStrike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5217" marR="5217" marT="5217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861838"/>
                  </a:ext>
                </a:extLst>
              </a:tr>
              <a:tr h="339145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24.00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</a:t>
                      </a:r>
                      <a:r>
                        <a:rPr lang="mn-MN" sz="800" u="none" strike="noStrike">
                          <a:effectLst/>
                          <a:latin typeface="+mn-lt"/>
                        </a:rPr>
                        <a:t>10</a:t>
                      </a:r>
                      <a:r>
                        <a:rPr lang="en-US" sz="800" u="none" strike="noStrike">
                          <a:effectLst/>
                          <a:latin typeface="+mn-lt"/>
                        </a:rPr>
                        <a:t>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3,882,885,993.55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                                                           485,585,132.77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9465584"/>
                  </a:ext>
                </a:extLst>
              </a:tr>
              <a:tr h="339145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27.00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1.00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12,451,691,103.17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                                                      1,637,400,264.71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7618941"/>
                  </a:ext>
                </a:extLst>
              </a:tr>
              <a:tr h="339145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31.00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1.00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22,243,467,125.11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                                                      3,141,525,661.47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9177987"/>
                  </a:ext>
                </a:extLst>
              </a:tr>
              <a:tr h="339145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36.00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1.00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152,106,186.76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                                                              23,627,738.76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672197"/>
                  </a:ext>
                </a:extLst>
              </a:tr>
              <a:tr h="339145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60.00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1.00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86,185,689.53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                                                              25,162,895.87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6372407"/>
                  </a:ext>
                </a:extLst>
              </a:tr>
              <a:tr h="339145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120.00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1.00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420,564,324.58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                                                           270,840,725.71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7025640"/>
                  </a:ext>
                </a:extLst>
              </a:tr>
              <a:tr h="339145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180.00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1.00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734,616,359.99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                                                           876,920,767.54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410370"/>
                  </a:ext>
                </a:extLst>
              </a:tr>
              <a:tr h="339145"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</a:t>
                      </a:r>
                      <a:r>
                        <a:rPr lang="mn-MN" sz="800" u="none" strike="noStrike">
                          <a:effectLst/>
                          <a:latin typeface="+mn-lt"/>
                        </a:rPr>
                        <a:t>Нийт</a:t>
                      </a:r>
                      <a:r>
                        <a:rPr lang="en-US" sz="800" u="none" strike="noStrike">
                          <a:effectLst/>
                          <a:latin typeface="+mn-lt"/>
                        </a:rPr>
                        <a:t> 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1</a:t>
                      </a:r>
                      <a:r>
                        <a:rPr lang="mn-MN" sz="800" u="none" strike="noStrike">
                          <a:effectLst/>
                          <a:latin typeface="+mn-lt"/>
                        </a:rPr>
                        <a:t>6</a:t>
                      </a:r>
                      <a:r>
                        <a:rPr lang="en-US" sz="800" u="none" strike="noStrike">
                          <a:effectLst/>
                          <a:latin typeface="+mn-lt"/>
                        </a:rPr>
                        <a:t>.00 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39,971,516,782.68 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  <a:latin typeface="+mn-lt"/>
                        </a:rPr>
                        <a:t>                                                                                                                     6,461,063,186.82 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513239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F71B6C90-1143-77CE-D3CF-BA7F4811A95F}"/>
              </a:ext>
            </a:extLst>
          </p:cNvPr>
          <p:cNvSpPr txBox="1"/>
          <p:nvPr/>
        </p:nvSpPr>
        <p:spPr>
          <a:xfrm>
            <a:off x="2775828" y="1461058"/>
            <a:ext cx="11272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i="1">
                <a:cs typeface="Segoe UI" panose="020B0502040204020203" pitchFamily="34" charset="0"/>
              </a:rPr>
              <a:t>SME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6DC7DE8-78D0-4D42-7F2F-D4D976850023}"/>
              </a:ext>
            </a:extLst>
          </p:cNvPr>
          <p:cNvSpPr txBox="1"/>
          <p:nvPr/>
        </p:nvSpPr>
        <p:spPr>
          <a:xfrm>
            <a:off x="313189" y="960926"/>
            <a:ext cx="5782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mn-MN" sz="1400" b="1">
                <a:solidFill>
                  <a:srgbClr val="002060"/>
                </a:solidFill>
                <a:cs typeface="Segoe UI" panose="020B0502040204020203" pitchFamily="34" charset="0"/>
              </a:rPr>
              <a:t>Гадаад эх үүсвэртэй зээл хугацааны интеграци </a:t>
            </a:r>
            <a:r>
              <a:rPr lang="en-US" sz="1400" i="1">
                <a:solidFill>
                  <a:srgbClr val="002060"/>
                </a:solidFill>
                <a:cs typeface="Segoe UI" panose="020B0502040204020203" pitchFamily="34" charset="0"/>
              </a:rPr>
              <a:t>/</a:t>
            </a:r>
            <a:r>
              <a:rPr lang="mn-MN" sz="1400" i="1">
                <a:solidFill>
                  <a:srgbClr val="002060"/>
                </a:solidFill>
                <a:cs typeface="Segoe UI" panose="020B0502040204020203" pitchFamily="34" charset="0"/>
              </a:rPr>
              <a:t> 2024-2026</a:t>
            </a:r>
            <a:r>
              <a:rPr lang="en-US" sz="1400" i="1">
                <a:solidFill>
                  <a:srgbClr val="002060"/>
                </a:solidFill>
                <a:cs typeface="Segoe UI" panose="020B0502040204020203" pitchFamily="34" charset="0"/>
              </a:rPr>
              <a:t>.</a:t>
            </a:r>
            <a:r>
              <a:rPr lang="mn-MN" sz="1400" i="1">
                <a:solidFill>
                  <a:srgbClr val="002060"/>
                </a:solidFill>
                <a:cs typeface="Segoe UI" panose="020B0502040204020203" pitchFamily="34" charset="0"/>
              </a:rPr>
              <a:t>10</a:t>
            </a:r>
            <a:r>
              <a:rPr lang="en-US" sz="1400" i="1">
                <a:solidFill>
                  <a:srgbClr val="002060"/>
                </a:solidFill>
                <a:cs typeface="Segoe UI" panose="020B0502040204020203" pitchFamily="34" charset="0"/>
              </a:rPr>
              <a:t>/</a:t>
            </a:r>
            <a:endParaRPr lang="mn-MN" sz="1400" b="1">
              <a:solidFill>
                <a:srgbClr val="002060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424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91282" y="672084"/>
            <a:ext cx="90068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endParaRPr lang="en-US" sz="2200" dirty="0"/>
          </a:p>
        </p:txBody>
      </p:sp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97EF37D1-3EF6-B8A5-61F5-A29B19F6BB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89" y="343598"/>
            <a:ext cx="1140210" cy="425077"/>
          </a:xfrm>
          <a:prstGeom prst="rect">
            <a:avLst/>
          </a:prstGeom>
          <a:noFill/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814CF16-E7AC-A238-A294-A94A6F4B691E}"/>
              </a:ext>
            </a:extLst>
          </p:cNvPr>
          <p:cNvCxnSpPr>
            <a:cxnSpLocks/>
          </p:cNvCxnSpPr>
          <p:nvPr/>
        </p:nvCxnSpPr>
        <p:spPr>
          <a:xfrm>
            <a:off x="1683488" y="548810"/>
            <a:ext cx="9892816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AC895B9-B824-FD36-0AF7-16476EBE9D03}"/>
              </a:ext>
            </a:extLst>
          </p:cNvPr>
          <p:cNvGrpSpPr/>
          <p:nvPr/>
        </p:nvGrpSpPr>
        <p:grpSpPr>
          <a:xfrm>
            <a:off x="3903126" y="386359"/>
            <a:ext cx="4385748" cy="322352"/>
            <a:chOff x="4033374" y="215436"/>
            <a:chExt cx="4065373" cy="338092"/>
          </a:xfrm>
        </p:grpSpPr>
        <p:sp>
          <p:nvSpPr>
            <p:cNvPr id="57" name="Rounded Rectangle 40">
              <a:extLst>
                <a:ext uri="{FF2B5EF4-FFF2-40B4-BE49-F238E27FC236}">
                  <a16:creationId xmlns:a16="http://schemas.microsoft.com/office/drawing/2014/main" id="{115ABF8B-71F6-60A7-1817-9F15A8F080FE}"/>
                </a:ext>
              </a:extLst>
            </p:cNvPr>
            <p:cNvSpPr/>
            <p:nvPr/>
          </p:nvSpPr>
          <p:spPr>
            <a:xfrm>
              <a:off x="4033374" y="215436"/>
              <a:ext cx="4065373" cy="338092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0B0F0"/>
                </a:gs>
                <a:gs pos="55000">
                  <a:srgbClr val="0080FF"/>
                </a:gs>
                <a:gs pos="100000">
                  <a:srgbClr val="0086C5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Segoe UI" panose="020B0502040204020203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D3497B65-6B51-8CDD-E3CB-70629547259A}"/>
                </a:ext>
              </a:extLst>
            </p:cNvPr>
            <p:cNvSpPr/>
            <p:nvPr/>
          </p:nvSpPr>
          <p:spPr>
            <a:xfrm>
              <a:off x="4244477" y="219631"/>
              <a:ext cx="3643166" cy="322804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mn-MN" sz="1400" b="1">
                  <a:solidFill>
                    <a:schemeClr val="bg1"/>
                  </a:solidFill>
                  <a:cs typeface="Segoe UI" panose="020B0502040204020203" pitchFamily="34" charset="0"/>
                </a:rPr>
                <a:t>ХАВСРАЛТ</a:t>
              </a:r>
              <a:endParaRPr lang="en-US" sz="1400" b="1" dirty="0">
                <a:solidFill>
                  <a:schemeClr val="bg1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6DC7DE8-78D0-4D42-7F2F-D4D976850023}"/>
              </a:ext>
            </a:extLst>
          </p:cNvPr>
          <p:cNvSpPr txBox="1"/>
          <p:nvPr/>
        </p:nvSpPr>
        <p:spPr>
          <a:xfrm>
            <a:off x="234531" y="1186024"/>
            <a:ext cx="5782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2060"/>
                </a:solidFill>
                <a:cs typeface="Segoe UI" panose="020B0502040204020203" pitchFamily="34" charset="0"/>
              </a:rPr>
              <a:t>DFC </a:t>
            </a:r>
            <a:r>
              <a:rPr lang="mn-MN" sz="1400" b="1">
                <a:solidFill>
                  <a:srgbClr val="002060"/>
                </a:solidFill>
                <a:cs typeface="Segoe UI" panose="020B0502040204020203" pitchFamily="34" charset="0"/>
              </a:rPr>
              <a:t>эх үүсвэртэй зээл </a:t>
            </a:r>
            <a:r>
              <a:rPr lang="en-US" sz="1400" i="1">
                <a:solidFill>
                  <a:srgbClr val="002060"/>
                </a:solidFill>
                <a:cs typeface="Segoe UI" panose="020B0502040204020203" pitchFamily="34" charset="0"/>
              </a:rPr>
              <a:t>/</a:t>
            </a:r>
            <a:r>
              <a:rPr lang="mn-MN" sz="1400" i="1">
                <a:solidFill>
                  <a:srgbClr val="002060"/>
                </a:solidFill>
                <a:cs typeface="Segoe UI" panose="020B0502040204020203" pitchFamily="34" charset="0"/>
              </a:rPr>
              <a:t> 2024-2026</a:t>
            </a:r>
            <a:r>
              <a:rPr lang="en-US" sz="1400" i="1">
                <a:solidFill>
                  <a:srgbClr val="002060"/>
                </a:solidFill>
                <a:cs typeface="Segoe UI" panose="020B0502040204020203" pitchFamily="34" charset="0"/>
              </a:rPr>
              <a:t>.</a:t>
            </a:r>
            <a:r>
              <a:rPr lang="mn-MN" sz="1400" i="1">
                <a:solidFill>
                  <a:srgbClr val="002060"/>
                </a:solidFill>
                <a:cs typeface="Segoe UI" panose="020B0502040204020203" pitchFamily="34" charset="0"/>
              </a:rPr>
              <a:t>10</a:t>
            </a:r>
            <a:r>
              <a:rPr lang="en-US" sz="1400" i="1">
                <a:solidFill>
                  <a:srgbClr val="002060"/>
                </a:solidFill>
                <a:cs typeface="Segoe UI" panose="020B0502040204020203" pitchFamily="34" charset="0"/>
              </a:rPr>
              <a:t>/</a:t>
            </a:r>
            <a:endParaRPr lang="en-US" sz="1400" i="1" dirty="0">
              <a:solidFill>
                <a:srgbClr val="002060"/>
              </a:solidFill>
              <a:cs typeface="Segoe UI" panose="020B0502040204020203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64500B4-CDE4-8FF8-0DE6-9DD2072797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187855"/>
              </p:ext>
            </p:extLst>
          </p:nvPr>
        </p:nvGraphicFramePr>
        <p:xfrm>
          <a:off x="759542" y="1950598"/>
          <a:ext cx="10515600" cy="16247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4586">
                  <a:extLst>
                    <a:ext uri="{9D8B030D-6E8A-4147-A177-3AD203B41FA5}">
                      <a16:colId xmlns:a16="http://schemas.microsoft.com/office/drawing/2014/main" val="3833459252"/>
                    </a:ext>
                  </a:extLst>
                </a:gridCol>
                <a:gridCol w="2979085">
                  <a:extLst>
                    <a:ext uri="{9D8B030D-6E8A-4147-A177-3AD203B41FA5}">
                      <a16:colId xmlns:a16="http://schemas.microsoft.com/office/drawing/2014/main" val="2863210241"/>
                    </a:ext>
                  </a:extLst>
                </a:gridCol>
                <a:gridCol w="2456744">
                  <a:extLst>
                    <a:ext uri="{9D8B030D-6E8A-4147-A177-3AD203B41FA5}">
                      <a16:colId xmlns:a16="http://schemas.microsoft.com/office/drawing/2014/main" val="1770861874"/>
                    </a:ext>
                  </a:extLst>
                </a:gridCol>
                <a:gridCol w="3145185">
                  <a:extLst>
                    <a:ext uri="{9D8B030D-6E8A-4147-A177-3AD203B41FA5}">
                      <a16:colId xmlns:a16="http://schemas.microsoft.com/office/drawing/2014/main" val="1946944684"/>
                    </a:ext>
                  </a:extLst>
                </a:gridCol>
              </a:tblGrid>
              <a:tr h="458305">
                <a:tc>
                  <a:txBody>
                    <a:bodyPr/>
                    <a:lstStyle/>
                    <a:p>
                      <a:pPr algn="ctr" fontAlgn="b"/>
                      <a:r>
                        <a:rPr lang="mn-MN" sz="1000" b="1" u="none" strike="noStrike">
                          <a:solidFill>
                            <a:schemeClr val="bg1"/>
                          </a:solidFill>
                          <a:effectLst/>
                        </a:rPr>
                        <a:t> Үлдсэн хугацааны ангилал </a:t>
                      </a:r>
                      <a:endParaRPr lang="mn-MN" sz="1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n-MN" sz="1000" b="1" u="none" strike="noStrike">
                          <a:solidFill>
                            <a:schemeClr val="bg1"/>
                          </a:solidFill>
                          <a:effectLst/>
                        </a:rPr>
                        <a:t> Хугацаанаас өмнө төлсөн харилцагчийн тоо </a:t>
                      </a:r>
                      <a:endParaRPr lang="mn-MN" sz="1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n-MN" sz="1000" b="1" u="none" strike="noStrike">
                          <a:solidFill>
                            <a:schemeClr val="bg1"/>
                          </a:solidFill>
                          <a:effectLst/>
                        </a:rPr>
                        <a:t> Чөлөөлөгдсөн эх үүсвэр </a:t>
                      </a:r>
                      <a:endParaRPr lang="mn-MN" sz="1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n-MN" sz="1000" b="1" u="none" strike="noStrike">
                          <a:solidFill>
                            <a:schemeClr val="bg1"/>
                          </a:solidFill>
                          <a:effectLst/>
                        </a:rPr>
                        <a:t> Дахин байршуулалт хийгдээгүй үеийн алдагдал </a:t>
                      </a:r>
                      <a:endParaRPr lang="mn-MN" sz="1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2407869"/>
                  </a:ext>
                </a:extLst>
              </a:tr>
              <a:tr h="388827">
                <a:tc>
                  <a:txBody>
                    <a:bodyPr/>
                    <a:lstStyle/>
                    <a:p>
                      <a:pPr algn="ctr" fontAlgn="b"/>
                      <a:r>
                        <a:rPr lang="mn-MN" sz="1000" u="none" strike="noStrike">
                          <a:effectLst/>
                        </a:rPr>
                        <a:t> 12 сараас доош </a:t>
                      </a:r>
                      <a:endParaRPr lang="mn-MN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                                                                                                         37.00 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                                                                                      9,775,489,324.07 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                                                                                                     2,275,506,152.71 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3031732"/>
                  </a:ext>
                </a:extLst>
              </a:tr>
              <a:tr h="388827">
                <a:tc>
                  <a:txBody>
                    <a:bodyPr/>
                    <a:lstStyle/>
                    <a:p>
                      <a:pPr algn="ctr" fontAlgn="b"/>
                      <a:r>
                        <a:rPr lang="mn-MN" sz="1000" u="none" strike="noStrike">
                          <a:effectLst/>
                        </a:rPr>
                        <a:t> </a:t>
                      </a:r>
                      <a:r>
                        <a:rPr lang="en-US" sz="1000" u="none" strike="noStrike">
                          <a:effectLst/>
                        </a:rPr>
                        <a:t>12-24</a:t>
                      </a:r>
                      <a:endParaRPr lang="mn-MN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                                                                                                         39.00 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                                                                                      7,636,390,710.58 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                                                                                                     1,434,292,283.29 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534473"/>
                  </a:ext>
                </a:extLst>
              </a:tr>
              <a:tr h="388827">
                <a:tc>
                  <a:txBody>
                    <a:bodyPr/>
                    <a:lstStyle/>
                    <a:p>
                      <a:pPr algn="ctr" fontAlgn="b"/>
                      <a:r>
                        <a:rPr lang="mn-MN" sz="1000" u="none" strike="noStrike">
                          <a:effectLst/>
                        </a:rPr>
                        <a:t> 24 сараас дээш  </a:t>
                      </a:r>
                      <a:endParaRPr lang="mn-MN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                                                                                                            2.00 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                                                                                          587,555,555.56 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                                                                                                             90,345,029.25 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1" marR="7121" marT="7121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0743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B8AEF8D-653F-8E7C-7B0F-3941B22C4D69}"/>
              </a:ext>
            </a:extLst>
          </p:cNvPr>
          <p:cNvSpPr txBox="1"/>
          <p:nvPr/>
        </p:nvSpPr>
        <p:spPr>
          <a:xfrm>
            <a:off x="491282" y="1704377"/>
            <a:ext cx="11272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i="1">
                <a:cs typeface="Segoe UI" panose="020B0502040204020203" pitchFamily="34" charset="0"/>
              </a:rPr>
              <a:t>SME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E7F5D9-FC52-8051-BF5E-5221BF2209D3}"/>
              </a:ext>
            </a:extLst>
          </p:cNvPr>
          <p:cNvSpPr txBox="1"/>
          <p:nvPr/>
        </p:nvSpPr>
        <p:spPr>
          <a:xfrm>
            <a:off x="491282" y="3885797"/>
            <a:ext cx="11272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i="1">
                <a:cs typeface="Segoe UI" panose="020B0502040204020203" pitchFamily="34" charset="0"/>
              </a:rPr>
              <a:t>COR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2416833-9C69-1855-7512-2A760A0AB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356387"/>
              </p:ext>
            </p:extLst>
          </p:nvPr>
        </p:nvGraphicFramePr>
        <p:xfrm>
          <a:off x="759542" y="4323466"/>
          <a:ext cx="10515600" cy="14784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3481">
                  <a:extLst>
                    <a:ext uri="{9D8B030D-6E8A-4147-A177-3AD203B41FA5}">
                      <a16:colId xmlns:a16="http://schemas.microsoft.com/office/drawing/2014/main" val="3627784805"/>
                    </a:ext>
                  </a:extLst>
                </a:gridCol>
                <a:gridCol w="2999016">
                  <a:extLst>
                    <a:ext uri="{9D8B030D-6E8A-4147-A177-3AD203B41FA5}">
                      <a16:colId xmlns:a16="http://schemas.microsoft.com/office/drawing/2014/main" val="1318715467"/>
                    </a:ext>
                  </a:extLst>
                </a:gridCol>
                <a:gridCol w="2349909">
                  <a:extLst>
                    <a:ext uri="{9D8B030D-6E8A-4147-A177-3AD203B41FA5}">
                      <a16:colId xmlns:a16="http://schemas.microsoft.com/office/drawing/2014/main" val="1815878137"/>
                    </a:ext>
                  </a:extLst>
                </a:gridCol>
                <a:gridCol w="3183194">
                  <a:extLst>
                    <a:ext uri="{9D8B030D-6E8A-4147-A177-3AD203B41FA5}">
                      <a16:colId xmlns:a16="http://schemas.microsoft.com/office/drawing/2014/main" val="3416389520"/>
                    </a:ext>
                  </a:extLst>
                </a:gridCol>
              </a:tblGrid>
              <a:tr h="492801">
                <a:tc>
                  <a:txBody>
                    <a:bodyPr/>
                    <a:lstStyle/>
                    <a:p>
                      <a:pPr algn="ctr" fontAlgn="b"/>
                      <a:r>
                        <a:rPr lang="mn-MN" sz="1000" b="1" u="none" strike="noStrike">
                          <a:solidFill>
                            <a:schemeClr val="bg1"/>
                          </a:solidFill>
                          <a:effectLst/>
                        </a:rPr>
                        <a:t>Үлдсэн хугацааны ангилал</a:t>
                      </a:r>
                      <a:endParaRPr lang="mn-MN" sz="1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n-MN" sz="1000" b="1" u="none" strike="noStrike">
                          <a:solidFill>
                            <a:schemeClr val="bg1"/>
                          </a:solidFill>
                          <a:effectLst/>
                        </a:rPr>
                        <a:t>Хугацаанаас өмнө төлсөн харилцагчийн тоо</a:t>
                      </a:r>
                      <a:endParaRPr lang="mn-MN" sz="1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n-MN" sz="1000" b="1" u="none" strike="noStrike">
                          <a:solidFill>
                            <a:schemeClr val="bg1"/>
                          </a:solidFill>
                          <a:effectLst/>
                        </a:rPr>
                        <a:t>Чөлөөлөгдсөн эх үүсвэр</a:t>
                      </a:r>
                      <a:endParaRPr lang="mn-MN" sz="1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n-MN" sz="1000" b="1" u="none" strike="noStrike">
                          <a:solidFill>
                            <a:schemeClr val="bg1"/>
                          </a:solidFill>
                          <a:effectLst/>
                        </a:rPr>
                        <a:t>Дахин байршуулалт хийгдээгүй үеийн алдагдал</a:t>
                      </a:r>
                      <a:endParaRPr lang="mn-MN" sz="1000" b="1" i="0" u="none" strike="noStrike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1715657"/>
                  </a:ext>
                </a:extLst>
              </a:tr>
              <a:tr h="492801">
                <a:tc>
                  <a:txBody>
                    <a:bodyPr/>
                    <a:lstStyle/>
                    <a:p>
                      <a:pPr algn="ctr" fontAlgn="b"/>
                      <a:r>
                        <a:rPr lang="mn-MN" sz="1000" u="none" strike="noStrike">
                          <a:effectLst/>
                        </a:rPr>
                        <a:t>12 сараас доош</a:t>
                      </a:r>
                      <a:endParaRPr lang="mn-MN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23,940,830,464.16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3,383,845,794.23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572468"/>
                  </a:ext>
                </a:extLst>
              </a:tr>
              <a:tr h="492801">
                <a:tc>
                  <a:txBody>
                    <a:bodyPr/>
                    <a:lstStyle/>
                    <a:p>
                      <a:pPr algn="ctr" fontAlgn="b"/>
                      <a:r>
                        <a:rPr lang="mn-MN" sz="1000" u="none" strike="noStrike">
                          <a:effectLst/>
                        </a:rPr>
                        <a:t>24 сараас доош</a:t>
                      </a:r>
                      <a:endParaRPr lang="mn-MN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122,464,705.51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25,532,474.57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3287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6633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91282" y="672084"/>
            <a:ext cx="90068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486315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50800" dir="2700000" algn="bl" rotWithShape="0">
              <a:srgbClr val="D6DCE5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6315"/>
            <a:ext cx="109728" cy="1737360"/>
          </a:xfrm>
          <a:prstGeom prst="roundRect">
            <a:avLst>
              <a:gd name="adj" fmla="val 75000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" y="1705771"/>
            <a:ext cx="493776" cy="493776"/>
          </a:xfrm>
          <a:prstGeom prst="ellipse">
            <a:avLst/>
          </a:prstGeom>
          <a:solidFill>
            <a:srgbClr val="DDF5F2"/>
          </a:solidFill>
          <a:ln w="12700">
            <a:solidFill>
              <a:srgbClr val="DDF5F2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520" y="1819339"/>
            <a:ext cx="266639" cy="266639"/>
          </a:xfrm>
          <a:prstGeom prst="rect">
            <a:avLst/>
          </a:prstGeom>
        </p:spPr>
      </p:pic>
      <p:sp>
        <p:nvSpPr>
          <p:cNvPr id="10" name="Text 7">
            <a:hlinkClick r:id="rId5"/>
          </p:cNvPr>
          <p:cNvSpPr/>
          <p:nvPr/>
        </p:nvSpPr>
        <p:spPr>
          <a:xfrm>
            <a:off x="1362456" y="1650907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450" b="1" u="sng" dirty="0">
                <a:solidFill>
                  <a:srgbClr val="102A43"/>
                </a:solidFill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Fannie Mae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362456" y="1925227"/>
            <a:ext cx="41148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АНУ 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mn-MN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Ү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л хөдлөх</a:t>
            </a:r>
            <a:r>
              <a:rPr lang="mn-MN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 хөрөнгийн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 </a:t>
            </a: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санхүүжилт</a:t>
            </a:r>
            <a:endParaRPr lang="en-US" sz="960" dirty="0"/>
          </a:p>
        </p:txBody>
      </p:sp>
      <p:sp>
        <p:nvSpPr>
          <p:cNvPr id="12" name="Text 9"/>
          <p:cNvSpPr/>
          <p:nvPr/>
        </p:nvSpPr>
        <p:spPr>
          <a:xfrm>
            <a:off x="813816" y="2290987"/>
            <a:ext cx="1234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0E7C7B"/>
                </a:solidFill>
                <a:ea typeface="Arial" pitchFamily="34" charset="-122"/>
                <a:cs typeface="Arial" pitchFamily="34" charset="-120"/>
              </a:rPr>
              <a:t>Ямар зээл вэ?</a:t>
            </a:r>
            <a:endParaRPr lang="en-US" sz="980" dirty="0"/>
          </a:p>
        </p:txBody>
      </p:sp>
      <p:sp>
        <p:nvSpPr>
          <p:cNvPr id="13" name="Text 10"/>
          <p:cNvSpPr/>
          <p:nvPr/>
        </p:nvSpPr>
        <p:spPr>
          <a:xfrm>
            <a:off x="813816" y="2492155"/>
            <a:ext cx="221284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5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И</a:t>
            </a:r>
            <a:r>
              <a:rPr lang="mn-MN" sz="95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ргэдэд олгодог үл хөдлөх хөрөнгийн зээл.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218688" y="2290987"/>
            <a:ext cx="24109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mn-MN" sz="980" b="1">
                <a:solidFill>
                  <a:srgbClr val="0E7C7B"/>
                </a:solidFill>
                <a:ea typeface="Arial" pitchFamily="34" charset="-122"/>
                <a:cs typeface="Arial" pitchFamily="34" charset="-120"/>
              </a:rPr>
              <a:t>Хугацаанаас өмнө</a:t>
            </a:r>
            <a:r>
              <a:rPr lang="en-US" sz="980" b="1">
                <a:solidFill>
                  <a:srgbClr val="0E7C7B"/>
                </a:solidFill>
                <a:ea typeface="Arial" pitchFamily="34" charset="-122"/>
                <a:cs typeface="Arial" pitchFamily="34" charset="-120"/>
              </a:rPr>
              <a:t> </a:t>
            </a:r>
            <a:r>
              <a:rPr lang="mn-MN" sz="980" b="1">
                <a:solidFill>
                  <a:srgbClr val="0E7C7B"/>
                </a:solidFill>
                <a:ea typeface="Arial" pitchFamily="34" charset="-122"/>
                <a:cs typeface="Arial" pitchFamily="34" charset="-120"/>
              </a:rPr>
              <a:t>төлөгдөх нөхцөл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3218688" y="2492155"/>
            <a:ext cx="22402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Эхний 12 сард сайн дураар бүрэн хаахыг хязгаарладаг. Дараа нь хугацаанаас өмнө төлөх бол урьдчилан тохирсон төлбөр тооцож болно.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327648" y="1486315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50800" dir="2700000" algn="bl" rotWithShape="0">
              <a:srgbClr val="D6DCE5">
                <a:alpha val="2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27648" y="1486315"/>
            <a:ext cx="109728" cy="1737360"/>
          </a:xfrm>
          <a:prstGeom prst="roundRect">
            <a:avLst>
              <a:gd name="adj" fmla="val 75000"/>
            </a:avLst>
          </a:prstGeom>
          <a:solidFill>
            <a:srgbClr val="5B5F97"/>
          </a:solidFill>
          <a:ln w="12700">
            <a:solidFill>
              <a:srgbClr val="5B5F9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705771"/>
            <a:ext cx="493776" cy="493776"/>
          </a:xfrm>
          <a:prstGeom prst="ellipse">
            <a:avLst/>
          </a:prstGeom>
          <a:solidFill>
            <a:srgbClr val="EEEFFC"/>
          </a:solidFill>
          <a:ln w="12700">
            <a:solidFill>
              <a:srgbClr val="EEEFFC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97248" y="1819339"/>
            <a:ext cx="266639" cy="266639"/>
          </a:xfrm>
          <a:prstGeom prst="rect">
            <a:avLst/>
          </a:prstGeom>
        </p:spPr>
      </p:pic>
      <p:sp>
        <p:nvSpPr>
          <p:cNvPr id="20" name="Text 16">
            <a:hlinkClick r:id="rId8"/>
          </p:cNvPr>
          <p:cNvSpPr/>
          <p:nvPr/>
        </p:nvSpPr>
        <p:spPr>
          <a:xfrm>
            <a:off x="7187184" y="1650907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450" b="1" u="sng" dirty="0">
                <a:solidFill>
                  <a:srgbClr val="102A43"/>
                </a:solidFill>
                <a:ea typeface="Arial" pitchFamily="34" charset="-122"/>
                <a:cs typeface="Arial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SBA 7(a)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7187184" y="1925227"/>
            <a:ext cx="41148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АНУ 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mn-MN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Ж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ижиг</a:t>
            </a:r>
            <a:r>
              <a:rPr lang="mn-MN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 дунд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 </a:t>
            </a: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бизнесийн урт хугацааны зээл</a:t>
            </a:r>
            <a:endParaRPr lang="en-US" sz="960" dirty="0"/>
          </a:p>
        </p:txBody>
      </p:sp>
      <p:sp>
        <p:nvSpPr>
          <p:cNvPr id="22" name="Text 18"/>
          <p:cNvSpPr/>
          <p:nvPr/>
        </p:nvSpPr>
        <p:spPr>
          <a:xfrm>
            <a:off x="6638544" y="2290987"/>
            <a:ext cx="1234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5B5F97"/>
                </a:solidFill>
                <a:ea typeface="Arial" pitchFamily="34" charset="-122"/>
                <a:cs typeface="Arial" pitchFamily="34" charset="-120"/>
              </a:rPr>
              <a:t>Ямар зээл вэ?</a:t>
            </a:r>
            <a:endParaRPr lang="en-US" sz="980" dirty="0"/>
          </a:p>
        </p:txBody>
      </p:sp>
      <p:sp>
        <p:nvSpPr>
          <p:cNvPr id="23" name="Text 19"/>
          <p:cNvSpPr/>
          <p:nvPr/>
        </p:nvSpPr>
        <p:spPr>
          <a:xfrm>
            <a:off x="6638544" y="2492155"/>
            <a:ext cx="221284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15 жилээс дээш хугацаатай бизнесийн зээлд том хэмжээний эрт төлөлт банкны мөнгөн урсгалд нөлөөлөх боломжтой гэж үздэг.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9043416" y="2290987"/>
            <a:ext cx="24109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mn-MN" sz="980" b="1">
                <a:solidFill>
                  <a:srgbClr val="5B5F97"/>
                </a:solidFill>
                <a:ea typeface="Arial" pitchFamily="34" charset="-122"/>
                <a:cs typeface="Arial" pitchFamily="34" charset="-120"/>
              </a:rPr>
              <a:t>Хугацаанаас өмнө төлөгдөх нөхцөл</a:t>
            </a:r>
            <a:endParaRPr lang="en-US" sz="980" dirty="0"/>
          </a:p>
        </p:txBody>
      </p:sp>
      <p:sp>
        <p:nvSpPr>
          <p:cNvPr id="25" name="Text 21"/>
          <p:cNvSpPr/>
          <p:nvPr/>
        </p:nvSpPr>
        <p:spPr>
          <a:xfrm>
            <a:off x="9043416" y="2492155"/>
            <a:ext cx="22402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Эхний 3 жилд үлдэгдлийн 25 хувиас дээш төлбөл шаталсан төлбөр хэрэглэдэг: 1-р жил 5%, 2-р жил 3%, 3-р жил 1%.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502920" y="3589435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50800" dir="2700000" algn="bl" rotWithShape="0">
              <a:srgbClr val="D6DCE5">
                <a:alpha val="25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502920" y="3589435"/>
            <a:ext cx="109728" cy="1737360"/>
          </a:xfrm>
          <a:prstGeom prst="roundRect">
            <a:avLst>
              <a:gd name="adj" fmla="val 75000"/>
            </a:avLst>
          </a:prstGeom>
          <a:solidFill>
            <a:srgbClr val="002060"/>
          </a:solidFill>
          <a:ln w="12700">
            <a:noFill/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58952" y="3808891"/>
            <a:ext cx="493776" cy="493776"/>
          </a:xfrm>
          <a:prstGeom prst="ellipse">
            <a:avLst/>
          </a:prstGeom>
          <a:solidFill>
            <a:srgbClr val="E6F2FF"/>
          </a:solidFill>
          <a:ln w="12700">
            <a:solidFill>
              <a:srgbClr val="002060"/>
            </a:solidFill>
            <a:prstDash val="solid"/>
          </a:ln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2520" y="3922459"/>
            <a:ext cx="266639" cy="266639"/>
          </a:xfrm>
          <a:prstGeom prst="rect">
            <a:avLst/>
          </a:prstGeom>
        </p:spPr>
      </p:pic>
      <p:sp>
        <p:nvSpPr>
          <p:cNvPr id="30" name="Text 25">
            <a:hlinkClick r:id="rId11"/>
          </p:cNvPr>
          <p:cNvSpPr/>
          <p:nvPr/>
        </p:nvSpPr>
        <p:spPr>
          <a:xfrm>
            <a:off x="1362456" y="3754027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450" b="1" u="sng" dirty="0">
                <a:solidFill>
                  <a:srgbClr val="102A43"/>
                </a:solidFill>
                <a:ea typeface="Arial" pitchFamily="34" charset="-122"/>
                <a:cs typeface="Arial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World Bank IBRD</a:t>
            </a:r>
            <a:endParaRPr lang="en-US" sz="1450" dirty="0"/>
          </a:p>
        </p:txBody>
      </p:sp>
      <p:sp>
        <p:nvSpPr>
          <p:cNvPr id="31" name="Text 26"/>
          <p:cNvSpPr/>
          <p:nvPr/>
        </p:nvSpPr>
        <p:spPr>
          <a:xfrm>
            <a:off x="1362456" y="4028347"/>
            <a:ext cx="41148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Олон улсын байгууллага • төсөл, улс орны санхүүжилт</a:t>
            </a:r>
            <a:endParaRPr lang="en-US" sz="960" dirty="0"/>
          </a:p>
        </p:txBody>
      </p:sp>
      <p:sp>
        <p:nvSpPr>
          <p:cNvPr id="32" name="Text 27"/>
          <p:cNvSpPr/>
          <p:nvPr/>
        </p:nvSpPr>
        <p:spPr>
          <a:xfrm>
            <a:off x="813816" y="4394107"/>
            <a:ext cx="1234440" cy="182880"/>
          </a:xfrm>
          <a:prstGeom prst="rect">
            <a:avLst/>
          </a:prstGeom>
          <a:noFill/>
          <a:ln>
            <a:noFill/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002060"/>
                </a:solidFill>
                <a:ea typeface="Arial" pitchFamily="34" charset="-122"/>
                <a:cs typeface="Arial" pitchFamily="34" charset="-120"/>
              </a:rPr>
              <a:t>Ямар зээл вэ?</a:t>
            </a:r>
            <a:endParaRPr lang="en-US" sz="980" dirty="0">
              <a:solidFill>
                <a:srgbClr val="002060"/>
              </a:solidFill>
            </a:endParaRPr>
          </a:p>
        </p:txBody>
      </p:sp>
      <p:sp>
        <p:nvSpPr>
          <p:cNvPr id="33" name="Text 28"/>
          <p:cNvSpPr/>
          <p:nvPr/>
        </p:nvSpPr>
        <p:spPr>
          <a:xfrm>
            <a:off x="813816" y="4595275"/>
            <a:ext cx="221284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Урт хугацааны томоохон төслийн санхүүжилт. Эх үүсвэр, хедж, дахин байршуулалтын нөхцөл нь зээлийн үнэд шууд нөлөөлдөг.</a:t>
            </a:r>
            <a:endParaRPr lang="en-US" sz="950" dirty="0"/>
          </a:p>
        </p:txBody>
      </p:sp>
      <p:sp>
        <p:nvSpPr>
          <p:cNvPr id="34" name="Text 29"/>
          <p:cNvSpPr/>
          <p:nvPr/>
        </p:nvSpPr>
        <p:spPr>
          <a:xfrm>
            <a:off x="3218688" y="4394107"/>
            <a:ext cx="2410968" cy="146304"/>
          </a:xfrm>
          <a:prstGeom prst="rect">
            <a:avLst/>
          </a:prstGeom>
          <a:noFill/>
          <a:ln>
            <a:noFill/>
          </a:ln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mn-MN" sz="980" b="1">
                <a:solidFill>
                  <a:srgbClr val="002060"/>
                </a:solidFill>
                <a:ea typeface="Arial" pitchFamily="34" charset="-122"/>
                <a:cs typeface="Arial" pitchFamily="34" charset="-120"/>
              </a:rPr>
              <a:t>Хугацаанаас өмнө төлөгдөх нөхцөл</a:t>
            </a:r>
            <a:endParaRPr lang="en-US" sz="980" dirty="0">
              <a:solidFill>
                <a:srgbClr val="002060"/>
              </a:solidFill>
            </a:endParaRPr>
          </a:p>
        </p:txBody>
      </p:sp>
      <p:sp>
        <p:nvSpPr>
          <p:cNvPr id="35" name="Text 30"/>
          <p:cNvSpPr/>
          <p:nvPr/>
        </p:nvSpPr>
        <p:spPr>
          <a:xfrm>
            <a:off x="3218688" y="4595275"/>
            <a:ext cx="22402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45 хоногийн өмнө мэдэгдэнэ. Төлбөрийг банканд бодитоор гарах санхүүгийн зардлаар тооцдог; алдагдал гарахгүй бол төлбөр авахгүй.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327648" y="3589435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50800" dir="2700000" algn="bl" rotWithShape="0">
              <a:srgbClr val="D6DCE5">
                <a:alpha val="25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27648" y="3589435"/>
            <a:ext cx="109728" cy="1737360"/>
          </a:xfrm>
          <a:prstGeom prst="roundRect">
            <a:avLst>
              <a:gd name="adj" fmla="val 7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583680" y="3808891"/>
            <a:ext cx="493776" cy="493776"/>
          </a:xfrm>
          <a:prstGeom prst="ellipse">
            <a:avLst/>
          </a:prstGeom>
          <a:solidFill>
            <a:srgbClr val="FFF4DF"/>
          </a:solidFill>
          <a:ln w="12700">
            <a:solidFill>
              <a:srgbClr val="FFF4DF"/>
            </a:solidFill>
            <a:prstDash val="solid"/>
          </a:ln>
        </p:spPr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97248" y="3922459"/>
            <a:ext cx="266639" cy="266639"/>
          </a:xfrm>
          <a:prstGeom prst="rect">
            <a:avLst/>
          </a:prstGeom>
        </p:spPr>
      </p:pic>
      <p:sp>
        <p:nvSpPr>
          <p:cNvPr id="40" name="Text 34">
            <a:hlinkClick r:id="rId14"/>
          </p:cNvPr>
          <p:cNvSpPr/>
          <p:nvPr/>
        </p:nvSpPr>
        <p:spPr>
          <a:xfrm>
            <a:off x="7187184" y="3754027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450" b="1" u="sng" dirty="0">
                <a:solidFill>
                  <a:srgbClr val="102A43"/>
                </a:solidFill>
                <a:ea typeface="Arial" pitchFamily="34" charset="-122"/>
                <a:cs typeface="Arial" pitchFamily="34" charset="-12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Halifax</a:t>
            </a:r>
            <a:endParaRPr lang="en-US" sz="1450" dirty="0"/>
          </a:p>
        </p:txBody>
      </p:sp>
      <p:sp>
        <p:nvSpPr>
          <p:cNvPr id="41" name="Text 35"/>
          <p:cNvSpPr/>
          <p:nvPr/>
        </p:nvSpPr>
        <p:spPr>
          <a:xfrm>
            <a:off x="7187184" y="4028347"/>
            <a:ext cx="41148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Их Британи 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mn-MN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Т</a:t>
            </a:r>
            <a:r>
              <a:rPr lang="en-US" sz="96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огтмол </a:t>
            </a:r>
            <a:r>
              <a:rPr lang="en-US" sz="960" dirty="0">
                <a:solidFill>
                  <a:srgbClr val="5C6773"/>
                </a:solidFill>
                <a:ea typeface="Arial" pitchFamily="34" charset="-122"/>
                <a:cs typeface="Arial" pitchFamily="34" charset="-120"/>
              </a:rPr>
              <a:t>хүүтэй орон сууцны зээл</a:t>
            </a:r>
            <a:endParaRPr lang="en-US" sz="960" dirty="0"/>
          </a:p>
        </p:txBody>
      </p:sp>
      <p:sp>
        <p:nvSpPr>
          <p:cNvPr id="42" name="Text 36"/>
          <p:cNvSpPr/>
          <p:nvPr/>
        </p:nvSpPr>
        <p:spPr>
          <a:xfrm>
            <a:off x="6638544" y="4394107"/>
            <a:ext cx="1234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F59E0B"/>
                </a:solidFill>
                <a:ea typeface="Arial" pitchFamily="34" charset="-122"/>
                <a:cs typeface="Arial" pitchFamily="34" charset="-120"/>
              </a:rPr>
              <a:t>Ямар зээл вэ?</a:t>
            </a:r>
            <a:endParaRPr lang="en-US" sz="980" dirty="0"/>
          </a:p>
        </p:txBody>
      </p:sp>
      <p:sp>
        <p:nvSpPr>
          <p:cNvPr id="43" name="Text 37"/>
          <p:cNvSpPr/>
          <p:nvPr/>
        </p:nvSpPr>
        <p:spPr>
          <a:xfrm>
            <a:off x="6638544" y="4595275"/>
            <a:ext cx="221284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Тогтмол хүүтэй орон сууцны зээлд банк хүүгийн орлого, эх үүсвэрийн төлөвлөгөөг урьдчилан тооцсон байдаг.</a:t>
            </a:r>
            <a:endParaRPr lang="en-US" sz="950" dirty="0"/>
          </a:p>
        </p:txBody>
      </p:sp>
      <p:sp>
        <p:nvSpPr>
          <p:cNvPr id="44" name="Text 38"/>
          <p:cNvSpPr/>
          <p:nvPr/>
        </p:nvSpPr>
        <p:spPr>
          <a:xfrm>
            <a:off x="9043416" y="4394107"/>
            <a:ext cx="24109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mn-MN" sz="980" b="1">
                <a:solidFill>
                  <a:srgbClr val="F59E0B"/>
                </a:solidFill>
                <a:ea typeface="Arial" pitchFamily="34" charset="-122"/>
                <a:cs typeface="Arial" pitchFamily="34" charset="-120"/>
              </a:rPr>
              <a:t>Хугацаанаас өмнө төлөгдөх нөхцөл</a:t>
            </a:r>
            <a:endParaRPr lang="en-US" sz="980" dirty="0"/>
          </a:p>
        </p:txBody>
      </p:sp>
      <p:sp>
        <p:nvSpPr>
          <p:cNvPr id="45" name="Text 39"/>
          <p:cNvSpPr/>
          <p:nvPr/>
        </p:nvSpPr>
        <p:spPr>
          <a:xfrm>
            <a:off x="9043416" y="4595275"/>
            <a:ext cx="22402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Жил бүр үндсэн үлдэгдлийн 10 хувь хүртэл дүнг үнэгүй төлж болно. Энэ хэмжээнээс давсан хэсэгт хугацаанаас өмнө төлөх төлбөр ногдоно.</a:t>
            </a:r>
            <a:endParaRPr lang="en-US" sz="950" dirty="0"/>
          </a:p>
        </p:txBody>
      </p:sp>
      <p:sp>
        <p:nvSpPr>
          <p:cNvPr id="46" name="Shape 40"/>
          <p:cNvSpPr/>
          <p:nvPr/>
        </p:nvSpPr>
        <p:spPr>
          <a:xfrm>
            <a:off x="502920" y="5637691"/>
            <a:ext cx="11155680" cy="841248"/>
          </a:xfrm>
          <a:prstGeom prst="roundRect">
            <a:avLst>
              <a:gd name="adj" fmla="val 13043"/>
            </a:avLst>
          </a:prstGeom>
          <a:solidFill>
            <a:srgbClr val="EAF0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749808" y="5820571"/>
            <a:ext cx="438912" cy="438912"/>
          </a:xfrm>
          <a:prstGeom prst="ellipse">
            <a:avLst/>
          </a:prstGeom>
          <a:solidFill>
            <a:srgbClr val="DDE7F0"/>
          </a:solidFill>
          <a:ln w="12700">
            <a:solidFill>
              <a:srgbClr val="DDE7F0"/>
            </a:solidFill>
            <a:prstDash val="solid"/>
          </a:ln>
        </p:spPr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50758" y="5921521"/>
            <a:ext cx="237012" cy="237012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298448" y="5738275"/>
            <a:ext cx="29260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02A43"/>
                </a:solidFill>
                <a:ea typeface="Arial" pitchFamily="34" charset="-122"/>
                <a:cs typeface="Arial" pitchFamily="34" charset="-120"/>
              </a:rPr>
              <a:t>Монголын банкуудын одоогийн байдал</a:t>
            </a:r>
            <a:endParaRPr lang="en-US" sz="1250" dirty="0"/>
          </a:p>
        </p:txBody>
      </p:sp>
      <p:sp>
        <p:nvSpPr>
          <p:cNvPr id="50" name="Text 43"/>
          <p:cNvSpPr/>
          <p:nvPr/>
        </p:nvSpPr>
        <p:spPr>
          <a:xfrm>
            <a:off x="1298448" y="5994307"/>
            <a:ext cx="982980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Нийтэд нээлттэй мэдээллээр “12 сар заавал ашиглах + бодит зардлын нөхөн төлбөр + жил бүр үнэгүй хэсэгчилсэн төлөлт” гэсэн нэгтгэсэн стандарт нөхцөл түгээмэл ашиглагдаж байгаа нь харагдахгүй байна. Эцэслэхийн өмнө банк тус бүрийн гэрээний загвар, тариф, бүтээгдэхүүний нөхцөлөөр баталгаажуулна.</a:t>
            </a:r>
            <a:endParaRPr lang="en-US" sz="97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3FEA39-7C34-A386-C4C2-C7F3354B5886}"/>
              </a:ext>
            </a:extLst>
          </p:cNvPr>
          <p:cNvSpPr txBox="1"/>
          <p:nvPr/>
        </p:nvSpPr>
        <p:spPr>
          <a:xfrm>
            <a:off x="491282" y="997218"/>
            <a:ext cx="100217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002060"/>
                </a:solidFill>
                <a:ea typeface="Arial" pitchFamily="34" charset="-122"/>
                <a:cs typeface="Arial" pitchFamily="34" charset="-120"/>
              </a:rPr>
              <a:t>2. Олон улсын практик: ямар зээл дээр хугацаанаас өмнө төлөлтөд нөхцөл тавьдаг вэ?</a:t>
            </a:r>
            <a:endParaRPr lang="en-US" sz="1400" dirty="0">
              <a:solidFill>
                <a:srgbClr val="002060"/>
              </a:solidFill>
            </a:endParaRPr>
          </a:p>
        </p:txBody>
      </p:sp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97EF37D1-3EF6-B8A5-61F5-A29B19F6BBC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13189" y="343598"/>
            <a:ext cx="1140210" cy="425077"/>
          </a:xfrm>
          <a:prstGeom prst="rect">
            <a:avLst/>
          </a:prstGeom>
          <a:noFill/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814CF16-E7AC-A238-A294-A94A6F4B691E}"/>
              </a:ext>
            </a:extLst>
          </p:cNvPr>
          <p:cNvCxnSpPr>
            <a:cxnSpLocks/>
          </p:cNvCxnSpPr>
          <p:nvPr/>
        </p:nvCxnSpPr>
        <p:spPr>
          <a:xfrm>
            <a:off x="1683488" y="548810"/>
            <a:ext cx="9892816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AC895B9-B824-FD36-0AF7-16476EBE9D03}"/>
              </a:ext>
            </a:extLst>
          </p:cNvPr>
          <p:cNvGrpSpPr/>
          <p:nvPr/>
        </p:nvGrpSpPr>
        <p:grpSpPr>
          <a:xfrm>
            <a:off x="3903126" y="386359"/>
            <a:ext cx="4385748" cy="322352"/>
            <a:chOff x="4033374" y="215436"/>
            <a:chExt cx="4065373" cy="338092"/>
          </a:xfrm>
        </p:grpSpPr>
        <p:sp>
          <p:nvSpPr>
            <p:cNvPr id="57" name="Rounded Rectangle 40">
              <a:extLst>
                <a:ext uri="{FF2B5EF4-FFF2-40B4-BE49-F238E27FC236}">
                  <a16:creationId xmlns:a16="http://schemas.microsoft.com/office/drawing/2014/main" id="{115ABF8B-71F6-60A7-1817-9F15A8F080FE}"/>
                </a:ext>
              </a:extLst>
            </p:cNvPr>
            <p:cNvSpPr/>
            <p:nvPr/>
          </p:nvSpPr>
          <p:spPr>
            <a:xfrm>
              <a:off x="4033374" y="215436"/>
              <a:ext cx="4065373" cy="338092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0B0F0"/>
                </a:gs>
                <a:gs pos="55000">
                  <a:srgbClr val="0080FF"/>
                </a:gs>
                <a:gs pos="100000">
                  <a:srgbClr val="0086C5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Segoe UI" panose="020B0502040204020203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D3497B65-6B51-8CDD-E3CB-70629547259A}"/>
                </a:ext>
              </a:extLst>
            </p:cNvPr>
            <p:cNvSpPr/>
            <p:nvPr/>
          </p:nvSpPr>
          <p:spPr>
            <a:xfrm>
              <a:off x="4244477" y="219631"/>
              <a:ext cx="3643166" cy="322804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mn-MN" sz="1400" b="1">
                  <a:solidFill>
                    <a:schemeClr val="bg1"/>
                  </a:solidFill>
                  <a:cs typeface="Segoe UI" panose="020B0502040204020203" pitchFamily="34" charset="0"/>
                </a:rPr>
                <a:t>ОЛОН УЛСЫН БОДИТ ШИЙДЭЛҮҮД </a:t>
              </a:r>
              <a:endParaRPr lang="en-US" sz="1400" b="1" dirty="0">
                <a:solidFill>
                  <a:schemeClr val="bg1"/>
                </a:solidFill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78835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44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FCE66084-ACCC-45FD-89A7-18661073BAFB}">
  <we:reference id="wa200006000" version="1.2.1.0" store="en-US" storeType="OMEX"/>
  <we:alternateReferences>
    <we:reference id="wa200006000" version="1.2.1.0" store="WA200006000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ACD1ED7-4049-47DA-AF49-7A06AB0FDC43}">
  <we:reference id="wa200000113" version="1.0.0.0" store="en-US" storeType="OMEX"/>
  <we:alternateReferences>
    <we:reference id="WA200000113" version="1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16955</TotalTime>
  <Words>1819</Words>
  <Application>Microsoft Office PowerPoint</Application>
  <PresentationFormat>Widescreen</PresentationFormat>
  <Paragraphs>269</Paragraphs>
  <Slides>9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Aptos Narrow</vt:lpstr>
      <vt:lpstr>Arial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TDB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Altantsetseg By</dc:creator>
  <cp:lastModifiedBy>Nyamdavaa E</cp:lastModifiedBy>
  <cp:revision>464</cp:revision>
  <dcterms:created xsi:type="dcterms:W3CDTF">2025-12-09T01:44:23Z</dcterms:created>
  <dcterms:modified xsi:type="dcterms:W3CDTF">2026-10-01T01:36:22Z</dcterms:modified>
</cp:coreProperties>
</file>