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35" r:id="rId2"/>
    <p:sldId id="257" r:id="rId3"/>
    <p:sldId id="1811" r:id="rId4"/>
    <p:sldId id="1810" r:id="rId5"/>
    <p:sldId id="1802" r:id="rId6"/>
    <p:sldId id="1562" r:id="rId7"/>
    <p:sldId id="1792" r:id="rId8"/>
    <p:sldId id="1805" r:id="rId9"/>
    <p:sldId id="1800" r:id="rId10"/>
    <p:sldId id="1799" r:id="rId11"/>
    <p:sldId id="1804" r:id="rId12"/>
    <p:sldId id="1762" r:id="rId13"/>
    <p:sldId id="1565" r:id="rId14"/>
    <p:sldId id="1796" r:id="rId15"/>
    <p:sldId id="1777" r:id="rId16"/>
    <p:sldId id="1786" r:id="rId17"/>
    <p:sldId id="1808" r:id="rId18"/>
    <p:sldId id="1807" r:id="rId19"/>
    <p:sldId id="1791" r:id="rId20"/>
    <p:sldId id="601" r:id="rId21"/>
    <p:sldId id="1809" r:id="rId22"/>
    <p:sldId id="602" r:id="rId23"/>
    <p:sldId id="180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1DDCC7-354A-9543-BCB9-A9300A32866A}" name="Munkhbolor E" initials="ME" userId="S::munkhbolor.e@tdbm.mn::7cbe93c7-7bd9-45a0-89e9-865c063173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0FF"/>
    <a:srgbClr val="4DA3FF"/>
    <a:srgbClr val="B8DCFF"/>
    <a:srgbClr val="FFA705"/>
    <a:srgbClr val="705A4D"/>
    <a:srgbClr val="6F594B"/>
    <a:srgbClr val="FFFFFF"/>
    <a:srgbClr val="E6F2FF"/>
    <a:srgbClr val="00B0F0"/>
    <a:srgbClr val="85C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3559" autoAdjust="0"/>
  </p:normalViewPr>
  <p:slideViewPr>
    <p:cSldViewPr snapToGrid="0">
      <p:cViewPr>
        <p:scale>
          <a:sx n="150" d="100"/>
          <a:sy n="150" d="100"/>
        </p:scale>
        <p:origin x="108" y="-16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nyamdavaa.e\Documents\&#1047;&#1072;&#1093;&#1080;&#1088;&#1072;&#1083;\4\&#1044;&#1072;&#1090;&#1072;%2020260929+sm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nyamdavaa.e\Documents\&#1061;&#1086;&#1088;&#1086;&#1086;&#1085;&#1076;%20&#1086;&#1088;&#1086;&#1093;\&#1047;&#1041;&#1044;&#1057;\&#1047;&#1041;&#1044;&#1057;%20&#1079;&#1101;&#1101;&#1083;&#1080;&#1081;&#1085;%20&#1076;&#1072;&#1090;&#107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nyamdavaa.e\Documents\&#1061;&#1086;&#1088;&#1086;&#1086;&#1085;&#1076;%20&#1086;&#1088;&#1086;&#1093;\&#1047;&#1041;&#1044;&#1057;\&#1047;&#1041;&#1044;&#1057;%20&#1079;&#1101;&#1101;&#1083;&#1080;&#1081;&#1085;%20&#1076;&#1072;&#1090;&#1072;.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2"/>
          <c:order val="0"/>
          <c:tx>
            <c:strRef>
              <c:f>GRAPH!$D$7</c:f>
              <c:strCache>
                <c:ptCount val="1"/>
                <c:pt idx="0">
                  <c:v> Чөлөөлөгдсөн эх үүсвэр </c:v>
                </c:pt>
              </c:strCache>
            </c:strRef>
          </c:tx>
          <c:spPr>
            <a:noFill/>
            <a:ln>
              <a:noFill/>
            </a:ln>
            <a:effectLst/>
          </c:spPr>
          <c:invertIfNegative val="0"/>
          <c:cat>
            <c:strRef>
              <c:f>GRAPH!$A$8:$A$10</c:f>
              <c:strCache>
                <c:ptCount val="3"/>
                <c:pt idx="0">
                  <c:v> 12 сараас доош </c:v>
                </c:pt>
                <c:pt idx="1">
                  <c:v> 24 сараас доош </c:v>
                </c:pt>
                <c:pt idx="2">
                  <c:v> 24 сараас дээш  </c:v>
                </c:pt>
              </c:strCache>
            </c:strRef>
          </c:cat>
          <c:val>
            <c:numRef>
              <c:f>GRAPH!$D$8:$D$10</c:f>
              <c:numCache>
                <c:formatCode>_(* #,##0.00_);_(* \(#,##0.00\);_(* "-"??_);_(@_)</c:formatCode>
                <c:ptCount val="3"/>
                <c:pt idx="0">
                  <c:v>10899794879.629629</c:v>
                </c:pt>
                <c:pt idx="1">
                  <c:v>39072180148.449471</c:v>
                </c:pt>
                <c:pt idx="2">
                  <c:v>6156537863.4259262</c:v>
                </c:pt>
              </c:numCache>
            </c:numRef>
          </c:val>
          <c:extLst>
            <c:ext xmlns:c16="http://schemas.microsoft.com/office/drawing/2014/chart" uri="{C3380CC4-5D6E-409C-BE32-E72D297353CC}">
              <c16:uniqueId val="{00000000-50BC-4E93-BA12-A7A25533ADDE}"/>
            </c:ext>
          </c:extLst>
        </c:ser>
        <c:ser>
          <c:idx val="3"/>
          <c:order val="1"/>
          <c:tx>
            <c:strRef>
              <c:f>GRAPH!$E$7</c:f>
              <c:strCache>
                <c:ptCount val="1"/>
                <c:pt idx="0">
                  <c:v> Дахин байршуулалт хийгдээгүй үеийн алдагдал </c:v>
                </c:pt>
              </c:strCache>
            </c:strRef>
          </c:tx>
          <c:spPr>
            <a:noFill/>
            <a:ln>
              <a:noFill/>
            </a:ln>
            <a:effectLst/>
          </c:spPr>
          <c:invertIfNegative val="0"/>
          <c:cat>
            <c:strRef>
              <c:f>GRAPH!$A$8:$A$10</c:f>
              <c:strCache>
                <c:ptCount val="3"/>
                <c:pt idx="0">
                  <c:v> 12 сараас доош </c:v>
                </c:pt>
                <c:pt idx="1">
                  <c:v> 24 сараас доош </c:v>
                </c:pt>
                <c:pt idx="2">
                  <c:v> 24 сараас дээш  </c:v>
                </c:pt>
              </c:strCache>
            </c:strRef>
          </c:cat>
          <c:val>
            <c:numRef>
              <c:f>GRAPH!$E$8:$E$10</c:f>
              <c:numCache>
                <c:formatCode>_(* #,##0.00_);_(* \(#,##0.00\);_(* "-"??_);_(@_)</c:formatCode>
                <c:ptCount val="3"/>
                <c:pt idx="0">
                  <c:v>2336039812.3510199</c:v>
                </c:pt>
                <c:pt idx="1">
                  <c:v>15620941812.263161</c:v>
                </c:pt>
                <c:pt idx="2">
                  <c:v>3148556651.703774</c:v>
                </c:pt>
              </c:numCache>
            </c:numRef>
          </c:val>
          <c:extLst>
            <c:ext xmlns:c16="http://schemas.microsoft.com/office/drawing/2014/chart" uri="{C3380CC4-5D6E-409C-BE32-E72D297353CC}">
              <c16:uniqueId val="{00000001-50BC-4E93-BA12-A7A25533ADDE}"/>
            </c:ext>
          </c:extLst>
        </c:ser>
        <c:dLbls>
          <c:showLegendKey val="0"/>
          <c:showVal val="0"/>
          <c:showCatName val="0"/>
          <c:showSerName val="0"/>
          <c:showPercent val="0"/>
          <c:showBubbleSize val="0"/>
        </c:dLbls>
        <c:gapWidth val="182"/>
        <c:axId val="473251583"/>
        <c:axId val="473252063"/>
      </c:barChart>
      <c:catAx>
        <c:axId val="4732515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73252063"/>
        <c:crosses val="autoZero"/>
        <c:auto val="1"/>
        <c:lblAlgn val="ctr"/>
        <c:lblOffset val="100"/>
        <c:noMultiLvlLbl val="0"/>
      </c:catAx>
      <c:valAx>
        <c:axId val="473252063"/>
        <c:scaling>
          <c:orientation val="minMax"/>
          <c:max val="40000000000"/>
        </c:scaling>
        <c:delete val="0"/>
        <c:axPos val="b"/>
        <c:numFmt formatCode="_(* #,##0,,_);_(* \(#,##0\);_(* &quot;-&quot;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4732515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794641186762576"/>
          <c:y val="0.13274085920182557"/>
          <c:w val="0.82204176726295308"/>
          <c:h val="0.79017859837893278"/>
        </c:manualLayout>
      </c:layout>
      <c:barChart>
        <c:barDir val="col"/>
        <c:grouping val="clustered"/>
        <c:varyColors val="0"/>
        <c:ser>
          <c:idx val="0"/>
          <c:order val="0"/>
          <c:tx>
            <c:strRef>
              <c:f>GRAPH!$B$1</c:f>
              <c:strCache>
                <c:ptCount val="1"/>
                <c:pt idx="0">
                  <c:v>Нийт олгосон зээлийн дүн</c:v>
                </c:pt>
              </c:strCache>
            </c:strRef>
          </c:tx>
          <c:spPr>
            <a:solidFill>
              <a:srgbClr val="002060"/>
            </a:solidFill>
            <a:ln>
              <a:noFill/>
            </a:ln>
            <a:effectLst/>
          </c:spPr>
          <c:invertIfNegative val="0"/>
          <c:dLbls>
            <c:numFmt formatCode="_(* #,##0,,_);_(* \(#,##0.00\);_(* &quot;-&quot;??_);_(@_)" sourceLinked="0"/>
            <c:spPr>
              <a:solidFill>
                <a:srgbClr val="FFC000"/>
              </a:solid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GRAPH!$A$2:$A$11</c:f>
              <c:strCache>
                <c:ptCount val="10"/>
                <c:pt idx="0">
                  <c:v>2017</c:v>
                </c:pt>
                <c:pt idx="1">
                  <c:v>2018</c:v>
                </c:pt>
                <c:pt idx="2">
                  <c:v>2019</c:v>
                </c:pt>
                <c:pt idx="3">
                  <c:v>2020</c:v>
                </c:pt>
                <c:pt idx="4">
                  <c:v>2021</c:v>
                </c:pt>
                <c:pt idx="5">
                  <c:v>2022</c:v>
                </c:pt>
                <c:pt idx="6">
                  <c:v>2023</c:v>
                </c:pt>
                <c:pt idx="7">
                  <c:v>2024</c:v>
                </c:pt>
                <c:pt idx="8">
                  <c:v>2025</c:v>
                </c:pt>
                <c:pt idx="9">
                  <c:v>8/31/2026</c:v>
                </c:pt>
              </c:strCache>
            </c:strRef>
          </c:cat>
          <c:val>
            <c:numRef>
              <c:f>GRAPH!$B$2:$B$11</c:f>
              <c:numCache>
                <c:formatCode>_(* #,##0.00_);_(* \(#,##0.00\);_(* "-"??_);_(@_)</c:formatCode>
                <c:ptCount val="10"/>
                <c:pt idx="0">
                  <c:v>5392500000</c:v>
                </c:pt>
                <c:pt idx="1">
                  <c:v>23853533400</c:v>
                </c:pt>
                <c:pt idx="2">
                  <c:v>15404300000</c:v>
                </c:pt>
                <c:pt idx="3">
                  <c:v>6467802000</c:v>
                </c:pt>
                <c:pt idx="4">
                  <c:v>1978090000</c:v>
                </c:pt>
                <c:pt idx="5">
                  <c:v>2160000000</c:v>
                </c:pt>
                <c:pt idx="6">
                  <c:v>15257400000</c:v>
                </c:pt>
                <c:pt idx="7">
                  <c:v>20472000000</c:v>
                </c:pt>
                <c:pt idx="8">
                  <c:v>8515000000</c:v>
                </c:pt>
                <c:pt idx="9">
                  <c:v>4850000000</c:v>
                </c:pt>
              </c:numCache>
            </c:numRef>
          </c:val>
          <c:extLst>
            <c:ext xmlns:c16="http://schemas.microsoft.com/office/drawing/2014/chart" uri="{C3380CC4-5D6E-409C-BE32-E72D297353CC}">
              <c16:uniqueId val="{00000000-71CA-4E4E-B48B-60DA1BD1D995}"/>
            </c:ext>
          </c:extLst>
        </c:ser>
        <c:dLbls>
          <c:dLblPos val="outEnd"/>
          <c:showLegendKey val="0"/>
          <c:showVal val="1"/>
          <c:showCatName val="0"/>
          <c:showSerName val="0"/>
          <c:showPercent val="0"/>
          <c:showBubbleSize val="0"/>
        </c:dLbls>
        <c:gapWidth val="87"/>
        <c:overlap val="-28"/>
        <c:axId val="1835291024"/>
        <c:axId val="1835293904"/>
      </c:barChart>
      <c:catAx>
        <c:axId val="1835291024"/>
        <c:scaling>
          <c:orientation val="minMax"/>
        </c:scaling>
        <c:delete val="0"/>
        <c:axPos val="b"/>
        <c:numFmt formatCode="General" sourceLinked="1"/>
        <c:majorTickMark val="in"/>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mn-lt"/>
                <a:ea typeface="+mn-ea"/>
                <a:cs typeface="+mn-cs"/>
              </a:defRPr>
            </a:pPr>
            <a:endParaRPr lang="en-US"/>
          </a:p>
        </c:txPr>
        <c:crossAx val="1835293904"/>
        <c:crosses val="autoZero"/>
        <c:auto val="1"/>
        <c:lblAlgn val="ctr"/>
        <c:lblOffset val="100"/>
        <c:noMultiLvlLbl val="0"/>
      </c:catAx>
      <c:valAx>
        <c:axId val="1835293904"/>
        <c:scaling>
          <c:orientation val="minMax"/>
        </c:scaling>
        <c:delete val="0"/>
        <c:axPos val="l"/>
        <c:numFmt formatCode="_(* ###,000,,_);_(* \(#,##0.00\);_(* &quot;-&quot;??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1835291024"/>
        <c:crosses val="autoZero"/>
        <c:crossBetween val="between"/>
        <c:majorUnit val="6000000000"/>
        <c:minorUnit val="1000000000"/>
      </c:valAx>
      <c:spPr>
        <a:noFill/>
        <a:ln>
          <a:noFill/>
        </a:ln>
        <a:effectLst/>
      </c:spPr>
    </c:plotArea>
    <c:plotVisOnly val="1"/>
    <c:dispBlanksAs val="gap"/>
    <c:showDLblsOverMax val="0"/>
  </c:chart>
  <c:spPr>
    <a:noFill/>
    <a:ln w="9525" cap="flat" cmpd="sng" algn="ctr">
      <a:noFill/>
      <a:round/>
    </a:ln>
    <a:effectLst/>
  </c:spPr>
  <c:txPr>
    <a:bodyPr/>
    <a:lstStyle/>
    <a:p>
      <a:pPr>
        <a:defRPr>
          <a:solidFill>
            <a:sysClr val="windowText" lastClr="000000"/>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spPr>
            <a:solidFill>
              <a:srgbClr val="002060"/>
            </a:solidFill>
            <a:ln>
              <a:noFill/>
            </a:ln>
            <a:effectLst/>
          </c:spPr>
          <c:invertIfNegative val="0"/>
          <c:dLbls>
            <c:numFmt formatCode="_(* #,##0.00,,_);_(* \(#,##0.00\);_(* &quot;-&quot;??_);_(@_)" sourceLinked="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GRAPH!$A$17:$B$17</c:f>
              <c:strCache>
                <c:ptCount val="2"/>
                <c:pt idx="0">
                  <c:v> Банкны эх үүсвэр </c:v>
                </c:pt>
                <c:pt idx="1">
                  <c:v> Батлан даалт </c:v>
                </c:pt>
              </c:strCache>
            </c:strRef>
          </c:cat>
          <c:val>
            <c:numRef>
              <c:f>GRAPH!$A$18:$B$18</c:f>
              <c:numCache>
                <c:formatCode>_(* #,##0.00_);_(* \(#,##0.00\);_(* "-"??_);_(@_)</c:formatCode>
                <c:ptCount val="2"/>
                <c:pt idx="0">
                  <c:v>54187328973.988388</c:v>
                </c:pt>
                <c:pt idx="1">
                  <c:v>50163296426.011612</c:v>
                </c:pt>
              </c:numCache>
            </c:numRef>
          </c:val>
          <c:extLst>
            <c:ext xmlns:c16="http://schemas.microsoft.com/office/drawing/2014/chart" uri="{C3380CC4-5D6E-409C-BE32-E72D297353CC}">
              <c16:uniqueId val="{00000000-532A-4B54-AA7E-D967C7F6BEB8}"/>
            </c:ext>
          </c:extLst>
        </c:ser>
        <c:dLbls>
          <c:dLblPos val="outEnd"/>
          <c:showLegendKey val="0"/>
          <c:showVal val="1"/>
          <c:showCatName val="0"/>
          <c:showSerName val="0"/>
          <c:showPercent val="0"/>
          <c:showBubbleSize val="0"/>
        </c:dLbls>
        <c:gapWidth val="182"/>
        <c:axId val="858556495"/>
        <c:axId val="858546415"/>
      </c:barChart>
      <c:catAx>
        <c:axId val="858556495"/>
        <c:scaling>
          <c:orientation val="minMax"/>
        </c:scaling>
        <c:delete val="0"/>
        <c:axPos val="l"/>
        <c:numFmt formatCode="General" sourceLinked="1"/>
        <c:majorTickMark val="in"/>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58546415"/>
        <c:crosses val="autoZero"/>
        <c:auto val="1"/>
        <c:lblAlgn val="ctr"/>
        <c:lblOffset val="100"/>
        <c:noMultiLvlLbl val="0"/>
      </c:catAx>
      <c:valAx>
        <c:axId val="858546415"/>
        <c:scaling>
          <c:orientation val="minMax"/>
        </c:scaling>
        <c:delete val="0"/>
        <c:axPos val="b"/>
        <c:numFmt formatCode="_(* #,##0.00,,_);_(* \(#,##0.00\);_(* &quot;-&quot;??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58556495"/>
        <c:crosses val="autoZero"/>
        <c:crossBetween val="between"/>
      </c:valAx>
      <c:spPr>
        <a:noFill/>
        <a:ln>
          <a:noFill/>
        </a:ln>
        <a:effectLst/>
      </c:spPr>
    </c:plotArea>
    <c:plotVisOnly val="1"/>
    <c:dispBlanksAs val="gap"/>
    <c:showDLblsOverMax val="0"/>
  </c:chart>
  <c:spPr>
    <a:noFill/>
    <a:ln w="9525" cap="flat" cmpd="sng" algn="ctr">
      <a:noFill/>
      <a:round/>
    </a:ln>
    <a:effectLst/>
  </c:spPr>
  <c:txPr>
    <a:bodyPr/>
    <a:lstStyle/>
    <a:p>
      <a:pPr>
        <a:defRPr>
          <a:solidFill>
            <a:sysClr val="windowText" lastClr="000000"/>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72402-1D3B-453C-A2A8-792C439189B5}"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237E22-A92D-433F-956B-2655A6306F3B}" type="slidenum">
              <a:rPr lang="en-US" smtClean="0"/>
              <a:t>‹#›</a:t>
            </a:fld>
            <a:endParaRPr lang="en-US"/>
          </a:p>
        </p:txBody>
      </p:sp>
    </p:spTree>
    <p:extLst>
      <p:ext uri="{BB962C8B-B14F-4D97-AF65-F5344CB8AC3E}">
        <p14:creationId xmlns:p14="http://schemas.microsoft.com/office/powerpoint/2010/main" val="965800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3122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237E22-A92D-433F-956B-2655A6306F3B}" type="slidenum">
              <a:rPr lang="en-US" smtClean="0"/>
              <a:t>12</a:t>
            </a:fld>
            <a:endParaRPr lang="en-US"/>
          </a:p>
        </p:txBody>
      </p:sp>
    </p:spTree>
    <p:extLst>
      <p:ext uri="{BB962C8B-B14F-4D97-AF65-F5344CB8AC3E}">
        <p14:creationId xmlns:p14="http://schemas.microsoft.com/office/powerpoint/2010/main" val="600969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8321F-FA39-34F7-C881-5F98427683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DACF1D-B803-DFE8-B44C-D611681B16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C99E82-800D-94B3-1403-A462686D7FA4}"/>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5" name="Footer Placeholder 4">
            <a:extLst>
              <a:ext uri="{FF2B5EF4-FFF2-40B4-BE49-F238E27FC236}">
                <a16:creationId xmlns:a16="http://schemas.microsoft.com/office/drawing/2014/main" id="{BE90ABB2-4755-6D6D-88DE-8E2178DA96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6204F-0EC9-3BB2-DDFC-707A75D3EC3C}"/>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3695824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A90E8-DBDF-2047-EE05-3389925512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5E8150-317A-0F12-8FBD-37962AF3BF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09E1D-09D5-A7C9-D996-7AB34385F51C}"/>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5" name="Footer Placeholder 4">
            <a:extLst>
              <a:ext uri="{FF2B5EF4-FFF2-40B4-BE49-F238E27FC236}">
                <a16:creationId xmlns:a16="http://schemas.microsoft.com/office/drawing/2014/main" id="{12CC9D00-7EB4-4F41-2207-8565826164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047B2-4673-266F-C929-DCD95A1769DA}"/>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2733951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20B9-CAE3-5841-6574-70CCC4AD1E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5EA82C-8003-C0A3-5024-547F4F95D9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10210A-A9A4-E181-7A15-92E133AD8D1D}"/>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5" name="Footer Placeholder 4">
            <a:extLst>
              <a:ext uri="{FF2B5EF4-FFF2-40B4-BE49-F238E27FC236}">
                <a16:creationId xmlns:a16="http://schemas.microsoft.com/office/drawing/2014/main" id="{8D2C36E2-DFA1-52B1-86D5-50567C8F3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283E4B-EA05-ABC9-3D30-AF0C6A5FD7D6}"/>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3921002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7C01-E6E2-70DE-550E-2B766900A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231BE2-BFB2-5295-04BA-5F2D29BC8D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35C96D-DB68-B35B-2DE8-5384865AE9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BC2C83-1F61-D833-47EF-E5998072C4ED}"/>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6" name="Footer Placeholder 5">
            <a:extLst>
              <a:ext uri="{FF2B5EF4-FFF2-40B4-BE49-F238E27FC236}">
                <a16:creationId xmlns:a16="http://schemas.microsoft.com/office/drawing/2014/main" id="{969B0167-FEFD-38B4-0412-9D094FC7ED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F5E948-1E07-5DDC-CDB3-953D8A26194F}"/>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11996151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46A93-3CD4-4140-84C9-CCEF827317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BB069D-8837-9CB3-A1F7-AAA0AB6F11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26BBC6-4C2D-060E-0E7B-4272E2984E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238779-1AB5-624C-121C-C1C0974786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516AEE-F9AB-5F7F-D2E4-34E040A490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D67135-AFEA-2710-9762-4B22BF7826EA}"/>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8" name="Footer Placeholder 7">
            <a:extLst>
              <a:ext uri="{FF2B5EF4-FFF2-40B4-BE49-F238E27FC236}">
                <a16:creationId xmlns:a16="http://schemas.microsoft.com/office/drawing/2014/main" id="{372A68F4-FD90-815D-3999-330D7D18EC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60EEB4-3D52-E44A-8C1D-8FC61892767D}"/>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36719413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41EA7-19C2-BD49-DCAD-074F1766AC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355516-5305-72AB-4B4F-670180D05AF0}"/>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4" name="Footer Placeholder 3">
            <a:extLst>
              <a:ext uri="{FF2B5EF4-FFF2-40B4-BE49-F238E27FC236}">
                <a16:creationId xmlns:a16="http://schemas.microsoft.com/office/drawing/2014/main" id="{172B96D5-03E0-2932-C09E-3927E44BC7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4CF068-4291-DE1B-4DD9-17350479D389}"/>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3228262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4D1BAC-BACC-3F4E-6DAD-46DD2F85FF4B}"/>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3" name="Footer Placeholder 2">
            <a:extLst>
              <a:ext uri="{FF2B5EF4-FFF2-40B4-BE49-F238E27FC236}">
                <a16:creationId xmlns:a16="http://schemas.microsoft.com/office/drawing/2014/main" id="{1780CC4F-139E-A47D-38E4-7AA9741BC2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66BE22-10B0-8790-C6B2-D03E24010011}"/>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135146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06A19-7414-489E-7128-71E081813D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B22DE8-39A4-EA5C-AA97-C35FC9E7AD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9770A8-F539-5661-0708-276A0E6B3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46CEC2-DEBD-0A32-5E64-8DE9007157EC}"/>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6" name="Footer Placeholder 5">
            <a:extLst>
              <a:ext uri="{FF2B5EF4-FFF2-40B4-BE49-F238E27FC236}">
                <a16:creationId xmlns:a16="http://schemas.microsoft.com/office/drawing/2014/main" id="{D1808FE9-FFFE-6FA6-8B5D-EF71B41603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365269-B905-F9A5-011A-0FEFC855B54D}"/>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1240908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0C300-9BCA-25D5-0C79-D44C25CA1F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E87E32-5EBD-4FC5-95BE-B076E772FC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F9B88D-0847-13EE-06D8-4B6EB2405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511437-6B3F-4507-674D-ED8EE3704A68}"/>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6" name="Footer Placeholder 5">
            <a:extLst>
              <a:ext uri="{FF2B5EF4-FFF2-40B4-BE49-F238E27FC236}">
                <a16:creationId xmlns:a16="http://schemas.microsoft.com/office/drawing/2014/main" id="{CD8DA281-4399-16E7-A1E2-FA4F865D84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F2E6E3-44A5-67D7-046F-B1274F971B9F}"/>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3292690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0D947-DB05-59A7-8DAD-7DCE9447DD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052B79-7559-845F-862F-B10E29DC23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5CDB08-6693-B4D0-B7FD-219DC1BF47FC}"/>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5" name="Footer Placeholder 4">
            <a:extLst>
              <a:ext uri="{FF2B5EF4-FFF2-40B4-BE49-F238E27FC236}">
                <a16:creationId xmlns:a16="http://schemas.microsoft.com/office/drawing/2014/main" id="{9EC46E2F-339F-A536-4EA1-0DC7B92FE2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2BFB0-0F7F-2574-F75C-88FAF1376452}"/>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2952408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9741F-68FE-08B0-35CD-94B04BA8E0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C3650D-C2B9-9BA7-3ABB-6451F9E482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F92C58-A161-C482-DD13-0E83B521F963}"/>
              </a:ext>
            </a:extLst>
          </p:cNvPr>
          <p:cNvSpPr>
            <a:spLocks noGrp="1"/>
          </p:cNvSpPr>
          <p:nvPr>
            <p:ph type="dt" sz="half" idx="10"/>
          </p:nvPr>
        </p:nvSpPr>
        <p:spPr/>
        <p:txBody>
          <a:bodyPr/>
          <a:lstStyle/>
          <a:p>
            <a:fld id="{D6F4B618-F486-4B6E-9943-82CD7239B669}" type="datetimeFigureOut">
              <a:rPr lang="en-US" smtClean="0"/>
              <a:t>9/30/2026</a:t>
            </a:fld>
            <a:endParaRPr lang="en-US"/>
          </a:p>
        </p:txBody>
      </p:sp>
      <p:sp>
        <p:nvSpPr>
          <p:cNvPr id="5" name="Footer Placeholder 4">
            <a:extLst>
              <a:ext uri="{FF2B5EF4-FFF2-40B4-BE49-F238E27FC236}">
                <a16:creationId xmlns:a16="http://schemas.microsoft.com/office/drawing/2014/main" id="{D851EC8C-04F2-7C6E-0A13-A03F00D55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D5B3B-784E-EFEB-3D75-713F0EB730E0}"/>
              </a:ext>
            </a:extLst>
          </p:cNvPr>
          <p:cNvSpPr>
            <a:spLocks noGrp="1"/>
          </p:cNvSpPr>
          <p:nvPr>
            <p:ph type="sldNum" sz="quarter" idx="12"/>
          </p:nvPr>
        </p:nvSpPr>
        <p:spPr/>
        <p:txBody>
          <a:bodyPr/>
          <a:lstStyle/>
          <a:p>
            <a:fld id="{E1311951-B940-4AED-9AD8-3137A80A6540}" type="slidenum">
              <a:rPr lang="en-US" smtClean="0"/>
              <a:t>‹#›</a:t>
            </a:fld>
            <a:endParaRPr lang="en-US"/>
          </a:p>
        </p:txBody>
      </p:sp>
    </p:spTree>
    <p:extLst>
      <p:ext uri="{BB962C8B-B14F-4D97-AF65-F5344CB8AC3E}">
        <p14:creationId xmlns:p14="http://schemas.microsoft.com/office/powerpoint/2010/main" val="30373231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1228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72484A-1AED-3660-5F5C-A5116ECD48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1D4F6A-D787-47D1-AE5A-879A147FC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70CB2-833E-FC18-921C-AAE1C92E85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F4B618-F486-4B6E-9943-82CD7239B669}" type="datetimeFigureOut">
              <a:rPr lang="en-US" smtClean="0"/>
              <a:t>9/30/2026</a:t>
            </a:fld>
            <a:endParaRPr lang="en-US"/>
          </a:p>
        </p:txBody>
      </p:sp>
      <p:sp>
        <p:nvSpPr>
          <p:cNvPr id="5" name="Footer Placeholder 4">
            <a:extLst>
              <a:ext uri="{FF2B5EF4-FFF2-40B4-BE49-F238E27FC236}">
                <a16:creationId xmlns:a16="http://schemas.microsoft.com/office/drawing/2014/main" id="{BBE9D498-A9E2-EF7D-8354-75CDBDE423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1FE1FC-498E-0317-0DF7-BFFCA63FFC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311951-B940-4AED-9AD8-3137A80A6540}" type="slidenum">
              <a:rPr lang="en-US" smtClean="0"/>
              <a:t>‹#›</a:t>
            </a:fld>
            <a:endParaRPr lang="en-US"/>
          </a:p>
        </p:txBody>
      </p:sp>
    </p:spTree>
    <p:extLst>
      <p:ext uri="{BB962C8B-B14F-4D97-AF65-F5344CB8AC3E}">
        <p14:creationId xmlns:p14="http://schemas.microsoft.com/office/powerpoint/2010/main" val="373841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multifamily.fanniemae.com/financing-options/variable-rate-financing-options/structured-adjustable-rate-mortgage/structured-adjustable-rate-mortgage-loans-sarm-loans-term-sheet"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halifax.co.uk/mortgages/existing-customers/early-repayment-charges.html" TargetMode="External"/><Relationship Id="rId5" Type="http://schemas.openxmlformats.org/officeDocument/2006/relationships/hyperlink" Target="https://treasury.worldbank.org/en/about/unit/treasury/ibrd-financial-products/financial-products-faqs" TargetMode="External"/><Relationship Id="rId4" Type="http://schemas.openxmlformats.org/officeDocument/2006/relationships/hyperlink" Target="https://legacy.sba.gov/partners/lenders/7a-loan-program/terms-conditions-eligibility" TargetMode="Externa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9.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24712" y="5504076"/>
            <a:ext cx="11067288" cy="461665"/>
          </a:xfrm>
          <a:prstGeom prst="rect">
            <a:avLst/>
          </a:prstGeom>
          <a:noFill/>
        </p:spPr>
        <p:txBody>
          <a:bodyPr wrap="square" rtlCol="0">
            <a:spAutoFit/>
          </a:bodyPr>
          <a:lstStyle/>
          <a:p>
            <a:pPr algn="r"/>
            <a:r>
              <a:rPr lang="mn-MN" sz="2400" b="1">
                <a:solidFill>
                  <a:schemeClr val="accent1">
                    <a:lumMod val="75000"/>
                  </a:schemeClr>
                </a:solidFill>
                <a:latin typeface="+mj-lt"/>
                <a:cs typeface="Segoe UI" panose="020B0502040204020203" pitchFamily="34" charset="0"/>
              </a:rPr>
              <a:t>ЗЭЭЛИЙГ ХУГАЦААНААС НЬ ӨМНӨ ТӨЛӨХ БОЛ ТОРГУУЛЬ</a:t>
            </a:r>
            <a:endParaRPr lang="en-US" sz="2400" b="1" dirty="0">
              <a:solidFill>
                <a:schemeClr val="accent1">
                  <a:lumMod val="75000"/>
                </a:schemeClr>
              </a:solidFill>
              <a:latin typeface="+mj-lt"/>
              <a:cs typeface="Segoe UI" panose="020B0502040204020203" pitchFamily="34" charset="0"/>
            </a:endParaRPr>
          </a:p>
        </p:txBody>
      </p:sp>
      <p:sp>
        <p:nvSpPr>
          <p:cNvPr id="2" name="Slide Number Placeholder 1">
            <a:extLst>
              <a:ext uri="{FF2B5EF4-FFF2-40B4-BE49-F238E27FC236}">
                <a16:creationId xmlns:a16="http://schemas.microsoft.com/office/drawing/2014/main" id="{9F08B5CE-0120-DE15-8A20-0DC7D4BCBE0E}"/>
              </a:ext>
            </a:extLst>
          </p:cNvPr>
          <p:cNvSpPr txBox="1">
            <a:spLocks/>
          </p:cNvSpPr>
          <p:nvPr/>
        </p:nvSpPr>
        <p:spPr>
          <a:xfrm>
            <a:off x="11828237" y="64542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Light" panose="020B0502040204020203" pitchFamily="34" charset="0"/>
                <a:cs typeface="Segoe UI Light" panose="020B0502040204020203" pitchFamily="34" charset="0"/>
              </a:rPr>
              <a:pPr/>
              <a:t>1</a:t>
            </a:fld>
            <a:endParaRPr lang="en-US" sz="1200" dirty="0">
              <a:solidFill>
                <a:schemeClr val="bg1">
                  <a:lumMod val="65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2636542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1">
            <a:extLst>
              <a:ext uri="{FF2B5EF4-FFF2-40B4-BE49-F238E27FC236}">
                <a16:creationId xmlns:a16="http://schemas.microsoft.com/office/drawing/2014/main" id="{F7C1509A-4797-2CB8-5C79-0041D4C3BD96}"/>
              </a:ext>
            </a:extLst>
          </p:cNvPr>
          <p:cNvSpPr txBox="1">
            <a:spLocks/>
          </p:cNvSpPr>
          <p:nvPr/>
        </p:nvSpPr>
        <p:spPr>
          <a:xfrm>
            <a:off x="11828237" y="64542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2</a:t>
            </a:fld>
            <a:endParaRPr lang="en-US" sz="1200" dirty="0">
              <a:solidFill>
                <a:schemeClr val="bg1">
                  <a:lumMod val="65000"/>
                </a:schemeClr>
              </a:solidFill>
              <a:cs typeface="Segoe UI Light" panose="020B0502040204020203" pitchFamily="34" charset="0"/>
            </a:endParaRPr>
          </a:p>
        </p:txBody>
      </p:sp>
      <p:sp>
        <p:nvSpPr>
          <p:cNvPr id="33" name="Rectangle 32">
            <a:extLst>
              <a:ext uri="{FF2B5EF4-FFF2-40B4-BE49-F238E27FC236}">
                <a16:creationId xmlns:a16="http://schemas.microsoft.com/office/drawing/2014/main" id="{8C95BEBC-345E-62EE-46F8-BE7CFDBA86F1}"/>
              </a:ext>
            </a:extLst>
          </p:cNvPr>
          <p:cNvSpPr/>
          <p:nvPr/>
        </p:nvSpPr>
        <p:spPr>
          <a:xfrm>
            <a:off x="207819" y="370535"/>
            <a:ext cx="6096000" cy="369332"/>
          </a:xfrm>
          <a:prstGeom prst="rect">
            <a:avLst/>
          </a:prstGeom>
        </p:spPr>
        <p:txBody>
          <a:bodyPr wrap="square">
            <a:spAutoFit/>
          </a:bodyPr>
          <a:lstStyle/>
          <a:p>
            <a:pPr algn="ctr"/>
            <a:r>
              <a:rPr lang="mn-MN" b="1">
                <a:solidFill>
                  <a:srgbClr val="0080FF"/>
                </a:solidFill>
                <a:cs typeface="Segoe UI" panose="020B0502040204020203" pitchFamily="34" charset="0"/>
              </a:rPr>
              <a:t>МОНГОЛ УЛСЫН ХУУЛЬ БА ӨӨРЧЛӨЛТИЙН ЭРСДЭЛ</a:t>
            </a:r>
            <a:endParaRPr lang="mn-MN" b="1" dirty="0">
              <a:solidFill>
                <a:srgbClr val="0080FF"/>
              </a:solidFill>
              <a:cs typeface="Segoe UI" panose="020B0502040204020203" pitchFamily="34" charset="0"/>
            </a:endParaRPr>
          </a:p>
        </p:txBody>
      </p:sp>
      <p:sp>
        <p:nvSpPr>
          <p:cNvPr id="4" name="TextBox 3">
            <a:extLst>
              <a:ext uri="{FF2B5EF4-FFF2-40B4-BE49-F238E27FC236}">
                <a16:creationId xmlns:a16="http://schemas.microsoft.com/office/drawing/2014/main" id="{8A33203A-AFB6-5F27-0980-9ABC4C2FDB9A}"/>
              </a:ext>
            </a:extLst>
          </p:cNvPr>
          <p:cNvSpPr txBox="1"/>
          <p:nvPr/>
        </p:nvSpPr>
        <p:spPr>
          <a:xfrm>
            <a:off x="479444" y="917382"/>
            <a:ext cx="4163561" cy="307777"/>
          </a:xfrm>
          <a:prstGeom prst="rect">
            <a:avLst/>
          </a:prstGeom>
          <a:noFill/>
        </p:spPr>
        <p:txBody>
          <a:bodyPr wrap="square" rtlCol="0">
            <a:spAutoFit/>
          </a:bodyPr>
          <a:lstStyle/>
          <a:p>
            <a:pPr algn="ctr"/>
            <a:r>
              <a:rPr lang="mn-MN" sz="1400" b="1">
                <a:solidFill>
                  <a:srgbClr val="002060"/>
                </a:solidFill>
                <a:cs typeface="Segoe UI" panose="020B0502040204020203" pitchFamily="34" charset="0"/>
              </a:rPr>
              <a:t>Хязгаарлалт байхгүй</a:t>
            </a:r>
            <a:r>
              <a:rPr lang="en-US" sz="1400" b="1">
                <a:solidFill>
                  <a:srgbClr val="002060"/>
                </a:solidFill>
                <a:cs typeface="Segoe UI" panose="020B0502040204020203" pitchFamily="34" charset="0"/>
              </a:rPr>
              <a:t>/</a:t>
            </a:r>
            <a:r>
              <a:rPr lang="mn-MN" sz="1400" b="1">
                <a:solidFill>
                  <a:srgbClr val="002060"/>
                </a:solidFill>
                <a:cs typeface="Segoe UI" panose="020B0502040204020203" pitchFamily="34" charset="0"/>
              </a:rPr>
              <a:t>байгаа </a:t>
            </a:r>
            <a:endParaRPr lang="en-US" sz="1400" b="1" dirty="0">
              <a:solidFill>
                <a:srgbClr val="002060"/>
              </a:solidFill>
              <a:cs typeface="Segoe UI" panose="020B0502040204020203" pitchFamily="34" charset="0"/>
            </a:endParaRPr>
          </a:p>
        </p:txBody>
      </p:sp>
      <p:graphicFrame>
        <p:nvGraphicFramePr>
          <p:cNvPr id="5" name="Table 4">
            <a:extLst>
              <a:ext uri="{FF2B5EF4-FFF2-40B4-BE49-F238E27FC236}">
                <a16:creationId xmlns:a16="http://schemas.microsoft.com/office/drawing/2014/main" id="{FA39B5C1-D057-ED27-28E1-8E0B1477FC09}"/>
              </a:ext>
            </a:extLst>
          </p:cNvPr>
          <p:cNvGraphicFramePr/>
          <p:nvPr>
            <p:extLst>
              <p:ext uri="{D42A27DB-BD31-4B8C-83A1-F6EECF244321}">
                <p14:modId xmlns:p14="http://schemas.microsoft.com/office/powerpoint/2010/main" val="982675576"/>
              </p:ext>
            </p:extLst>
          </p:nvPr>
        </p:nvGraphicFramePr>
        <p:xfrm>
          <a:off x="381000" y="1672590"/>
          <a:ext cx="8641080" cy="1614170"/>
        </p:xfrm>
        <a:graphic>
          <a:graphicData uri="http://schemas.openxmlformats.org/drawingml/2006/table">
            <a:tbl>
              <a:tblPr/>
              <a:tblGrid>
                <a:gridCol w="3320685">
                  <a:extLst>
                    <a:ext uri="{9D8B030D-6E8A-4147-A177-3AD203B41FA5}">
                      <a16:colId xmlns:a16="http://schemas.microsoft.com/office/drawing/2014/main" val="20000"/>
                    </a:ext>
                  </a:extLst>
                </a:gridCol>
                <a:gridCol w="5320395">
                  <a:extLst>
                    <a:ext uri="{9D8B030D-6E8A-4147-A177-3AD203B41FA5}">
                      <a16:colId xmlns:a16="http://schemas.microsoft.com/office/drawing/2014/main" val="20001"/>
                    </a:ext>
                  </a:extLst>
                </a:gridCol>
              </a:tblGrid>
              <a:tr h="334010">
                <a:tc>
                  <a:txBody>
                    <a:bodyPr/>
                    <a:lstStyle/>
                    <a:p>
                      <a:r>
                        <a:rPr sz="1200" b="1">
                          <a:solidFill>
                            <a:schemeClr val="bg1"/>
                          </a:solidFill>
                          <a:latin typeface="+mn-lt"/>
                          <a:ea typeface="DejaVu Sans"/>
                          <a:cs typeface="DejaVu Sans"/>
                        </a:rPr>
                        <a:t>Хүчин төгөлдөр зохицуулалт</a:t>
                      </a:r>
                    </a:p>
                  </a:txBody>
                  <a:tcP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80FF"/>
                    </a:solidFill>
                  </a:tcPr>
                </a:tc>
                <a:tc>
                  <a:txBody>
                    <a:bodyPr/>
                    <a:lstStyle/>
                    <a:p>
                      <a:r>
                        <a:rPr sz="1200" b="1">
                          <a:solidFill>
                            <a:schemeClr val="bg1"/>
                          </a:solidFill>
                          <a:latin typeface="+mn-lt"/>
                          <a:ea typeface="DejaVu Sans"/>
                          <a:cs typeface="DejaVu Sans"/>
                        </a:rPr>
                        <a:t>Шийдвэрт үзүүлэх нөлөө</a:t>
                      </a:r>
                    </a:p>
                  </a:txBody>
                  <a:tcP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80FF"/>
                    </a:solidFill>
                  </a:tcPr>
                </a:tc>
                <a:extLst>
                  <a:ext uri="{0D108BD9-81ED-4DB2-BD59-A6C34878D82A}">
                    <a16:rowId xmlns:a16="http://schemas.microsoft.com/office/drawing/2014/main" val="10000"/>
                  </a:ext>
                </a:extLst>
              </a:tr>
              <a:tr h="334010">
                <a:tc>
                  <a:txBody>
                    <a:bodyPr/>
                    <a:lstStyle/>
                    <a:p>
                      <a:r>
                        <a:rPr sz="1200" b="0">
                          <a:solidFill>
                            <a:srgbClr val="002060"/>
                          </a:solidFill>
                          <a:latin typeface="+mn-lt"/>
                          <a:ea typeface="DejaVu Sans"/>
                          <a:cs typeface="DejaVu Sans"/>
                        </a:rPr>
                        <a:t>Иргэний хууль 208.5, 202.1</a:t>
                      </a:r>
                    </a:p>
                  </a:txBody>
                  <a:tcP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r>
                        <a:rPr sz="1200" b="0">
                          <a:solidFill>
                            <a:srgbClr val="002060"/>
                          </a:solidFill>
                          <a:latin typeface="+mn-lt"/>
                          <a:ea typeface="DejaVu Sans"/>
                          <a:cs typeface="DejaVu Sans"/>
                        </a:rPr>
                        <a:t>Зээлдүүлэгч татгалзаагүй бол эрт гүйцэтгэж болно. Шударга бус стандарт нөхцөл хүчин төгөлдөр бус болох эрсдэлтэй.</a:t>
                      </a:r>
                    </a:p>
                  </a:txBody>
                  <a:tcP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1"/>
                  </a:ext>
                </a:extLst>
              </a:tr>
              <a:tr h="334010">
                <a:tc>
                  <a:txBody>
                    <a:bodyPr/>
                    <a:lstStyle/>
                    <a:p>
                      <a:r>
                        <a:rPr lang="en-US" sz="1200" b="0">
                          <a:solidFill>
                            <a:srgbClr val="002060"/>
                          </a:solidFill>
                          <a:latin typeface="+mn-lt"/>
                          <a:ea typeface="DejaVu Sans"/>
                          <a:cs typeface="DejaVu Sans"/>
                        </a:rPr>
                        <a:t>“</a:t>
                      </a:r>
                      <a:r>
                        <a:rPr lang="mn-MN" sz="1200" b="0">
                          <a:solidFill>
                            <a:srgbClr val="002060"/>
                          </a:solidFill>
                          <a:latin typeface="+mn-lt"/>
                          <a:ea typeface="DejaVu Sans"/>
                          <a:cs typeface="DejaVu Sans"/>
                        </a:rPr>
                        <a:t>Банк, эрх бүхий хуулийн этгээдийн мөнгөн хадгаламж, мөнгөн хөрөнгийн шилжүүлэг, зээлийн үйл ажиллагааны тухай</a:t>
                      </a:r>
                      <a:r>
                        <a:rPr lang="en-US" sz="1200" b="0">
                          <a:solidFill>
                            <a:srgbClr val="002060"/>
                          </a:solidFill>
                          <a:latin typeface="+mn-lt"/>
                          <a:ea typeface="DejaVu Sans"/>
                          <a:cs typeface="DejaVu Sans"/>
                        </a:rPr>
                        <a:t>”</a:t>
                      </a:r>
                      <a:endParaRPr lang="mn-MN" sz="1200" b="0">
                        <a:solidFill>
                          <a:srgbClr val="002060"/>
                        </a:solidFill>
                        <a:latin typeface="+mn-lt"/>
                        <a:ea typeface="DejaVu Sans"/>
                        <a:cs typeface="DejaVu Sans"/>
                      </a:endParaRPr>
                    </a:p>
                    <a:p>
                      <a:r>
                        <a:rPr sz="1200" b="0">
                          <a:solidFill>
                            <a:srgbClr val="002060"/>
                          </a:solidFill>
                          <a:latin typeface="+mn-lt"/>
                          <a:ea typeface="DejaVu Sans"/>
                          <a:cs typeface="DejaVu Sans"/>
                        </a:rPr>
                        <a:t>6.5–6.7, 20.2.6, 21.1</a:t>
                      </a:r>
                    </a:p>
                  </a:txBody>
                  <a:tcP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r>
                        <a:rPr sz="1200" b="0">
                          <a:solidFill>
                            <a:srgbClr val="002060"/>
                          </a:solidFill>
                          <a:latin typeface="+mn-lt"/>
                          <a:ea typeface="DejaVu Sans"/>
                          <a:cs typeface="DejaVu Sans"/>
                        </a:rPr>
                        <a:t>Гэрээнд тусгасан, үндэслэлтэй шимтгэл. Давхар авахгүй. Хүүг ашигласан хугацаагаар тооцно.</a:t>
                      </a:r>
                    </a:p>
                  </a:txBody>
                  <a:tcP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0668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1">
            <a:extLst>
              <a:ext uri="{FF2B5EF4-FFF2-40B4-BE49-F238E27FC236}">
                <a16:creationId xmlns:a16="http://schemas.microsoft.com/office/drawing/2014/main" id="{F7C1509A-4797-2CB8-5C79-0041D4C3BD96}"/>
              </a:ext>
            </a:extLst>
          </p:cNvPr>
          <p:cNvSpPr txBox="1">
            <a:spLocks/>
          </p:cNvSpPr>
          <p:nvPr/>
        </p:nvSpPr>
        <p:spPr>
          <a:xfrm>
            <a:off x="11828237" y="64542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3</a:t>
            </a:fld>
            <a:endParaRPr lang="en-US" sz="1200" dirty="0">
              <a:solidFill>
                <a:schemeClr val="bg1">
                  <a:lumMod val="65000"/>
                </a:schemeClr>
              </a:solidFill>
              <a:cs typeface="Segoe UI Light" panose="020B0502040204020203" pitchFamily="34" charset="0"/>
            </a:endParaRPr>
          </a:p>
        </p:txBody>
      </p:sp>
      <p:sp>
        <p:nvSpPr>
          <p:cNvPr id="33" name="Rectangle 32">
            <a:extLst>
              <a:ext uri="{FF2B5EF4-FFF2-40B4-BE49-F238E27FC236}">
                <a16:creationId xmlns:a16="http://schemas.microsoft.com/office/drawing/2014/main" id="{8C95BEBC-345E-62EE-46F8-BE7CFDBA86F1}"/>
              </a:ext>
            </a:extLst>
          </p:cNvPr>
          <p:cNvSpPr/>
          <p:nvPr/>
        </p:nvSpPr>
        <p:spPr>
          <a:xfrm>
            <a:off x="498920" y="362298"/>
            <a:ext cx="6096000" cy="369332"/>
          </a:xfrm>
          <a:prstGeom prst="rect">
            <a:avLst/>
          </a:prstGeom>
        </p:spPr>
        <p:txBody>
          <a:bodyPr wrap="square">
            <a:spAutoFit/>
          </a:bodyPr>
          <a:lstStyle/>
          <a:p>
            <a:r>
              <a:rPr lang="mn-MN" b="1">
                <a:solidFill>
                  <a:srgbClr val="0080FF"/>
                </a:solidFill>
                <a:cs typeface="Segoe UI" panose="020B0502040204020203" pitchFamily="34" charset="0"/>
              </a:rPr>
              <a:t>ТООН МЭДЭЭЛЭЛ</a:t>
            </a:r>
            <a:endParaRPr lang="mn-MN" b="1" dirty="0">
              <a:solidFill>
                <a:srgbClr val="0080FF"/>
              </a:solidFill>
              <a:cs typeface="Segoe UI" panose="020B0502040204020203" pitchFamily="34" charset="0"/>
            </a:endParaRPr>
          </a:p>
        </p:txBody>
      </p:sp>
      <p:sp>
        <p:nvSpPr>
          <p:cNvPr id="4" name="TextBox 3">
            <a:extLst>
              <a:ext uri="{FF2B5EF4-FFF2-40B4-BE49-F238E27FC236}">
                <a16:creationId xmlns:a16="http://schemas.microsoft.com/office/drawing/2014/main" id="{8A33203A-AFB6-5F27-0980-9ABC4C2FDB9A}"/>
              </a:ext>
            </a:extLst>
          </p:cNvPr>
          <p:cNvSpPr txBox="1"/>
          <p:nvPr/>
        </p:nvSpPr>
        <p:spPr>
          <a:xfrm>
            <a:off x="421621" y="1097403"/>
            <a:ext cx="3202011" cy="307777"/>
          </a:xfrm>
          <a:prstGeom prst="rect">
            <a:avLst/>
          </a:prstGeom>
          <a:noFill/>
        </p:spPr>
        <p:txBody>
          <a:bodyPr wrap="square" rtlCol="0">
            <a:spAutoFit/>
          </a:bodyPr>
          <a:lstStyle/>
          <a:p>
            <a:r>
              <a:rPr lang="mn-MN" sz="1400" b="1">
                <a:solidFill>
                  <a:srgbClr val="002060"/>
                </a:solidFill>
                <a:cs typeface="Segoe UI" panose="020B0502040204020203" pitchFamily="34" charset="0"/>
              </a:rPr>
              <a:t>Төслийн зээл</a:t>
            </a:r>
            <a:r>
              <a:rPr lang="en-US" sz="1400" b="1">
                <a:solidFill>
                  <a:srgbClr val="002060"/>
                </a:solidFill>
                <a:cs typeface="Segoe UI" panose="020B0502040204020203" pitchFamily="34" charset="0"/>
              </a:rPr>
              <a:t> </a:t>
            </a:r>
            <a:r>
              <a:rPr lang="en-US" sz="1400" i="1">
                <a:solidFill>
                  <a:srgbClr val="002060"/>
                </a:solidFill>
                <a:cs typeface="Segoe UI" panose="020B0502040204020203" pitchFamily="34" charset="0"/>
              </a:rPr>
              <a:t>/</a:t>
            </a:r>
            <a:r>
              <a:rPr lang="mn-MN" sz="1400" i="1">
                <a:solidFill>
                  <a:srgbClr val="002060"/>
                </a:solidFill>
                <a:cs typeface="Segoe UI" panose="020B0502040204020203" pitchFamily="34" charset="0"/>
              </a:rPr>
              <a:t>2024 оноос хойш</a:t>
            </a:r>
            <a:r>
              <a:rPr lang="en-US" sz="1400" i="1">
                <a:solidFill>
                  <a:srgbClr val="002060"/>
                </a:solidFill>
                <a:cs typeface="Segoe UI" panose="020B0502040204020203" pitchFamily="34" charset="0"/>
              </a:rPr>
              <a:t>/</a:t>
            </a:r>
            <a:endParaRPr lang="en-US" sz="1400" b="1" dirty="0">
              <a:solidFill>
                <a:srgbClr val="002060"/>
              </a:solidFill>
              <a:cs typeface="Segoe UI" panose="020B0502040204020203" pitchFamily="34" charset="0"/>
            </a:endParaRPr>
          </a:p>
        </p:txBody>
      </p:sp>
      <p:sp>
        <p:nvSpPr>
          <p:cNvPr id="2" name="TextBox 1">
            <a:extLst>
              <a:ext uri="{FF2B5EF4-FFF2-40B4-BE49-F238E27FC236}">
                <a16:creationId xmlns:a16="http://schemas.microsoft.com/office/drawing/2014/main" id="{F2FACCAF-B99A-5449-D4E0-E1FB6E86B4DF}"/>
              </a:ext>
            </a:extLst>
          </p:cNvPr>
          <p:cNvSpPr txBox="1"/>
          <p:nvPr/>
        </p:nvSpPr>
        <p:spPr>
          <a:xfrm>
            <a:off x="5653424" y="820404"/>
            <a:ext cx="8665939" cy="276999"/>
          </a:xfrm>
          <a:prstGeom prst="rect">
            <a:avLst/>
          </a:prstGeom>
          <a:noFill/>
        </p:spPr>
        <p:txBody>
          <a:bodyPr wrap="square" rtlCol="0">
            <a:spAutoFit/>
          </a:bodyPr>
          <a:lstStyle/>
          <a:p>
            <a:r>
              <a:rPr lang="mn-MN" sz="1200">
                <a:uFill>
                  <a:solidFill>
                    <a:srgbClr val="074386"/>
                  </a:solidFill>
                </a:uFill>
                <a:cs typeface="Times New Roman"/>
              </a:rPr>
              <a:t>2024 оноос хойш нийт 16 зээл хугацаанаас өмнө төлөгдсөн байна. </a:t>
            </a:r>
            <a:endParaRPr lang="mn-MN" sz="1200" dirty="0">
              <a:uFill>
                <a:solidFill>
                  <a:srgbClr val="074386"/>
                </a:solidFill>
              </a:uFill>
              <a:cs typeface="Times New Roman"/>
            </a:endParaRPr>
          </a:p>
        </p:txBody>
      </p:sp>
      <p:sp>
        <p:nvSpPr>
          <p:cNvPr id="3" name="Rectangle: Rounded Corners 2">
            <a:extLst>
              <a:ext uri="{FF2B5EF4-FFF2-40B4-BE49-F238E27FC236}">
                <a16:creationId xmlns:a16="http://schemas.microsoft.com/office/drawing/2014/main" id="{9E035EED-BCC7-0767-F6F7-E613FCFE89F3}"/>
              </a:ext>
            </a:extLst>
          </p:cNvPr>
          <p:cNvSpPr/>
          <p:nvPr/>
        </p:nvSpPr>
        <p:spPr>
          <a:xfrm>
            <a:off x="2239269" y="1862188"/>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mn-MN" sz="1200">
                <a:solidFill>
                  <a:schemeClr val="tx1"/>
                </a:solidFill>
                <a:cs typeface="Segoe UI" panose="020B0502040204020203" pitchFamily="34" charset="0"/>
              </a:rPr>
              <a:t>16</a:t>
            </a:r>
            <a:endParaRPr lang="en-US" sz="1200">
              <a:solidFill>
                <a:schemeClr val="tx1"/>
              </a:solidFill>
              <a:cs typeface="Segoe UI" panose="020B0502040204020203" pitchFamily="34" charset="0"/>
            </a:endParaRPr>
          </a:p>
        </p:txBody>
      </p:sp>
      <p:pic>
        <p:nvPicPr>
          <p:cNvPr id="6" name="Picture 5">
            <a:extLst>
              <a:ext uri="{FF2B5EF4-FFF2-40B4-BE49-F238E27FC236}">
                <a16:creationId xmlns:a16="http://schemas.microsoft.com/office/drawing/2014/main" id="{37E04F25-A58B-3DAE-4F47-88CD8D3D1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464" y="1802438"/>
            <a:ext cx="157610" cy="157610"/>
          </a:xfrm>
          <a:prstGeom prst="rect">
            <a:avLst/>
          </a:prstGeom>
        </p:spPr>
      </p:pic>
      <p:sp>
        <p:nvSpPr>
          <p:cNvPr id="7" name="TextBox 6">
            <a:extLst>
              <a:ext uri="{FF2B5EF4-FFF2-40B4-BE49-F238E27FC236}">
                <a16:creationId xmlns:a16="http://schemas.microsoft.com/office/drawing/2014/main" id="{97672EC3-95F8-FB9D-ABD8-0561FC62256D}"/>
              </a:ext>
            </a:extLst>
          </p:cNvPr>
          <p:cNvSpPr txBox="1"/>
          <p:nvPr/>
        </p:nvSpPr>
        <p:spPr>
          <a:xfrm>
            <a:off x="2481607" y="1626493"/>
            <a:ext cx="1127298" cy="246221"/>
          </a:xfrm>
          <a:prstGeom prst="rect">
            <a:avLst/>
          </a:prstGeom>
          <a:noFill/>
        </p:spPr>
        <p:txBody>
          <a:bodyPr wrap="square" rtlCol="0">
            <a:spAutoFit/>
          </a:bodyPr>
          <a:lstStyle/>
          <a:p>
            <a:pPr algn="ctr"/>
            <a:r>
              <a:rPr lang="en-US" sz="1000" b="1" i="1">
                <a:cs typeface="Segoe UI" panose="020B0502040204020203" pitchFamily="34" charset="0"/>
              </a:rPr>
              <a:t>COR</a:t>
            </a:r>
          </a:p>
        </p:txBody>
      </p:sp>
      <p:sp>
        <p:nvSpPr>
          <p:cNvPr id="8" name="TextBox 7">
            <a:extLst>
              <a:ext uri="{FF2B5EF4-FFF2-40B4-BE49-F238E27FC236}">
                <a16:creationId xmlns:a16="http://schemas.microsoft.com/office/drawing/2014/main" id="{A44E22E5-F2DB-2329-737E-A2B5E96F9895}"/>
              </a:ext>
            </a:extLst>
          </p:cNvPr>
          <p:cNvSpPr txBox="1"/>
          <p:nvPr/>
        </p:nvSpPr>
        <p:spPr>
          <a:xfrm>
            <a:off x="396773" y="1923451"/>
            <a:ext cx="1600158" cy="400110"/>
          </a:xfrm>
          <a:prstGeom prst="rect">
            <a:avLst/>
          </a:prstGeom>
          <a:noFill/>
        </p:spPr>
        <p:txBody>
          <a:bodyPr wrap="square" rtlCol="0">
            <a:spAutoFit/>
          </a:bodyPr>
          <a:lstStyle/>
          <a:p>
            <a:pPr algn="ctr"/>
            <a:r>
              <a:rPr lang="mn-MN" sz="1000" b="1" i="1">
                <a:cs typeface="Segoe UI" panose="020B0502040204020203" pitchFamily="34" charset="0"/>
              </a:rPr>
              <a:t>ХУГАЦААНААС ӨМНӨ ТӨЛСӨН</a:t>
            </a:r>
            <a:endParaRPr lang="en-US" sz="1000" b="1" i="1">
              <a:cs typeface="Segoe UI" panose="020B0502040204020203" pitchFamily="34" charset="0"/>
            </a:endParaRPr>
          </a:p>
        </p:txBody>
      </p:sp>
      <p:sp>
        <p:nvSpPr>
          <p:cNvPr id="12" name="Rectangle: Rounded Corners 11">
            <a:extLst>
              <a:ext uri="{FF2B5EF4-FFF2-40B4-BE49-F238E27FC236}">
                <a16:creationId xmlns:a16="http://schemas.microsoft.com/office/drawing/2014/main" id="{0A36E62F-33A8-B4A0-04DD-69C1B386AB36}"/>
              </a:ext>
            </a:extLst>
          </p:cNvPr>
          <p:cNvSpPr/>
          <p:nvPr/>
        </p:nvSpPr>
        <p:spPr>
          <a:xfrm>
            <a:off x="4385056" y="1862188"/>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mn-MN" sz="1200">
                <a:solidFill>
                  <a:schemeClr val="tx1"/>
                </a:solidFill>
                <a:cs typeface="Segoe UI" panose="020B0502040204020203" pitchFamily="34" charset="0"/>
              </a:rPr>
              <a:t>436</a:t>
            </a:r>
            <a:endParaRPr lang="en-US" sz="1200">
              <a:solidFill>
                <a:schemeClr val="tx1"/>
              </a:solidFill>
              <a:cs typeface="Segoe UI" panose="020B0502040204020203" pitchFamily="34" charset="0"/>
            </a:endParaRPr>
          </a:p>
        </p:txBody>
      </p:sp>
      <p:pic>
        <p:nvPicPr>
          <p:cNvPr id="13" name="Picture 12">
            <a:extLst>
              <a:ext uri="{FF2B5EF4-FFF2-40B4-BE49-F238E27FC236}">
                <a16:creationId xmlns:a16="http://schemas.microsoft.com/office/drawing/2014/main" id="{1E9D7163-BE57-9706-08A1-42E77653F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251" y="1802438"/>
            <a:ext cx="157610" cy="157610"/>
          </a:xfrm>
          <a:prstGeom prst="rect">
            <a:avLst/>
          </a:prstGeom>
        </p:spPr>
      </p:pic>
      <p:sp>
        <p:nvSpPr>
          <p:cNvPr id="14" name="TextBox 13">
            <a:extLst>
              <a:ext uri="{FF2B5EF4-FFF2-40B4-BE49-F238E27FC236}">
                <a16:creationId xmlns:a16="http://schemas.microsoft.com/office/drawing/2014/main" id="{69B25791-320E-F00A-CAD1-14C66C44CF7F}"/>
              </a:ext>
            </a:extLst>
          </p:cNvPr>
          <p:cNvSpPr txBox="1"/>
          <p:nvPr/>
        </p:nvSpPr>
        <p:spPr>
          <a:xfrm>
            <a:off x="4627394" y="1626493"/>
            <a:ext cx="1127298" cy="246221"/>
          </a:xfrm>
          <a:prstGeom prst="rect">
            <a:avLst/>
          </a:prstGeom>
          <a:noFill/>
        </p:spPr>
        <p:txBody>
          <a:bodyPr wrap="square" rtlCol="0">
            <a:spAutoFit/>
          </a:bodyPr>
          <a:lstStyle/>
          <a:p>
            <a:pPr algn="ctr"/>
            <a:r>
              <a:rPr lang="en-US" sz="1000" b="1" i="1">
                <a:cs typeface="Segoe UI" panose="020B0502040204020203" pitchFamily="34" charset="0"/>
              </a:rPr>
              <a:t>SME</a:t>
            </a:r>
          </a:p>
        </p:txBody>
      </p:sp>
      <p:sp>
        <p:nvSpPr>
          <p:cNvPr id="15" name="Plus Sign 14">
            <a:extLst>
              <a:ext uri="{FF2B5EF4-FFF2-40B4-BE49-F238E27FC236}">
                <a16:creationId xmlns:a16="http://schemas.microsoft.com/office/drawing/2014/main" id="{2AEEC782-0588-0E4B-F065-1DE113021D82}"/>
              </a:ext>
            </a:extLst>
          </p:cNvPr>
          <p:cNvSpPr/>
          <p:nvPr/>
        </p:nvSpPr>
        <p:spPr>
          <a:xfrm>
            <a:off x="3998595" y="2019300"/>
            <a:ext cx="216534" cy="208412"/>
          </a:xfrm>
          <a:prstGeom prst="mathPlus">
            <a:avLst>
              <a:gd name="adj1" fmla="val 9234"/>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quals 16">
            <a:extLst>
              <a:ext uri="{FF2B5EF4-FFF2-40B4-BE49-F238E27FC236}">
                <a16:creationId xmlns:a16="http://schemas.microsoft.com/office/drawing/2014/main" id="{716E3408-E60D-6931-1DAA-A0D80AADF752}"/>
              </a:ext>
            </a:extLst>
          </p:cNvPr>
          <p:cNvSpPr/>
          <p:nvPr/>
        </p:nvSpPr>
        <p:spPr>
          <a:xfrm>
            <a:off x="6166957" y="2033402"/>
            <a:ext cx="205392" cy="180208"/>
          </a:xfrm>
          <a:prstGeom prst="mathEqual">
            <a:avLst>
              <a:gd name="adj1" fmla="val 11892"/>
              <a:gd name="adj2" fmla="val 1176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ectangle: Rounded Corners 17">
            <a:extLst>
              <a:ext uri="{FF2B5EF4-FFF2-40B4-BE49-F238E27FC236}">
                <a16:creationId xmlns:a16="http://schemas.microsoft.com/office/drawing/2014/main" id="{573D8E9F-1C1B-DE00-AA0E-C7FF9138B83F}"/>
              </a:ext>
            </a:extLst>
          </p:cNvPr>
          <p:cNvSpPr/>
          <p:nvPr/>
        </p:nvSpPr>
        <p:spPr>
          <a:xfrm>
            <a:off x="6516115" y="1862188"/>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mn-MN" sz="1200">
                <a:solidFill>
                  <a:schemeClr val="tx1"/>
                </a:solidFill>
                <a:cs typeface="Segoe UI" panose="020B0502040204020203" pitchFamily="34" charset="0"/>
              </a:rPr>
              <a:t>4</a:t>
            </a:r>
            <a:r>
              <a:rPr lang="en-US" sz="1200">
                <a:solidFill>
                  <a:schemeClr val="tx1"/>
                </a:solidFill>
                <a:cs typeface="Segoe UI" panose="020B0502040204020203" pitchFamily="34" charset="0"/>
              </a:rPr>
              <a:t>52</a:t>
            </a:r>
          </a:p>
        </p:txBody>
      </p:sp>
      <p:pic>
        <p:nvPicPr>
          <p:cNvPr id="19" name="Picture 18">
            <a:extLst>
              <a:ext uri="{FF2B5EF4-FFF2-40B4-BE49-F238E27FC236}">
                <a16:creationId xmlns:a16="http://schemas.microsoft.com/office/drawing/2014/main" id="{CE7D59C7-A43B-9E7E-5F3F-47C659ADA9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7310" y="1802438"/>
            <a:ext cx="157610" cy="157610"/>
          </a:xfrm>
          <a:prstGeom prst="rect">
            <a:avLst/>
          </a:prstGeom>
        </p:spPr>
      </p:pic>
      <p:sp>
        <p:nvSpPr>
          <p:cNvPr id="20" name="TextBox 19">
            <a:extLst>
              <a:ext uri="{FF2B5EF4-FFF2-40B4-BE49-F238E27FC236}">
                <a16:creationId xmlns:a16="http://schemas.microsoft.com/office/drawing/2014/main" id="{CE159BB4-4670-DD2B-8DB7-DBFFB87698C8}"/>
              </a:ext>
            </a:extLst>
          </p:cNvPr>
          <p:cNvSpPr txBox="1"/>
          <p:nvPr/>
        </p:nvSpPr>
        <p:spPr>
          <a:xfrm>
            <a:off x="6758453" y="1626493"/>
            <a:ext cx="1127298" cy="246221"/>
          </a:xfrm>
          <a:prstGeom prst="rect">
            <a:avLst/>
          </a:prstGeom>
          <a:noFill/>
        </p:spPr>
        <p:txBody>
          <a:bodyPr wrap="square" rtlCol="0">
            <a:spAutoFit/>
          </a:bodyPr>
          <a:lstStyle/>
          <a:p>
            <a:pPr algn="ctr"/>
            <a:r>
              <a:rPr lang="mn-MN" sz="1000" b="1" i="1">
                <a:cs typeface="Segoe UI" panose="020B0502040204020203" pitchFamily="34" charset="0"/>
              </a:rPr>
              <a:t>Нийт</a:t>
            </a:r>
            <a:endParaRPr lang="en-US" sz="1000" b="1" i="1">
              <a:cs typeface="Segoe UI" panose="020B0502040204020203" pitchFamily="34" charset="0"/>
            </a:endParaRPr>
          </a:p>
        </p:txBody>
      </p:sp>
      <p:sp>
        <p:nvSpPr>
          <p:cNvPr id="21" name="TextBox 20">
            <a:extLst>
              <a:ext uri="{FF2B5EF4-FFF2-40B4-BE49-F238E27FC236}">
                <a16:creationId xmlns:a16="http://schemas.microsoft.com/office/drawing/2014/main" id="{6B3F022B-0370-DF2B-0E5B-AC9A2A431C22}"/>
              </a:ext>
            </a:extLst>
          </p:cNvPr>
          <p:cNvSpPr txBox="1"/>
          <p:nvPr/>
        </p:nvSpPr>
        <p:spPr>
          <a:xfrm>
            <a:off x="421622" y="2774592"/>
            <a:ext cx="3963434" cy="307777"/>
          </a:xfrm>
          <a:prstGeom prst="rect">
            <a:avLst/>
          </a:prstGeom>
          <a:noFill/>
        </p:spPr>
        <p:txBody>
          <a:bodyPr wrap="square" rtlCol="0">
            <a:spAutoFit/>
          </a:bodyPr>
          <a:lstStyle/>
          <a:p>
            <a:r>
              <a:rPr lang="en-US" sz="1400" b="1">
                <a:solidFill>
                  <a:srgbClr val="002060"/>
                </a:solidFill>
                <a:cs typeface="Segoe UI" panose="020B0502040204020203" pitchFamily="34" charset="0"/>
              </a:rPr>
              <a:t>DFC </a:t>
            </a:r>
            <a:r>
              <a:rPr lang="mn-MN" sz="1400" b="1">
                <a:solidFill>
                  <a:srgbClr val="002060"/>
                </a:solidFill>
                <a:cs typeface="Segoe UI" panose="020B0502040204020203" pitchFamily="34" charset="0"/>
              </a:rPr>
              <a:t>эх үүсвэртэй зээл </a:t>
            </a:r>
            <a:r>
              <a:rPr lang="en-US" sz="1400" i="1">
                <a:solidFill>
                  <a:srgbClr val="002060"/>
                </a:solidFill>
                <a:cs typeface="Segoe UI" panose="020B0502040204020203" pitchFamily="34" charset="0"/>
              </a:rPr>
              <a:t>/</a:t>
            </a:r>
            <a:r>
              <a:rPr lang="mn-MN" sz="1400" i="1">
                <a:solidFill>
                  <a:srgbClr val="002060"/>
                </a:solidFill>
                <a:cs typeface="Segoe UI" panose="020B0502040204020203" pitchFamily="34" charset="0"/>
              </a:rPr>
              <a:t>2024 оноос хойш</a:t>
            </a:r>
            <a:r>
              <a:rPr lang="en-US" sz="1400" i="1">
                <a:solidFill>
                  <a:srgbClr val="002060"/>
                </a:solidFill>
                <a:cs typeface="Segoe UI" panose="020B0502040204020203" pitchFamily="34" charset="0"/>
              </a:rPr>
              <a:t>/</a:t>
            </a:r>
            <a:endParaRPr lang="en-US" sz="1400" i="1" dirty="0">
              <a:solidFill>
                <a:srgbClr val="002060"/>
              </a:solidFill>
              <a:cs typeface="Segoe UI" panose="020B0502040204020203" pitchFamily="34" charset="0"/>
            </a:endParaRPr>
          </a:p>
        </p:txBody>
      </p:sp>
      <p:sp>
        <p:nvSpPr>
          <p:cNvPr id="22" name="Rectangle: Rounded Corners 21">
            <a:extLst>
              <a:ext uri="{FF2B5EF4-FFF2-40B4-BE49-F238E27FC236}">
                <a16:creationId xmlns:a16="http://schemas.microsoft.com/office/drawing/2014/main" id="{8F9DC042-504E-8F68-66B0-2433157D1C96}"/>
              </a:ext>
            </a:extLst>
          </p:cNvPr>
          <p:cNvSpPr/>
          <p:nvPr/>
        </p:nvSpPr>
        <p:spPr>
          <a:xfrm>
            <a:off x="2239269" y="3318064"/>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mn-MN" sz="1200">
                <a:solidFill>
                  <a:schemeClr val="tx1"/>
                </a:solidFill>
                <a:cs typeface="Segoe UI" panose="020B0502040204020203" pitchFamily="34" charset="0"/>
              </a:rPr>
              <a:t>6</a:t>
            </a:r>
            <a:endParaRPr lang="en-US" sz="1200">
              <a:solidFill>
                <a:schemeClr val="tx1"/>
              </a:solidFill>
              <a:cs typeface="Segoe UI" panose="020B0502040204020203" pitchFamily="34" charset="0"/>
            </a:endParaRPr>
          </a:p>
        </p:txBody>
      </p:sp>
      <p:pic>
        <p:nvPicPr>
          <p:cNvPr id="23" name="Picture 22">
            <a:extLst>
              <a:ext uri="{FF2B5EF4-FFF2-40B4-BE49-F238E27FC236}">
                <a16:creationId xmlns:a16="http://schemas.microsoft.com/office/drawing/2014/main" id="{641A4AD8-F9E6-3B17-C179-F12766C843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464" y="3258314"/>
            <a:ext cx="157610" cy="157610"/>
          </a:xfrm>
          <a:prstGeom prst="rect">
            <a:avLst/>
          </a:prstGeom>
        </p:spPr>
      </p:pic>
      <p:sp>
        <p:nvSpPr>
          <p:cNvPr id="24" name="TextBox 23">
            <a:extLst>
              <a:ext uri="{FF2B5EF4-FFF2-40B4-BE49-F238E27FC236}">
                <a16:creationId xmlns:a16="http://schemas.microsoft.com/office/drawing/2014/main" id="{46767A12-5CCE-8B41-72B5-B587B9656DFF}"/>
              </a:ext>
            </a:extLst>
          </p:cNvPr>
          <p:cNvSpPr txBox="1"/>
          <p:nvPr/>
        </p:nvSpPr>
        <p:spPr>
          <a:xfrm>
            <a:off x="2481607" y="3082369"/>
            <a:ext cx="1127298" cy="246221"/>
          </a:xfrm>
          <a:prstGeom prst="rect">
            <a:avLst/>
          </a:prstGeom>
          <a:noFill/>
        </p:spPr>
        <p:txBody>
          <a:bodyPr wrap="square" rtlCol="0">
            <a:spAutoFit/>
          </a:bodyPr>
          <a:lstStyle/>
          <a:p>
            <a:pPr algn="ctr"/>
            <a:r>
              <a:rPr lang="en-US" sz="1000" b="1" i="1">
                <a:cs typeface="Segoe UI" panose="020B0502040204020203" pitchFamily="34" charset="0"/>
              </a:rPr>
              <a:t>COR</a:t>
            </a:r>
          </a:p>
        </p:txBody>
      </p:sp>
      <p:sp>
        <p:nvSpPr>
          <p:cNvPr id="25" name="TextBox 24">
            <a:extLst>
              <a:ext uri="{FF2B5EF4-FFF2-40B4-BE49-F238E27FC236}">
                <a16:creationId xmlns:a16="http://schemas.microsoft.com/office/drawing/2014/main" id="{D7C788F8-B107-8A8D-CB0C-2594279FB5CE}"/>
              </a:ext>
            </a:extLst>
          </p:cNvPr>
          <p:cNvSpPr txBox="1"/>
          <p:nvPr/>
        </p:nvSpPr>
        <p:spPr>
          <a:xfrm>
            <a:off x="396773" y="3379327"/>
            <a:ext cx="1600158" cy="400110"/>
          </a:xfrm>
          <a:prstGeom prst="rect">
            <a:avLst/>
          </a:prstGeom>
          <a:noFill/>
        </p:spPr>
        <p:txBody>
          <a:bodyPr wrap="square" rtlCol="0">
            <a:spAutoFit/>
          </a:bodyPr>
          <a:lstStyle/>
          <a:p>
            <a:pPr algn="ctr"/>
            <a:r>
              <a:rPr lang="mn-MN" sz="1000" b="1" i="1">
                <a:cs typeface="Segoe UI" panose="020B0502040204020203" pitchFamily="34" charset="0"/>
              </a:rPr>
              <a:t>ХУГАЦААНААС ӨМНӨ ТӨЛСӨН</a:t>
            </a:r>
            <a:endParaRPr lang="en-US" sz="1000" b="1" i="1">
              <a:cs typeface="Segoe UI" panose="020B0502040204020203" pitchFamily="34" charset="0"/>
            </a:endParaRPr>
          </a:p>
        </p:txBody>
      </p:sp>
      <p:sp>
        <p:nvSpPr>
          <p:cNvPr id="26" name="Rectangle: Rounded Corners 25">
            <a:extLst>
              <a:ext uri="{FF2B5EF4-FFF2-40B4-BE49-F238E27FC236}">
                <a16:creationId xmlns:a16="http://schemas.microsoft.com/office/drawing/2014/main" id="{CBDC00F2-63C8-BBAB-4561-49E54C9F2635}"/>
              </a:ext>
            </a:extLst>
          </p:cNvPr>
          <p:cNvSpPr/>
          <p:nvPr/>
        </p:nvSpPr>
        <p:spPr>
          <a:xfrm>
            <a:off x="4385056" y="3318064"/>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mn-MN" sz="1200">
                <a:solidFill>
                  <a:schemeClr val="tx1"/>
                </a:solidFill>
                <a:cs typeface="Segoe UI" panose="020B0502040204020203" pitchFamily="34" charset="0"/>
              </a:rPr>
              <a:t>42</a:t>
            </a:r>
            <a:endParaRPr lang="en-US" sz="1200">
              <a:solidFill>
                <a:schemeClr val="tx1"/>
              </a:solidFill>
              <a:cs typeface="Segoe UI" panose="020B0502040204020203" pitchFamily="34" charset="0"/>
            </a:endParaRPr>
          </a:p>
        </p:txBody>
      </p:sp>
      <p:pic>
        <p:nvPicPr>
          <p:cNvPr id="27" name="Picture 26">
            <a:extLst>
              <a:ext uri="{FF2B5EF4-FFF2-40B4-BE49-F238E27FC236}">
                <a16:creationId xmlns:a16="http://schemas.microsoft.com/office/drawing/2014/main" id="{9B9854AF-637B-1D9C-3B38-051A4B171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251" y="3258314"/>
            <a:ext cx="157610" cy="157610"/>
          </a:xfrm>
          <a:prstGeom prst="rect">
            <a:avLst/>
          </a:prstGeom>
        </p:spPr>
      </p:pic>
      <p:sp>
        <p:nvSpPr>
          <p:cNvPr id="28" name="TextBox 27">
            <a:extLst>
              <a:ext uri="{FF2B5EF4-FFF2-40B4-BE49-F238E27FC236}">
                <a16:creationId xmlns:a16="http://schemas.microsoft.com/office/drawing/2014/main" id="{28E8479C-E9EA-9EF2-11D7-664073BC8D27}"/>
              </a:ext>
            </a:extLst>
          </p:cNvPr>
          <p:cNvSpPr txBox="1"/>
          <p:nvPr/>
        </p:nvSpPr>
        <p:spPr>
          <a:xfrm>
            <a:off x="4627394" y="3082369"/>
            <a:ext cx="1127298" cy="246221"/>
          </a:xfrm>
          <a:prstGeom prst="rect">
            <a:avLst/>
          </a:prstGeom>
          <a:noFill/>
        </p:spPr>
        <p:txBody>
          <a:bodyPr wrap="square" rtlCol="0">
            <a:spAutoFit/>
          </a:bodyPr>
          <a:lstStyle/>
          <a:p>
            <a:pPr algn="ctr"/>
            <a:r>
              <a:rPr lang="en-US" sz="1000" b="1" i="1">
                <a:cs typeface="Segoe UI" panose="020B0502040204020203" pitchFamily="34" charset="0"/>
              </a:rPr>
              <a:t>SME</a:t>
            </a:r>
          </a:p>
        </p:txBody>
      </p:sp>
      <p:sp>
        <p:nvSpPr>
          <p:cNvPr id="29" name="Plus Sign 28">
            <a:extLst>
              <a:ext uri="{FF2B5EF4-FFF2-40B4-BE49-F238E27FC236}">
                <a16:creationId xmlns:a16="http://schemas.microsoft.com/office/drawing/2014/main" id="{C71E3619-92F1-AE35-DB27-2239CB0A4948}"/>
              </a:ext>
            </a:extLst>
          </p:cNvPr>
          <p:cNvSpPr/>
          <p:nvPr/>
        </p:nvSpPr>
        <p:spPr>
          <a:xfrm>
            <a:off x="3998595" y="3475176"/>
            <a:ext cx="216534" cy="208412"/>
          </a:xfrm>
          <a:prstGeom prst="mathPlus">
            <a:avLst>
              <a:gd name="adj1" fmla="val 9234"/>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Equals 29">
            <a:extLst>
              <a:ext uri="{FF2B5EF4-FFF2-40B4-BE49-F238E27FC236}">
                <a16:creationId xmlns:a16="http://schemas.microsoft.com/office/drawing/2014/main" id="{099A0540-8F78-48F9-1EA4-C434F7ECCA05}"/>
              </a:ext>
            </a:extLst>
          </p:cNvPr>
          <p:cNvSpPr/>
          <p:nvPr/>
        </p:nvSpPr>
        <p:spPr>
          <a:xfrm>
            <a:off x="6166957" y="3489278"/>
            <a:ext cx="205392" cy="180208"/>
          </a:xfrm>
          <a:prstGeom prst="mathEqual">
            <a:avLst>
              <a:gd name="adj1" fmla="val 11892"/>
              <a:gd name="adj2" fmla="val 1176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Rectangle: Rounded Corners 30">
            <a:extLst>
              <a:ext uri="{FF2B5EF4-FFF2-40B4-BE49-F238E27FC236}">
                <a16:creationId xmlns:a16="http://schemas.microsoft.com/office/drawing/2014/main" id="{F4A5FED1-DE11-33C8-2B37-A74FD7BCAA6D}"/>
              </a:ext>
            </a:extLst>
          </p:cNvPr>
          <p:cNvSpPr/>
          <p:nvPr/>
        </p:nvSpPr>
        <p:spPr>
          <a:xfrm>
            <a:off x="6516115" y="3318064"/>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mn-MN" sz="1200">
                <a:solidFill>
                  <a:schemeClr val="tx1"/>
                </a:solidFill>
                <a:cs typeface="Segoe UI" panose="020B0502040204020203" pitchFamily="34" charset="0"/>
              </a:rPr>
              <a:t>48</a:t>
            </a:r>
            <a:endParaRPr lang="en-US" sz="1200">
              <a:solidFill>
                <a:schemeClr val="tx1"/>
              </a:solidFill>
              <a:cs typeface="Segoe UI" panose="020B0502040204020203" pitchFamily="34" charset="0"/>
            </a:endParaRPr>
          </a:p>
        </p:txBody>
      </p:sp>
      <p:pic>
        <p:nvPicPr>
          <p:cNvPr id="32" name="Picture 31">
            <a:extLst>
              <a:ext uri="{FF2B5EF4-FFF2-40B4-BE49-F238E27FC236}">
                <a16:creationId xmlns:a16="http://schemas.microsoft.com/office/drawing/2014/main" id="{42E55DBF-FE97-B207-40FA-436EFDBFAC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7310" y="3258314"/>
            <a:ext cx="157610" cy="157610"/>
          </a:xfrm>
          <a:prstGeom prst="rect">
            <a:avLst/>
          </a:prstGeom>
        </p:spPr>
      </p:pic>
      <p:sp>
        <p:nvSpPr>
          <p:cNvPr id="34" name="TextBox 33">
            <a:extLst>
              <a:ext uri="{FF2B5EF4-FFF2-40B4-BE49-F238E27FC236}">
                <a16:creationId xmlns:a16="http://schemas.microsoft.com/office/drawing/2014/main" id="{81BF226E-9922-A556-CB04-6930996BA7FD}"/>
              </a:ext>
            </a:extLst>
          </p:cNvPr>
          <p:cNvSpPr txBox="1"/>
          <p:nvPr/>
        </p:nvSpPr>
        <p:spPr>
          <a:xfrm>
            <a:off x="6758453" y="3082369"/>
            <a:ext cx="1127298" cy="246221"/>
          </a:xfrm>
          <a:prstGeom prst="rect">
            <a:avLst/>
          </a:prstGeom>
          <a:noFill/>
        </p:spPr>
        <p:txBody>
          <a:bodyPr wrap="square" rtlCol="0">
            <a:spAutoFit/>
          </a:bodyPr>
          <a:lstStyle/>
          <a:p>
            <a:pPr algn="ctr"/>
            <a:r>
              <a:rPr lang="mn-MN" sz="1000" b="1" i="1">
                <a:cs typeface="Segoe UI" panose="020B0502040204020203" pitchFamily="34" charset="0"/>
              </a:rPr>
              <a:t>Нийт</a:t>
            </a:r>
            <a:endParaRPr lang="en-US" sz="1000" b="1" i="1">
              <a:cs typeface="Segoe UI" panose="020B0502040204020203" pitchFamily="34" charset="0"/>
            </a:endParaRPr>
          </a:p>
        </p:txBody>
      </p:sp>
      <p:graphicFrame>
        <p:nvGraphicFramePr>
          <p:cNvPr id="35" name="Chart 34">
            <a:extLst>
              <a:ext uri="{FF2B5EF4-FFF2-40B4-BE49-F238E27FC236}">
                <a16:creationId xmlns:a16="http://schemas.microsoft.com/office/drawing/2014/main" id="{0C88B530-492D-FB18-9C3B-5D12D4B78CF5}"/>
              </a:ext>
            </a:extLst>
          </p:cNvPr>
          <p:cNvGraphicFramePr>
            <a:graphicFrameLocks/>
          </p:cNvGraphicFramePr>
          <p:nvPr>
            <p:extLst>
              <p:ext uri="{D42A27DB-BD31-4B8C-83A1-F6EECF244321}">
                <p14:modId xmlns:p14="http://schemas.microsoft.com/office/powerpoint/2010/main" val="158181432"/>
              </p:ext>
            </p:extLst>
          </p:nvPr>
        </p:nvGraphicFramePr>
        <p:xfrm>
          <a:off x="770121" y="4058631"/>
          <a:ext cx="6890016" cy="2395667"/>
        </p:xfrm>
        <a:graphic>
          <a:graphicData uri="http://schemas.openxmlformats.org/drawingml/2006/chart">
            <c:chart xmlns:c="http://schemas.openxmlformats.org/drawingml/2006/chart" xmlns:r="http://schemas.openxmlformats.org/officeDocument/2006/relationships" r:id="rId3"/>
          </a:graphicData>
        </a:graphic>
      </p:graphicFrame>
      <p:sp>
        <p:nvSpPr>
          <p:cNvPr id="36" name="Rectangle: Rounded Corners 35">
            <a:extLst>
              <a:ext uri="{FF2B5EF4-FFF2-40B4-BE49-F238E27FC236}">
                <a16:creationId xmlns:a16="http://schemas.microsoft.com/office/drawing/2014/main" id="{921DE993-96C8-14F6-6D43-3FC8462E1278}"/>
              </a:ext>
            </a:extLst>
          </p:cNvPr>
          <p:cNvSpPr/>
          <p:nvPr/>
        </p:nvSpPr>
        <p:spPr>
          <a:xfrm>
            <a:off x="1833398" y="4364661"/>
            <a:ext cx="484676" cy="87120"/>
          </a:xfrm>
          <a:prstGeom prst="roundRect">
            <a:avLst>
              <a:gd name="adj"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42B46224-16D3-6236-B7AA-4AF9EF7760AA}"/>
              </a:ext>
            </a:extLst>
          </p:cNvPr>
          <p:cNvSpPr/>
          <p:nvPr/>
        </p:nvSpPr>
        <p:spPr>
          <a:xfrm>
            <a:off x="1840824" y="4550911"/>
            <a:ext cx="874242" cy="87120"/>
          </a:xfrm>
          <a:prstGeom prst="roundRect">
            <a:avLst>
              <a:gd name="adj" fmla="val 50000"/>
            </a:avLst>
          </a:prstGeom>
          <a:solidFill>
            <a:srgbClr val="008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D66EE363-0527-5A73-164C-106D38AE09B4}"/>
              </a:ext>
            </a:extLst>
          </p:cNvPr>
          <p:cNvSpPr/>
          <p:nvPr/>
        </p:nvSpPr>
        <p:spPr>
          <a:xfrm>
            <a:off x="1840824" y="5017705"/>
            <a:ext cx="2165198" cy="87120"/>
          </a:xfrm>
          <a:prstGeom prst="roundRect">
            <a:avLst>
              <a:gd name="adj"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Rounded Corners 38">
            <a:extLst>
              <a:ext uri="{FF2B5EF4-FFF2-40B4-BE49-F238E27FC236}">
                <a16:creationId xmlns:a16="http://schemas.microsoft.com/office/drawing/2014/main" id="{60A27577-B942-DB3B-D086-9D9D86628E80}"/>
              </a:ext>
            </a:extLst>
          </p:cNvPr>
          <p:cNvSpPr/>
          <p:nvPr/>
        </p:nvSpPr>
        <p:spPr>
          <a:xfrm>
            <a:off x="1840824" y="5236844"/>
            <a:ext cx="5405409" cy="87120"/>
          </a:xfrm>
          <a:prstGeom prst="roundRect">
            <a:avLst>
              <a:gd name="adj" fmla="val 50000"/>
            </a:avLst>
          </a:prstGeom>
          <a:solidFill>
            <a:srgbClr val="008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F394865A-DFB4-36E4-A6D4-A314F458A65D}"/>
              </a:ext>
            </a:extLst>
          </p:cNvPr>
          <p:cNvSpPr/>
          <p:nvPr/>
        </p:nvSpPr>
        <p:spPr>
          <a:xfrm>
            <a:off x="1848251" y="5664683"/>
            <a:ext cx="319640" cy="87120"/>
          </a:xfrm>
          <a:prstGeom prst="roundRect">
            <a:avLst>
              <a:gd name="adj" fmla="val 50000"/>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06D00D46-8D19-7DC8-0D21-D41F3E4B01F6}"/>
              </a:ext>
            </a:extLst>
          </p:cNvPr>
          <p:cNvSpPr/>
          <p:nvPr/>
        </p:nvSpPr>
        <p:spPr>
          <a:xfrm>
            <a:off x="1840824" y="5878020"/>
            <a:ext cx="1492733" cy="87120"/>
          </a:xfrm>
          <a:prstGeom prst="roundRect">
            <a:avLst>
              <a:gd name="adj" fmla="val 50000"/>
            </a:avLst>
          </a:prstGeom>
          <a:solidFill>
            <a:srgbClr val="008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831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3488" y="548810"/>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011C9CC5-2F93-FD89-DCD9-88BBA679EE5A}"/>
              </a:ext>
            </a:extLst>
          </p:cNvPr>
          <p:cNvGrpSpPr/>
          <p:nvPr/>
        </p:nvGrpSpPr>
        <p:grpSpPr>
          <a:xfrm>
            <a:off x="3903126" y="386359"/>
            <a:ext cx="4385748" cy="322352"/>
            <a:chOff x="4033374" y="215436"/>
            <a:chExt cx="4065373" cy="338092"/>
          </a:xfrm>
        </p:grpSpPr>
        <p:sp>
          <p:nvSpPr>
            <p:cNvPr id="24" name="Rounded Rectangle 40">
              <a:extLst>
                <a:ext uri="{FF2B5EF4-FFF2-40B4-BE49-F238E27FC236}">
                  <a16:creationId xmlns:a16="http://schemas.microsoft.com/office/drawing/2014/main" id="{CAA87672-A3B9-F7F2-83A4-4B73A6ACB85E}"/>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25" name="Rectangle 24">
              <a:extLst>
                <a:ext uri="{FF2B5EF4-FFF2-40B4-BE49-F238E27FC236}">
                  <a16:creationId xmlns:a16="http://schemas.microsoft.com/office/drawing/2014/main" id="{E7076B1A-7615-B58F-B4E2-0427198337D4}"/>
                </a:ext>
              </a:extLst>
            </p:cNvPr>
            <p:cNvSpPr/>
            <p:nvPr/>
          </p:nvSpPr>
          <p:spPr>
            <a:xfrm>
              <a:off x="4244477" y="219631"/>
              <a:ext cx="3643166" cy="322804"/>
            </a:xfrm>
            <a:prstGeom prst="rect">
              <a:avLst/>
            </a:prstGeom>
          </p:spPr>
          <p:txBody>
            <a:bodyPr wrap="square" anchor="ctr">
              <a:spAutoFit/>
            </a:bodyPr>
            <a:lstStyle/>
            <a:p>
              <a:pPr algn="ctr"/>
              <a:r>
                <a:rPr lang="mn-MN" sz="1400" b="1">
                  <a:solidFill>
                    <a:schemeClr val="bg1"/>
                  </a:solidFill>
                  <a:cs typeface="Segoe UI" panose="020B0502040204020203" pitchFamily="34" charset="0"/>
                </a:rPr>
                <a:t>ОЛОН УЛСЫН БОДИТ ШИЙДЭЛҮҮД </a:t>
              </a:r>
              <a:endParaRPr lang="en-US" sz="1400" b="1" dirty="0">
                <a:solidFill>
                  <a:schemeClr val="bg1"/>
                </a:solidFill>
                <a:cs typeface="Segoe UI" panose="020B0502040204020203" pitchFamily="34" charset="0"/>
              </a:endParaRPr>
            </a:p>
          </p:txBody>
        </p:sp>
      </p:grp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4</a:t>
            </a:fld>
            <a:endParaRPr lang="en-US" sz="1200" dirty="0">
              <a:solidFill>
                <a:schemeClr val="bg1">
                  <a:lumMod val="65000"/>
                </a:schemeClr>
              </a:solidFill>
              <a:cs typeface="Segoe UI Light" panose="020B0502040204020203" pitchFamily="34" charset="0"/>
            </a:endParaRPr>
          </a:p>
        </p:txBody>
      </p:sp>
      <p:sp>
        <p:nvSpPr>
          <p:cNvPr id="33" name="Text 5">
            <a:extLst>
              <a:ext uri="{FF2B5EF4-FFF2-40B4-BE49-F238E27FC236}">
                <a16:creationId xmlns:a16="http://schemas.microsoft.com/office/drawing/2014/main" id="{2ADF408F-8383-1450-F44C-9326521890CE}"/>
              </a:ext>
            </a:extLst>
          </p:cNvPr>
          <p:cNvSpPr/>
          <p:nvPr/>
        </p:nvSpPr>
        <p:spPr>
          <a:xfrm>
            <a:off x="585216" y="1026740"/>
            <a:ext cx="1280160" cy="201168"/>
          </a:xfrm>
          <a:prstGeom prst="rect">
            <a:avLst/>
          </a:prstGeom>
          <a:noFill/>
          <a:ln/>
        </p:spPr>
        <p:txBody>
          <a:bodyPr wrap="square" lIns="0" tIns="0" rIns="0" bIns="0" rtlCol="0" anchor="ctr">
            <a:normAutofit/>
          </a:bodyPr>
          <a:lstStyle/>
          <a:p>
            <a:pPr marL="0" indent="0" algn="l">
              <a:buNone/>
            </a:pPr>
            <a:r>
              <a:rPr lang="en-US" sz="950" b="1" dirty="0">
                <a:solidFill>
                  <a:srgbClr val="68707A"/>
                </a:solidFill>
                <a:latin typeface="Aptos" pitchFamily="34" charset="0"/>
                <a:ea typeface="Aptos" pitchFamily="34" charset="-122"/>
                <a:cs typeface="Aptos" pitchFamily="34" charset="-120"/>
              </a:rPr>
              <a:t>Практик</a:t>
            </a:r>
            <a:endParaRPr lang="en-US" sz="950" dirty="0"/>
          </a:p>
        </p:txBody>
      </p:sp>
      <p:sp>
        <p:nvSpPr>
          <p:cNvPr id="34" name="Text 6">
            <a:extLst>
              <a:ext uri="{FF2B5EF4-FFF2-40B4-BE49-F238E27FC236}">
                <a16:creationId xmlns:a16="http://schemas.microsoft.com/office/drawing/2014/main" id="{DFBB36E8-5774-7ACF-8DDB-F2C14F01742B}"/>
              </a:ext>
            </a:extLst>
          </p:cNvPr>
          <p:cNvSpPr/>
          <p:nvPr/>
        </p:nvSpPr>
        <p:spPr>
          <a:xfrm>
            <a:off x="3606415" y="1023907"/>
            <a:ext cx="1463040" cy="201168"/>
          </a:xfrm>
          <a:prstGeom prst="rect">
            <a:avLst/>
          </a:prstGeom>
          <a:noFill/>
          <a:ln/>
        </p:spPr>
        <p:txBody>
          <a:bodyPr wrap="square" lIns="0" tIns="0" rIns="0" bIns="0" rtlCol="0" anchor="ctr">
            <a:normAutofit/>
          </a:bodyPr>
          <a:lstStyle/>
          <a:p>
            <a:pPr marL="0" indent="0" algn="l">
              <a:buNone/>
            </a:pPr>
            <a:r>
              <a:rPr lang="en-US" sz="950" b="1" dirty="0">
                <a:solidFill>
                  <a:srgbClr val="68707A"/>
                </a:solidFill>
                <a:latin typeface="Aptos" pitchFamily="34" charset="0"/>
                <a:ea typeface="Aptos" pitchFamily="34" charset="-122"/>
                <a:cs typeface="Aptos" pitchFamily="34" charset="-120"/>
              </a:rPr>
              <a:t>Гол нөхцөл</a:t>
            </a:r>
            <a:endParaRPr lang="en-US" sz="950" dirty="0"/>
          </a:p>
        </p:txBody>
      </p:sp>
      <p:sp>
        <p:nvSpPr>
          <p:cNvPr id="37" name="Shape 8">
            <a:extLst>
              <a:ext uri="{FF2B5EF4-FFF2-40B4-BE49-F238E27FC236}">
                <a16:creationId xmlns:a16="http://schemas.microsoft.com/office/drawing/2014/main" id="{B5B08EE8-1B0B-BC43-34C2-72D9E5AA8C7C}"/>
              </a:ext>
            </a:extLst>
          </p:cNvPr>
          <p:cNvSpPr/>
          <p:nvPr/>
        </p:nvSpPr>
        <p:spPr>
          <a:xfrm>
            <a:off x="475488" y="1346780"/>
            <a:ext cx="11247120" cy="0"/>
          </a:xfrm>
          <a:prstGeom prst="line">
            <a:avLst/>
          </a:prstGeom>
          <a:noFill/>
          <a:ln w="10160">
            <a:solidFill>
              <a:srgbClr val="D9DED7"/>
            </a:solidFill>
            <a:prstDash val="solid"/>
          </a:ln>
        </p:spPr>
      </p:sp>
      <p:sp>
        <p:nvSpPr>
          <p:cNvPr id="38" name="Shape 9">
            <a:extLst>
              <a:ext uri="{FF2B5EF4-FFF2-40B4-BE49-F238E27FC236}">
                <a16:creationId xmlns:a16="http://schemas.microsoft.com/office/drawing/2014/main" id="{F792021B-EF2E-8F7E-2C1B-EBE71F5D8A1D}"/>
              </a:ext>
            </a:extLst>
          </p:cNvPr>
          <p:cNvSpPr/>
          <p:nvPr/>
        </p:nvSpPr>
        <p:spPr>
          <a:xfrm>
            <a:off x="475488" y="2269908"/>
            <a:ext cx="11247120" cy="0"/>
          </a:xfrm>
          <a:prstGeom prst="line">
            <a:avLst/>
          </a:prstGeom>
          <a:noFill/>
          <a:ln w="10160">
            <a:solidFill>
              <a:srgbClr val="D9DED7"/>
            </a:solidFill>
            <a:prstDash val="solid"/>
          </a:ln>
        </p:spPr>
      </p:sp>
      <p:sp>
        <p:nvSpPr>
          <p:cNvPr id="39" name="Shape 10">
            <a:extLst>
              <a:ext uri="{FF2B5EF4-FFF2-40B4-BE49-F238E27FC236}">
                <a16:creationId xmlns:a16="http://schemas.microsoft.com/office/drawing/2014/main" id="{7DFF0442-E305-7A7F-9B60-686C531492F6}"/>
              </a:ext>
            </a:extLst>
          </p:cNvPr>
          <p:cNvSpPr/>
          <p:nvPr/>
        </p:nvSpPr>
        <p:spPr>
          <a:xfrm>
            <a:off x="475488" y="3193036"/>
            <a:ext cx="11247120" cy="0"/>
          </a:xfrm>
          <a:prstGeom prst="line">
            <a:avLst/>
          </a:prstGeom>
          <a:noFill/>
          <a:ln w="10160">
            <a:solidFill>
              <a:srgbClr val="D9DED7"/>
            </a:solidFill>
            <a:prstDash val="solid"/>
          </a:ln>
        </p:spPr>
      </p:sp>
      <p:sp>
        <p:nvSpPr>
          <p:cNvPr id="40" name="Shape 11">
            <a:extLst>
              <a:ext uri="{FF2B5EF4-FFF2-40B4-BE49-F238E27FC236}">
                <a16:creationId xmlns:a16="http://schemas.microsoft.com/office/drawing/2014/main" id="{FBEB9F8F-E71F-F5BD-53D2-FFF0BCCC3327}"/>
              </a:ext>
            </a:extLst>
          </p:cNvPr>
          <p:cNvSpPr/>
          <p:nvPr/>
        </p:nvSpPr>
        <p:spPr>
          <a:xfrm>
            <a:off x="475488" y="4116164"/>
            <a:ext cx="11247120" cy="0"/>
          </a:xfrm>
          <a:prstGeom prst="line">
            <a:avLst/>
          </a:prstGeom>
          <a:noFill/>
          <a:ln w="10160">
            <a:solidFill>
              <a:srgbClr val="D9DED7"/>
            </a:solidFill>
            <a:prstDash val="solid"/>
          </a:ln>
        </p:spPr>
      </p:sp>
      <p:sp>
        <p:nvSpPr>
          <p:cNvPr id="41" name="Shape 12">
            <a:extLst>
              <a:ext uri="{FF2B5EF4-FFF2-40B4-BE49-F238E27FC236}">
                <a16:creationId xmlns:a16="http://schemas.microsoft.com/office/drawing/2014/main" id="{3F4BD4E8-B9EA-2FD0-25CB-66F74BB9366A}"/>
              </a:ext>
            </a:extLst>
          </p:cNvPr>
          <p:cNvSpPr/>
          <p:nvPr/>
        </p:nvSpPr>
        <p:spPr>
          <a:xfrm>
            <a:off x="475488" y="5039293"/>
            <a:ext cx="11247120" cy="0"/>
          </a:xfrm>
          <a:prstGeom prst="line">
            <a:avLst/>
          </a:prstGeom>
          <a:noFill/>
          <a:ln w="10160">
            <a:solidFill>
              <a:srgbClr val="D9DED7"/>
            </a:solidFill>
            <a:prstDash val="solid"/>
          </a:ln>
        </p:spPr>
      </p:sp>
      <p:grpSp>
        <p:nvGrpSpPr>
          <p:cNvPr id="85" name="Group 84">
            <a:extLst>
              <a:ext uri="{FF2B5EF4-FFF2-40B4-BE49-F238E27FC236}">
                <a16:creationId xmlns:a16="http://schemas.microsoft.com/office/drawing/2014/main" id="{9E1C6798-4041-B5BD-6B51-08FD5AB20B6A}"/>
              </a:ext>
            </a:extLst>
          </p:cNvPr>
          <p:cNvGrpSpPr/>
          <p:nvPr/>
        </p:nvGrpSpPr>
        <p:grpSpPr>
          <a:xfrm>
            <a:off x="618117" y="1721646"/>
            <a:ext cx="530352" cy="283464"/>
            <a:chOff x="603504" y="1547948"/>
            <a:chExt cx="530352" cy="283464"/>
          </a:xfrm>
        </p:grpSpPr>
        <p:sp>
          <p:nvSpPr>
            <p:cNvPr id="42" name="Shape 13">
              <a:extLst>
                <a:ext uri="{FF2B5EF4-FFF2-40B4-BE49-F238E27FC236}">
                  <a16:creationId xmlns:a16="http://schemas.microsoft.com/office/drawing/2014/main" id="{3656FD81-CE37-1753-9BD3-ADF23D4861D9}"/>
                </a:ext>
              </a:extLst>
            </p:cNvPr>
            <p:cNvSpPr/>
            <p:nvPr/>
          </p:nvSpPr>
          <p:spPr>
            <a:xfrm>
              <a:off x="603504" y="1547948"/>
              <a:ext cx="530352" cy="283464"/>
            </a:xfrm>
            <a:prstGeom prst="roundRect">
              <a:avLst>
                <a:gd name="adj" fmla="val 25806"/>
              </a:avLst>
            </a:prstGeom>
            <a:solidFill>
              <a:srgbClr val="002060"/>
            </a:solidFill>
            <a:ln w="12700">
              <a:solidFill>
                <a:srgbClr val="1F6B54">
                  <a:alpha val="0"/>
                </a:srgbClr>
              </a:solidFill>
              <a:prstDash val="solid"/>
            </a:ln>
          </p:spPr>
        </p:sp>
        <p:sp>
          <p:nvSpPr>
            <p:cNvPr id="43" name="Text 14">
              <a:extLst>
                <a:ext uri="{FF2B5EF4-FFF2-40B4-BE49-F238E27FC236}">
                  <a16:creationId xmlns:a16="http://schemas.microsoft.com/office/drawing/2014/main" id="{7E3E8AD2-7BBD-0A61-973B-D6A02AD6FF4F}"/>
                </a:ext>
              </a:extLst>
            </p:cNvPr>
            <p:cNvSpPr/>
            <p:nvPr/>
          </p:nvSpPr>
          <p:spPr>
            <a:xfrm>
              <a:off x="603504" y="1561664"/>
              <a:ext cx="530352" cy="246888"/>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01</a:t>
              </a:r>
              <a:endParaRPr lang="en-US" sz="1050" dirty="0"/>
            </a:p>
          </p:txBody>
        </p:sp>
      </p:grpSp>
      <p:sp>
        <p:nvSpPr>
          <p:cNvPr id="44" name="Text 15">
            <a:extLst>
              <a:ext uri="{FF2B5EF4-FFF2-40B4-BE49-F238E27FC236}">
                <a16:creationId xmlns:a16="http://schemas.microsoft.com/office/drawing/2014/main" id="{7C1859F3-9AFD-FD0B-94C9-1E9AC29223EE}"/>
              </a:ext>
            </a:extLst>
          </p:cNvPr>
          <p:cNvSpPr/>
          <p:nvPr/>
        </p:nvSpPr>
        <p:spPr>
          <a:xfrm>
            <a:off x="1225295" y="1647188"/>
            <a:ext cx="1828800" cy="246888"/>
          </a:xfrm>
          <a:prstGeom prst="rect">
            <a:avLst/>
          </a:prstGeom>
          <a:noFill/>
          <a:ln/>
        </p:spPr>
        <p:txBody>
          <a:bodyPr wrap="square" lIns="0" tIns="0" rIns="0" bIns="0" rtlCol="0" anchor="ctr">
            <a:normAutofit/>
          </a:bodyPr>
          <a:lstStyle/>
          <a:p>
            <a:pPr marL="0" indent="0" algn="l">
              <a:buNone/>
            </a:pPr>
            <a:r>
              <a:rPr lang="en-US" sz="1120" b="1" dirty="0">
                <a:solidFill>
                  <a:srgbClr val="17202A"/>
                </a:solidFill>
                <a:latin typeface="Aptos" pitchFamily="34" charset="0"/>
                <a:ea typeface="Aptos" pitchFamily="34" charset="-122"/>
                <a:cs typeface="Aptos" pitchFamily="34" charset="-120"/>
              </a:rPr>
              <a:t>Minimum holding / lockout</a:t>
            </a:r>
            <a:endParaRPr lang="en-US" sz="1120" dirty="0"/>
          </a:p>
        </p:txBody>
      </p:sp>
      <p:sp>
        <p:nvSpPr>
          <p:cNvPr id="45" name="Text 16">
            <a:extLst>
              <a:ext uri="{FF2B5EF4-FFF2-40B4-BE49-F238E27FC236}">
                <a16:creationId xmlns:a16="http://schemas.microsoft.com/office/drawing/2014/main" id="{F7C21E21-7D6B-80D8-FAB7-B85E345EE102}"/>
              </a:ext>
            </a:extLst>
          </p:cNvPr>
          <p:cNvSpPr/>
          <p:nvPr/>
        </p:nvSpPr>
        <p:spPr>
          <a:xfrm>
            <a:off x="1225295" y="1863378"/>
            <a:ext cx="1783080" cy="164592"/>
          </a:xfrm>
          <a:prstGeom prst="rect">
            <a:avLst/>
          </a:prstGeom>
          <a:noFill/>
          <a:ln/>
        </p:spPr>
        <p:txBody>
          <a:bodyPr wrap="square" lIns="0" tIns="0" rIns="0" bIns="0" rtlCol="0" anchor="ctr">
            <a:normAutofit/>
          </a:bodyPr>
          <a:lstStyle/>
          <a:p>
            <a:pPr marL="0" indent="0" algn="l">
              <a:buNone/>
            </a:pPr>
            <a:r>
              <a:rPr lang="en-US" sz="820" dirty="0">
                <a:solidFill>
                  <a:srgbClr val="68707A"/>
                </a:solidFill>
                <a:latin typeface="Aptos" pitchFamily="34" charset="0"/>
                <a:ea typeface="Aptos" pitchFamily="34" charset="-122"/>
                <a:cs typeface="Aptos" pitchFamily="34" charset="-120"/>
              </a:rPr>
              <a:t>Source: </a:t>
            </a:r>
            <a:r>
              <a:rPr lang="en-US" sz="820" u="sng" dirty="0">
                <a:solidFill>
                  <a:srgbClr val="1F6B54"/>
                </a:solidFill>
                <a:latin typeface="Aptos" pitchFamily="34" charset="0"/>
                <a:ea typeface="Aptos" pitchFamily="34" charset="-122"/>
                <a:cs typeface="Aptos" pitchFamily="34" charset="-120"/>
                <a:hlinkClick r:id="rId3">
                  <a:extLst>
                    <a:ext uri="{A12FA001-AC4F-418D-AE19-62706E023703}">
                      <ahyp:hlinkClr xmlns:ahyp="http://schemas.microsoft.com/office/drawing/2018/hyperlinkcolor" val="tx"/>
                    </a:ext>
                  </a:extLst>
                </a:hlinkClick>
              </a:rPr>
              <a:t>Fannie Mae SARM</a:t>
            </a:r>
            <a:endParaRPr lang="en-US" sz="850" dirty="0"/>
          </a:p>
        </p:txBody>
      </p:sp>
      <p:sp>
        <p:nvSpPr>
          <p:cNvPr id="46" name="Text 17">
            <a:extLst>
              <a:ext uri="{FF2B5EF4-FFF2-40B4-BE49-F238E27FC236}">
                <a16:creationId xmlns:a16="http://schemas.microsoft.com/office/drawing/2014/main" id="{E96970A1-C2B5-CB1C-14D4-B84B106A55A7}"/>
              </a:ext>
            </a:extLst>
          </p:cNvPr>
          <p:cNvSpPr/>
          <p:nvPr/>
        </p:nvSpPr>
        <p:spPr>
          <a:xfrm>
            <a:off x="3624702" y="1543008"/>
            <a:ext cx="6259961" cy="566928"/>
          </a:xfrm>
          <a:prstGeom prst="rect">
            <a:avLst/>
          </a:prstGeom>
          <a:noFill/>
          <a:ln/>
        </p:spPr>
        <p:txBody>
          <a:bodyPr wrap="square" lIns="0" tIns="0" rIns="0" bIns="0" rtlCol="0" anchor="ctr">
            <a:normAutofit/>
          </a:bodyPr>
          <a:lstStyle/>
          <a:p>
            <a:pPr marL="0" indent="0">
              <a:buNone/>
            </a:pPr>
            <a:r>
              <a:rPr lang="en-US" sz="1000">
                <a:solidFill>
                  <a:srgbClr val="17202A"/>
                </a:solidFill>
                <a:latin typeface="Aptos" pitchFamily="34" charset="0"/>
                <a:ea typeface="Aptos" pitchFamily="34" charset="-122"/>
                <a:cs typeface="Aptos" pitchFamily="34" charset="-120"/>
              </a:rPr>
              <a:t>12 </a:t>
            </a:r>
            <a:r>
              <a:rPr lang="mn-MN" sz="1000">
                <a:solidFill>
                  <a:srgbClr val="17202A"/>
                </a:solidFill>
                <a:latin typeface="Aptos" pitchFamily="34" charset="0"/>
                <a:ea typeface="Aptos" pitchFamily="34" charset="-122"/>
                <a:cs typeface="Aptos" pitchFamily="34" charset="-120"/>
              </a:rPr>
              <a:t>сарын турш урьдчилан төлөлтийг хязгаарлана, </a:t>
            </a:r>
            <a:r>
              <a:rPr lang="en-US" sz="1000">
                <a:solidFill>
                  <a:srgbClr val="17202A"/>
                </a:solidFill>
                <a:latin typeface="Aptos" pitchFamily="34" charset="0"/>
                <a:ea typeface="Aptos" pitchFamily="34" charset="-122"/>
                <a:cs typeface="Aptos" pitchFamily="34" charset="-120"/>
              </a:rPr>
              <a:t>12 </a:t>
            </a:r>
            <a:r>
              <a:rPr lang="mn-MN" sz="1000">
                <a:solidFill>
                  <a:srgbClr val="17202A"/>
                </a:solidFill>
                <a:latin typeface="Aptos" pitchFamily="34" charset="0"/>
                <a:ea typeface="Aptos" pitchFamily="34" charset="-122"/>
                <a:cs typeface="Aptos" pitchFamily="34" charset="-120"/>
              </a:rPr>
              <a:t>сараас хойш нөхцөлтэй торгууль бодогдоно.</a:t>
            </a:r>
            <a:endParaRPr lang="en-US" sz="1000" dirty="0"/>
          </a:p>
        </p:txBody>
      </p:sp>
      <p:sp>
        <p:nvSpPr>
          <p:cNvPr id="48" name="Shape 19">
            <a:extLst>
              <a:ext uri="{FF2B5EF4-FFF2-40B4-BE49-F238E27FC236}">
                <a16:creationId xmlns:a16="http://schemas.microsoft.com/office/drawing/2014/main" id="{E4783488-0D5D-F132-BE6C-312FEEABE136}"/>
              </a:ext>
            </a:extLst>
          </p:cNvPr>
          <p:cNvSpPr/>
          <p:nvPr/>
        </p:nvSpPr>
        <p:spPr>
          <a:xfrm>
            <a:off x="618118" y="2632760"/>
            <a:ext cx="530352" cy="283464"/>
          </a:xfrm>
          <a:prstGeom prst="roundRect">
            <a:avLst>
              <a:gd name="adj" fmla="val 25806"/>
            </a:avLst>
          </a:prstGeom>
          <a:solidFill>
            <a:srgbClr val="002060"/>
          </a:solidFill>
          <a:ln w="12700">
            <a:solidFill>
              <a:srgbClr val="1F6B54">
                <a:alpha val="0"/>
              </a:srgbClr>
            </a:solidFill>
            <a:prstDash val="solid"/>
          </a:ln>
        </p:spPr>
      </p:sp>
      <p:sp>
        <p:nvSpPr>
          <p:cNvPr id="49" name="Text 20">
            <a:extLst>
              <a:ext uri="{FF2B5EF4-FFF2-40B4-BE49-F238E27FC236}">
                <a16:creationId xmlns:a16="http://schemas.microsoft.com/office/drawing/2014/main" id="{1B8E09B8-93A3-37D9-20BE-BC476485EB74}"/>
              </a:ext>
            </a:extLst>
          </p:cNvPr>
          <p:cNvSpPr/>
          <p:nvPr/>
        </p:nvSpPr>
        <p:spPr>
          <a:xfrm>
            <a:off x="618118" y="2646476"/>
            <a:ext cx="530352" cy="246888"/>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02</a:t>
            </a:r>
            <a:endParaRPr lang="en-US" sz="1050" dirty="0"/>
          </a:p>
        </p:txBody>
      </p:sp>
      <p:sp>
        <p:nvSpPr>
          <p:cNvPr id="50" name="Text 21">
            <a:extLst>
              <a:ext uri="{FF2B5EF4-FFF2-40B4-BE49-F238E27FC236}">
                <a16:creationId xmlns:a16="http://schemas.microsoft.com/office/drawing/2014/main" id="{BC420844-BBE9-CD5B-8CA1-62F679A2E905}"/>
              </a:ext>
            </a:extLst>
          </p:cNvPr>
          <p:cNvSpPr/>
          <p:nvPr/>
        </p:nvSpPr>
        <p:spPr>
          <a:xfrm>
            <a:off x="1239910" y="2577896"/>
            <a:ext cx="1828800" cy="246888"/>
          </a:xfrm>
          <a:prstGeom prst="rect">
            <a:avLst/>
          </a:prstGeom>
          <a:noFill/>
          <a:ln/>
        </p:spPr>
        <p:txBody>
          <a:bodyPr wrap="square" lIns="0" tIns="0" rIns="0" bIns="0" rtlCol="0" anchor="ctr">
            <a:normAutofit/>
          </a:bodyPr>
          <a:lstStyle/>
          <a:p>
            <a:pPr marL="0" indent="0" algn="l">
              <a:buNone/>
            </a:pPr>
            <a:r>
              <a:rPr lang="en-US" sz="1120" b="1" dirty="0">
                <a:solidFill>
                  <a:srgbClr val="17202A"/>
                </a:solidFill>
                <a:latin typeface="Aptos" pitchFamily="34" charset="0"/>
                <a:ea typeface="Aptos" pitchFamily="34" charset="-122"/>
                <a:cs typeface="Aptos" pitchFamily="34" charset="-120"/>
              </a:rPr>
              <a:t>Step-down penalty</a:t>
            </a:r>
            <a:endParaRPr lang="en-US" sz="1120" dirty="0"/>
          </a:p>
        </p:txBody>
      </p:sp>
      <p:sp>
        <p:nvSpPr>
          <p:cNvPr id="51" name="Text 22">
            <a:extLst>
              <a:ext uri="{FF2B5EF4-FFF2-40B4-BE49-F238E27FC236}">
                <a16:creationId xmlns:a16="http://schemas.microsoft.com/office/drawing/2014/main" id="{EA9A271A-CB32-888C-E674-EC4FFECE274D}"/>
              </a:ext>
            </a:extLst>
          </p:cNvPr>
          <p:cNvSpPr/>
          <p:nvPr/>
        </p:nvSpPr>
        <p:spPr>
          <a:xfrm>
            <a:off x="1239910" y="2760776"/>
            <a:ext cx="1783080" cy="164592"/>
          </a:xfrm>
          <a:prstGeom prst="rect">
            <a:avLst/>
          </a:prstGeom>
          <a:noFill/>
          <a:ln/>
        </p:spPr>
        <p:txBody>
          <a:bodyPr wrap="square" lIns="0" tIns="0" rIns="0" bIns="0" rtlCol="0" anchor="ctr">
            <a:normAutofit/>
          </a:bodyPr>
          <a:lstStyle/>
          <a:p>
            <a:pPr marL="0" indent="0" algn="l">
              <a:buNone/>
            </a:pPr>
            <a:r>
              <a:rPr lang="en-US" sz="820" dirty="0">
                <a:solidFill>
                  <a:srgbClr val="68707A"/>
                </a:solidFill>
                <a:latin typeface="Aptos" pitchFamily="34" charset="0"/>
                <a:ea typeface="Aptos" pitchFamily="34" charset="-122"/>
                <a:cs typeface="Aptos" pitchFamily="34" charset="-120"/>
              </a:rPr>
              <a:t>Source: </a:t>
            </a:r>
            <a:r>
              <a:rPr lang="en-US" sz="820" u="sng" dirty="0">
                <a:solidFill>
                  <a:srgbClr val="1F6B54"/>
                </a:solidFill>
                <a:latin typeface="Aptos" pitchFamily="34" charset="0"/>
                <a:ea typeface="Aptos" pitchFamily="34" charset="-122"/>
                <a:cs typeface="Aptos" pitchFamily="34" charset="-120"/>
                <a:hlinkClick r:id="rId4">
                  <a:extLst>
                    <a:ext uri="{A12FA001-AC4F-418D-AE19-62706E023703}">
                      <ahyp:hlinkClr xmlns:ahyp="http://schemas.microsoft.com/office/drawing/2018/hyperlinkcolor" val="tx"/>
                    </a:ext>
                  </a:extLst>
                </a:hlinkClick>
              </a:rPr>
              <a:t>U.S. SBA 7(a)</a:t>
            </a:r>
            <a:endParaRPr lang="en-US" sz="850" dirty="0"/>
          </a:p>
        </p:txBody>
      </p:sp>
      <p:sp>
        <p:nvSpPr>
          <p:cNvPr id="52" name="Text 23">
            <a:extLst>
              <a:ext uri="{FF2B5EF4-FFF2-40B4-BE49-F238E27FC236}">
                <a16:creationId xmlns:a16="http://schemas.microsoft.com/office/drawing/2014/main" id="{34DC747A-EC44-1682-66B7-9F88F70D60BC}"/>
              </a:ext>
            </a:extLst>
          </p:cNvPr>
          <p:cNvSpPr/>
          <p:nvPr/>
        </p:nvSpPr>
        <p:spPr>
          <a:xfrm>
            <a:off x="3606414" y="2415042"/>
            <a:ext cx="6202603" cy="566928"/>
          </a:xfrm>
          <a:prstGeom prst="rect">
            <a:avLst/>
          </a:prstGeom>
          <a:noFill/>
          <a:ln/>
        </p:spPr>
        <p:txBody>
          <a:bodyPr wrap="square" lIns="0" tIns="0" rIns="0" bIns="0" rtlCol="0" anchor="ctr">
            <a:normAutofit/>
          </a:bodyPr>
          <a:lstStyle/>
          <a:p>
            <a:pPr marL="0" indent="0" algn="l">
              <a:buNone/>
            </a:pPr>
            <a:r>
              <a:rPr lang="mn-MN" sz="1000">
                <a:solidFill>
                  <a:srgbClr val="17202A"/>
                </a:solidFill>
                <a:latin typeface="Aptos" pitchFamily="34" charset="0"/>
                <a:ea typeface="Aptos" pitchFamily="34" charset="-122"/>
                <a:cs typeface="Aptos" pitchFamily="34" charset="-120"/>
              </a:rPr>
              <a:t>Эхний жилүүдэд өндөр торгууль, хугацаа өнгөрөх тусам торгуулийн хэмжээ буурах байдлаар</a:t>
            </a:r>
            <a:endParaRPr lang="en-US" sz="1000" dirty="0"/>
          </a:p>
        </p:txBody>
      </p:sp>
      <p:sp>
        <p:nvSpPr>
          <p:cNvPr id="56" name="Shape 25">
            <a:extLst>
              <a:ext uri="{FF2B5EF4-FFF2-40B4-BE49-F238E27FC236}">
                <a16:creationId xmlns:a16="http://schemas.microsoft.com/office/drawing/2014/main" id="{96198E2C-9BC9-32CD-8988-D4379A4D8D44}"/>
              </a:ext>
            </a:extLst>
          </p:cNvPr>
          <p:cNvSpPr/>
          <p:nvPr/>
        </p:nvSpPr>
        <p:spPr>
          <a:xfrm>
            <a:off x="618117" y="3521481"/>
            <a:ext cx="530352" cy="283464"/>
          </a:xfrm>
          <a:prstGeom prst="roundRect">
            <a:avLst>
              <a:gd name="adj" fmla="val 25806"/>
            </a:avLst>
          </a:prstGeom>
          <a:solidFill>
            <a:srgbClr val="002060"/>
          </a:solidFill>
          <a:ln w="12700">
            <a:solidFill>
              <a:srgbClr val="264B63">
                <a:alpha val="0"/>
              </a:srgbClr>
            </a:solidFill>
            <a:prstDash val="solid"/>
          </a:ln>
        </p:spPr>
      </p:sp>
      <p:sp>
        <p:nvSpPr>
          <p:cNvPr id="57" name="Text 26">
            <a:extLst>
              <a:ext uri="{FF2B5EF4-FFF2-40B4-BE49-F238E27FC236}">
                <a16:creationId xmlns:a16="http://schemas.microsoft.com/office/drawing/2014/main" id="{139C49AA-7498-994A-5267-34D575CBE231}"/>
              </a:ext>
            </a:extLst>
          </p:cNvPr>
          <p:cNvSpPr/>
          <p:nvPr/>
        </p:nvSpPr>
        <p:spPr>
          <a:xfrm>
            <a:off x="618117" y="3535197"/>
            <a:ext cx="530352" cy="246888"/>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03</a:t>
            </a:r>
            <a:endParaRPr lang="en-US" sz="1050" dirty="0"/>
          </a:p>
        </p:txBody>
      </p:sp>
      <p:sp>
        <p:nvSpPr>
          <p:cNvPr id="59" name="Text 27">
            <a:extLst>
              <a:ext uri="{FF2B5EF4-FFF2-40B4-BE49-F238E27FC236}">
                <a16:creationId xmlns:a16="http://schemas.microsoft.com/office/drawing/2014/main" id="{6E152E35-37B8-9122-AD92-3116B8D2D324}"/>
              </a:ext>
            </a:extLst>
          </p:cNvPr>
          <p:cNvSpPr/>
          <p:nvPr/>
        </p:nvSpPr>
        <p:spPr>
          <a:xfrm>
            <a:off x="1239908" y="3452029"/>
            <a:ext cx="2247635" cy="246888"/>
          </a:xfrm>
          <a:prstGeom prst="rect">
            <a:avLst/>
          </a:prstGeom>
          <a:noFill/>
          <a:ln/>
        </p:spPr>
        <p:txBody>
          <a:bodyPr wrap="square" lIns="0" tIns="0" rIns="0" bIns="0" rtlCol="0" anchor="ctr">
            <a:normAutofit fontScale="92500"/>
          </a:bodyPr>
          <a:lstStyle/>
          <a:p>
            <a:pPr marL="0" indent="0" algn="l">
              <a:buNone/>
            </a:pPr>
            <a:r>
              <a:rPr lang="en-US" sz="1120" b="1" dirty="0">
                <a:solidFill>
                  <a:srgbClr val="17202A"/>
                </a:solidFill>
                <a:latin typeface="Aptos" pitchFamily="34" charset="0"/>
                <a:ea typeface="Aptos" pitchFamily="34" charset="-122"/>
                <a:cs typeface="Aptos" pitchFamily="34" charset="-120"/>
              </a:rPr>
              <a:t>Actual break cost / yield maintenance</a:t>
            </a:r>
            <a:endParaRPr lang="en-US" sz="1120" dirty="0"/>
          </a:p>
        </p:txBody>
      </p:sp>
      <p:sp>
        <p:nvSpPr>
          <p:cNvPr id="60" name="Text 28">
            <a:extLst>
              <a:ext uri="{FF2B5EF4-FFF2-40B4-BE49-F238E27FC236}">
                <a16:creationId xmlns:a16="http://schemas.microsoft.com/office/drawing/2014/main" id="{7C7E5BDD-B82D-FF95-F362-91B81D9CA5EC}"/>
              </a:ext>
            </a:extLst>
          </p:cNvPr>
          <p:cNvSpPr/>
          <p:nvPr/>
        </p:nvSpPr>
        <p:spPr>
          <a:xfrm>
            <a:off x="1248155" y="3640241"/>
            <a:ext cx="1783080" cy="164592"/>
          </a:xfrm>
          <a:prstGeom prst="rect">
            <a:avLst/>
          </a:prstGeom>
          <a:noFill/>
          <a:ln/>
        </p:spPr>
        <p:txBody>
          <a:bodyPr wrap="square" lIns="0" tIns="0" rIns="0" bIns="0" rtlCol="0" anchor="ctr">
            <a:normAutofit/>
          </a:bodyPr>
          <a:lstStyle/>
          <a:p>
            <a:pPr marL="0" indent="0" algn="l">
              <a:buNone/>
            </a:pPr>
            <a:r>
              <a:rPr lang="en-US" sz="820" dirty="0">
                <a:solidFill>
                  <a:srgbClr val="68707A"/>
                </a:solidFill>
                <a:latin typeface="Aptos" pitchFamily="34" charset="0"/>
                <a:ea typeface="Aptos" pitchFamily="34" charset="-122"/>
                <a:cs typeface="Aptos" pitchFamily="34" charset="-120"/>
              </a:rPr>
              <a:t>Source: </a:t>
            </a:r>
            <a:r>
              <a:rPr lang="en-US" sz="820" u="sng" dirty="0">
                <a:solidFill>
                  <a:srgbClr val="1F6B54"/>
                </a:solidFill>
                <a:latin typeface="Aptos" pitchFamily="34" charset="0"/>
                <a:ea typeface="Aptos" pitchFamily="34" charset="-122"/>
                <a:cs typeface="Aptos" pitchFamily="34" charset="-120"/>
                <a:hlinkClick r:id="rId5">
                  <a:extLst>
                    <a:ext uri="{A12FA001-AC4F-418D-AE19-62706E023703}">
                      <ahyp:hlinkClr xmlns:ahyp="http://schemas.microsoft.com/office/drawing/2018/hyperlinkcolor" val="tx"/>
                    </a:ext>
                  </a:extLst>
                </a:hlinkClick>
              </a:rPr>
              <a:t>World Bank IBRD</a:t>
            </a:r>
            <a:endParaRPr lang="en-US" sz="850" dirty="0"/>
          </a:p>
        </p:txBody>
      </p:sp>
      <p:sp>
        <p:nvSpPr>
          <p:cNvPr id="61" name="Text 29">
            <a:extLst>
              <a:ext uri="{FF2B5EF4-FFF2-40B4-BE49-F238E27FC236}">
                <a16:creationId xmlns:a16="http://schemas.microsoft.com/office/drawing/2014/main" id="{6DD9B1EE-8E5A-5888-C9D6-FC113B189637}"/>
              </a:ext>
            </a:extLst>
          </p:cNvPr>
          <p:cNvSpPr/>
          <p:nvPr/>
        </p:nvSpPr>
        <p:spPr>
          <a:xfrm>
            <a:off x="3624703" y="3380201"/>
            <a:ext cx="6184314" cy="566928"/>
          </a:xfrm>
          <a:prstGeom prst="rect">
            <a:avLst/>
          </a:prstGeom>
          <a:noFill/>
          <a:ln/>
        </p:spPr>
        <p:txBody>
          <a:bodyPr wrap="square" lIns="0" tIns="0" rIns="0" bIns="0" rtlCol="0" anchor="ctr">
            <a:normAutofit/>
          </a:bodyPr>
          <a:lstStyle/>
          <a:p>
            <a:pPr marL="0" indent="0" algn="l">
              <a:buNone/>
            </a:pPr>
            <a:r>
              <a:rPr lang="en-US" sz="1000">
                <a:solidFill>
                  <a:srgbClr val="17202A"/>
                </a:solidFill>
                <a:latin typeface="Aptos" pitchFamily="34" charset="0"/>
                <a:ea typeface="Aptos" pitchFamily="34" charset="-122"/>
                <a:cs typeface="Aptos" pitchFamily="34" charset="-120"/>
              </a:rPr>
              <a:t>45 хоног</a:t>
            </a:r>
            <a:r>
              <a:rPr lang="mn-MN" sz="1000">
                <a:solidFill>
                  <a:srgbClr val="17202A"/>
                </a:solidFill>
                <a:latin typeface="Aptos" pitchFamily="34" charset="0"/>
                <a:ea typeface="Aptos" pitchFamily="34" charset="-122"/>
                <a:cs typeface="Aptos" pitchFamily="34" charset="-120"/>
              </a:rPr>
              <a:t>т урьдчилан төлөхийг мэдэгдэж</a:t>
            </a:r>
            <a:r>
              <a:rPr lang="en-US" sz="1000">
                <a:solidFill>
                  <a:srgbClr val="17202A"/>
                </a:solidFill>
                <a:latin typeface="Aptos" pitchFamily="34" charset="0"/>
                <a:ea typeface="Aptos" pitchFamily="34" charset="-122"/>
                <a:cs typeface="Aptos" pitchFamily="34" charset="-120"/>
              </a:rPr>
              <a:t>; дахин </a:t>
            </a:r>
            <a:r>
              <a:rPr lang="mn-MN" sz="1000">
                <a:solidFill>
                  <a:srgbClr val="17202A"/>
                </a:solidFill>
                <a:latin typeface="Aptos" pitchFamily="34" charset="0"/>
                <a:ea typeface="Aptos" pitchFamily="34" charset="-122"/>
                <a:cs typeface="Aptos" pitchFamily="34" charset="-120"/>
              </a:rPr>
              <a:t>хөрөнгө оруулах</a:t>
            </a:r>
            <a:r>
              <a:rPr lang="en-US" sz="1000">
                <a:solidFill>
                  <a:srgbClr val="17202A"/>
                </a:solidFill>
                <a:latin typeface="Aptos" pitchFamily="34" charset="0"/>
                <a:ea typeface="Aptos" pitchFamily="34" charset="-122"/>
                <a:cs typeface="Aptos" pitchFamily="34" charset="-120"/>
              </a:rPr>
              <a:t> алдагдлыг </a:t>
            </a:r>
            <a:r>
              <a:rPr lang="mn-MN" sz="1000">
                <a:solidFill>
                  <a:srgbClr val="17202A"/>
                </a:solidFill>
                <a:latin typeface="Aptos" pitchFamily="34" charset="0"/>
                <a:ea typeface="Aptos" pitchFamily="34" charset="-122"/>
                <a:cs typeface="Aptos" pitchFamily="34" charset="-120"/>
              </a:rPr>
              <a:t>өнөөгийн үнэ цэнээр </a:t>
            </a:r>
            <a:r>
              <a:rPr lang="en-US" sz="1000">
                <a:solidFill>
                  <a:srgbClr val="17202A"/>
                </a:solidFill>
                <a:latin typeface="Aptos" pitchFamily="34" charset="0"/>
                <a:ea typeface="Aptos" pitchFamily="34" charset="-122"/>
                <a:cs typeface="Aptos" pitchFamily="34" charset="-120"/>
              </a:rPr>
              <a:t>тооцно. </a:t>
            </a:r>
            <a:endParaRPr lang="mn-MN" sz="1000">
              <a:solidFill>
                <a:srgbClr val="17202A"/>
              </a:solidFill>
              <a:latin typeface="Aptos" pitchFamily="34" charset="0"/>
              <a:ea typeface="Aptos" pitchFamily="34" charset="-122"/>
              <a:cs typeface="Aptos" pitchFamily="34" charset="-120"/>
            </a:endParaRPr>
          </a:p>
          <a:p>
            <a:pPr marL="0" indent="0" algn="l">
              <a:buNone/>
            </a:pPr>
            <a:r>
              <a:rPr lang="mn-MN" sz="900" i="1">
                <a:solidFill>
                  <a:schemeClr val="bg1">
                    <a:lumMod val="50000"/>
                  </a:schemeClr>
                </a:solidFill>
                <a:latin typeface="Aptos" pitchFamily="34" charset="0"/>
                <a:ea typeface="Aptos" pitchFamily="34" charset="-122"/>
                <a:cs typeface="Aptos" pitchFamily="34" charset="-120"/>
              </a:rPr>
              <a:t>Харилцагч нарт тухайн алдагдалд торгууль тооцох систем. </a:t>
            </a:r>
          </a:p>
        </p:txBody>
      </p:sp>
      <p:sp>
        <p:nvSpPr>
          <p:cNvPr id="63" name="Shape 31">
            <a:extLst>
              <a:ext uri="{FF2B5EF4-FFF2-40B4-BE49-F238E27FC236}">
                <a16:creationId xmlns:a16="http://schemas.microsoft.com/office/drawing/2014/main" id="{662B72C8-C089-2B40-9BAD-773D69149816}"/>
              </a:ext>
            </a:extLst>
          </p:cNvPr>
          <p:cNvSpPr/>
          <p:nvPr/>
        </p:nvSpPr>
        <p:spPr>
          <a:xfrm>
            <a:off x="618117" y="4426702"/>
            <a:ext cx="530352" cy="283464"/>
          </a:xfrm>
          <a:prstGeom prst="roundRect">
            <a:avLst>
              <a:gd name="adj" fmla="val 25806"/>
            </a:avLst>
          </a:prstGeom>
          <a:solidFill>
            <a:srgbClr val="002060"/>
          </a:solidFill>
          <a:ln w="12700">
            <a:solidFill>
              <a:srgbClr val="1F6B54">
                <a:alpha val="0"/>
              </a:srgbClr>
            </a:solidFill>
            <a:prstDash val="solid"/>
          </a:ln>
        </p:spPr>
      </p:sp>
      <p:sp>
        <p:nvSpPr>
          <p:cNvPr id="74" name="Text 32">
            <a:extLst>
              <a:ext uri="{FF2B5EF4-FFF2-40B4-BE49-F238E27FC236}">
                <a16:creationId xmlns:a16="http://schemas.microsoft.com/office/drawing/2014/main" id="{9E0F83F0-CF61-FC7C-050F-370DAF2598AE}"/>
              </a:ext>
            </a:extLst>
          </p:cNvPr>
          <p:cNvSpPr/>
          <p:nvPr/>
        </p:nvSpPr>
        <p:spPr>
          <a:xfrm>
            <a:off x="618117" y="4440418"/>
            <a:ext cx="530352" cy="246888"/>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04</a:t>
            </a:r>
            <a:endParaRPr lang="en-US" sz="1050" dirty="0"/>
          </a:p>
        </p:txBody>
      </p:sp>
      <p:sp>
        <p:nvSpPr>
          <p:cNvPr id="76" name="Text 33">
            <a:extLst>
              <a:ext uri="{FF2B5EF4-FFF2-40B4-BE49-F238E27FC236}">
                <a16:creationId xmlns:a16="http://schemas.microsoft.com/office/drawing/2014/main" id="{84A67F59-D833-DBFD-9202-7F53658F25C4}"/>
              </a:ext>
            </a:extLst>
          </p:cNvPr>
          <p:cNvSpPr/>
          <p:nvPr/>
        </p:nvSpPr>
        <p:spPr>
          <a:xfrm>
            <a:off x="1251339" y="4358559"/>
            <a:ext cx="1828800" cy="246888"/>
          </a:xfrm>
          <a:prstGeom prst="rect">
            <a:avLst/>
          </a:prstGeom>
          <a:noFill/>
          <a:ln/>
        </p:spPr>
        <p:txBody>
          <a:bodyPr wrap="square" lIns="0" tIns="0" rIns="0" bIns="0" rtlCol="0" anchor="ctr">
            <a:normAutofit fontScale="92500"/>
          </a:bodyPr>
          <a:lstStyle/>
          <a:p>
            <a:pPr marL="0" indent="0" algn="l">
              <a:buNone/>
            </a:pPr>
            <a:r>
              <a:rPr lang="en-US" sz="1120" b="1" dirty="0">
                <a:solidFill>
                  <a:srgbClr val="17202A"/>
                </a:solidFill>
                <a:latin typeface="Aptos" pitchFamily="34" charset="0"/>
                <a:ea typeface="Aptos" pitchFamily="34" charset="-122"/>
                <a:cs typeface="Aptos" pitchFamily="34" charset="-120"/>
              </a:rPr>
              <a:t>Free allowance + excess charge</a:t>
            </a:r>
            <a:endParaRPr lang="en-US" sz="1120" dirty="0"/>
          </a:p>
        </p:txBody>
      </p:sp>
      <p:sp>
        <p:nvSpPr>
          <p:cNvPr id="77" name="Text 34">
            <a:extLst>
              <a:ext uri="{FF2B5EF4-FFF2-40B4-BE49-F238E27FC236}">
                <a16:creationId xmlns:a16="http://schemas.microsoft.com/office/drawing/2014/main" id="{D84AA77D-AEDA-3ECB-FA08-B6DA9ADB7E5D}"/>
              </a:ext>
            </a:extLst>
          </p:cNvPr>
          <p:cNvSpPr/>
          <p:nvPr/>
        </p:nvSpPr>
        <p:spPr>
          <a:xfrm>
            <a:off x="1251339" y="4555155"/>
            <a:ext cx="1783080" cy="164592"/>
          </a:xfrm>
          <a:prstGeom prst="rect">
            <a:avLst/>
          </a:prstGeom>
          <a:noFill/>
          <a:ln/>
        </p:spPr>
        <p:txBody>
          <a:bodyPr wrap="square" lIns="0" tIns="0" rIns="0" bIns="0" rtlCol="0" anchor="ctr">
            <a:normAutofit/>
          </a:bodyPr>
          <a:lstStyle/>
          <a:p>
            <a:pPr marL="0" indent="0" algn="l">
              <a:buNone/>
            </a:pPr>
            <a:r>
              <a:rPr lang="en-US" sz="820" dirty="0">
                <a:solidFill>
                  <a:srgbClr val="68707A"/>
                </a:solidFill>
                <a:latin typeface="Aptos" pitchFamily="34" charset="0"/>
                <a:ea typeface="Aptos" pitchFamily="34" charset="-122"/>
                <a:cs typeface="Aptos" pitchFamily="34" charset="-120"/>
              </a:rPr>
              <a:t>Source: </a:t>
            </a:r>
            <a:r>
              <a:rPr lang="en-US" sz="820" u="sng" dirty="0">
                <a:solidFill>
                  <a:srgbClr val="1F6B54"/>
                </a:solidFill>
                <a:latin typeface="Aptos" pitchFamily="34" charset="0"/>
                <a:ea typeface="Aptos" pitchFamily="34" charset="-122"/>
                <a:cs typeface="Aptos" pitchFamily="34" charset="-120"/>
                <a:hlinkClick r:id="rId6">
                  <a:extLst>
                    <a:ext uri="{A12FA001-AC4F-418D-AE19-62706E023703}">
                      <ahyp:hlinkClr xmlns:ahyp="http://schemas.microsoft.com/office/drawing/2018/hyperlinkcolor" val="tx"/>
                    </a:ext>
                  </a:extLst>
                </a:hlinkClick>
              </a:rPr>
              <a:t>Halifax UK ERC</a:t>
            </a:r>
            <a:endParaRPr lang="en-US" sz="850" dirty="0"/>
          </a:p>
        </p:txBody>
      </p:sp>
      <p:sp>
        <p:nvSpPr>
          <p:cNvPr id="78" name="Text 35">
            <a:extLst>
              <a:ext uri="{FF2B5EF4-FFF2-40B4-BE49-F238E27FC236}">
                <a16:creationId xmlns:a16="http://schemas.microsoft.com/office/drawing/2014/main" id="{B3892057-CD9A-8CBA-14C2-400FF4D8DCF4}"/>
              </a:ext>
            </a:extLst>
          </p:cNvPr>
          <p:cNvSpPr/>
          <p:nvPr/>
        </p:nvSpPr>
        <p:spPr>
          <a:xfrm>
            <a:off x="3624703" y="4280142"/>
            <a:ext cx="6184314" cy="633231"/>
          </a:xfrm>
          <a:prstGeom prst="rect">
            <a:avLst/>
          </a:prstGeom>
          <a:noFill/>
          <a:ln/>
        </p:spPr>
        <p:txBody>
          <a:bodyPr wrap="square" lIns="0" tIns="0" rIns="0" bIns="0" rtlCol="0" anchor="ctr">
            <a:normAutofit/>
          </a:bodyPr>
          <a:lstStyle/>
          <a:p>
            <a:pPr marL="0" indent="0" algn="l">
              <a:buNone/>
            </a:pPr>
            <a:r>
              <a:rPr lang="en-US" sz="1000" dirty="0">
                <a:solidFill>
                  <a:srgbClr val="17202A"/>
                </a:solidFill>
                <a:latin typeface="Aptos" pitchFamily="34" charset="0"/>
                <a:ea typeface="Aptos" pitchFamily="34" charset="-122"/>
                <a:cs typeface="Aptos" pitchFamily="34" charset="-120"/>
              </a:rPr>
              <a:t>Жилд тодорхой хувь хүртэл үнэгүй төлөх эрх; давсан </a:t>
            </a:r>
            <a:r>
              <a:rPr lang="en-US" sz="1000">
                <a:solidFill>
                  <a:srgbClr val="17202A"/>
                </a:solidFill>
                <a:latin typeface="Aptos" pitchFamily="34" charset="0"/>
                <a:ea typeface="Aptos" pitchFamily="34" charset="-122"/>
                <a:cs typeface="Aptos" pitchFamily="34" charset="-120"/>
              </a:rPr>
              <a:t>хэсэгт </a:t>
            </a:r>
            <a:r>
              <a:rPr lang="mn-MN" sz="1000">
                <a:solidFill>
                  <a:srgbClr val="17202A"/>
                </a:solidFill>
                <a:latin typeface="Aptos" pitchFamily="34" charset="0"/>
                <a:ea typeface="Aptos" pitchFamily="34" charset="-122"/>
                <a:cs typeface="Aptos" pitchFamily="34" charset="-120"/>
              </a:rPr>
              <a:t>торгууль тооцох систем</a:t>
            </a:r>
            <a:r>
              <a:rPr lang="en-US" sz="1000">
                <a:solidFill>
                  <a:srgbClr val="17202A"/>
                </a:solidFill>
                <a:latin typeface="Aptos" pitchFamily="34" charset="0"/>
                <a:ea typeface="Aptos" pitchFamily="34" charset="-122"/>
                <a:cs typeface="Aptos" pitchFamily="34" charset="-120"/>
              </a:rPr>
              <a:t>.</a:t>
            </a:r>
            <a:endParaRPr lang="mn-MN" sz="1000" dirty="0">
              <a:solidFill>
                <a:srgbClr val="17202A"/>
              </a:solidFill>
              <a:latin typeface="Aptos" pitchFamily="34" charset="0"/>
              <a:ea typeface="Aptos" pitchFamily="34" charset="-122"/>
              <a:cs typeface="Aptos" pitchFamily="34" charset="-120"/>
            </a:endParaRPr>
          </a:p>
          <a:p>
            <a:pPr marL="0" indent="0" algn="l">
              <a:buNone/>
            </a:pPr>
            <a:r>
              <a:rPr lang="mn-MN" sz="900" i="1">
                <a:solidFill>
                  <a:schemeClr val="bg1">
                    <a:lumMod val="50000"/>
                  </a:schemeClr>
                </a:solidFill>
                <a:latin typeface="Aptos" pitchFamily="34" charset="0"/>
                <a:ea typeface="Aptos" pitchFamily="34" charset="-122"/>
                <a:cs typeface="Aptos" pitchFamily="34" charset="-120"/>
              </a:rPr>
              <a:t>3 жилийн хугацаанд зээлийн үлдэгдлийн 25% хүртэлх урьдчилсан төлөлтөнд торгууль тооцохгүй, хэтэрсэн хэсэгт торгууль тооцно.</a:t>
            </a:r>
          </a:p>
        </p:txBody>
      </p:sp>
      <p:sp>
        <p:nvSpPr>
          <p:cNvPr id="80" name="Shape 37">
            <a:extLst>
              <a:ext uri="{FF2B5EF4-FFF2-40B4-BE49-F238E27FC236}">
                <a16:creationId xmlns:a16="http://schemas.microsoft.com/office/drawing/2014/main" id="{FF29298E-219E-FB2A-5B02-5A593FCFF62D}"/>
              </a:ext>
            </a:extLst>
          </p:cNvPr>
          <p:cNvSpPr/>
          <p:nvPr/>
        </p:nvSpPr>
        <p:spPr>
          <a:xfrm>
            <a:off x="10040112" y="1301060"/>
            <a:ext cx="1682496" cy="4773168"/>
          </a:xfrm>
          <a:prstGeom prst="roundRect">
            <a:avLst>
              <a:gd name="adj" fmla="val 6522"/>
            </a:avLst>
          </a:prstGeom>
          <a:solidFill>
            <a:srgbClr val="EDF2EE"/>
          </a:solidFill>
          <a:ln w="10160">
            <a:solidFill>
              <a:srgbClr val="D9DED7"/>
            </a:solidFill>
            <a:prstDash val="solid"/>
          </a:ln>
        </p:spPr>
      </p:sp>
      <p:sp>
        <p:nvSpPr>
          <p:cNvPr id="81" name="Text 38">
            <a:extLst>
              <a:ext uri="{FF2B5EF4-FFF2-40B4-BE49-F238E27FC236}">
                <a16:creationId xmlns:a16="http://schemas.microsoft.com/office/drawing/2014/main" id="{3362DB8A-9BB8-371A-175D-29A45A16C4AD}"/>
              </a:ext>
            </a:extLst>
          </p:cNvPr>
          <p:cNvSpPr/>
          <p:nvPr/>
        </p:nvSpPr>
        <p:spPr>
          <a:xfrm>
            <a:off x="10177272" y="1529660"/>
            <a:ext cx="1389888" cy="429768"/>
          </a:xfrm>
          <a:prstGeom prst="rect">
            <a:avLst/>
          </a:prstGeom>
          <a:noFill/>
          <a:ln/>
        </p:spPr>
        <p:txBody>
          <a:bodyPr wrap="square" lIns="0" tIns="0" rIns="0" bIns="0" rtlCol="0" anchor="ctr">
            <a:normAutofit/>
          </a:bodyPr>
          <a:lstStyle/>
          <a:p>
            <a:pPr marL="0" indent="0" algn="ctr">
              <a:buNone/>
            </a:pPr>
            <a:r>
              <a:rPr lang="en-US" sz="1220" b="1" dirty="0">
                <a:solidFill>
                  <a:srgbClr val="17202A"/>
                </a:solidFill>
                <a:latin typeface="Aptos" pitchFamily="34" charset="0"/>
                <a:ea typeface="Aptos" pitchFamily="34" charset="-122"/>
                <a:cs typeface="Aptos" pitchFamily="34" charset="-120"/>
              </a:rPr>
              <a:t>Санал болгох hybrid загвар</a:t>
            </a:r>
            <a:endParaRPr lang="en-US" sz="1220" dirty="0"/>
          </a:p>
        </p:txBody>
      </p:sp>
      <p:sp>
        <p:nvSpPr>
          <p:cNvPr id="82" name="Shape 39">
            <a:extLst>
              <a:ext uri="{FF2B5EF4-FFF2-40B4-BE49-F238E27FC236}">
                <a16:creationId xmlns:a16="http://schemas.microsoft.com/office/drawing/2014/main" id="{15B7A290-770A-855C-4FBF-49281F10E74C}"/>
              </a:ext>
            </a:extLst>
          </p:cNvPr>
          <p:cNvSpPr/>
          <p:nvPr/>
        </p:nvSpPr>
        <p:spPr>
          <a:xfrm>
            <a:off x="10222992" y="2133164"/>
            <a:ext cx="1316736" cy="0"/>
          </a:xfrm>
          <a:prstGeom prst="line">
            <a:avLst/>
          </a:prstGeom>
          <a:noFill/>
          <a:ln w="10160">
            <a:solidFill>
              <a:srgbClr val="D9DED7"/>
            </a:solidFill>
            <a:prstDash val="solid"/>
          </a:ln>
        </p:spPr>
      </p:sp>
      <p:sp>
        <p:nvSpPr>
          <p:cNvPr id="83" name="Text 40">
            <a:extLst>
              <a:ext uri="{FF2B5EF4-FFF2-40B4-BE49-F238E27FC236}">
                <a16:creationId xmlns:a16="http://schemas.microsoft.com/office/drawing/2014/main" id="{59203E6C-56EB-4198-EDC0-4269F5516E53}"/>
              </a:ext>
            </a:extLst>
          </p:cNvPr>
          <p:cNvSpPr/>
          <p:nvPr/>
        </p:nvSpPr>
        <p:spPr>
          <a:xfrm>
            <a:off x="10222992" y="2361764"/>
            <a:ext cx="1344168" cy="3218688"/>
          </a:xfrm>
          <a:prstGeom prst="rect">
            <a:avLst/>
          </a:prstGeom>
          <a:noFill/>
          <a:ln/>
        </p:spPr>
        <p:txBody>
          <a:bodyPr wrap="square" lIns="0" tIns="0" rIns="0" bIns="0" rtlCol="0" anchor="ctr">
            <a:normAutofit/>
          </a:bodyPr>
          <a:lstStyle/>
          <a:p>
            <a:pPr marL="0" indent="0" algn="ctr">
              <a:buNone/>
            </a:pPr>
            <a:r>
              <a:rPr lang="en-US" sz="1020" dirty="0">
                <a:solidFill>
                  <a:srgbClr val="17202A"/>
                </a:solidFill>
                <a:latin typeface="Aptos" pitchFamily="34" charset="0"/>
                <a:ea typeface="Aptos" pitchFamily="34" charset="-122"/>
                <a:cs typeface="Aptos" pitchFamily="34" charset="-120"/>
              </a:rPr>
              <a:t>12 сар minimum use</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30–45 хоног notice</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жилд X% free</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min(actual break cost, cap)</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a:t>
            </a:r>
            <a:endParaRPr lang="en-US" sz="1020" dirty="0"/>
          </a:p>
          <a:p>
            <a:pPr marL="0" indent="0" algn="ctr">
              <a:buNone/>
            </a:pPr>
            <a:r>
              <a:rPr lang="en-US" sz="1020" dirty="0">
                <a:solidFill>
                  <a:srgbClr val="17202A"/>
                </a:solidFill>
                <a:latin typeface="Aptos" pitchFamily="34" charset="0"/>
                <a:ea typeface="Aptos" pitchFamily="34" charset="-122"/>
                <a:cs typeface="Aptos" pitchFamily="34" charset="-120"/>
              </a:rPr>
              <a:t>fee = 0 хэрэв эх үүсвэр зардалгүй хаагдвал</a:t>
            </a:r>
            <a:endParaRPr lang="en-US" sz="1020" dirty="0"/>
          </a:p>
        </p:txBody>
      </p:sp>
      <p:sp>
        <p:nvSpPr>
          <p:cNvPr id="84" name="Text 41">
            <a:extLst>
              <a:ext uri="{FF2B5EF4-FFF2-40B4-BE49-F238E27FC236}">
                <a16:creationId xmlns:a16="http://schemas.microsoft.com/office/drawing/2014/main" id="{16D1D0AB-2EA3-C4F7-E884-3DC8B09A2838}"/>
              </a:ext>
            </a:extLst>
          </p:cNvPr>
          <p:cNvSpPr/>
          <p:nvPr/>
        </p:nvSpPr>
        <p:spPr>
          <a:xfrm>
            <a:off x="585216" y="6144768"/>
            <a:ext cx="10954512" cy="384048"/>
          </a:xfrm>
          <a:prstGeom prst="rect">
            <a:avLst/>
          </a:prstGeom>
          <a:noFill/>
          <a:ln/>
        </p:spPr>
        <p:txBody>
          <a:bodyPr wrap="square" lIns="0" tIns="0" rIns="0" bIns="0" rtlCol="0" anchor="ctr">
            <a:normAutofit/>
          </a:bodyPr>
          <a:lstStyle/>
          <a:p>
            <a:pPr marL="0" indent="0" algn="ctr">
              <a:buNone/>
            </a:pPr>
            <a:r>
              <a:rPr lang="en-US" sz="1020" dirty="0">
                <a:solidFill>
                  <a:srgbClr val="68707A"/>
                </a:solidFill>
                <a:latin typeface="Aptos" pitchFamily="34" charset="0"/>
                <a:ea typeface="Aptos" pitchFamily="34" charset="-122"/>
                <a:cs typeface="Aptos" pitchFamily="34" charset="-120"/>
              </a:rPr>
              <a:t>Анхаарах зарчим: “гадаад эх үүсвэртэй” гэдгээр автоматаар торгууль тавихгүй; non-cancellable funding + бодит break/reinvestment loss үүссэн үед л хамгаалалтын нөхцөл хэрэглэх.</a:t>
            </a:r>
            <a:endParaRPr lang="en-US" sz="1020" dirty="0"/>
          </a:p>
        </p:txBody>
      </p:sp>
    </p:spTree>
    <p:extLst>
      <p:ext uri="{BB962C8B-B14F-4D97-AF65-F5344CB8AC3E}">
        <p14:creationId xmlns:p14="http://schemas.microsoft.com/office/powerpoint/2010/main" val="2035257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5053874-F85A-7B51-B11F-B3537EF5CE7D}"/>
              </a:ext>
            </a:extLst>
          </p:cNvPr>
          <p:cNvSpPr/>
          <p:nvPr/>
        </p:nvSpPr>
        <p:spPr>
          <a:xfrm>
            <a:off x="426491" y="1115438"/>
            <a:ext cx="9695211" cy="503518"/>
          </a:xfrm>
          <a:prstGeom prst="roundRect">
            <a:avLst/>
          </a:prstGeom>
          <a:solidFill>
            <a:schemeClr val="bg1"/>
          </a:solidFill>
          <a:ln>
            <a:noFill/>
          </a:ln>
          <a:effectLst>
            <a:outerShdw blurRad="50800" dist="25400" dir="2400000" algn="l" rotWithShape="0">
              <a:srgbClr val="00B0F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nSpc>
                <a:spcPts val="1800"/>
              </a:lnSpc>
            </a:pPr>
            <a:endParaRPr lang="mn-MN" sz="1100" i="1" dirty="0">
              <a:solidFill>
                <a:srgbClr val="0A0A0A"/>
              </a:solidFill>
              <a:latin typeface="Segoe UI" panose="020B0502040204020203" pitchFamily="34" charset="0"/>
              <a:cs typeface="Segoe UI" panose="020B0502040204020203" pitchFamily="34" charset="0"/>
            </a:endParaRPr>
          </a:p>
        </p:txBody>
      </p:sp>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011C9CC5-2F93-FD89-DCD9-88BBA679EE5A}"/>
              </a:ext>
            </a:extLst>
          </p:cNvPr>
          <p:cNvGrpSpPr/>
          <p:nvPr/>
        </p:nvGrpSpPr>
        <p:grpSpPr>
          <a:xfrm>
            <a:off x="3903126" y="386359"/>
            <a:ext cx="4385748" cy="322352"/>
            <a:chOff x="4033374" y="215436"/>
            <a:chExt cx="4065373" cy="338092"/>
          </a:xfrm>
        </p:grpSpPr>
        <p:sp>
          <p:nvSpPr>
            <p:cNvPr id="24" name="Rounded Rectangle 40">
              <a:extLst>
                <a:ext uri="{FF2B5EF4-FFF2-40B4-BE49-F238E27FC236}">
                  <a16:creationId xmlns:a16="http://schemas.microsoft.com/office/drawing/2014/main" id="{CAA87672-A3B9-F7F2-83A4-4B73A6ACB85E}"/>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25" name="Rectangle 24">
              <a:extLst>
                <a:ext uri="{FF2B5EF4-FFF2-40B4-BE49-F238E27FC236}">
                  <a16:creationId xmlns:a16="http://schemas.microsoft.com/office/drawing/2014/main" id="{E7076B1A-7615-B58F-B4E2-0427198337D4}"/>
                </a:ext>
              </a:extLst>
            </p:cNvPr>
            <p:cNvSpPr/>
            <p:nvPr/>
          </p:nvSpPr>
          <p:spPr>
            <a:xfrm>
              <a:off x="4244477" y="219631"/>
              <a:ext cx="3643166" cy="322804"/>
            </a:xfrm>
            <a:prstGeom prst="rect">
              <a:avLst/>
            </a:prstGeom>
          </p:spPr>
          <p:txBody>
            <a:bodyPr wrap="square" anchor="ctr">
              <a:spAutoFit/>
            </a:bodyPr>
            <a:lstStyle/>
            <a:p>
              <a:pPr algn="ctr"/>
              <a:r>
                <a:rPr lang="mn-MN" sz="1400" b="1">
                  <a:solidFill>
                    <a:schemeClr val="bg1"/>
                  </a:solidFill>
                  <a:cs typeface="Segoe UI" panose="020B0502040204020203" pitchFamily="34" charset="0"/>
                </a:rPr>
                <a:t>ОЛОН УЛСЫН БОДИТ ШИЙДЭЛ </a:t>
              </a:r>
              <a:endParaRPr lang="en-US" sz="1400" b="1" dirty="0">
                <a:solidFill>
                  <a:schemeClr val="bg1"/>
                </a:solidFill>
                <a:cs typeface="Segoe UI" panose="020B0502040204020203" pitchFamily="34" charset="0"/>
              </a:endParaRPr>
            </a:p>
          </p:txBody>
        </p:sp>
      </p:grp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5</a:t>
            </a:fld>
            <a:endParaRPr lang="en-US" sz="1200" dirty="0">
              <a:solidFill>
                <a:schemeClr val="bg1">
                  <a:lumMod val="65000"/>
                </a:schemeClr>
              </a:solidFill>
              <a:cs typeface="Segoe UI Light" panose="020B0502040204020203" pitchFamily="34" charset="0"/>
            </a:endParaRPr>
          </a:p>
        </p:txBody>
      </p:sp>
      <p:sp>
        <p:nvSpPr>
          <p:cNvPr id="31" name="TextBox 30">
            <a:extLst>
              <a:ext uri="{FF2B5EF4-FFF2-40B4-BE49-F238E27FC236}">
                <a16:creationId xmlns:a16="http://schemas.microsoft.com/office/drawing/2014/main" id="{B11DF1D8-5F49-072B-835A-57DEA4B29C42}"/>
              </a:ext>
            </a:extLst>
          </p:cNvPr>
          <p:cNvSpPr txBox="1"/>
          <p:nvPr/>
        </p:nvSpPr>
        <p:spPr>
          <a:xfrm>
            <a:off x="4984362" y="3716024"/>
            <a:ext cx="2178802" cy="307777"/>
          </a:xfrm>
          <a:prstGeom prst="rect">
            <a:avLst/>
          </a:prstGeom>
          <a:noFill/>
        </p:spPr>
        <p:txBody>
          <a:bodyPr wrap="none" rtlCol="0">
            <a:spAutoFit/>
          </a:bodyPr>
          <a:lstStyle/>
          <a:p>
            <a:pPr algn="ctr"/>
            <a:r>
              <a:rPr lang="mn-MN" sz="1400" b="1">
                <a:solidFill>
                  <a:srgbClr val="002060"/>
                </a:solidFill>
                <a:cs typeface="Segoe UI" panose="020B0502040204020203" pitchFamily="34" charset="0"/>
              </a:rPr>
              <a:t>ЗЭЭЛИЙН МЭДЭЭЛЭЛ</a:t>
            </a:r>
            <a:endParaRPr lang="en-US" sz="1400" b="1" dirty="0">
              <a:solidFill>
                <a:srgbClr val="002060"/>
              </a:solidFill>
              <a:cs typeface="Segoe UI" panose="020B0502040204020203" pitchFamily="34" charset="0"/>
            </a:endParaRPr>
          </a:p>
        </p:txBody>
      </p:sp>
      <p:sp>
        <p:nvSpPr>
          <p:cNvPr id="32" name="TextBox 31">
            <a:extLst>
              <a:ext uri="{FF2B5EF4-FFF2-40B4-BE49-F238E27FC236}">
                <a16:creationId xmlns:a16="http://schemas.microsoft.com/office/drawing/2014/main" id="{63B975ED-0B37-B13E-B13B-1314BDC1E27A}"/>
              </a:ext>
            </a:extLst>
          </p:cNvPr>
          <p:cNvSpPr txBox="1"/>
          <p:nvPr/>
        </p:nvSpPr>
        <p:spPr>
          <a:xfrm>
            <a:off x="484486" y="1226550"/>
            <a:ext cx="8665939" cy="276999"/>
          </a:xfrm>
          <a:prstGeom prst="rect">
            <a:avLst/>
          </a:prstGeom>
          <a:noFill/>
        </p:spPr>
        <p:txBody>
          <a:bodyPr wrap="square" rtlCol="0">
            <a:spAutoFit/>
          </a:bodyPr>
          <a:lstStyle/>
          <a:p>
            <a:r>
              <a:rPr lang="mn-MN" sz="1200" dirty="0">
                <a:uFill>
                  <a:solidFill>
                    <a:srgbClr val="074386"/>
                  </a:solidFill>
                </a:uFill>
                <a:cs typeface="Times New Roman"/>
              </a:rPr>
              <a:t>Зээлийн батлан даалтын сан болон ХХБ нь 2017.09.29-ний өдрөөс эхлэн гэрээ байгуулан хамтран ажиллаж байна.</a:t>
            </a:r>
          </a:p>
        </p:txBody>
      </p:sp>
      <p:sp>
        <p:nvSpPr>
          <p:cNvPr id="54" name="TextBox 53">
            <a:extLst>
              <a:ext uri="{FF2B5EF4-FFF2-40B4-BE49-F238E27FC236}">
                <a16:creationId xmlns:a16="http://schemas.microsoft.com/office/drawing/2014/main" id="{F75C1CA8-9D47-9D0A-76C9-6B1CCD9D4E39}"/>
              </a:ext>
            </a:extLst>
          </p:cNvPr>
          <p:cNvSpPr txBox="1"/>
          <p:nvPr/>
        </p:nvSpPr>
        <p:spPr>
          <a:xfrm>
            <a:off x="8070556" y="2649415"/>
            <a:ext cx="1563792" cy="261610"/>
          </a:xfrm>
          <a:prstGeom prst="rect">
            <a:avLst/>
          </a:prstGeom>
          <a:noFill/>
        </p:spPr>
        <p:txBody>
          <a:bodyPr wrap="square" rtlCol="0">
            <a:spAutoFit/>
          </a:bodyPr>
          <a:lstStyle/>
          <a:p>
            <a:pPr algn="ctr"/>
            <a:r>
              <a:rPr lang="mn-MN" sz="1100" dirty="0">
                <a:uFill>
                  <a:solidFill>
                    <a:srgbClr val="074386"/>
                  </a:solidFill>
                </a:uFill>
                <a:cs typeface="Times New Roman"/>
              </a:rPr>
              <a:t>ЗБДС-н эх үүсвэр</a:t>
            </a:r>
          </a:p>
        </p:txBody>
      </p:sp>
      <p:sp>
        <p:nvSpPr>
          <p:cNvPr id="55" name="TextBox 54">
            <a:extLst>
              <a:ext uri="{FF2B5EF4-FFF2-40B4-BE49-F238E27FC236}">
                <a16:creationId xmlns:a16="http://schemas.microsoft.com/office/drawing/2014/main" id="{E968A2BD-8336-5816-ABC2-E212919683C4}"/>
              </a:ext>
            </a:extLst>
          </p:cNvPr>
          <p:cNvSpPr txBox="1"/>
          <p:nvPr/>
        </p:nvSpPr>
        <p:spPr>
          <a:xfrm>
            <a:off x="8073237" y="3203764"/>
            <a:ext cx="1563791" cy="261610"/>
          </a:xfrm>
          <a:prstGeom prst="rect">
            <a:avLst/>
          </a:prstGeom>
          <a:noFill/>
        </p:spPr>
        <p:txBody>
          <a:bodyPr wrap="square" rtlCol="0">
            <a:spAutoFit/>
          </a:bodyPr>
          <a:lstStyle/>
          <a:p>
            <a:pPr algn="ctr"/>
            <a:r>
              <a:rPr lang="mn-MN" sz="1100" dirty="0">
                <a:uFill>
                  <a:solidFill>
                    <a:srgbClr val="074386"/>
                  </a:solidFill>
                </a:uFill>
                <a:cs typeface="Times New Roman"/>
              </a:rPr>
              <a:t>Банкны эх үүсвэр</a:t>
            </a:r>
          </a:p>
        </p:txBody>
      </p:sp>
      <p:sp>
        <p:nvSpPr>
          <p:cNvPr id="58" name="TextBox 57">
            <a:extLst>
              <a:ext uri="{FF2B5EF4-FFF2-40B4-BE49-F238E27FC236}">
                <a16:creationId xmlns:a16="http://schemas.microsoft.com/office/drawing/2014/main" id="{D6005A10-D0B5-FBCC-6514-C9D4341624C8}"/>
              </a:ext>
            </a:extLst>
          </p:cNvPr>
          <p:cNvSpPr txBox="1"/>
          <p:nvPr/>
        </p:nvSpPr>
        <p:spPr>
          <a:xfrm>
            <a:off x="9736874" y="2603248"/>
            <a:ext cx="1028650" cy="338554"/>
          </a:xfrm>
          <a:prstGeom prst="rect">
            <a:avLst/>
          </a:prstGeom>
          <a:noFill/>
        </p:spPr>
        <p:txBody>
          <a:bodyPr wrap="square" rtlCol="0">
            <a:spAutoFit/>
          </a:bodyPr>
          <a:lstStyle/>
          <a:p>
            <a:pPr algn="ctr"/>
            <a:r>
              <a:rPr lang="mn-MN" sz="1600" b="1" dirty="0">
                <a:solidFill>
                  <a:srgbClr val="002060"/>
                </a:solidFill>
                <a:cs typeface="Segoe UI" panose="020B0502040204020203" pitchFamily="34" charset="0"/>
              </a:rPr>
              <a:t>7.5%</a:t>
            </a:r>
            <a:endParaRPr lang="en-US" sz="1600" b="1" dirty="0">
              <a:solidFill>
                <a:srgbClr val="002060"/>
              </a:solidFill>
              <a:cs typeface="Segoe UI" panose="020B0502040204020203" pitchFamily="34" charset="0"/>
            </a:endParaRPr>
          </a:p>
        </p:txBody>
      </p:sp>
      <p:sp>
        <p:nvSpPr>
          <p:cNvPr id="64" name="TextBox 63">
            <a:extLst>
              <a:ext uri="{FF2B5EF4-FFF2-40B4-BE49-F238E27FC236}">
                <a16:creationId xmlns:a16="http://schemas.microsoft.com/office/drawing/2014/main" id="{06E1C272-290B-E5AE-FBA3-149DABAD9582}"/>
              </a:ext>
            </a:extLst>
          </p:cNvPr>
          <p:cNvSpPr txBox="1"/>
          <p:nvPr/>
        </p:nvSpPr>
        <p:spPr>
          <a:xfrm>
            <a:off x="9736874" y="3159968"/>
            <a:ext cx="1028650" cy="338554"/>
          </a:xfrm>
          <a:prstGeom prst="rect">
            <a:avLst/>
          </a:prstGeom>
          <a:noFill/>
        </p:spPr>
        <p:txBody>
          <a:bodyPr wrap="square" rtlCol="0">
            <a:spAutoFit/>
          </a:bodyPr>
          <a:lstStyle/>
          <a:p>
            <a:pPr algn="ctr"/>
            <a:r>
              <a:rPr lang="mn-MN" sz="1600" b="1">
                <a:solidFill>
                  <a:srgbClr val="002060"/>
                </a:solidFill>
                <a:cs typeface="Segoe UI" panose="020B0502040204020203" pitchFamily="34" charset="0"/>
              </a:rPr>
              <a:t>1</a:t>
            </a:r>
            <a:r>
              <a:rPr lang="en-US" sz="1600" b="1">
                <a:solidFill>
                  <a:srgbClr val="002060"/>
                </a:solidFill>
                <a:cs typeface="Segoe UI" panose="020B0502040204020203" pitchFamily="34" charset="0"/>
              </a:rPr>
              <a:t>8.75</a:t>
            </a:r>
            <a:r>
              <a:rPr lang="mn-MN" sz="1600" b="1">
                <a:solidFill>
                  <a:srgbClr val="002060"/>
                </a:solidFill>
                <a:cs typeface="Segoe UI" panose="020B0502040204020203" pitchFamily="34" charset="0"/>
              </a:rPr>
              <a:t>%</a:t>
            </a:r>
            <a:endParaRPr lang="en-US" sz="1600" b="1" dirty="0">
              <a:solidFill>
                <a:srgbClr val="002060"/>
              </a:solidFill>
              <a:cs typeface="Segoe UI" panose="020B0502040204020203" pitchFamily="34" charset="0"/>
            </a:endParaRPr>
          </a:p>
        </p:txBody>
      </p:sp>
      <p:cxnSp>
        <p:nvCxnSpPr>
          <p:cNvPr id="65" name="Straight Connector 64">
            <a:extLst>
              <a:ext uri="{FF2B5EF4-FFF2-40B4-BE49-F238E27FC236}">
                <a16:creationId xmlns:a16="http://schemas.microsoft.com/office/drawing/2014/main" id="{6B2CE2E9-7D44-EC52-C7EE-D71E39C86499}"/>
              </a:ext>
            </a:extLst>
          </p:cNvPr>
          <p:cNvCxnSpPr>
            <a:cxnSpLocks/>
          </p:cNvCxnSpPr>
          <p:nvPr/>
        </p:nvCxnSpPr>
        <p:spPr>
          <a:xfrm>
            <a:off x="1096554" y="2432939"/>
            <a:ext cx="9751841" cy="0"/>
          </a:xfrm>
          <a:prstGeom prst="line">
            <a:avLst/>
          </a:prstGeom>
          <a:ln w="25400">
            <a:solidFill>
              <a:srgbClr val="0080FF"/>
            </a:solidFill>
          </a:ln>
        </p:spPr>
        <p:style>
          <a:lnRef idx="2">
            <a:schemeClr val="accent1"/>
          </a:lnRef>
          <a:fillRef idx="0">
            <a:schemeClr val="accent1"/>
          </a:fillRef>
          <a:effectRef idx="1">
            <a:schemeClr val="accent1"/>
          </a:effectRef>
          <a:fontRef idx="minor">
            <a:schemeClr val="tx1"/>
          </a:fontRef>
        </p:style>
      </p:cxnSp>
      <p:sp>
        <p:nvSpPr>
          <p:cNvPr id="66" name="Oval 65">
            <a:extLst>
              <a:ext uri="{FF2B5EF4-FFF2-40B4-BE49-F238E27FC236}">
                <a16:creationId xmlns:a16="http://schemas.microsoft.com/office/drawing/2014/main" id="{E022C676-7C07-4108-0A6D-E3F0F5B72C4F}"/>
              </a:ext>
            </a:extLst>
          </p:cNvPr>
          <p:cNvSpPr/>
          <p:nvPr/>
        </p:nvSpPr>
        <p:spPr>
          <a:xfrm>
            <a:off x="2351913" y="2400883"/>
            <a:ext cx="67706" cy="64112"/>
          </a:xfrm>
          <a:prstGeom prst="ellipse">
            <a:avLst/>
          </a:prstGeom>
          <a:solidFill>
            <a:srgbClr val="008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2E9C1F1C-0141-F25B-1802-355D221EC41C}"/>
              </a:ext>
            </a:extLst>
          </p:cNvPr>
          <p:cNvSpPr/>
          <p:nvPr/>
        </p:nvSpPr>
        <p:spPr>
          <a:xfrm>
            <a:off x="5828538" y="2400883"/>
            <a:ext cx="67706" cy="64112"/>
          </a:xfrm>
          <a:prstGeom prst="ellipse">
            <a:avLst/>
          </a:prstGeom>
          <a:solidFill>
            <a:srgbClr val="008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F7130777-D4DA-FD0F-5B7A-6164B08890AA}"/>
              </a:ext>
            </a:extLst>
          </p:cNvPr>
          <p:cNvSpPr/>
          <p:nvPr/>
        </p:nvSpPr>
        <p:spPr>
          <a:xfrm>
            <a:off x="9444240" y="2400883"/>
            <a:ext cx="67706" cy="64112"/>
          </a:xfrm>
          <a:prstGeom prst="ellipse">
            <a:avLst/>
          </a:prstGeom>
          <a:solidFill>
            <a:srgbClr val="008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D11E1C10-D5DE-3A9E-D81B-314B80FD8A50}"/>
              </a:ext>
            </a:extLst>
          </p:cNvPr>
          <p:cNvSpPr txBox="1"/>
          <p:nvPr/>
        </p:nvSpPr>
        <p:spPr>
          <a:xfrm>
            <a:off x="2077334" y="2008852"/>
            <a:ext cx="616864" cy="276999"/>
          </a:xfrm>
          <a:prstGeom prst="rect">
            <a:avLst/>
          </a:prstGeom>
          <a:noFill/>
        </p:spPr>
        <p:txBody>
          <a:bodyPr wrap="square" rtlCol="0">
            <a:spAutoFit/>
          </a:bodyPr>
          <a:lstStyle/>
          <a:p>
            <a:pPr algn="ctr"/>
            <a:r>
              <a:rPr lang="mn-MN" sz="1200" b="1">
                <a:solidFill>
                  <a:srgbClr val="002060"/>
                </a:solidFill>
              </a:rPr>
              <a:t>2017</a:t>
            </a:r>
          </a:p>
        </p:txBody>
      </p:sp>
      <p:sp>
        <p:nvSpPr>
          <p:cNvPr id="70" name="TextBox 69">
            <a:extLst>
              <a:ext uri="{FF2B5EF4-FFF2-40B4-BE49-F238E27FC236}">
                <a16:creationId xmlns:a16="http://schemas.microsoft.com/office/drawing/2014/main" id="{4E662A04-0F75-D4DA-6766-DBCD7BE95F70}"/>
              </a:ext>
            </a:extLst>
          </p:cNvPr>
          <p:cNvSpPr txBox="1"/>
          <p:nvPr/>
        </p:nvSpPr>
        <p:spPr>
          <a:xfrm>
            <a:off x="5408600" y="2008850"/>
            <a:ext cx="907582" cy="276999"/>
          </a:xfrm>
          <a:prstGeom prst="rect">
            <a:avLst/>
          </a:prstGeom>
          <a:noFill/>
        </p:spPr>
        <p:txBody>
          <a:bodyPr wrap="square" rtlCol="0">
            <a:spAutoFit/>
          </a:bodyPr>
          <a:lstStyle/>
          <a:p>
            <a:pPr algn="ctr"/>
            <a:r>
              <a:rPr lang="en-US" sz="1200" b="1">
                <a:solidFill>
                  <a:srgbClr val="002060"/>
                </a:solidFill>
              </a:rPr>
              <a:t>COVID-19</a:t>
            </a:r>
            <a:endParaRPr lang="mn-MN" sz="1200" b="1">
              <a:solidFill>
                <a:srgbClr val="002060"/>
              </a:solidFill>
            </a:endParaRPr>
          </a:p>
        </p:txBody>
      </p:sp>
      <p:sp>
        <p:nvSpPr>
          <p:cNvPr id="71" name="TextBox 70">
            <a:extLst>
              <a:ext uri="{FF2B5EF4-FFF2-40B4-BE49-F238E27FC236}">
                <a16:creationId xmlns:a16="http://schemas.microsoft.com/office/drawing/2014/main" id="{337CF11C-89F6-3221-BC99-8216A97EFBD6}"/>
              </a:ext>
            </a:extLst>
          </p:cNvPr>
          <p:cNvSpPr txBox="1"/>
          <p:nvPr/>
        </p:nvSpPr>
        <p:spPr>
          <a:xfrm>
            <a:off x="9174579" y="2008850"/>
            <a:ext cx="607028" cy="276999"/>
          </a:xfrm>
          <a:prstGeom prst="rect">
            <a:avLst/>
          </a:prstGeom>
          <a:noFill/>
        </p:spPr>
        <p:txBody>
          <a:bodyPr wrap="square" rtlCol="0">
            <a:spAutoFit/>
          </a:bodyPr>
          <a:lstStyle/>
          <a:p>
            <a:pPr algn="ctr"/>
            <a:r>
              <a:rPr lang="en-US" sz="1200" b="1">
                <a:solidFill>
                  <a:srgbClr val="002060"/>
                </a:solidFill>
              </a:rPr>
              <a:t>2026</a:t>
            </a:r>
            <a:endParaRPr lang="mn-MN" sz="1200" b="1">
              <a:solidFill>
                <a:srgbClr val="002060"/>
              </a:solidFill>
            </a:endParaRPr>
          </a:p>
        </p:txBody>
      </p:sp>
      <p:sp>
        <p:nvSpPr>
          <p:cNvPr id="72" name="TextBox 71">
            <a:extLst>
              <a:ext uri="{FF2B5EF4-FFF2-40B4-BE49-F238E27FC236}">
                <a16:creationId xmlns:a16="http://schemas.microsoft.com/office/drawing/2014/main" id="{504254AB-F930-84B8-D8A2-E2DD0077F22A}"/>
              </a:ext>
            </a:extLst>
          </p:cNvPr>
          <p:cNvSpPr txBox="1"/>
          <p:nvPr/>
        </p:nvSpPr>
        <p:spPr>
          <a:xfrm>
            <a:off x="1096554" y="2580027"/>
            <a:ext cx="2510718" cy="829651"/>
          </a:xfrm>
          <a:prstGeom prst="rect">
            <a:avLst/>
          </a:prstGeom>
          <a:noFill/>
        </p:spPr>
        <p:txBody>
          <a:bodyPr wrap="square" rtlCol="0">
            <a:spAutoFit/>
          </a:bodyPr>
          <a:lstStyle/>
          <a:p>
            <a:pPr algn="just">
              <a:lnSpc>
                <a:spcPct val="150000"/>
              </a:lnSpc>
            </a:pPr>
            <a:r>
              <a:rPr lang="mn-MN" sz="1100"/>
              <a:t>Хамтын ажиллагаа эхэлсэн ба хүүгийн хэмжээ нь</a:t>
            </a:r>
            <a:r>
              <a:rPr lang="en-US" sz="1100"/>
              <a:t>: </a:t>
            </a:r>
            <a:r>
              <a:rPr lang="mn-MN" sz="1100"/>
              <a:t>12-15</a:t>
            </a:r>
            <a:r>
              <a:rPr lang="en-US" sz="1100"/>
              <a:t>% </a:t>
            </a:r>
            <a:r>
              <a:rPr lang="mn-MN" sz="1100"/>
              <a:t>хэмжээтэй олгогдож байсан. </a:t>
            </a:r>
            <a:endParaRPr lang="en-US" sz="1100"/>
          </a:p>
        </p:txBody>
      </p:sp>
      <p:sp>
        <p:nvSpPr>
          <p:cNvPr id="73" name="TextBox 72">
            <a:extLst>
              <a:ext uri="{FF2B5EF4-FFF2-40B4-BE49-F238E27FC236}">
                <a16:creationId xmlns:a16="http://schemas.microsoft.com/office/drawing/2014/main" id="{9E9FDB7E-1074-A8E0-1EEA-3F412D70A0E2}"/>
              </a:ext>
            </a:extLst>
          </p:cNvPr>
          <p:cNvSpPr txBox="1"/>
          <p:nvPr/>
        </p:nvSpPr>
        <p:spPr>
          <a:xfrm>
            <a:off x="4848312" y="2640884"/>
            <a:ext cx="2028158" cy="575735"/>
          </a:xfrm>
          <a:prstGeom prst="rect">
            <a:avLst/>
          </a:prstGeom>
          <a:noFill/>
        </p:spPr>
        <p:txBody>
          <a:bodyPr wrap="square" rtlCol="0">
            <a:spAutoFit/>
          </a:bodyPr>
          <a:lstStyle/>
          <a:p>
            <a:pPr algn="ctr">
              <a:lnSpc>
                <a:spcPct val="150000"/>
              </a:lnSpc>
            </a:pPr>
            <a:r>
              <a:rPr lang="mn-MN" sz="1100"/>
              <a:t>Хүүг 10.27</a:t>
            </a:r>
            <a:r>
              <a:rPr lang="en-US" sz="1100"/>
              <a:t>%</a:t>
            </a:r>
            <a:r>
              <a:rPr lang="mn-MN" sz="1100"/>
              <a:t>-12</a:t>
            </a:r>
            <a:r>
              <a:rPr lang="en-US" sz="1100"/>
              <a:t>.</a:t>
            </a:r>
            <a:r>
              <a:rPr lang="mn-MN" sz="1100"/>
              <a:t>34</a:t>
            </a:r>
            <a:r>
              <a:rPr lang="en-US" sz="1100"/>
              <a:t>%  </a:t>
            </a:r>
            <a:r>
              <a:rPr lang="mn-MN" sz="1100"/>
              <a:t>болгон бууруулсан</a:t>
            </a:r>
            <a:endParaRPr lang="en-US" sz="1100"/>
          </a:p>
        </p:txBody>
      </p:sp>
      <p:sp>
        <p:nvSpPr>
          <p:cNvPr id="75" name="Rectangle 74">
            <a:extLst>
              <a:ext uri="{FF2B5EF4-FFF2-40B4-BE49-F238E27FC236}">
                <a16:creationId xmlns:a16="http://schemas.microsoft.com/office/drawing/2014/main" id="{7C941584-FCCB-F2F7-04A9-27315A6D519A}"/>
              </a:ext>
            </a:extLst>
          </p:cNvPr>
          <p:cNvSpPr/>
          <p:nvPr/>
        </p:nvSpPr>
        <p:spPr>
          <a:xfrm>
            <a:off x="7801743" y="1940269"/>
            <a:ext cx="3352699" cy="1679901"/>
          </a:xfrm>
          <a:prstGeom prst="rect">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a:extLst>
              <a:ext uri="{FF2B5EF4-FFF2-40B4-BE49-F238E27FC236}">
                <a16:creationId xmlns:a16="http://schemas.microsoft.com/office/drawing/2014/main" id="{046B5797-DBA3-72AB-A493-7155F5E0A147}"/>
              </a:ext>
            </a:extLst>
          </p:cNvPr>
          <p:cNvGraphicFramePr>
            <a:graphicFrameLocks/>
          </p:cNvGraphicFramePr>
          <p:nvPr>
            <p:extLst>
              <p:ext uri="{D42A27DB-BD31-4B8C-83A1-F6EECF244321}">
                <p14:modId xmlns:p14="http://schemas.microsoft.com/office/powerpoint/2010/main" val="1761994677"/>
              </p:ext>
            </p:extLst>
          </p:nvPr>
        </p:nvGraphicFramePr>
        <p:xfrm>
          <a:off x="151680" y="4387732"/>
          <a:ext cx="5399898" cy="209356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FB00BF26-679B-FDCD-8249-73EE2A501F0A}"/>
              </a:ext>
            </a:extLst>
          </p:cNvPr>
          <p:cNvSpPr/>
          <p:nvPr/>
        </p:nvSpPr>
        <p:spPr>
          <a:xfrm>
            <a:off x="439585" y="4138833"/>
            <a:ext cx="4712962" cy="276999"/>
          </a:xfrm>
          <a:prstGeom prst="rect">
            <a:avLst/>
          </a:prstGeom>
        </p:spPr>
        <p:txBody>
          <a:bodyPr wrap="square" anchor="ctr">
            <a:spAutoFit/>
          </a:bodyPr>
          <a:lstStyle/>
          <a:p>
            <a:r>
              <a:rPr lang="mn-MN" sz="1200" b="1">
                <a:solidFill>
                  <a:srgbClr val="002060"/>
                </a:solidFill>
                <a:cs typeface="Segoe UI" panose="020B0502040204020203" pitchFamily="34" charset="0"/>
              </a:rPr>
              <a:t>График 1</a:t>
            </a:r>
            <a:r>
              <a:rPr lang="mn-MN" sz="1200" b="1" i="1">
                <a:solidFill>
                  <a:srgbClr val="002060"/>
                </a:solidFill>
                <a:cs typeface="Segoe UI" panose="020B0502040204020203" pitchFamily="34" charset="0"/>
              </a:rPr>
              <a:t>. Олгосон зээлийн мэдээлэл </a:t>
            </a:r>
            <a:r>
              <a:rPr lang="en-US" sz="1200" b="1" i="1">
                <a:solidFill>
                  <a:srgbClr val="002060"/>
                </a:solidFill>
                <a:cs typeface="Segoe UI" panose="020B0502040204020203" pitchFamily="34" charset="0"/>
              </a:rPr>
              <a:t>/</a:t>
            </a:r>
            <a:r>
              <a:rPr lang="mn-MN" sz="1200" b="1" i="1">
                <a:solidFill>
                  <a:srgbClr val="002060"/>
                </a:solidFill>
                <a:cs typeface="Segoe UI" panose="020B0502040204020203" pitchFamily="34" charset="0"/>
              </a:rPr>
              <a:t>сая₮</a:t>
            </a:r>
            <a:r>
              <a:rPr lang="en-US" sz="1200" b="1" i="1">
                <a:solidFill>
                  <a:srgbClr val="002060"/>
                </a:solidFill>
                <a:cs typeface="Segoe UI" panose="020B0502040204020203" pitchFamily="34" charset="0"/>
              </a:rPr>
              <a:t>/</a:t>
            </a:r>
            <a:r>
              <a:rPr lang="mn-MN" sz="1200" b="1" i="1">
                <a:solidFill>
                  <a:srgbClr val="002060"/>
                </a:solidFill>
                <a:cs typeface="Segoe UI" panose="020B0502040204020203" pitchFamily="34" charset="0"/>
              </a:rPr>
              <a:t> </a:t>
            </a:r>
            <a:endParaRPr lang="en-US" sz="1200" b="1" i="1" dirty="0">
              <a:solidFill>
                <a:srgbClr val="002060"/>
              </a:solidFill>
              <a:cs typeface="Segoe UI" panose="020B0502040204020203" pitchFamily="34" charset="0"/>
            </a:endParaRPr>
          </a:p>
        </p:txBody>
      </p:sp>
      <p:sp>
        <p:nvSpPr>
          <p:cNvPr id="5" name="Rectangle 4">
            <a:extLst>
              <a:ext uri="{FF2B5EF4-FFF2-40B4-BE49-F238E27FC236}">
                <a16:creationId xmlns:a16="http://schemas.microsoft.com/office/drawing/2014/main" id="{29101D79-06C8-0B9D-B4A0-8BC230122B92}"/>
              </a:ext>
            </a:extLst>
          </p:cNvPr>
          <p:cNvSpPr/>
          <p:nvPr/>
        </p:nvSpPr>
        <p:spPr>
          <a:xfrm>
            <a:off x="9570523" y="4272325"/>
            <a:ext cx="2109054" cy="461665"/>
          </a:xfrm>
          <a:prstGeom prst="rect">
            <a:avLst/>
          </a:prstGeom>
        </p:spPr>
        <p:txBody>
          <a:bodyPr wrap="square" anchor="ctr">
            <a:spAutoFit/>
          </a:bodyPr>
          <a:lstStyle/>
          <a:p>
            <a:r>
              <a:rPr lang="mn-MN" sz="1200" b="1">
                <a:solidFill>
                  <a:srgbClr val="002060"/>
                </a:solidFill>
                <a:cs typeface="Segoe UI" panose="020B0502040204020203" pitchFamily="34" charset="0"/>
              </a:rPr>
              <a:t>ЗЭЭЛИЙН ҮЛДЭГДЭЛ </a:t>
            </a:r>
            <a:r>
              <a:rPr lang="en-US" sz="1200" i="1">
                <a:solidFill>
                  <a:srgbClr val="002060"/>
                </a:solidFill>
                <a:cs typeface="Segoe UI" panose="020B0502040204020203" pitchFamily="34" charset="0"/>
              </a:rPr>
              <a:t>/2026.08.31/</a:t>
            </a:r>
            <a:endParaRPr lang="en-US" sz="1200" i="1" dirty="0">
              <a:solidFill>
                <a:srgbClr val="002060"/>
              </a:solidFill>
              <a:cs typeface="Segoe UI" panose="020B0502040204020203" pitchFamily="34" charset="0"/>
            </a:endParaRPr>
          </a:p>
        </p:txBody>
      </p:sp>
      <p:sp>
        <p:nvSpPr>
          <p:cNvPr id="6" name="Rectangle: Rounded Corners 5">
            <a:extLst>
              <a:ext uri="{FF2B5EF4-FFF2-40B4-BE49-F238E27FC236}">
                <a16:creationId xmlns:a16="http://schemas.microsoft.com/office/drawing/2014/main" id="{E118FC41-DA9E-DB44-67ED-0B162807D58B}"/>
              </a:ext>
            </a:extLst>
          </p:cNvPr>
          <p:cNvSpPr/>
          <p:nvPr/>
        </p:nvSpPr>
        <p:spPr>
          <a:xfrm>
            <a:off x="9784806" y="5037649"/>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en-US" sz="1200">
                <a:solidFill>
                  <a:schemeClr val="tx1"/>
                </a:solidFill>
                <a:cs typeface="Segoe UI" panose="020B0502040204020203" pitchFamily="34" charset="0"/>
              </a:rPr>
              <a:t>110</a:t>
            </a:r>
          </a:p>
        </p:txBody>
      </p:sp>
      <p:pic>
        <p:nvPicPr>
          <p:cNvPr id="8" name="Picture 7">
            <a:extLst>
              <a:ext uri="{FF2B5EF4-FFF2-40B4-BE49-F238E27FC236}">
                <a16:creationId xmlns:a16="http://schemas.microsoft.com/office/drawing/2014/main" id="{451F3B2E-3763-7BBC-4FA9-E0E66428CE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6001" y="4977899"/>
            <a:ext cx="157610" cy="157610"/>
          </a:xfrm>
          <a:prstGeom prst="rect">
            <a:avLst/>
          </a:prstGeom>
        </p:spPr>
      </p:pic>
      <p:sp>
        <p:nvSpPr>
          <p:cNvPr id="9" name="TextBox 8">
            <a:extLst>
              <a:ext uri="{FF2B5EF4-FFF2-40B4-BE49-F238E27FC236}">
                <a16:creationId xmlns:a16="http://schemas.microsoft.com/office/drawing/2014/main" id="{F3DD69DA-3F86-5371-4629-FEA28231528B}"/>
              </a:ext>
            </a:extLst>
          </p:cNvPr>
          <p:cNvSpPr txBox="1"/>
          <p:nvPr/>
        </p:nvSpPr>
        <p:spPr>
          <a:xfrm>
            <a:off x="10066059" y="4806599"/>
            <a:ext cx="1127298" cy="230832"/>
          </a:xfrm>
          <a:prstGeom prst="rect">
            <a:avLst/>
          </a:prstGeom>
          <a:noFill/>
        </p:spPr>
        <p:txBody>
          <a:bodyPr wrap="square" rtlCol="0">
            <a:spAutoFit/>
          </a:bodyPr>
          <a:lstStyle/>
          <a:p>
            <a:pPr algn="ctr"/>
            <a:r>
              <a:rPr lang="mn-MN" sz="900" b="1" i="1">
                <a:cs typeface="Segoe UI" panose="020B0502040204020203" pitchFamily="34" charset="0"/>
              </a:rPr>
              <a:t>ХАРИЛЦАГЧ</a:t>
            </a:r>
            <a:endParaRPr lang="en-US" sz="900" b="1" i="1">
              <a:cs typeface="Segoe UI" panose="020B0502040204020203" pitchFamily="34" charset="0"/>
            </a:endParaRPr>
          </a:p>
        </p:txBody>
      </p:sp>
      <p:sp>
        <p:nvSpPr>
          <p:cNvPr id="10" name="Rectangle: Rounded Corners 9">
            <a:extLst>
              <a:ext uri="{FF2B5EF4-FFF2-40B4-BE49-F238E27FC236}">
                <a16:creationId xmlns:a16="http://schemas.microsoft.com/office/drawing/2014/main" id="{2856EC06-CD4D-EDC0-B273-1348C038A9AD}"/>
              </a:ext>
            </a:extLst>
          </p:cNvPr>
          <p:cNvSpPr/>
          <p:nvPr/>
        </p:nvSpPr>
        <p:spPr>
          <a:xfrm>
            <a:off x="9784806" y="5862537"/>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en-US" sz="1200" b="0" i="0" u="none" strike="noStrike">
                <a:solidFill>
                  <a:srgbClr val="000000"/>
                </a:solidFill>
                <a:effectLst/>
                <a:latin typeface="Aptos Narrow" panose="020B0004020202020204" pitchFamily="34" charset="0"/>
              </a:rPr>
              <a:t>41,8</a:t>
            </a:r>
            <a:r>
              <a:rPr lang="mn-MN" sz="1200" b="0" i="0" u="none" strike="noStrike">
                <a:solidFill>
                  <a:srgbClr val="000000"/>
                </a:solidFill>
                <a:effectLst/>
                <a:latin typeface="Aptos Narrow" panose="020B0004020202020204" pitchFamily="34" charset="0"/>
              </a:rPr>
              <a:t> </a:t>
            </a:r>
            <a:r>
              <a:rPr lang="mn-MN" sz="1200">
                <a:solidFill>
                  <a:srgbClr val="000000"/>
                </a:solidFill>
                <a:latin typeface="Aptos Narrow" panose="020B0004020202020204" pitchFamily="34" charset="0"/>
              </a:rPr>
              <a:t>Тэрбум</a:t>
            </a:r>
            <a:endParaRPr lang="en-US" sz="1000">
              <a:solidFill>
                <a:schemeClr val="tx1"/>
              </a:solidFill>
              <a:cs typeface="Segoe UI" panose="020B0502040204020203" pitchFamily="34" charset="0"/>
            </a:endParaRPr>
          </a:p>
        </p:txBody>
      </p:sp>
      <p:pic>
        <p:nvPicPr>
          <p:cNvPr id="11" name="Picture 10">
            <a:extLst>
              <a:ext uri="{FF2B5EF4-FFF2-40B4-BE49-F238E27FC236}">
                <a16:creationId xmlns:a16="http://schemas.microsoft.com/office/drawing/2014/main" id="{CACE3BDB-67B1-2BC0-0CBE-7ADA64A1B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6001" y="5789696"/>
            <a:ext cx="157610" cy="157610"/>
          </a:xfrm>
          <a:prstGeom prst="rect">
            <a:avLst/>
          </a:prstGeom>
        </p:spPr>
      </p:pic>
      <p:sp>
        <p:nvSpPr>
          <p:cNvPr id="12" name="TextBox 11">
            <a:extLst>
              <a:ext uri="{FF2B5EF4-FFF2-40B4-BE49-F238E27FC236}">
                <a16:creationId xmlns:a16="http://schemas.microsoft.com/office/drawing/2014/main" id="{07E64971-77D0-403B-754E-68155DBA80AC}"/>
              </a:ext>
            </a:extLst>
          </p:cNvPr>
          <p:cNvSpPr txBox="1"/>
          <p:nvPr/>
        </p:nvSpPr>
        <p:spPr>
          <a:xfrm>
            <a:off x="10027144" y="5645033"/>
            <a:ext cx="1127298" cy="230832"/>
          </a:xfrm>
          <a:prstGeom prst="rect">
            <a:avLst/>
          </a:prstGeom>
          <a:noFill/>
        </p:spPr>
        <p:txBody>
          <a:bodyPr wrap="square" rtlCol="0">
            <a:spAutoFit/>
          </a:bodyPr>
          <a:lstStyle/>
          <a:p>
            <a:pPr algn="ctr"/>
            <a:r>
              <a:rPr lang="mn-MN" sz="900" b="1" i="1">
                <a:cs typeface="Segoe UI" panose="020B0502040204020203" pitchFamily="34" charset="0"/>
              </a:rPr>
              <a:t>ҮЛДЭГДЭЛ</a:t>
            </a:r>
            <a:endParaRPr lang="en-US" sz="900" b="1" i="1">
              <a:cs typeface="Segoe UI" panose="020B0502040204020203" pitchFamily="34" charset="0"/>
            </a:endParaRPr>
          </a:p>
        </p:txBody>
      </p:sp>
      <p:graphicFrame>
        <p:nvGraphicFramePr>
          <p:cNvPr id="13" name="Chart 12">
            <a:extLst>
              <a:ext uri="{FF2B5EF4-FFF2-40B4-BE49-F238E27FC236}">
                <a16:creationId xmlns:a16="http://schemas.microsoft.com/office/drawing/2014/main" id="{0AEE67BD-58E2-B680-9DE5-F2F3B4955CDC}"/>
              </a:ext>
            </a:extLst>
          </p:cNvPr>
          <p:cNvGraphicFramePr>
            <a:graphicFrameLocks/>
          </p:cNvGraphicFramePr>
          <p:nvPr>
            <p:extLst>
              <p:ext uri="{D42A27DB-BD31-4B8C-83A1-F6EECF244321}">
                <p14:modId xmlns:p14="http://schemas.microsoft.com/office/powerpoint/2010/main" val="1207423005"/>
              </p:ext>
            </p:extLst>
          </p:nvPr>
        </p:nvGraphicFramePr>
        <p:xfrm>
          <a:off x="5568641" y="4806599"/>
          <a:ext cx="3895022" cy="1562999"/>
        </p:xfrm>
        <a:graphic>
          <a:graphicData uri="http://schemas.openxmlformats.org/drawingml/2006/chart">
            <c:chart xmlns:c="http://schemas.openxmlformats.org/drawingml/2006/chart" xmlns:r="http://schemas.openxmlformats.org/officeDocument/2006/relationships" r:id="rId5"/>
          </a:graphicData>
        </a:graphic>
      </p:graphicFrame>
      <p:sp>
        <p:nvSpPr>
          <p:cNvPr id="14" name="Rectangle 13">
            <a:extLst>
              <a:ext uri="{FF2B5EF4-FFF2-40B4-BE49-F238E27FC236}">
                <a16:creationId xmlns:a16="http://schemas.microsoft.com/office/drawing/2014/main" id="{62D06251-2310-6AE8-AD76-A1B20B467068}"/>
              </a:ext>
            </a:extLst>
          </p:cNvPr>
          <p:cNvSpPr/>
          <p:nvPr/>
        </p:nvSpPr>
        <p:spPr>
          <a:xfrm>
            <a:off x="5440452" y="4344191"/>
            <a:ext cx="4712962" cy="276999"/>
          </a:xfrm>
          <a:prstGeom prst="rect">
            <a:avLst/>
          </a:prstGeom>
        </p:spPr>
        <p:txBody>
          <a:bodyPr wrap="square" anchor="ctr">
            <a:spAutoFit/>
          </a:bodyPr>
          <a:lstStyle/>
          <a:p>
            <a:r>
              <a:rPr lang="mn-MN" sz="1200" b="1">
                <a:solidFill>
                  <a:srgbClr val="002060"/>
                </a:solidFill>
                <a:cs typeface="Segoe UI" panose="020B0502040204020203" pitchFamily="34" charset="0"/>
              </a:rPr>
              <a:t>График </a:t>
            </a:r>
            <a:r>
              <a:rPr lang="en-US" sz="1200" b="1">
                <a:solidFill>
                  <a:srgbClr val="002060"/>
                </a:solidFill>
                <a:cs typeface="Segoe UI" panose="020B0502040204020203" pitchFamily="34" charset="0"/>
              </a:rPr>
              <a:t>2</a:t>
            </a:r>
            <a:r>
              <a:rPr lang="mn-MN" sz="1200" b="1" i="1">
                <a:solidFill>
                  <a:srgbClr val="002060"/>
                </a:solidFill>
                <a:cs typeface="Segoe UI" panose="020B0502040204020203" pitchFamily="34" charset="0"/>
              </a:rPr>
              <a:t>. Олгосон зээлийн хуваарилалт </a:t>
            </a:r>
            <a:r>
              <a:rPr lang="en-US" sz="1200" b="1" i="1">
                <a:solidFill>
                  <a:srgbClr val="002060"/>
                </a:solidFill>
                <a:cs typeface="Segoe UI" panose="020B0502040204020203" pitchFamily="34" charset="0"/>
              </a:rPr>
              <a:t>/</a:t>
            </a:r>
            <a:r>
              <a:rPr lang="mn-MN" sz="1200" b="1" i="1">
                <a:solidFill>
                  <a:srgbClr val="002060"/>
                </a:solidFill>
                <a:cs typeface="Segoe UI" panose="020B0502040204020203" pitchFamily="34" charset="0"/>
              </a:rPr>
              <a:t>сая₮</a:t>
            </a:r>
            <a:r>
              <a:rPr lang="en-US" sz="1200" b="1" i="1">
                <a:solidFill>
                  <a:srgbClr val="002060"/>
                </a:solidFill>
                <a:cs typeface="Segoe UI" panose="020B0502040204020203" pitchFamily="34" charset="0"/>
              </a:rPr>
              <a:t>/</a:t>
            </a:r>
            <a:r>
              <a:rPr lang="mn-MN" sz="1200" b="1" i="1">
                <a:solidFill>
                  <a:srgbClr val="002060"/>
                </a:solidFill>
                <a:cs typeface="Segoe UI" panose="020B0502040204020203" pitchFamily="34" charset="0"/>
              </a:rPr>
              <a:t>  </a:t>
            </a:r>
            <a:endParaRPr lang="en-US" sz="1200" b="1" i="1" dirty="0">
              <a:solidFill>
                <a:srgbClr val="002060"/>
              </a:solidFill>
              <a:cs typeface="Segoe UI" panose="020B0502040204020203" pitchFamily="34" charset="0"/>
            </a:endParaRPr>
          </a:p>
        </p:txBody>
      </p:sp>
    </p:spTree>
    <p:extLst>
      <p:ext uri="{BB962C8B-B14F-4D97-AF65-F5344CB8AC3E}">
        <p14:creationId xmlns:p14="http://schemas.microsoft.com/office/powerpoint/2010/main" val="2309317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5" name="Straight Connector 94">
            <a:extLst>
              <a:ext uri="{FF2B5EF4-FFF2-40B4-BE49-F238E27FC236}">
                <a16:creationId xmlns:a16="http://schemas.microsoft.com/office/drawing/2014/main" id="{F66AEC6F-16A7-4E1D-A78B-7E4FA054B3F4}"/>
              </a:ext>
            </a:extLst>
          </p:cNvPr>
          <p:cNvCxnSpPr>
            <a:cxnSpLocks/>
          </p:cNvCxnSpPr>
          <p:nvPr/>
        </p:nvCxnSpPr>
        <p:spPr>
          <a:xfrm>
            <a:off x="0" y="8686800"/>
            <a:ext cx="12192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8BDB6C2B-A786-4F38-95DE-D44794A824E8}"/>
              </a:ext>
            </a:extLst>
          </p:cNvPr>
          <p:cNvGrpSpPr/>
          <p:nvPr/>
        </p:nvGrpSpPr>
        <p:grpSpPr>
          <a:xfrm>
            <a:off x="430861" y="2519427"/>
            <a:ext cx="1763584" cy="1429854"/>
            <a:chOff x="461390" y="1489366"/>
            <a:chExt cx="1763584" cy="1429854"/>
          </a:xfrm>
        </p:grpSpPr>
        <p:sp>
          <p:nvSpPr>
            <p:cNvPr id="46" name="Rectangle: Rounded Corners 45">
              <a:extLst>
                <a:ext uri="{FF2B5EF4-FFF2-40B4-BE49-F238E27FC236}">
                  <a16:creationId xmlns:a16="http://schemas.microsoft.com/office/drawing/2014/main" id="{82FB4954-0EA7-4C3B-ACD6-BD6E26E2E48D}"/>
                </a:ext>
              </a:extLst>
            </p:cNvPr>
            <p:cNvSpPr/>
            <p:nvPr/>
          </p:nvSpPr>
          <p:spPr>
            <a:xfrm>
              <a:off x="461390" y="1489366"/>
              <a:ext cx="1763584" cy="1429854"/>
            </a:xfrm>
            <a:prstGeom prst="roundRect">
              <a:avLst>
                <a:gd name="adj" fmla="val 777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Segoe UI Light" panose="020B0502040204020203" pitchFamily="34" charset="0"/>
              </a:endParaRPr>
            </a:p>
          </p:txBody>
        </p:sp>
        <p:sp>
          <p:nvSpPr>
            <p:cNvPr id="3" name="Rectangle 2">
              <a:extLst>
                <a:ext uri="{FF2B5EF4-FFF2-40B4-BE49-F238E27FC236}">
                  <a16:creationId xmlns:a16="http://schemas.microsoft.com/office/drawing/2014/main" id="{56AFE28F-36AD-4397-8454-E4BC098DA2BF}"/>
                </a:ext>
              </a:extLst>
            </p:cNvPr>
            <p:cNvSpPr/>
            <p:nvPr/>
          </p:nvSpPr>
          <p:spPr>
            <a:xfrm>
              <a:off x="523279" y="2043339"/>
              <a:ext cx="1629352" cy="246221"/>
            </a:xfrm>
            <a:prstGeom prst="rect">
              <a:avLst/>
            </a:prstGeom>
          </p:spPr>
          <p:txBody>
            <a:bodyPr wrap="square">
              <a:spAutoFit/>
            </a:bodyPr>
            <a:lstStyle/>
            <a:p>
              <a:pPr algn="ctr"/>
              <a:r>
                <a:rPr lang="mn-MN" sz="1000" b="1">
                  <a:solidFill>
                    <a:schemeClr val="bg1"/>
                  </a:solidFill>
                  <a:cs typeface="Segoe UI Light" panose="020B0502040204020203" pitchFamily="34" charset="0"/>
                </a:rPr>
                <a:t>ОРОЛЦОГЧ </a:t>
              </a:r>
              <a:r>
                <a:rPr lang="mn-MN" sz="1000" b="1" dirty="0">
                  <a:solidFill>
                    <a:schemeClr val="bg1"/>
                  </a:solidFill>
                  <a:cs typeface="Segoe UI Light" panose="020B0502040204020203" pitchFamily="34" charset="0"/>
                </a:rPr>
                <a:t>ТАЛУУД</a:t>
              </a:r>
              <a:endParaRPr lang="en-US" sz="1000" b="1" dirty="0">
                <a:solidFill>
                  <a:schemeClr val="bg1"/>
                </a:solidFill>
                <a:cs typeface="Segoe UI Light" panose="020B0502040204020203" pitchFamily="34" charset="0"/>
              </a:endParaRPr>
            </a:p>
          </p:txBody>
        </p:sp>
      </p:grpSp>
      <p:grpSp>
        <p:nvGrpSpPr>
          <p:cNvPr id="27" name="Group 26">
            <a:extLst>
              <a:ext uri="{FF2B5EF4-FFF2-40B4-BE49-F238E27FC236}">
                <a16:creationId xmlns:a16="http://schemas.microsoft.com/office/drawing/2014/main" id="{791A060C-3542-4DE8-8A32-38B4E93F01A2}"/>
              </a:ext>
            </a:extLst>
          </p:cNvPr>
          <p:cNvGrpSpPr/>
          <p:nvPr/>
        </p:nvGrpSpPr>
        <p:grpSpPr>
          <a:xfrm>
            <a:off x="430861" y="4120423"/>
            <a:ext cx="1763584" cy="1429854"/>
            <a:chOff x="419732" y="3037472"/>
            <a:chExt cx="1763584" cy="1429854"/>
          </a:xfrm>
        </p:grpSpPr>
        <p:sp>
          <p:nvSpPr>
            <p:cNvPr id="47" name="Rectangle: Rounded Corners 46">
              <a:extLst>
                <a:ext uri="{FF2B5EF4-FFF2-40B4-BE49-F238E27FC236}">
                  <a16:creationId xmlns:a16="http://schemas.microsoft.com/office/drawing/2014/main" id="{F1E3641F-C322-4DE3-B917-2EC403EEC159}"/>
                </a:ext>
              </a:extLst>
            </p:cNvPr>
            <p:cNvSpPr/>
            <p:nvPr/>
          </p:nvSpPr>
          <p:spPr>
            <a:xfrm>
              <a:off x="419732" y="3037472"/>
              <a:ext cx="1763584" cy="1429854"/>
            </a:xfrm>
            <a:prstGeom prst="roundRect">
              <a:avLst>
                <a:gd name="adj" fmla="val 731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Segoe UI Light" panose="020B0502040204020203" pitchFamily="34" charset="0"/>
              </a:endParaRPr>
            </a:p>
          </p:txBody>
        </p:sp>
        <p:sp>
          <p:nvSpPr>
            <p:cNvPr id="57" name="Rectangle 56">
              <a:extLst>
                <a:ext uri="{FF2B5EF4-FFF2-40B4-BE49-F238E27FC236}">
                  <a16:creationId xmlns:a16="http://schemas.microsoft.com/office/drawing/2014/main" id="{5CA5441D-6B7B-49F8-90C6-9E1F409C363B}"/>
                </a:ext>
              </a:extLst>
            </p:cNvPr>
            <p:cNvSpPr/>
            <p:nvPr/>
          </p:nvSpPr>
          <p:spPr>
            <a:xfrm>
              <a:off x="419732" y="3683042"/>
              <a:ext cx="1759803" cy="246221"/>
            </a:xfrm>
            <a:prstGeom prst="rect">
              <a:avLst/>
            </a:prstGeom>
          </p:spPr>
          <p:txBody>
            <a:bodyPr wrap="square">
              <a:spAutoFit/>
            </a:bodyPr>
            <a:lstStyle/>
            <a:p>
              <a:pPr algn="ctr"/>
              <a:r>
                <a:rPr lang="mn-MN" sz="1000" b="1" dirty="0">
                  <a:solidFill>
                    <a:schemeClr val="bg1"/>
                  </a:solidFill>
                  <a:cs typeface="Segoe UI Light" panose="020B0502040204020203" pitchFamily="34" charset="0"/>
                </a:rPr>
                <a:t>ҮР АШИГ</a:t>
              </a:r>
            </a:p>
          </p:txBody>
        </p:sp>
      </p:grpSp>
      <p:grpSp>
        <p:nvGrpSpPr>
          <p:cNvPr id="29" name="Group 28">
            <a:extLst>
              <a:ext uri="{FF2B5EF4-FFF2-40B4-BE49-F238E27FC236}">
                <a16:creationId xmlns:a16="http://schemas.microsoft.com/office/drawing/2014/main" id="{B87B54EE-AAE1-4C1E-9600-0C97F26C0AD4}"/>
              </a:ext>
            </a:extLst>
          </p:cNvPr>
          <p:cNvGrpSpPr/>
          <p:nvPr/>
        </p:nvGrpSpPr>
        <p:grpSpPr>
          <a:xfrm>
            <a:off x="425556" y="1759611"/>
            <a:ext cx="1763584" cy="619154"/>
            <a:chOff x="461390" y="5061353"/>
            <a:chExt cx="1763584" cy="619154"/>
          </a:xfrm>
        </p:grpSpPr>
        <p:sp>
          <p:nvSpPr>
            <p:cNvPr id="49" name="Rectangle: Rounded Corners 48">
              <a:extLst>
                <a:ext uri="{FF2B5EF4-FFF2-40B4-BE49-F238E27FC236}">
                  <a16:creationId xmlns:a16="http://schemas.microsoft.com/office/drawing/2014/main" id="{EDDB4A70-D164-4D26-AF4B-A71B933F2CF1}"/>
                </a:ext>
              </a:extLst>
            </p:cNvPr>
            <p:cNvSpPr/>
            <p:nvPr/>
          </p:nvSpPr>
          <p:spPr>
            <a:xfrm>
              <a:off x="461390" y="5061353"/>
              <a:ext cx="1763584" cy="619154"/>
            </a:xfrm>
            <a:prstGeom prst="roundRect">
              <a:avLst>
                <a:gd name="adj" fmla="val 145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Segoe UI Light" panose="020B0502040204020203" pitchFamily="34" charset="0"/>
              </a:endParaRPr>
            </a:p>
          </p:txBody>
        </p:sp>
        <p:sp>
          <p:nvSpPr>
            <p:cNvPr id="59" name="Rectangle 58">
              <a:extLst>
                <a:ext uri="{FF2B5EF4-FFF2-40B4-BE49-F238E27FC236}">
                  <a16:creationId xmlns:a16="http://schemas.microsoft.com/office/drawing/2014/main" id="{6DFC2CE6-30E1-484A-BD09-4285C0FF9268}"/>
                </a:ext>
              </a:extLst>
            </p:cNvPr>
            <p:cNvSpPr/>
            <p:nvPr/>
          </p:nvSpPr>
          <p:spPr>
            <a:xfrm>
              <a:off x="523279" y="5247820"/>
              <a:ext cx="1629352" cy="246221"/>
            </a:xfrm>
            <a:prstGeom prst="rect">
              <a:avLst/>
            </a:prstGeom>
          </p:spPr>
          <p:txBody>
            <a:bodyPr wrap="square">
              <a:spAutoFit/>
            </a:bodyPr>
            <a:lstStyle/>
            <a:p>
              <a:pPr algn="ctr"/>
              <a:r>
                <a:rPr lang="mn-MN" sz="1000" b="1" dirty="0">
                  <a:solidFill>
                    <a:schemeClr val="bg1"/>
                  </a:solidFill>
                  <a:cs typeface="Segoe UI Light" panose="020B0502040204020203" pitchFamily="34" charset="0"/>
                </a:rPr>
                <a:t>ЗОРИЛТОТ СЕГМЕНТ</a:t>
              </a:r>
            </a:p>
          </p:txBody>
        </p:sp>
      </p:grpSp>
      <p:grpSp>
        <p:nvGrpSpPr>
          <p:cNvPr id="30" name="Group 29">
            <a:extLst>
              <a:ext uri="{FF2B5EF4-FFF2-40B4-BE49-F238E27FC236}">
                <a16:creationId xmlns:a16="http://schemas.microsoft.com/office/drawing/2014/main" id="{BF3CC3E9-A2DA-471D-87C2-A0BCF57FBC51}"/>
              </a:ext>
            </a:extLst>
          </p:cNvPr>
          <p:cNvGrpSpPr/>
          <p:nvPr/>
        </p:nvGrpSpPr>
        <p:grpSpPr>
          <a:xfrm>
            <a:off x="426235" y="5716618"/>
            <a:ext cx="1763584" cy="830995"/>
            <a:chOff x="461390" y="5732476"/>
            <a:chExt cx="1763584" cy="830995"/>
          </a:xfrm>
        </p:grpSpPr>
        <p:sp>
          <p:nvSpPr>
            <p:cNvPr id="50" name="Rectangle: Rounded Corners 49">
              <a:extLst>
                <a:ext uri="{FF2B5EF4-FFF2-40B4-BE49-F238E27FC236}">
                  <a16:creationId xmlns:a16="http://schemas.microsoft.com/office/drawing/2014/main" id="{1D78882A-E329-44E4-9F4C-ADBD66AD6FD3}"/>
                </a:ext>
              </a:extLst>
            </p:cNvPr>
            <p:cNvSpPr/>
            <p:nvPr/>
          </p:nvSpPr>
          <p:spPr>
            <a:xfrm>
              <a:off x="461390" y="5732476"/>
              <a:ext cx="1763584" cy="830995"/>
            </a:xfrm>
            <a:prstGeom prst="roundRect">
              <a:avLst>
                <a:gd name="adj" fmla="val 1222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Segoe UI Light" panose="020B0502040204020203" pitchFamily="34" charset="0"/>
              </a:endParaRPr>
            </a:p>
          </p:txBody>
        </p:sp>
        <p:sp>
          <p:nvSpPr>
            <p:cNvPr id="60" name="Rectangle 59">
              <a:extLst>
                <a:ext uri="{FF2B5EF4-FFF2-40B4-BE49-F238E27FC236}">
                  <a16:creationId xmlns:a16="http://schemas.microsoft.com/office/drawing/2014/main" id="{9BCA0078-9702-41EA-8E80-409F445E0E01}"/>
                </a:ext>
              </a:extLst>
            </p:cNvPr>
            <p:cNvSpPr/>
            <p:nvPr/>
          </p:nvSpPr>
          <p:spPr>
            <a:xfrm>
              <a:off x="523279" y="5947918"/>
              <a:ext cx="1629352" cy="400110"/>
            </a:xfrm>
            <a:prstGeom prst="rect">
              <a:avLst/>
            </a:prstGeom>
          </p:spPr>
          <p:txBody>
            <a:bodyPr wrap="square">
              <a:spAutoFit/>
            </a:bodyPr>
            <a:lstStyle/>
            <a:p>
              <a:pPr algn="ctr"/>
              <a:r>
                <a:rPr lang="mn-MN" sz="1000" b="1" dirty="0">
                  <a:solidFill>
                    <a:schemeClr val="bg1"/>
                  </a:solidFill>
                  <a:cs typeface="Segoe UI Light" panose="020B0502040204020203" pitchFamily="34" charset="0"/>
                </a:rPr>
                <a:t>ХАРИЛЦАГЧИД ХҮРГЭХ ҮНЭ ЦЭНЭ</a:t>
              </a:r>
            </a:p>
          </p:txBody>
        </p:sp>
      </p:grpSp>
      <p:grpSp>
        <p:nvGrpSpPr>
          <p:cNvPr id="32" name="Group 31">
            <a:extLst>
              <a:ext uri="{FF2B5EF4-FFF2-40B4-BE49-F238E27FC236}">
                <a16:creationId xmlns:a16="http://schemas.microsoft.com/office/drawing/2014/main" id="{1A1F758F-9FB7-4988-A345-210ABB82ACA7}"/>
              </a:ext>
            </a:extLst>
          </p:cNvPr>
          <p:cNvGrpSpPr/>
          <p:nvPr/>
        </p:nvGrpSpPr>
        <p:grpSpPr>
          <a:xfrm>
            <a:off x="2365611" y="999364"/>
            <a:ext cx="9400833" cy="614436"/>
            <a:chOff x="2359787" y="4555014"/>
            <a:chExt cx="9400833" cy="694265"/>
          </a:xfrm>
        </p:grpSpPr>
        <p:sp>
          <p:nvSpPr>
            <p:cNvPr id="53" name="Rectangle: Rounded Corners 52">
              <a:extLst>
                <a:ext uri="{FF2B5EF4-FFF2-40B4-BE49-F238E27FC236}">
                  <a16:creationId xmlns:a16="http://schemas.microsoft.com/office/drawing/2014/main" id="{22C969FD-8F96-4504-AF68-8DBD9260CDF3}"/>
                </a:ext>
              </a:extLst>
            </p:cNvPr>
            <p:cNvSpPr/>
            <p:nvPr/>
          </p:nvSpPr>
          <p:spPr>
            <a:xfrm>
              <a:off x="2359787" y="4555014"/>
              <a:ext cx="9400833" cy="694265"/>
            </a:xfrm>
            <a:prstGeom prst="roundRect">
              <a:avLst>
                <a:gd name="adj" fmla="val 16063"/>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Segoe UI Light" panose="020B0502040204020203" pitchFamily="34" charset="0"/>
              </a:endParaRPr>
            </a:p>
          </p:txBody>
        </p:sp>
        <p:sp>
          <p:nvSpPr>
            <p:cNvPr id="11" name="Rectangle 10">
              <a:extLst>
                <a:ext uri="{FF2B5EF4-FFF2-40B4-BE49-F238E27FC236}">
                  <a16:creationId xmlns:a16="http://schemas.microsoft.com/office/drawing/2014/main" id="{29953A52-1AA7-444B-890A-3588E688F267}"/>
                </a:ext>
              </a:extLst>
            </p:cNvPr>
            <p:cNvSpPr/>
            <p:nvPr/>
          </p:nvSpPr>
          <p:spPr>
            <a:xfrm>
              <a:off x="2452066" y="4649409"/>
              <a:ext cx="9029151" cy="521646"/>
            </a:xfrm>
            <a:prstGeom prst="rect">
              <a:avLst/>
            </a:prstGeom>
          </p:spPr>
          <p:txBody>
            <a:bodyPr wrap="square">
              <a:spAutoFit/>
            </a:bodyPr>
            <a:lstStyle/>
            <a:p>
              <a:pPr marL="171450" indent="-171450">
                <a:buClr>
                  <a:srgbClr val="0070C0"/>
                </a:buClr>
                <a:buFont typeface="Arial" panose="020B0604020202020204" pitchFamily="34" charset="0"/>
                <a:buChar char="•"/>
              </a:pPr>
              <a:r>
                <a:rPr lang="mn-MN" sz="1200">
                  <a:effectLst/>
                  <a:cs typeface="Segoe UI Light" panose="020B0502040204020203" pitchFamily="34" charset="0"/>
                </a:rPr>
                <a:t>Франчайзын эрх худалдан авч, шинэ салбар нээх ЖДҮ эрхлэгчдийн хөрөнгө оруулалт болон эхний үеийн санхүүжилтийг АХБ-ны эх үүсвэр, ЗБДС-ийн батлан даалтаар дэмжих зээлийн бүтээгдэхүүн.</a:t>
              </a:r>
              <a:endParaRPr lang="mn-MN" sz="1200" dirty="0">
                <a:cs typeface="Segoe UI Light" panose="020B0502040204020203" pitchFamily="34" charset="0"/>
              </a:endParaRPr>
            </a:p>
          </p:txBody>
        </p:sp>
      </p:grpSp>
      <p:grpSp>
        <p:nvGrpSpPr>
          <p:cNvPr id="33" name="Group 32">
            <a:extLst>
              <a:ext uri="{FF2B5EF4-FFF2-40B4-BE49-F238E27FC236}">
                <a16:creationId xmlns:a16="http://schemas.microsoft.com/office/drawing/2014/main" id="{ECD1B62E-97D1-484B-B44F-4539915A4E08}"/>
              </a:ext>
            </a:extLst>
          </p:cNvPr>
          <p:cNvGrpSpPr/>
          <p:nvPr/>
        </p:nvGrpSpPr>
        <p:grpSpPr>
          <a:xfrm>
            <a:off x="2365611" y="1759611"/>
            <a:ext cx="9415249" cy="619154"/>
            <a:chOff x="2352579" y="5078480"/>
            <a:chExt cx="9415249" cy="619154"/>
          </a:xfrm>
        </p:grpSpPr>
        <p:sp>
          <p:nvSpPr>
            <p:cNvPr id="54" name="Rectangle: Rounded Corners 53">
              <a:extLst>
                <a:ext uri="{FF2B5EF4-FFF2-40B4-BE49-F238E27FC236}">
                  <a16:creationId xmlns:a16="http://schemas.microsoft.com/office/drawing/2014/main" id="{78A52034-8E16-43AE-BF45-7CEA7D2EC320}"/>
                </a:ext>
              </a:extLst>
            </p:cNvPr>
            <p:cNvSpPr/>
            <p:nvPr/>
          </p:nvSpPr>
          <p:spPr>
            <a:xfrm>
              <a:off x="2352579" y="5078480"/>
              <a:ext cx="9415249" cy="619154"/>
            </a:xfrm>
            <a:prstGeom prst="roundRect">
              <a:avLst>
                <a:gd name="adj" fmla="val 15892"/>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cs typeface="Segoe UI Light" panose="020B0502040204020203" pitchFamily="34" charset="0"/>
              </a:endParaRPr>
            </a:p>
          </p:txBody>
        </p:sp>
        <p:sp>
          <p:nvSpPr>
            <p:cNvPr id="63" name="Rectangle 62">
              <a:extLst>
                <a:ext uri="{FF2B5EF4-FFF2-40B4-BE49-F238E27FC236}">
                  <a16:creationId xmlns:a16="http://schemas.microsoft.com/office/drawing/2014/main" id="{40F84096-0859-46E9-8D2F-1FD3CD654C0E}"/>
                </a:ext>
              </a:extLst>
            </p:cNvPr>
            <p:cNvSpPr/>
            <p:nvPr/>
          </p:nvSpPr>
          <p:spPr>
            <a:xfrm>
              <a:off x="2445512" y="5138268"/>
              <a:ext cx="9028497" cy="461665"/>
            </a:xfrm>
            <a:prstGeom prst="rect">
              <a:avLst/>
            </a:prstGeom>
          </p:spPr>
          <p:txBody>
            <a:bodyPr wrap="square">
              <a:spAutoFit/>
            </a:bodyPr>
            <a:lstStyle/>
            <a:p>
              <a:pPr marL="171450" indent="-171450">
                <a:buClr>
                  <a:srgbClr val="0070C0"/>
                </a:buClr>
                <a:buFont typeface="Arial" panose="020B0604020202020204" pitchFamily="34" charset="0"/>
                <a:buChar char="•"/>
              </a:pPr>
              <a:r>
                <a:rPr lang="en-US" sz="1200">
                  <a:cs typeface="Segoe UI Light" panose="020B0502040204020203" pitchFamily="34" charset="0"/>
                </a:rPr>
                <a:t>Mom’s Touch, Caffe Bene </a:t>
              </a:r>
              <a:r>
                <a:rPr lang="mn-MN" sz="1200">
                  <a:cs typeface="Segoe UI Light" panose="020B0502040204020203" pitchFamily="34" charset="0"/>
                </a:rPr>
                <a:t>болон цаашид хамтран ажиллах бусад брэндийн франчайзын эрхээр шинэ салбар нээх, барьцаа хөрөнгийн дутагдалтай ЖДҮ эрхлэгчид.</a:t>
              </a:r>
              <a:endParaRPr lang="mn-MN" sz="1200" dirty="0">
                <a:cs typeface="Segoe UI Light" panose="020B0502040204020203" pitchFamily="34" charset="0"/>
              </a:endParaRPr>
            </a:p>
          </p:txBody>
        </p:sp>
      </p:grpSp>
      <p:grpSp>
        <p:nvGrpSpPr>
          <p:cNvPr id="34" name="Group 33">
            <a:extLst>
              <a:ext uri="{FF2B5EF4-FFF2-40B4-BE49-F238E27FC236}">
                <a16:creationId xmlns:a16="http://schemas.microsoft.com/office/drawing/2014/main" id="{0BDD0B09-A30F-4706-BBB5-1AB7EC15A86D}"/>
              </a:ext>
            </a:extLst>
          </p:cNvPr>
          <p:cNvGrpSpPr/>
          <p:nvPr/>
        </p:nvGrpSpPr>
        <p:grpSpPr>
          <a:xfrm>
            <a:off x="2343276" y="5712954"/>
            <a:ext cx="9415249" cy="840713"/>
            <a:chOff x="2352579" y="5745593"/>
            <a:chExt cx="9415249" cy="840713"/>
          </a:xfrm>
        </p:grpSpPr>
        <p:sp>
          <p:nvSpPr>
            <p:cNvPr id="55" name="Rectangle: Rounded Corners 54">
              <a:extLst>
                <a:ext uri="{FF2B5EF4-FFF2-40B4-BE49-F238E27FC236}">
                  <a16:creationId xmlns:a16="http://schemas.microsoft.com/office/drawing/2014/main" id="{0392974C-36A8-4F4E-AE8E-9493170573D8}"/>
                </a:ext>
              </a:extLst>
            </p:cNvPr>
            <p:cNvSpPr/>
            <p:nvPr/>
          </p:nvSpPr>
          <p:spPr>
            <a:xfrm>
              <a:off x="2352579" y="5755311"/>
              <a:ext cx="9415249" cy="830995"/>
            </a:xfrm>
            <a:prstGeom prst="roundRect">
              <a:avLst>
                <a:gd name="adj" fmla="val 13274"/>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Segoe UI Light" panose="020B0502040204020203" pitchFamily="34" charset="0"/>
              </a:endParaRPr>
            </a:p>
          </p:txBody>
        </p:sp>
        <p:grpSp>
          <p:nvGrpSpPr>
            <p:cNvPr id="12" name="Group 11">
              <a:extLst>
                <a:ext uri="{FF2B5EF4-FFF2-40B4-BE49-F238E27FC236}">
                  <a16:creationId xmlns:a16="http://schemas.microsoft.com/office/drawing/2014/main" id="{324067A2-0CFD-4D8D-B2D1-9137882506EE}"/>
                </a:ext>
              </a:extLst>
            </p:cNvPr>
            <p:cNvGrpSpPr/>
            <p:nvPr/>
          </p:nvGrpSpPr>
          <p:grpSpPr>
            <a:xfrm>
              <a:off x="9768088" y="5745593"/>
              <a:ext cx="1833885" cy="760885"/>
              <a:chOff x="9768088" y="5734993"/>
              <a:chExt cx="1833885" cy="760885"/>
            </a:xfrm>
          </p:grpSpPr>
          <p:sp>
            <p:nvSpPr>
              <p:cNvPr id="103" name="Rectangle: Rounded Corners 102">
                <a:extLst>
                  <a:ext uri="{FF2B5EF4-FFF2-40B4-BE49-F238E27FC236}">
                    <a16:creationId xmlns:a16="http://schemas.microsoft.com/office/drawing/2014/main" id="{D9250B70-A77A-4B10-8321-48FC0EDFE0B2}"/>
                  </a:ext>
                </a:extLst>
              </p:cNvPr>
              <p:cNvSpPr/>
              <p:nvPr/>
            </p:nvSpPr>
            <p:spPr>
              <a:xfrm>
                <a:off x="9933496" y="5877051"/>
                <a:ext cx="1668477" cy="61882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1200">
                    <a:solidFill>
                      <a:schemeClr val="tx1">
                        <a:lumMod val="75000"/>
                        <a:lumOff val="25000"/>
                      </a:schemeClr>
                    </a:solidFill>
                    <a:cs typeface="Segoe UI Light" panose="020B0502040204020203" pitchFamily="34" charset="0"/>
                  </a:rPr>
                  <a:t>Батлагдсан бизнесийн загвар</a:t>
                </a:r>
                <a:endParaRPr lang="en-US" sz="1200" dirty="0">
                  <a:solidFill>
                    <a:schemeClr val="tx1">
                      <a:lumMod val="75000"/>
                      <a:lumOff val="25000"/>
                    </a:schemeClr>
                  </a:solidFill>
                  <a:cs typeface="Segoe UI Light" panose="020B0502040204020203" pitchFamily="34" charset="0"/>
                </a:endParaRPr>
              </a:p>
            </p:txBody>
          </p:sp>
          <p:sp>
            <p:nvSpPr>
              <p:cNvPr id="104" name="Rectangle 103">
                <a:extLst>
                  <a:ext uri="{FF2B5EF4-FFF2-40B4-BE49-F238E27FC236}">
                    <a16:creationId xmlns:a16="http://schemas.microsoft.com/office/drawing/2014/main" id="{DB9A59C7-09CB-41DC-B09F-C91B0A9A07A8}"/>
                  </a:ext>
                </a:extLst>
              </p:cNvPr>
              <p:cNvSpPr/>
              <p:nvPr/>
            </p:nvSpPr>
            <p:spPr>
              <a:xfrm>
                <a:off x="9933497" y="5952459"/>
                <a:ext cx="1504401" cy="253916"/>
              </a:xfrm>
              <a:prstGeom prst="rect">
                <a:avLst/>
              </a:prstGeom>
            </p:spPr>
            <p:txBody>
              <a:bodyPr wrap="square">
                <a:spAutoFit/>
              </a:bodyPr>
              <a:lstStyle/>
              <a:p>
                <a:endParaRPr lang="mn-MN" sz="1050" dirty="0">
                  <a:solidFill>
                    <a:schemeClr val="tx1">
                      <a:lumMod val="75000"/>
                      <a:lumOff val="25000"/>
                    </a:schemeClr>
                  </a:solidFill>
                  <a:cs typeface="Segoe UI Light" panose="020B0502040204020203" pitchFamily="34" charset="0"/>
                </a:endParaRPr>
              </a:p>
            </p:txBody>
          </p:sp>
          <p:pic>
            <p:nvPicPr>
              <p:cNvPr id="112" name="Picture 111">
                <a:extLst>
                  <a:ext uri="{FF2B5EF4-FFF2-40B4-BE49-F238E27FC236}">
                    <a16:creationId xmlns:a16="http://schemas.microsoft.com/office/drawing/2014/main" id="{896DB9D5-1634-4790-A8D2-9C3783D988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8088" y="5734993"/>
                <a:ext cx="235139" cy="235139"/>
              </a:xfrm>
              <a:prstGeom prst="rect">
                <a:avLst/>
              </a:prstGeom>
            </p:spPr>
          </p:pic>
        </p:grpSp>
        <p:grpSp>
          <p:nvGrpSpPr>
            <p:cNvPr id="64" name="Group 63">
              <a:extLst>
                <a:ext uri="{FF2B5EF4-FFF2-40B4-BE49-F238E27FC236}">
                  <a16:creationId xmlns:a16="http://schemas.microsoft.com/office/drawing/2014/main" id="{7BA401DA-E20C-4379-BC69-7C22297F2C28}"/>
                </a:ext>
              </a:extLst>
            </p:cNvPr>
            <p:cNvGrpSpPr/>
            <p:nvPr/>
          </p:nvGrpSpPr>
          <p:grpSpPr>
            <a:xfrm>
              <a:off x="7935759" y="5745593"/>
              <a:ext cx="1809964" cy="753427"/>
              <a:chOff x="9800978" y="5734993"/>
              <a:chExt cx="1809964" cy="753427"/>
            </a:xfrm>
          </p:grpSpPr>
          <p:sp>
            <p:nvSpPr>
              <p:cNvPr id="65" name="Rectangle: Rounded Corners 64">
                <a:extLst>
                  <a:ext uri="{FF2B5EF4-FFF2-40B4-BE49-F238E27FC236}">
                    <a16:creationId xmlns:a16="http://schemas.microsoft.com/office/drawing/2014/main" id="{2F00D438-EF75-46CF-897E-6AE3336E1FE9}"/>
                  </a:ext>
                </a:extLst>
              </p:cNvPr>
              <p:cNvSpPr/>
              <p:nvPr/>
            </p:nvSpPr>
            <p:spPr>
              <a:xfrm>
                <a:off x="9942465" y="5869593"/>
                <a:ext cx="1668477" cy="61882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1200">
                    <a:solidFill>
                      <a:schemeClr val="tx1">
                        <a:lumMod val="75000"/>
                        <a:lumOff val="25000"/>
                      </a:schemeClr>
                    </a:solidFill>
                    <a:cs typeface="Segoe UI Light" panose="020B0502040204020203" pitchFamily="34" charset="0"/>
                  </a:rPr>
                  <a:t>60 сар хүртэл хугацаа</a:t>
                </a:r>
                <a:endParaRPr lang="ru-RU" sz="1200" dirty="0">
                  <a:solidFill>
                    <a:schemeClr val="tx1">
                      <a:lumMod val="75000"/>
                      <a:lumOff val="25000"/>
                    </a:schemeClr>
                  </a:solidFill>
                  <a:cs typeface="Segoe UI Light" panose="020B0502040204020203" pitchFamily="34" charset="0"/>
                </a:endParaRPr>
              </a:p>
            </p:txBody>
          </p:sp>
          <p:sp>
            <p:nvSpPr>
              <p:cNvPr id="66" name="Rectangle 65">
                <a:extLst>
                  <a:ext uri="{FF2B5EF4-FFF2-40B4-BE49-F238E27FC236}">
                    <a16:creationId xmlns:a16="http://schemas.microsoft.com/office/drawing/2014/main" id="{86AB2A7B-B3E4-44BC-8992-AB7CD6311FA8}"/>
                  </a:ext>
                </a:extLst>
              </p:cNvPr>
              <p:cNvSpPr/>
              <p:nvPr/>
            </p:nvSpPr>
            <p:spPr>
              <a:xfrm>
                <a:off x="9933497" y="5952459"/>
                <a:ext cx="1504401" cy="253916"/>
              </a:xfrm>
              <a:prstGeom prst="rect">
                <a:avLst/>
              </a:prstGeom>
            </p:spPr>
            <p:txBody>
              <a:bodyPr wrap="square">
                <a:spAutoFit/>
              </a:bodyPr>
              <a:lstStyle/>
              <a:p>
                <a:endParaRPr lang="mn-MN" sz="1050" dirty="0">
                  <a:solidFill>
                    <a:schemeClr val="tx1">
                      <a:lumMod val="75000"/>
                      <a:lumOff val="25000"/>
                    </a:schemeClr>
                  </a:solidFill>
                  <a:cs typeface="Segoe UI Light" panose="020B0502040204020203" pitchFamily="34" charset="0"/>
                </a:endParaRPr>
              </a:p>
            </p:txBody>
          </p:sp>
          <p:pic>
            <p:nvPicPr>
              <p:cNvPr id="67" name="Picture 66">
                <a:extLst>
                  <a:ext uri="{FF2B5EF4-FFF2-40B4-BE49-F238E27FC236}">
                    <a16:creationId xmlns:a16="http://schemas.microsoft.com/office/drawing/2014/main" id="{D0D09589-0E6E-4B85-98FB-3CF962B31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0978" y="5734993"/>
                <a:ext cx="235139" cy="235139"/>
              </a:xfrm>
              <a:prstGeom prst="rect">
                <a:avLst/>
              </a:prstGeom>
            </p:spPr>
          </p:pic>
        </p:grpSp>
        <p:grpSp>
          <p:nvGrpSpPr>
            <p:cNvPr id="68" name="Group 67">
              <a:extLst>
                <a:ext uri="{FF2B5EF4-FFF2-40B4-BE49-F238E27FC236}">
                  <a16:creationId xmlns:a16="http://schemas.microsoft.com/office/drawing/2014/main" id="{E7454700-DA42-435E-AE39-3A4AE1B435AE}"/>
                </a:ext>
              </a:extLst>
            </p:cNvPr>
            <p:cNvGrpSpPr/>
            <p:nvPr/>
          </p:nvGrpSpPr>
          <p:grpSpPr>
            <a:xfrm>
              <a:off x="6094620" y="5758363"/>
              <a:ext cx="1794853" cy="741957"/>
              <a:chOff x="9825057" y="5747763"/>
              <a:chExt cx="1794853" cy="741957"/>
            </a:xfrm>
          </p:grpSpPr>
          <p:sp>
            <p:nvSpPr>
              <p:cNvPr id="92" name="Rectangle: Rounded Corners 91">
                <a:extLst>
                  <a:ext uri="{FF2B5EF4-FFF2-40B4-BE49-F238E27FC236}">
                    <a16:creationId xmlns:a16="http://schemas.microsoft.com/office/drawing/2014/main" id="{40303863-46AC-49CE-B0CC-69148A43CBB1}"/>
                  </a:ext>
                </a:extLst>
              </p:cNvPr>
              <p:cNvSpPr/>
              <p:nvPr/>
            </p:nvSpPr>
            <p:spPr>
              <a:xfrm>
                <a:off x="9951433" y="5870893"/>
                <a:ext cx="1668477" cy="61882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1200">
                    <a:solidFill>
                      <a:schemeClr val="tx1">
                        <a:lumMod val="75000"/>
                        <a:lumOff val="25000"/>
                      </a:schemeClr>
                    </a:solidFill>
                    <a:cs typeface="Segoe UI Light" panose="020B0502040204020203" pitchFamily="34" charset="0"/>
                  </a:rPr>
                  <a:t>Салбар нээх иж бүрэн санхүүжилт</a:t>
                </a:r>
                <a:endParaRPr lang="mn-MN" sz="1200" dirty="0">
                  <a:solidFill>
                    <a:schemeClr val="tx1">
                      <a:lumMod val="75000"/>
                      <a:lumOff val="25000"/>
                    </a:schemeClr>
                  </a:solidFill>
                  <a:cs typeface="Segoe UI Light" panose="020B0502040204020203" pitchFamily="34" charset="0"/>
                </a:endParaRPr>
              </a:p>
            </p:txBody>
          </p:sp>
          <p:sp>
            <p:nvSpPr>
              <p:cNvPr id="93" name="Rectangle 92">
                <a:extLst>
                  <a:ext uri="{FF2B5EF4-FFF2-40B4-BE49-F238E27FC236}">
                    <a16:creationId xmlns:a16="http://schemas.microsoft.com/office/drawing/2014/main" id="{FBEB8337-56FA-4106-BC9D-5BB66D4CCCEB}"/>
                  </a:ext>
                </a:extLst>
              </p:cNvPr>
              <p:cNvSpPr/>
              <p:nvPr/>
            </p:nvSpPr>
            <p:spPr>
              <a:xfrm>
                <a:off x="9933497" y="5952459"/>
                <a:ext cx="1504401" cy="253916"/>
              </a:xfrm>
              <a:prstGeom prst="rect">
                <a:avLst/>
              </a:prstGeom>
            </p:spPr>
            <p:txBody>
              <a:bodyPr wrap="square">
                <a:spAutoFit/>
              </a:bodyPr>
              <a:lstStyle/>
              <a:p>
                <a:endParaRPr lang="mn-MN" sz="1050" dirty="0">
                  <a:solidFill>
                    <a:schemeClr val="tx1">
                      <a:lumMod val="75000"/>
                      <a:lumOff val="25000"/>
                    </a:schemeClr>
                  </a:solidFill>
                  <a:cs typeface="Segoe UI Light" panose="020B0502040204020203" pitchFamily="34" charset="0"/>
                </a:endParaRPr>
              </a:p>
            </p:txBody>
          </p:sp>
          <p:pic>
            <p:nvPicPr>
              <p:cNvPr id="94" name="Picture 93">
                <a:extLst>
                  <a:ext uri="{FF2B5EF4-FFF2-40B4-BE49-F238E27FC236}">
                    <a16:creationId xmlns:a16="http://schemas.microsoft.com/office/drawing/2014/main" id="{1AB051F4-2198-45DC-BA35-A71A51A716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5057" y="5747763"/>
                <a:ext cx="235139" cy="235139"/>
              </a:xfrm>
              <a:prstGeom prst="rect">
                <a:avLst/>
              </a:prstGeom>
            </p:spPr>
          </p:pic>
        </p:grpSp>
        <p:grpSp>
          <p:nvGrpSpPr>
            <p:cNvPr id="96" name="Group 95">
              <a:extLst>
                <a:ext uri="{FF2B5EF4-FFF2-40B4-BE49-F238E27FC236}">
                  <a16:creationId xmlns:a16="http://schemas.microsoft.com/office/drawing/2014/main" id="{F2CEACCB-B5F4-4882-8053-CAFDDF6FFC6A}"/>
                </a:ext>
              </a:extLst>
            </p:cNvPr>
            <p:cNvGrpSpPr/>
            <p:nvPr/>
          </p:nvGrpSpPr>
          <p:grpSpPr>
            <a:xfrm>
              <a:off x="4217346" y="5758364"/>
              <a:ext cx="1815877" cy="745409"/>
              <a:chOff x="9813001" y="5747764"/>
              <a:chExt cx="1815877" cy="745409"/>
            </a:xfrm>
          </p:grpSpPr>
          <p:sp>
            <p:nvSpPr>
              <p:cNvPr id="97" name="Rectangle: Rounded Corners 96">
                <a:extLst>
                  <a:ext uri="{FF2B5EF4-FFF2-40B4-BE49-F238E27FC236}">
                    <a16:creationId xmlns:a16="http://schemas.microsoft.com/office/drawing/2014/main" id="{4ACDDE12-D1A2-4BCC-9B78-39D88A5AF48D}"/>
                  </a:ext>
                </a:extLst>
              </p:cNvPr>
              <p:cNvSpPr/>
              <p:nvPr/>
            </p:nvSpPr>
            <p:spPr>
              <a:xfrm>
                <a:off x="9960401" y="5874346"/>
                <a:ext cx="1668477" cy="61882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1200">
                    <a:solidFill>
                      <a:schemeClr val="tx1">
                        <a:lumMod val="75000"/>
                        <a:lumOff val="25000"/>
                      </a:schemeClr>
                    </a:solidFill>
                    <a:cs typeface="Segoe UI Light" panose="020B0502040204020203" pitchFamily="34" charset="0"/>
                  </a:rPr>
                  <a:t>Франчайзын эрх авах боломж</a:t>
                </a:r>
                <a:endParaRPr lang="mn-MN" sz="1200" dirty="0">
                  <a:solidFill>
                    <a:schemeClr val="tx1">
                      <a:lumMod val="75000"/>
                      <a:lumOff val="25000"/>
                    </a:schemeClr>
                  </a:solidFill>
                  <a:cs typeface="Segoe UI Light" panose="020B0502040204020203" pitchFamily="34" charset="0"/>
                </a:endParaRPr>
              </a:p>
            </p:txBody>
          </p:sp>
          <p:sp>
            <p:nvSpPr>
              <p:cNvPr id="99" name="Rectangle 98">
                <a:extLst>
                  <a:ext uri="{FF2B5EF4-FFF2-40B4-BE49-F238E27FC236}">
                    <a16:creationId xmlns:a16="http://schemas.microsoft.com/office/drawing/2014/main" id="{828DE066-F4E3-4A24-98F6-CA3924D8A1FF}"/>
                  </a:ext>
                </a:extLst>
              </p:cNvPr>
              <p:cNvSpPr/>
              <p:nvPr/>
            </p:nvSpPr>
            <p:spPr>
              <a:xfrm>
                <a:off x="9933497" y="5952459"/>
                <a:ext cx="1504401" cy="253916"/>
              </a:xfrm>
              <a:prstGeom prst="rect">
                <a:avLst/>
              </a:prstGeom>
            </p:spPr>
            <p:txBody>
              <a:bodyPr wrap="square">
                <a:spAutoFit/>
              </a:bodyPr>
              <a:lstStyle/>
              <a:p>
                <a:endParaRPr lang="en-US" sz="1050" b="1" dirty="0">
                  <a:solidFill>
                    <a:schemeClr val="tx1">
                      <a:lumMod val="75000"/>
                      <a:lumOff val="25000"/>
                    </a:schemeClr>
                  </a:solidFill>
                  <a:cs typeface="Segoe UI Light" panose="020B0502040204020203" pitchFamily="34" charset="0"/>
                </a:endParaRPr>
              </a:p>
            </p:txBody>
          </p:sp>
          <p:pic>
            <p:nvPicPr>
              <p:cNvPr id="100" name="Picture 99">
                <a:extLst>
                  <a:ext uri="{FF2B5EF4-FFF2-40B4-BE49-F238E27FC236}">
                    <a16:creationId xmlns:a16="http://schemas.microsoft.com/office/drawing/2014/main" id="{61549A32-D705-4AD0-B1F3-85FA9029D0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13001" y="5747764"/>
                <a:ext cx="235139" cy="235139"/>
              </a:xfrm>
              <a:prstGeom prst="rect">
                <a:avLst/>
              </a:prstGeom>
            </p:spPr>
          </p:pic>
        </p:grpSp>
        <p:grpSp>
          <p:nvGrpSpPr>
            <p:cNvPr id="102" name="Group 101">
              <a:extLst>
                <a:ext uri="{FF2B5EF4-FFF2-40B4-BE49-F238E27FC236}">
                  <a16:creationId xmlns:a16="http://schemas.microsoft.com/office/drawing/2014/main" id="{EF229EF5-4A77-478F-BD55-EAAE6AE43630}"/>
                </a:ext>
              </a:extLst>
            </p:cNvPr>
            <p:cNvGrpSpPr/>
            <p:nvPr/>
          </p:nvGrpSpPr>
          <p:grpSpPr>
            <a:xfrm>
              <a:off x="2406779" y="5777497"/>
              <a:ext cx="1770194" cy="722824"/>
              <a:chOff x="9867652" y="5766897"/>
              <a:chExt cx="1770194" cy="722824"/>
            </a:xfrm>
          </p:grpSpPr>
          <p:sp>
            <p:nvSpPr>
              <p:cNvPr id="105" name="Rectangle: Rounded Corners 104">
                <a:extLst>
                  <a:ext uri="{FF2B5EF4-FFF2-40B4-BE49-F238E27FC236}">
                    <a16:creationId xmlns:a16="http://schemas.microsoft.com/office/drawing/2014/main" id="{FC72F712-E398-4CFB-B8FF-903C2F535B30}"/>
                  </a:ext>
                </a:extLst>
              </p:cNvPr>
              <p:cNvSpPr/>
              <p:nvPr/>
            </p:nvSpPr>
            <p:spPr>
              <a:xfrm>
                <a:off x="9969369" y="5870894"/>
                <a:ext cx="1668477" cy="61882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mn-MN" sz="1200">
                    <a:solidFill>
                      <a:schemeClr val="tx1">
                        <a:lumMod val="75000"/>
                        <a:lumOff val="25000"/>
                      </a:schemeClr>
                    </a:solidFill>
                    <a:cs typeface="Segoe UI Light" panose="020B0502040204020203" pitchFamily="34" charset="0"/>
                  </a:rPr>
                  <a:t>Барьцааны дутагдлыг шийдвэрлэнэ</a:t>
                </a:r>
                <a:endParaRPr lang="mn-MN" sz="1200" dirty="0">
                  <a:solidFill>
                    <a:schemeClr val="tx1">
                      <a:lumMod val="75000"/>
                      <a:lumOff val="25000"/>
                    </a:schemeClr>
                  </a:solidFill>
                  <a:cs typeface="Segoe UI Light" panose="020B0502040204020203" pitchFamily="34" charset="0"/>
                </a:endParaRPr>
              </a:p>
            </p:txBody>
          </p:sp>
          <p:sp>
            <p:nvSpPr>
              <p:cNvPr id="106" name="Rectangle 105">
                <a:extLst>
                  <a:ext uri="{FF2B5EF4-FFF2-40B4-BE49-F238E27FC236}">
                    <a16:creationId xmlns:a16="http://schemas.microsoft.com/office/drawing/2014/main" id="{E7FD795E-C623-446B-B503-FE815F322973}"/>
                  </a:ext>
                </a:extLst>
              </p:cNvPr>
              <p:cNvSpPr/>
              <p:nvPr/>
            </p:nvSpPr>
            <p:spPr>
              <a:xfrm>
                <a:off x="9933497" y="5952459"/>
                <a:ext cx="1504401" cy="253916"/>
              </a:xfrm>
              <a:prstGeom prst="rect">
                <a:avLst/>
              </a:prstGeom>
            </p:spPr>
            <p:txBody>
              <a:bodyPr wrap="square">
                <a:spAutoFit/>
              </a:bodyPr>
              <a:lstStyle/>
              <a:p>
                <a:endParaRPr lang="en-US" sz="1050" b="1" dirty="0">
                  <a:solidFill>
                    <a:schemeClr val="tx1">
                      <a:lumMod val="75000"/>
                      <a:lumOff val="25000"/>
                    </a:schemeClr>
                  </a:solidFill>
                  <a:cs typeface="Segoe UI Light" panose="020B0502040204020203" pitchFamily="34" charset="0"/>
                </a:endParaRPr>
              </a:p>
            </p:txBody>
          </p:sp>
          <p:pic>
            <p:nvPicPr>
              <p:cNvPr id="107" name="Picture 106">
                <a:extLst>
                  <a:ext uri="{FF2B5EF4-FFF2-40B4-BE49-F238E27FC236}">
                    <a16:creationId xmlns:a16="http://schemas.microsoft.com/office/drawing/2014/main" id="{8396C6C1-5FD6-43E1-AF75-1995FACD8C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67652" y="5766897"/>
                <a:ext cx="235139" cy="235139"/>
              </a:xfrm>
              <a:prstGeom prst="rect">
                <a:avLst/>
              </a:prstGeom>
            </p:spPr>
          </p:pic>
        </p:grpSp>
      </p:grpSp>
      <p:grpSp>
        <p:nvGrpSpPr>
          <p:cNvPr id="31" name="Group 30">
            <a:extLst>
              <a:ext uri="{FF2B5EF4-FFF2-40B4-BE49-F238E27FC236}">
                <a16:creationId xmlns:a16="http://schemas.microsoft.com/office/drawing/2014/main" id="{6EF40ED5-F40C-6C30-50C7-1C030C80977E}"/>
              </a:ext>
            </a:extLst>
          </p:cNvPr>
          <p:cNvGrpSpPr/>
          <p:nvPr/>
        </p:nvGrpSpPr>
        <p:grpSpPr>
          <a:xfrm>
            <a:off x="2360306" y="2524380"/>
            <a:ext cx="9400833" cy="1428535"/>
            <a:chOff x="2486367" y="2610065"/>
            <a:chExt cx="9400833" cy="1428535"/>
          </a:xfrm>
        </p:grpSpPr>
        <p:sp>
          <p:nvSpPr>
            <p:cNvPr id="51" name="Rectangle: Rounded Corners 50">
              <a:extLst>
                <a:ext uri="{FF2B5EF4-FFF2-40B4-BE49-F238E27FC236}">
                  <a16:creationId xmlns:a16="http://schemas.microsoft.com/office/drawing/2014/main" id="{F45E1A15-22FB-43C2-A4A7-E2E2CCC70F63}"/>
                </a:ext>
              </a:extLst>
            </p:cNvPr>
            <p:cNvSpPr/>
            <p:nvPr/>
          </p:nvSpPr>
          <p:spPr>
            <a:xfrm>
              <a:off x="2486367" y="2610065"/>
              <a:ext cx="9400833" cy="1428535"/>
            </a:xfrm>
            <a:prstGeom prst="roundRect">
              <a:avLst>
                <a:gd name="adj" fmla="val 7779"/>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Segoe UI Light" panose="020B0502040204020203" pitchFamily="34" charset="0"/>
              </a:endParaRPr>
            </a:p>
          </p:txBody>
        </p:sp>
        <p:sp>
          <p:nvSpPr>
            <p:cNvPr id="2" name="Rectangle 1">
              <a:extLst>
                <a:ext uri="{FF2B5EF4-FFF2-40B4-BE49-F238E27FC236}">
                  <a16:creationId xmlns:a16="http://schemas.microsoft.com/office/drawing/2014/main" id="{79B7AD33-5E92-4953-BDBC-DEA05FAD1673}"/>
                </a:ext>
              </a:extLst>
            </p:cNvPr>
            <p:cNvSpPr/>
            <p:nvPr/>
          </p:nvSpPr>
          <p:spPr>
            <a:xfrm>
              <a:off x="2981803" y="3300150"/>
              <a:ext cx="2072360" cy="553998"/>
            </a:xfrm>
            <a:prstGeom prst="rect">
              <a:avLst/>
            </a:prstGeom>
          </p:spPr>
          <p:txBody>
            <a:bodyPr wrap="square">
              <a:spAutoFit/>
            </a:bodyPr>
            <a:lstStyle/>
            <a:p>
              <a:pPr lvl="0" algn="ctr"/>
              <a:r>
                <a:rPr lang="mn-MN" sz="1000" i="1">
                  <a:cs typeface="Segoe UI Light" panose="020B0502040204020203" pitchFamily="34" charset="0"/>
                </a:rPr>
                <a:t>Франчайзын эрх, стандарт болон үйл ажиллагааны дэмжлэг үзүүлнэ.</a:t>
              </a:r>
              <a:endParaRPr lang="en-US" sz="1000" i="1" dirty="0">
                <a:cs typeface="Segoe UI Light" panose="020B0502040204020203" pitchFamily="34" charset="0"/>
              </a:endParaRPr>
            </a:p>
          </p:txBody>
        </p:sp>
        <p:sp>
          <p:nvSpPr>
            <p:cNvPr id="9" name="Rectangle 8">
              <a:extLst>
                <a:ext uri="{FF2B5EF4-FFF2-40B4-BE49-F238E27FC236}">
                  <a16:creationId xmlns:a16="http://schemas.microsoft.com/office/drawing/2014/main" id="{9257737B-A85F-4FB8-8054-1B68DB40234B}"/>
                </a:ext>
              </a:extLst>
            </p:cNvPr>
            <p:cNvSpPr/>
            <p:nvPr/>
          </p:nvSpPr>
          <p:spPr>
            <a:xfrm>
              <a:off x="2612856" y="2893773"/>
              <a:ext cx="2810255" cy="276999"/>
            </a:xfrm>
            <a:prstGeom prst="rect">
              <a:avLst/>
            </a:prstGeom>
          </p:spPr>
          <p:txBody>
            <a:bodyPr wrap="square">
              <a:spAutoFit/>
            </a:bodyPr>
            <a:lstStyle/>
            <a:p>
              <a:pPr lvl="0" algn="ctr"/>
              <a:r>
                <a:rPr lang="mn-MN" sz="1200" b="1">
                  <a:solidFill>
                    <a:srgbClr val="002060"/>
                  </a:solidFill>
                  <a:cs typeface="Segoe UI Light" panose="020B0502040204020203" pitchFamily="34" charset="0"/>
                </a:rPr>
                <a:t>Франчайз эрх олгогч</a:t>
              </a:r>
              <a:endParaRPr lang="en-US" sz="1200" b="1" dirty="0">
                <a:solidFill>
                  <a:srgbClr val="002060"/>
                </a:solidFill>
                <a:cs typeface="Segoe UI Light" panose="020B0502040204020203" pitchFamily="34" charset="0"/>
              </a:endParaRPr>
            </a:p>
          </p:txBody>
        </p:sp>
        <p:sp>
          <p:nvSpPr>
            <p:cNvPr id="15" name="Rectangle 14">
              <a:extLst>
                <a:ext uri="{FF2B5EF4-FFF2-40B4-BE49-F238E27FC236}">
                  <a16:creationId xmlns:a16="http://schemas.microsoft.com/office/drawing/2014/main" id="{FC9CE0E8-FF92-BA32-EAA6-E314889895F5}"/>
                </a:ext>
              </a:extLst>
            </p:cNvPr>
            <p:cNvSpPr/>
            <p:nvPr/>
          </p:nvSpPr>
          <p:spPr>
            <a:xfrm>
              <a:off x="5776910" y="2897538"/>
              <a:ext cx="2810256" cy="276999"/>
            </a:xfrm>
            <a:prstGeom prst="rect">
              <a:avLst/>
            </a:prstGeom>
          </p:spPr>
          <p:txBody>
            <a:bodyPr wrap="square">
              <a:spAutoFit/>
            </a:bodyPr>
            <a:lstStyle/>
            <a:p>
              <a:pPr lvl="0" algn="ctr"/>
              <a:r>
                <a:rPr lang="mn-MN" sz="1200" b="1" kern="1200">
                  <a:solidFill>
                    <a:srgbClr val="002060"/>
                  </a:solidFill>
                  <a:cs typeface="Segoe UI Light" panose="020B0502040204020203" pitchFamily="34" charset="0"/>
                </a:rPr>
                <a:t>Худалдаа хөгжлийн банк</a:t>
              </a:r>
              <a:endParaRPr lang="en-US" sz="1200" b="1" kern="1200" dirty="0">
                <a:solidFill>
                  <a:srgbClr val="002060"/>
                </a:solidFill>
                <a:cs typeface="Segoe UI Light" panose="020B0502040204020203" pitchFamily="34" charset="0"/>
              </a:endParaRPr>
            </a:p>
          </p:txBody>
        </p:sp>
        <p:sp>
          <p:nvSpPr>
            <p:cNvPr id="18" name="Rectangle 17">
              <a:extLst>
                <a:ext uri="{FF2B5EF4-FFF2-40B4-BE49-F238E27FC236}">
                  <a16:creationId xmlns:a16="http://schemas.microsoft.com/office/drawing/2014/main" id="{237932C1-A40C-E2A9-F6B9-753EB2247637}"/>
                </a:ext>
              </a:extLst>
            </p:cNvPr>
            <p:cNvSpPr/>
            <p:nvPr/>
          </p:nvSpPr>
          <p:spPr>
            <a:xfrm>
              <a:off x="8940961" y="2878149"/>
              <a:ext cx="2810254" cy="276999"/>
            </a:xfrm>
            <a:prstGeom prst="rect">
              <a:avLst/>
            </a:prstGeom>
          </p:spPr>
          <p:txBody>
            <a:bodyPr wrap="square">
              <a:spAutoFit/>
            </a:bodyPr>
            <a:lstStyle/>
            <a:p>
              <a:pPr algn="ctr"/>
              <a:r>
                <a:rPr lang="mn-MN" sz="1200" b="1">
                  <a:solidFill>
                    <a:srgbClr val="002060"/>
                  </a:solidFill>
                  <a:cs typeface="Segoe UI Light" panose="020B0502040204020203" pitchFamily="34" charset="0"/>
                </a:rPr>
                <a:t>Зээлийн батлан даалтын сан</a:t>
              </a:r>
              <a:endParaRPr lang="en-US" sz="1200" b="1" dirty="0">
                <a:solidFill>
                  <a:srgbClr val="002060"/>
                </a:solidFill>
                <a:cs typeface="Segoe UI Light" panose="020B0502040204020203" pitchFamily="34" charset="0"/>
              </a:endParaRPr>
            </a:p>
          </p:txBody>
        </p:sp>
        <p:sp>
          <p:nvSpPr>
            <p:cNvPr id="74" name="Rectangle 73">
              <a:extLst>
                <a:ext uri="{FF2B5EF4-FFF2-40B4-BE49-F238E27FC236}">
                  <a16:creationId xmlns:a16="http://schemas.microsoft.com/office/drawing/2014/main" id="{989597C2-10C8-83CF-5A79-A42BCCD9413E}"/>
                </a:ext>
              </a:extLst>
            </p:cNvPr>
            <p:cNvSpPr/>
            <p:nvPr/>
          </p:nvSpPr>
          <p:spPr>
            <a:xfrm>
              <a:off x="6167813" y="3262055"/>
              <a:ext cx="2072362" cy="400110"/>
            </a:xfrm>
            <a:prstGeom prst="rect">
              <a:avLst/>
            </a:prstGeom>
          </p:spPr>
          <p:txBody>
            <a:bodyPr wrap="square">
              <a:spAutoFit/>
            </a:bodyPr>
            <a:lstStyle/>
            <a:p>
              <a:pPr lvl="0" algn="ctr"/>
              <a:r>
                <a:rPr lang="mn-MN" sz="1000" i="1">
                  <a:solidFill>
                    <a:schemeClr val="tx1"/>
                  </a:solidFill>
                  <a:cs typeface="Segoe UI Light" panose="020B0502040204020203" pitchFamily="34" charset="0"/>
                </a:rPr>
                <a:t>Зээлдэгчийг судалж, зээлийн санхүүжилт олгоно.</a:t>
              </a:r>
              <a:endParaRPr lang="en-US" sz="1000" i="1" dirty="0">
                <a:solidFill>
                  <a:schemeClr val="tx1"/>
                </a:solidFill>
                <a:cs typeface="Segoe UI Light" panose="020B0502040204020203" pitchFamily="34" charset="0"/>
              </a:endParaRPr>
            </a:p>
          </p:txBody>
        </p:sp>
        <p:sp>
          <p:nvSpPr>
            <p:cNvPr id="75" name="Rectangle 74">
              <a:extLst>
                <a:ext uri="{FF2B5EF4-FFF2-40B4-BE49-F238E27FC236}">
                  <a16:creationId xmlns:a16="http://schemas.microsoft.com/office/drawing/2014/main" id="{CDACB3F7-FC80-8BC2-0170-DC4D3342B870}"/>
                </a:ext>
              </a:extLst>
            </p:cNvPr>
            <p:cNvSpPr/>
            <p:nvPr/>
          </p:nvSpPr>
          <p:spPr>
            <a:xfrm>
              <a:off x="9311350" y="3295008"/>
              <a:ext cx="2069476" cy="553998"/>
            </a:xfrm>
            <a:prstGeom prst="rect">
              <a:avLst/>
            </a:prstGeom>
          </p:spPr>
          <p:txBody>
            <a:bodyPr wrap="square">
              <a:spAutoFit/>
            </a:bodyPr>
            <a:lstStyle/>
            <a:p>
              <a:pPr lvl="0" algn="ctr"/>
              <a:r>
                <a:rPr lang="mn-MN" sz="1000" i="1">
                  <a:solidFill>
                    <a:schemeClr val="tx1"/>
                  </a:solidFill>
                  <a:cs typeface="Segoe UI Light" panose="020B0502040204020203" pitchFamily="34" charset="0"/>
                </a:rPr>
                <a:t>Зээлийн 30-60 хувьд батлан даалт гаргаж, эх үүсвэр байршуулна.</a:t>
              </a:r>
              <a:endParaRPr lang="en-US" sz="1000" i="1" dirty="0">
                <a:solidFill>
                  <a:schemeClr val="tx1"/>
                </a:solidFill>
                <a:cs typeface="Segoe UI Light" panose="020B0502040204020203" pitchFamily="34" charset="0"/>
              </a:endParaRPr>
            </a:p>
          </p:txBody>
        </p:sp>
      </p:grpSp>
      <p:sp>
        <p:nvSpPr>
          <p:cNvPr id="101" name="Slide Number Placeholder 1">
            <a:extLst>
              <a:ext uri="{FF2B5EF4-FFF2-40B4-BE49-F238E27FC236}">
                <a16:creationId xmlns:a16="http://schemas.microsoft.com/office/drawing/2014/main" id="{FBE4658B-5D06-42B8-B9D7-C9F9C6C819C3}"/>
              </a:ext>
            </a:extLst>
          </p:cNvPr>
          <p:cNvSpPr txBox="1">
            <a:spLocks/>
          </p:cNvSpPr>
          <p:nvPr/>
        </p:nvSpPr>
        <p:spPr>
          <a:xfrm>
            <a:off x="11828237" y="82830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Light" panose="020B0502040204020203" pitchFamily="34" charset="0"/>
                <a:cs typeface="Segoe UI Light" panose="020B0502040204020203" pitchFamily="34" charset="0"/>
              </a:rPr>
              <a:pPr/>
              <a:t>6</a:t>
            </a:fld>
            <a:endParaRPr lang="en-US" sz="12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42" name="Group 41">
            <a:extLst>
              <a:ext uri="{FF2B5EF4-FFF2-40B4-BE49-F238E27FC236}">
                <a16:creationId xmlns:a16="http://schemas.microsoft.com/office/drawing/2014/main" id="{861069F0-7381-C7A6-AE9E-31326B1B445D}"/>
              </a:ext>
            </a:extLst>
          </p:cNvPr>
          <p:cNvGrpSpPr/>
          <p:nvPr/>
        </p:nvGrpSpPr>
        <p:grpSpPr>
          <a:xfrm>
            <a:off x="2357692" y="4120423"/>
            <a:ext cx="9483040" cy="1429854"/>
            <a:chOff x="2244855" y="4289316"/>
            <a:chExt cx="9483040" cy="1429854"/>
          </a:xfrm>
        </p:grpSpPr>
        <p:sp>
          <p:nvSpPr>
            <p:cNvPr id="20" name="Rectangle: Rounded Corners 19">
              <a:extLst>
                <a:ext uri="{FF2B5EF4-FFF2-40B4-BE49-F238E27FC236}">
                  <a16:creationId xmlns:a16="http://schemas.microsoft.com/office/drawing/2014/main" id="{510D36FC-C05F-4250-57B3-162455DABAE2}"/>
                </a:ext>
              </a:extLst>
            </p:cNvPr>
            <p:cNvSpPr/>
            <p:nvPr/>
          </p:nvSpPr>
          <p:spPr>
            <a:xfrm>
              <a:off x="6967554" y="4382806"/>
              <a:ext cx="2167465" cy="1221356"/>
            </a:xfrm>
            <a:prstGeom prst="roundRect">
              <a:avLst/>
            </a:prstGeom>
            <a:solidFill>
              <a:schemeClr val="bg1"/>
            </a:solidFill>
            <a:ln w="9525">
              <a:solidFill>
                <a:srgbClr val="00B0F0"/>
              </a:solidFill>
            </a:ln>
            <a:effectLst>
              <a:outerShdw blurRad="50800" dist="38100" dir="1800000" algn="l" rotWithShape="0">
                <a:srgbClr val="00B0F0">
                  <a:alpha val="2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00B0F0"/>
                </a:solidFill>
                <a:cs typeface="Segoe UI Light" panose="020B0502040204020203" pitchFamily="34" charset="0"/>
              </a:endParaRPr>
            </a:p>
          </p:txBody>
        </p:sp>
        <p:sp>
          <p:nvSpPr>
            <p:cNvPr id="19" name="Rectangle: Rounded Corners 18">
              <a:extLst>
                <a:ext uri="{FF2B5EF4-FFF2-40B4-BE49-F238E27FC236}">
                  <a16:creationId xmlns:a16="http://schemas.microsoft.com/office/drawing/2014/main" id="{7C719FF9-9831-F744-914D-2330C6519D5F}"/>
                </a:ext>
              </a:extLst>
            </p:cNvPr>
            <p:cNvSpPr/>
            <p:nvPr/>
          </p:nvSpPr>
          <p:spPr>
            <a:xfrm>
              <a:off x="4736256" y="4388234"/>
              <a:ext cx="2167464" cy="1221356"/>
            </a:xfrm>
            <a:prstGeom prst="roundRect">
              <a:avLst/>
            </a:prstGeom>
            <a:solidFill>
              <a:schemeClr val="bg1"/>
            </a:solidFill>
            <a:ln w="9525">
              <a:solidFill>
                <a:srgbClr val="00B0F0"/>
              </a:solidFill>
            </a:ln>
            <a:effectLst>
              <a:outerShdw blurRad="50800" dist="38100" dir="1800000" algn="l" rotWithShape="0">
                <a:srgbClr val="00B0F0">
                  <a:alpha val="2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00B0F0"/>
                </a:solidFill>
                <a:cs typeface="Segoe UI Light" panose="020B0502040204020203" pitchFamily="34" charset="0"/>
              </a:endParaRPr>
            </a:p>
          </p:txBody>
        </p:sp>
        <p:sp>
          <p:nvSpPr>
            <p:cNvPr id="52" name="Rectangle: Rounded Corners 51">
              <a:extLst>
                <a:ext uri="{FF2B5EF4-FFF2-40B4-BE49-F238E27FC236}">
                  <a16:creationId xmlns:a16="http://schemas.microsoft.com/office/drawing/2014/main" id="{24A8569F-B488-43A0-BCED-5DF14609815A}"/>
                </a:ext>
              </a:extLst>
            </p:cNvPr>
            <p:cNvSpPr/>
            <p:nvPr/>
          </p:nvSpPr>
          <p:spPr>
            <a:xfrm>
              <a:off x="2244855" y="4289316"/>
              <a:ext cx="9400833" cy="1429854"/>
            </a:xfrm>
            <a:prstGeom prst="roundRect">
              <a:avLst>
                <a:gd name="adj" fmla="val 8451"/>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Segoe UI Light" panose="020B0502040204020203" pitchFamily="34" charset="0"/>
              </a:endParaRPr>
            </a:p>
          </p:txBody>
        </p:sp>
        <p:sp>
          <p:nvSpPr>
            <p:cNvPr id="119" name="Rectangle: Rounded Corners 118">
              <a:extLst>
                <a:ext uri="{FF2B5EF4-FFF2-40B4-BE49-F238E27FC236}">
                  <a16:creationId xmlns:a16="http://schemas.microsoft.com/office/drawing/2014/main" id="{B74CDFC7-F6EE-4CD2-AA12-AC08A44FAAD8}"/>
                </a:ext>
              </a:extLst>
            </p:cNvPr>
            <p:cNvSpPr/>
            <p:nvPr/>
          </p:nvSpPr>
          <p:spPr>
            <a:xfrm>
              <a:off x="2393566" y="4388234"/>
              <a:ext cx="2226778" cy="1221356"/>
            </a:xfrm>
            <a:prstGeom prst="roundRect">
              <a:avLst/>
            </a:prstGeom>
            <a:solidFill>
              <a:schemeClr val="bg1"/>
            </a:solidFill>
            <a:ln w="9525">
              <a:solidFill>
                <a:srgbClr val="00B0F0"/>
              </a:solidFill>
            </a:ln>
            <a:effectLst>
              <a:outerShdw blurRad="50800" dist="38100" dir="1800000" algn="l" rotWithShape="0">
                <a:srgbClr val="00B0F0">
                  <a:alpha val="2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00B0F0"/>
                </a:solidFill>
                <a:cs typeface="Segoe UI Light" panose="020B0502040204020203" pitchFamily="34" charset="0"/>
              </a:endParaRPr>
            </a:p>
          </p:txBody>
        </p:sp>
        <p:sp>
          <p:nvSpPr>
            <p:cNvPr id="120" name="Rectangle 119">
              <a:extLst>
                <a:ext uri="{FF2B5EF4-FFF2-40B4-BE49-F238E27FC236}">
                  <a16:creationId xmlns:a16="http://schemas.microsoft.com/office/drawing/2014/main" id="{FA3088BA-CDF2-4206-B37E-F8B4385F2C10}"/>
                </a:ext>
              </a:extLst>
            </p:cNvPr>
            <p:cNvSpPr/>
            <p:nvPr/>
          </p:nvSpPr>
          <p:spPr>
            <a:xfrm>
              <a:off x="2557804" y="4488208"/>
              <a:ext cx="3217170" cy="276999"/>
            </a:xfrm>
            <a:prstGeom prst="rect">
              <a:avLst/>
            </a:prstGeom>
          </p:spPr>
          <p:txBody>
            <a:bodyPr wrap="square">
              <a:spAutoFit/>
            </a:bodyPr>
            <a:lstStyle/>
            <a:p>
              <a:r>
                <a:rPr lang="mn-MN" sz="1200" b="1" dirty="0">
                  <a:solidFill>
                    <a:schemeClr val="tx1">
                      <a:lumMod val="75000"/>
                      <a:lumOff val="25000"/>
                    </a:schemeClr>
                  </a:solidFill>
                  <a:cs typeface="Segoe UI Light" panose="020B0502040204020203" pitchFamily="34" charset="0"/>
                </a:rPr>
                <a:t>Харилцагч талд</a:t>
              </a:r>
            </a:p>
          </p:txBody>
        </p:sp>
        <p:pic>
          <p:nvPicPr>
            <p:cNvPr id="21" name="Picture 20">
              <a:extLst>
                <a:ext uri="{FF2B5EF4-FFF2-40B4-BE49-F238E27FC236}">
                  <a16:creationId xmlns:a16="http://schemas.microsoft.com/office/drawing/2014/main" id="{4EED2E6F-A3BB-4295-8091-15DE6420D4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4593" y="4459988"/>
              <a:ext cx="270779" cy="256601"/>
            </a:xfrm>
            <a:prstGeom prst="rect">
              <a:avLst/>
            </a:prstGeom>
          </p:spPr>
        </p:pic>
        <p:sp>
          <p:nvSpPr>
            <p:cNvPr id="124" name="Rectangle 123">
              <a:extLst>
                <a:ext uri="{FF2B5EF4-FFF2-40B4-BE49-F238E27FC236}">
                  <a16:creationId xmlns:a16="http://schemas.microsoft.com/office/drawing/2014/main" id="{39790038-83B5-4D28-958A-AD5D901533EB}"/>
                </a:ext>
              </a:extLst>
            </p:cNvPr>
            <p:cNvSpPr/>
            <p:nvPr/>
          </p:nvSpPr>
          <p:spPr>
            <a:xfrm>
              <a:off x="4850446" y="4474641"/>
              <a:ext cx="1230473" cy="276999"/>
            </a:xfrm>
            <a:prstGeom prst="rect">
              <a:avLst/>
            </a:prstGeom>
          </p:spPr>
          <p:txBody>
            <a:bodyPr wrap="square">
              <a:spAutoFit/>
            </a:bodyPr>
            <a:lstStyle/>
            <a:p>
              <a:r>
                <a:rPr lang="mn-MN" sz="1200" b="1" dirty="0">
                  <a:solidFill>
                    <a:schemeClr val="tx1">
                      <a:lumMod val="75000"/>
                      <a:lumOff val="25000"/>
                    </a:schemeClr>
                  </a:solidFill>
                  <a:cs typeface="Segoe UI Light" panose="020B0502040204020203" pitchFamily="34" charset="0"/>
                </a:rPr>
                <a:t>Банк талд</a:t>
              </a:r>
            </a:p>
          </p:txBody>
        </p:sp>
        <p:pic>
          <p:nvPicPr>
            <p:cNvPr id="128" name="Picture 127">
              <a:extLst>
                <a:ext uri="{FF2B5EF4-FFF2-40B4-BE49-F238E27FC236}">
                  <a16:creationId xmlns:a16="http://schemas.microsoft.com/office/drawing/2014/main" id="{B4ED91D5-F220-4823-8C30-CA0B3F0C34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0711" y="4471747"/>
              <a:ext cx="274426" cy="274426"/>
            </a:xfrm>
            <a:prstGeom prst="rect">
              <a:avLst/>
            </a:prstGeom>
          </p:spPr>
        </p:pic>
        <p:sp>
          <p:nvSpPr>
            <p:cNvPr id="127" name="Rectangle 126">
              <a:extLst>
                <a:ext uri="{FF2B5EF4-FFF2-40B4-BE49-F238E27FC236}">
                  <a16:creationId xmlns:a16="http://schemas.microsoft.com/office/drawing/2014/main" id="{FD6DFD88-4B5E-46D5-A743-5A5891CB4558}"/>
                </a:ext>
              </a:extLst>
            </p:cNvPr>
            <p:cNvSpPr/>
            <p:nvPr/>
          </p:nvSpPr>
          <p:spPr>
            <a:xfrm>
              <a:off x="7030761" y="4494409"/>
              <a:ext cx="2137509" cy="276999"/>
            </a:xfrm>
            <a:prstGeom prst="rect">
              <a:avLst/>
            </a:prstGeom>
          </p:spPr>
          <p:txBody>
            <a:bodyPr wrap="square">
              <a:spAutoFit/>
            </a:bodyPr>
            <a:lstStyle/>
            <a:p>
              <a:r>
                <a:rPr lang="mn-MN" sz="1200" b="1">
                  <a:solidFill>
                    <a:schemeClr val="tx1">
                      <a:lumMod val="75000"/>
                      <a:lumOff val="25000"/>
                    </a:schemeClr>
                  </a:solidFill>
                  <a:cs typeface="Segoe UI Light" panose="020B0502040204020203" pitchFamily="34" charset="0"/>
                </a:rPr>
                <a:t>Франчайз эрх олгогч талд</a:t>
              </a:r>
              <a:endParaRPr lang="mn-MN" sz="1200" b="1" dirty="0">
                <a:solidFill>
                  <a:schemeClr val="tx1">
                    <a:lumMod val="75000"/>
                    <a:lumOff val="25000"/>
                  </a:schemeClr>
                </a:solidFill>
                <a:cs typeface="Segoe UI Light" panose="020B0502040204020203" pitchFamily="34" charset="0"/>
              </a:endParaRPr>
            </a:p>
          </p:txBody>
        </p:sp>
        <p:pic>
          <p:nvPicPr>
            <p:cNvPr id="129" name="Picture 128">
              <a:extLst>
                <a:ext uri="{FF2B5EF4-FFF2-40B4-BE49-F238E27FC236}">
                  <a16:creationId xmlns:a16="http://schemas.microsoft.com/office/drawing/2014/main" id="{873CF2A1-2FE5-4B1B-9E75-300D6CA164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01130" y="5149373"/>
              <a:ext cx="299604" cy="299604"/>
            </a:xfrm>
            <a:prstGeom prst="rect">
              <a:avLst/>
            </a:prstGeom>
          </p:spPr>
        </p:pic>
        <p:sp>
          <p:nvSpPr>
            <p:cNvPr id="39" name="TextBox 38">
              <a:extLst>
                <a:ext uri="{FF2B5EF4-FFF2-40B4-BE49-F238E27FC236}">
                  <a16:creationId xmlns:a16="http://schemas.microsoft.com/office/drawing/2014/main" id="{6F9521CA-B3D8-83D3-05BD-CB159975A6C0}"/>
                </a:ext>
              </a:extLst>
            </p:cNvPr>
            <p:cNvSpPr txBox="1"/>
            <p:nvPr/>
          </p:nvSpPr>
          <p:spPr>
            <a:xfrm>
              <a:off x="2339996" y="4771906"/>
              <a:ext cx="2356432" cy="68980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mn-MN" sz="900" i="1">
                  <a:cs typeface="Segoe UI Light" panose="020B0502040204020203" pitchFamily="34" charset="0"/>
                </a:rPr>
                <a:t>Барьцаа хөрөнгийн шийдвэрлэнэ </a:t>
              </a:r>
            </a:p>
            <a:p>
              <a:pPr marL="171450" indent="-171450">
                <a:lnSpc>
                  <a:spcPct val="150000"/>
                </a:lnSpc>
                <a:buFont typeface="Arial" panose="020B0604020202020204" pitchFamily="34" charset="0"/>
                <a:buChar char="•"/>
              </a:pPr>
              <a:r>
                <a:rPr lang="mn-MN" sz="900" i="1">
                  <a:cs typeface="Segoe UI Light" panose="020B0502040204020203" pitchFamily="34" charset="0"/>
                </a:rPr>
                <a:t>Франчайзын эрх, засвар, тоног төхөөрөмжийг санхүүжүүлнэ </a:t>
              </a:r>
            </a:p>
          </p:txBody>
        </p:sp>
        <p:sp>
          <p:nvSpPr>
            <p:cNvPr id="40" name="TextBox 39">
              <a:extLst>
                <a:ext uri="{FF2B5EF4-FFF2-40B4-BE49-F238E27FC236}">
                  <a16:creationId xmlns:a16="http://schemas.microsoft.com/office/drawing/2014/main" id="{9E0213AE-D33F-3781-086C-04994CDC0B6F}"/>
                </a:ext>
              </a:extLst>
            </p:cNvPr>
            <p:cNvSpPr txBox="1"/>
            <p:nvPr/>
          </p:nvSpPr>
          <p:spPr>
            <a:xfrm>
              <a:off x="4728305" y="4706578"/>
              <a:ext cx="2234177" cy="897553"/>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mn-MN" sz="900" i="1">
                  <a:cs typeface="Segoe UI Light" panose="020B0502040204020203" pitchFamily="34" charset="0"/>
                </a:rPr>
                <a:t>Зээлийн багц нэмэгдэнэ </a:t>
              </a:r>
            </a:p>
            <a:p>
              <a:pPr marL="171450" indent="-171450">
                <a:lnSpc>
                  <a:spcPct val="150000"/>
                </a:lnSpc>
                <a:buFont typeface="Arial" panose="020B0604020202020204" pitchFamily="34" charset="0"/>
                <a:buChar char="•"/>
              </a:pPr>
              <a:r>
                <a:rPr lang="mn-MN" sz="900" i="1">
                  <a:cs typeface="Segoe UI Light" panose="020B0502040204020203" pitchFamily="34" charset="0"/>
                </a:rPr>
                <a:t>Хүү, </a:t>
              </a:r>
              <a:r>
                <a:rPr lang="en-US" sz="900" i="1">
                  <a:cs typeface="Segoe UI Light" panose="020B0502040204020203" pitchFamily="34" charset="0"/>
                </a:rPr>
                <a:t>POS, </a:t>
              </a:r>
              <a:r>
                <a:rPr lang="mn-MN" sz="900" i="1">
                  <a:cs typeface="Segoe UI Light" panose="020B0502040204020203" pitchFamily="34" charset="0"/>
                </a:rPr>
                <a:t>шимтгэлийн орлого</a:t>
              </a:r>
            </a:p>
            <a:p>
              <a:pPr marL="171450" indent="-171450">
                <a:lnSpc>
                  <a:spcPct val="150000"/>
                </a:lnSpc>
                <a:buFont typeface="Arial" panose="020B0604020202020204" pitchFamily="34" charset="0"/>
                <a:buChar char="•"/>
              </a:pPr>
              <a:r>
                <a:rPr lang="mn-MN" sz="900" i="1">
                  <a:cs typeface="Segoe UI Light" panose="020B0502040204020203" pitchFamily="34" charset="0"/>
                </a:rPr>
                <a:t>Борлуулалтын орлого, цалингийн гүйлгээ төвлөрнө</a:t>
              </a:r>
              <a:endParaRPr lang="en-US" sz="900" i="1" dirty="0">
                <a:cs typeface="Segoe UI Light" panose="020B0502040204020203" pitchFamily="34" charset="0"/>
              </a:endParaRPr>
            </a:p>
          </p:txBody>
        </p:sp>
        <p:sp>
          <p:nvSpPr>
            <p:cNvPr id="41" name="TextBox 40">
              <a:extLst>
                <a:ext uri="{FF2B5EF4-FFF2-40B4-BE49-F238E27FC236}">
                  <a16:creationId xmlns:a16="http://schemas.microsoft.com/office/drawing/2014/main" id="{D5549224-5FD5-C25A-A462-0802029ABB7C}"/>
                </a:ext>
              </a:extLst>
            </p:cNvPr>
            <p:cNvSpPr txBox="1"/>
            <p:nvPr/>
          </p:nvSpPr>
          <p:spPr>
            <a:xfrm>
              <a:off x="7062990" y="4771906"/>
              <a:ext cx="2091170" cy="68980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mn-MN" sz="900" i="1">
                  <a:cs typeface="Segoe UI Light" panose="020B0502040204020203" pitchFamily="34" charset="0"/>
                </a:rPr>
                <a:t>Салбарын тоо нэмэгдэнэ</a:t>
              </a:r>
            </a:p>
            <a:p>
              <a:pPr marL="171450" indent="-171450">
                <a:lnSpc>
                  <a:spcPct val="150000"/>
                </a:lnSpc>
                <a:buFont typeface="Arial" panose="020B0604020202020204" pitchFamily="34" charset="0"/>
                <a:buChar char="•"/>
              </a:pPr>
              <a:r>
                <a:rPr lang="mn-MN" sz="900" i="1">
                  <a:cs typeface="Segoe UI Light" panose="020B0502040204020203" pitchFamily="34" charset="0"/>
                </a:rPr>
                <a:t> Брэндийн зах зээл, борлуулалтын суваг тэлнэ </a:t>
              </a:r>
            </a:p>
          </p:txBody>
        </p:sp>
        <p:sp>
          <p:nvSpPr>
            <p:cNvPr id="43" name="Rectangle: Rounded Corners 42">
              <a:extLst>
                <a:ext uri="{FF2B5EF4-FFF2-40B4-BE49-F238E27FC236}">
                  <a16:creationId xmlns:a16="http://schemas.microsoft.com/office/drawing/2014/main" id="{6D076A16-A380-FAEE-B3F6-655E06BF8660}"/>
                </a:ext>
              </a:extLst>
            </p:cNvPr>
            <p:cNvSpPr/>
            <p:nvPr/>
          </p:nvSpPr>
          <p:spPr>
            <a:xfrm>
              <a:off x="9247928" y="4388425"/>
              <a:ext cx="2307764" cy="1221356"/>
            </a:xfrm>
            <a:prstGeom prst="roundRect">
              <a:avLst/>
            </a:prstGeom>
            <a:solidFill>
              <a:schemeClr val="bg1"/>
            </a:solidFill>
            <a:ln w="9525">
              <a:solidFill>
                <a:srgbClr val="00B0F0"/>
              </a:solidFill>
            </a:ln>
            <a:effectLst>
              <a:outerShdw blurRad="50800" dist="38100" dir="1800000" algn="l" rotWithShape="0">
                <a:srgbClr val="00B0F0">
                  <a:alpha val="2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00B0F0"/>
                </a:solidFill>
                <a:cs typeface="Segoe UI Light" panose="020B0502040204020203" pitchFamily="34" charset="0"/>
              </a:endParaRPr>
            </a:p>
          </p:txBody>
        </p:sp>
        <p:sp>
          <p:nvSpPr>
            <p:cNvPr id="44" name="Rectangle 43">
              <a:extLst>
                <a:ext uri="{FF2B5EF4-FFF2-40B4-BE49-F238E27FC236}">
                  <a16:creationId xmlns:a16="http://schemas.microsoft.com/office/drawing/2014/main" id="{1840D818-781C-35AB-6763-D3EDB32E0704}"/>
                </a:ext>
              </a:extLst>
            </p:cNvPr>
            <p:cNvSpPr/>
            <p:nvPr/>
          </p:nvSpPr>
          <p:spPr>
            <a:xfrm>
              <a:off x="9277174" y="4494409"/>
              <a:ext cx="1253751" cy="276999"/>
            </a:xfrm>
            <a:prstGeom prst="rect">
              <a:avLst/>
            </a:prstGeom>
          </p:spPr>
          <p:txBody>
            <a:bodyPr wrap="square">
              <a:spAutoFit/>
            </a:bodyPr>
            <a:lstStyle/>
            <a:p>
              <a:r>
                <a:rPr lang="mn-MN" sz="1200" b="1">
                  <a:solidFill>
                    <a:schemeClr val="tx1">
                      <a:lumMod val="75000"/>
                      <a:lumOff val="25000"/>
                    </a:schemeClr>
                  </a:solidFill>
                  <a:cs typeface="Segoe UI Light" panose="020B0502040204020203" pitchFamily="34" charset="0"/>
                </a:rPr>
                <a:t>ЗБДС талд</a:t>
              </a:r>
              <a:endParaRPr lang="mn-MN" sz="1200" b="1" dirty="0">
                <a:solidFill>
                  <a:schemeClr val="tx1">
                    <a:lumMod val="75000"/>
                    <a:lumOff val="25000"/>
                  </a:schemeClr>
                </a:solidFill>
                <a:cs typeface="Segoe UI Light" panose="020B0502040204020203" pitchFamily="34" charset="0"/>
              </a:endParaRPr>
            </a:p>
          </p:txBody>
        </p:sp>
        <p:sp>
          <p:nvSpPr>
            <p:cNvPr id="56" name="TextBox 55">
              <a:extLst>
                <a:ext uri="{FF2B5EF4-FFF2-40B4-BE49-F238E27FC236}">
                  <a16:creationId xmlns:a16="http://schemas.microsoft.com/office/drawing/2014/main" id="{C16D3CF4-112F-3E51-F57C-8A147222A3A9}"/>
                </a:ext>
              </a:extLst>
            </p:cNvPr>
            <p:cNvSpPr txBox="1"/>
            <p:nvPr/>
          </p:nvSpPr>
          <p:spPr>
            <a:xfrm>
              <a:off x="9186639" y="4726101"/>
              <a:ext cx="2541256" cy="90332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mn-MN" sz="900" i="1">
                  <a:cs typeface="Segoe UI Light" panose="020B0502040204020203" pitchFamily="34" charset="0"/>
                </a:rPr>
                <a:t>Санхүүжилтийн хүртээмж нэмэгдэнэ </a:t>
              </a:r>
            </a:p>
            <a:p>
              <a:pPr marL="171450" indent="-171450">
                <a:lnSpc>
                  <a:spcPct val="150000"/>
                </a:lnSpc>
                <a:buFont typeface="Arial" panose="020B0604020202020204" pitchFamily="34" charset="0"/>
                <a:buChar char="•"/>
              </a:pPr>
              <a:r>
                <a:rPr lang="mn-MN" sz="900" i="1">
                  <a:cs typeface="Segoe UI Light" panose="020B0502040204020203" pitchFamily="34" charset="0"/>
                </a:rPr>
                <a:t>Бизнес эрхлэлт, ажлын байр бий болно </a:t>
              </a:r>
            </a:p>
            <a:p>
              <a:pPr marL="171450" indent="-171450">
                <a:lnSpc>
                  <a:spcPct val="150000"/>
                </a:lnSpc>
                <a:buFont typeface="Arial" panose="020B0604020202020204" pitchFamily="34" charset="0"/>
                <a:buChar char="•"/>
              </a:pPr>
              <a:r>
                <a:rPr lang="mn-MN" sz="900" i="1">
                  <a:cs typeface="Segoe UI Light" panose="020B0502040204020203" pitchFamily="34" charset="0"/>
                </a:rPr>
                <a:t>Батлан даалтын эх үүсвэр зорилтот сегментэд хүрнэ</a:t>
              </a:r>
              <a:endParaRPr lang="en-US" sz="900" i="1" dirty="0">
                <a:cs typeface="Segoe UI Light" panose="020B0502040204020203" pitchFamily="34" charset="0"/>
              </a:endParaRPr>
            </a:p>
          </p:txBody>
        </p:sp>
        <p:pic>
          <p:nvPicPr>
            <p:cNvPr id="61" name="Picture 60">
              <a:extLst>
                <a:ext uri="{FF2B5EF4-FFF2-40B4-BE49-F238E27FC236}">
                  <a16:creationId xmlns:a16="http://schemas.microsoft.com/office/drawing/2014/main" id="{CB01F3C8-6359-92BD-763F-4CA0CE8D40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058841" y="4435882"/>
              <a:ext cx="299604" cy="299604"/>
            </a:xfrm>
            <a:prstGeom prst="rect">
              <a:avLst/>
            </a:prstGeom>
          </p:spPr>
        </p:pic>
      </p:grpSp>
      <p:pic>
        <p:nvPicPr>
          <p:cNvPr id="62" name="Picture 61" descr="A blue and black logo&#10;&#10;AI-generated content may be incorrect.">
            <a:extLst>
              <a:ext uri="{FF2B5EF4-FFF2-40B4-BE49-F238E27FC236}">
                <a16:creationId xmlns:a16="http://schemas.microsoft.com/office/drawing/2014/main" id="{D0472DFB-5366-7AED-B687-0673FE9D00F9}"/>
              </a:ext>
            </a:extLst>
          </p:cNvPr>
          <p:cNvPicPr>
            <a:picLocks noChangeAspect="1"/>
          </p:cNvPicPr>
          <p:nvPr/>
        </p:nvPicPr>
        <p:blipFill>
          <a:blip r:embed="rId7"/>
          <a:stretch>
            <a:fillRect/>
          </a:stretch>
        </p:blipFill>
        <p:spPr>
          <a:xfrm>
            <a:off x="403627" y="241817"/>
            <a:ext cx="1140210" cy="425077"/>
          </a:xfrm>
          <a:prstGeom prst="rect">
            <a:avLst/>
          </a:prstGeom>
          <a:noFill/>
        </p:spPr>
      </p:pic>
      <p:cxnSp>
        <p:nvCxnSpPr>
          <p:cNvPr id="36" name="Straight Connector 35">
            <a:extLst>
              <a:ext uri="{FF2B5EF4-FFF2-40B4-BE49-F238E27FC236}">
                <a16:creationId xmlns:a16="http://schemas.microsoft.com/office/drawing/2014/main" id="{EAC918AF-521D-85CB-DF7F-D69C3F731357}"/>
              </a:ext>
            </a:extLst>
          </p:cNvPr>
          <p:cNvCxnSpPr>
            <a:cxnSpLocks/>
          </p:cNvCxnSpPr>
          <p:nvPr/>
        </p:nvCxnSpPr>
        <p:spPr>
          <a:xfrm>
            <a:off x="5410200" y="2710433"/>
            <a:ext cx="0" cy="1038983"/>
          </a:xfrm>
          <a:prstGeom prst="line">
            <a:avLst/>
          </a:prstGeom>
          <a:ln>
            <a:solidFill>
              <a:srgbClr val="002060"/>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067EB2B-D7C5-80D8-7E85-F1E2A59E7900}"/>
              </a:ext>
            </a:extLst>
          </p:cNvPr>
          <p:cNvCxnSpPr>
            <a:cxnSpLocks/>
          </p:cNvCxnSpPr>
          <p:nvPr/>
        </p:nvCxnSpPr>
        <p:spPr>
          <a:xfrm>
            <a:off x="8646750" y="2710433"/>
            <a:ext cx="0" cy="1038983"/>
          </a:xfrm>
          <a:prstGeom prst="line">
            <a:avLst/>
          </a:prstGeom>
          <a:ln>
            <a:solidFill>
              <a:srgbClr val="002060"/>
            </a:solidFill>
            <a:prstDash val="dash"/>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7C34DA94-B29D-FBE8-80B2-019EA0970592}"/>
              </a:ext>
            </a:extLst>
          </p:cNvPr>
          <p:cNvGrpSpPr/>
          <p:nvPr/>
        </p:nvGrpSpPr>
        <p:grpSpPr>
          <a:xfrm>
            <a:off x="425556" y="997432"/>
            <a:ext cx="1763584" cy="619154"/>
            <a:chOff x="461390" y="5061353"/>
            <a:chExt cx="1763584" cy="619154"/>
          </a:xfrm>
        </p:grpSpPr>
        <p:sp>
          <p:nvSpPr>
            <p:cNvPr id="6" name="Rectangle: Rounded Corners 5">
              <a:extLst>
                <a:ext uri="{FF2B5EF4-FFF2-40B4-BE49-F238E27FC236}">
                  <a16:creationId xmlns:a16="http://schemas.microsoft.com/office/drawing/2014/main" id="{DDCD7299-BE75-7A11-5E7D-C3767427EB0A}"/>
                </a:ext>
              </a:extLst>
            </p:cNvPr>
            <p:cNvSpPr/>
            <p:nvPr/>
          </p:nvSpPr>
          <p:spPr>
            <a:xfrm>
              <a:off x="461390" y="5061353"/>
              <a:ext cx="1763584" cy="619154"/>
            </a:xfrm>
            <a:prstGeom prst="roundRect">
              <a:avLst>
                <a:gd name="adj" fmla="val 145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cs typeface="Segoe UI Light" panose="020B0502040204020203" pitchFamily="34" charset="0"/>
              </a:endParaRPr>
            </a:p>
          </p:txBody>
        </p:sp>
        <p:sp>
          <p:nvSpPr>
            <p:cNvPr id="7" name="Rectangle 6">
              <a:extLst>
                <a:ext uri="{FF2B5EF4-FFF2-40B4-BE49-F238E27FC236}">
                  <a16:creationId xmlns:a16="http://schemas.microsoft.com/office/drawing/2014/main" id="{841574D1-D40D-D9C1-C576-8EA446CAC960}"/>
                </a:ext>
              </a:extLst>
            </p:cNvPr>
            <p:cNvSpPr/>
            <p:nvPr/>
          </p:nvSpPr>
          <p:spPr>
            <a:xfrm>
              <a:off x="523279" y="5247820"/>
              <a:ext cx="1629352" cy="246221"/>
            </a:xfrm>
            <a:prstGeom prst="rect">
              <a:avLst/>
            </a:prstGeom>
          </p:spPr>
          <p:txBody>
            <a:bodyPr wrap="square">
              <a:spAutoFit/>
            </a:bodyPr>
            <a:lstStyle/>
            <a:p>
              <a:pPr algn="ctr"/>
              <a:r>
                <a:rPr lang="mn-MN" sz="1000" b="1">
                  <a:solidFill>
                    <a:schemeClr val="bg1"/>
                  </a:solidFill>
                  <a:cs typeface="Segoe UI Light" panose="020B0502040204020203" pitchFamily="34" charset="0"/>
                </a:rPr>
                <a:t>ЗОРИЛГО</a:t>
              </a:r>
              <a:endParaRPr lang="mn-MN" sz="1000" b="1" dirty="0">
                <a:solidFill>
                  <a:schemeClr val="bg1"/>
                </a:solidFill>
                <a:cs typeface="Segoe UI Light" panose="020B0502040204020203" pitchFamily="34" charset="0"/>
              </a:endParaRPr>
            </a:p>
          </p:txBody>
        </p:sp>
      </p:grpSp>
      <p:cxnSp>
        <p:nvCxnSpPr>
          <p:cNvPr id="22" name="Straight Connector 21">
            <a:extLst>
              <a:ext uri="{FF2B5EF4-FFF2-40B4-BE49-F238E27FC236}">
                <a16:creationId xmlns:a16="http://schemas.microsoft.com/office/drawing/2014/main" id="{F9A35775-9F90-B564-1881-1B931BD93964}"/>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3589C0F5-034F-780B-579D-DB0478FA3103}"/>
              </a:ext>
            </a:extLst>
          </p:cNvPr>
          <p:cNvGrpSpPr/>
          <p:nvPr/>
        </p:nvGrpSpPr>
        <p:grpSpPr>
          <a:xfrm>
            <a:off x="3903126" y="386359"/>
            <a:ext cx="4385748" cy="322352"/>
            <a:chOff x="4033374" y="215436"/>
            <a:chExt cx="4065373" cy="338092"/>
          </a:xfrm>
        </p:grpSpPr>
        <p:sp>
          <p:nvSpPr>
            <p:cNvPr id="24" name="Rounded Rectangle 40">
              <a:extLst>
                <a:ext uri="{FF2B5EF4-FFF2-40B4-BE49-F238E27FC236}">
                  <a16:creationId xmlns:a16="http://schemas.microsoft.com/office/drawing/2014/main" id="{5F9C1CA7-6FF8-5776-92B9-0372952B10B4}"/>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35" name="Rectangle 34">
              <a:extLst>
                <a:ext uri="{FF2B5EF4-FFF2-40B4-BE49-F238E27FC236}">
                  <a16:creationId xmlns:a16="http://schemas.microsoft.com/office/drawing/2014/main" id="{9CFF2C39-FBF0-B68A-CEE8-9E2AFC2FA8B8}"/>
                </a:ext>
              </a:extLst>
            </p:cNvPr>
            <p:cNvSpPr/>
            <p:nvPr/>
          </p:nvSpPr>
          <p:spPr>
            <a:xfrm>
              <a:off x="4244477" y="219631"/>
              <a:ext cx="3643166" cy="322804"/>
            </a:xfrm>
            <a:prstGeom prst="rect">
              <a:avLst/>
            </a:prstGeom>
          </p:spPr>
          <p:txBody>
            <a:bodyPr wrap="square" anchor="ctr">
              <a:spAutoFit/>
            </a:bodyPr>
            <a:lstStyle/>
            <a:p>
              <a:pPr algn="ctr"/>
              <a:r>
                <a:rPr lang="mn-MN" sz="1400" b="1">
                  <a:solidFill>
                    <a:schemeClr val="bg1"/>
                  </a:solidFill>
                  <a:cs typeface="Segoe UI" panose="020B0502040204020203" pitchFamily="34" charset="0"/>
                </a:rPr>
                <a:t>ЕРӨНХИЙ МЭДЭЭЛЭЛ</a:t>
              </a:r>
              <a:endParaRPr lang="en-US" sz="1400" b="1" dirty="0">
                <a:solidFill>
                  <a:schemeClr val="bg1"/>
                </a:solidFill>
                <a:cs typeface="Segoe UI" panose="020B0502040204020203" pitchFamily="34" charset="0"/>
              </a:endParaRPr>
            </a:p>
          </p:txBody>
        </p:sp>
      </p:grpSp>
    </p:spTree>
    <p:extLst>
      <p:ext uri="{BB962C8B-B14F-4D97-AF65-F5344CB8AC3E}">
        <p14:creationId xmlns:p14="http://schemas.microsoft.com/office/powerpoint/2010/main" val="2429245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C95DCAF6-DDAB-B2DD-F7F8-F961B7D7A96A}"/>
              </a:ext>
            </a:extLst>
          </p:cNvPr>
          <p:cNvSpPr/>
          <p:nvPr/>
        </p:nvSpPr>
        <p:spPr>
          <a:xfrm>
            <a:off x="6627544" y="1979700"/>
            <a:ext cx="4431125" cy="3053572"/>
          </a:xfrm>
          <a:prstGeom prst="roundRect">
            <a:avLst>
              <a:gd name="adj" fmla="val 0"/>
            </a:avLst>
          </a:prstGeom>
          <a:solidFill>
            <a:schemeClr val="bg1"/>
          </a:solidFill>
          <a:ln>
            <a:noFill/>
          </a:ln>
          <a:effectLst>
            <a:outerShdw blurRad="152400" dir="16560000" sx="103000" sy="103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nSpc>
                <a:spcPts val="1800"/>
              </a:lnSpc>
            </a:pPr>
            <a:endParaRPr lang="mn-MN" sz="1100" i="1" dirty="0">
              <a:solidFill>
                <a:srgbClr val="0A0A0A"/>
              </a:solidFill>
              <a:latin typeface="Segoe UI" panose="020B0502040204020203" pitchFamily="34" charset="0"/>
              <a:cs typeface="Segoe UI" panose="020B0502040204020203" pitchFamily="34" charset="0"/>
            </a:endParaRPr>
          </a:p>
        </p:txBody>
      </p:sp>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7</a:t>
            </a:fld>
            <a:endParaRPr lang="en-US" sz="1200" dirty="0">
              <a:solidFill>
                <a:schemeClr val="bg1">
                  <a:lumMod val="65000"/>
                </a:schemeClr>
              </a:solidFill>
              <a:cs typeface="Segoe UI Light" panose="020B0502040204020203" pitchFamily="34" charset="0"/>
            </a:endParaRPr>
          </a:p>
        </p:txBody>
      </p:sp>
      <p:grpSp>
        <p:nvGrpSpPr>
          <p:cNvPr id="2" name="Group 1">
            <a:extLst>
              <a:ext uri="{FF2B5EF4-FFF2-40B4-BE49-F238E27FC236}">
                <a16:creationId xmlns:a16="http://schemas.microsoft.com/office/drawing/2014/main" id="{5426873C-D579-B249-1B39-1DB1A010F3CE}"/>
              </a:ext>
            </a:extLst>
          </p:cNvPr>
          <p:cNvGrpSpPr/>
          <p:nvPr/>
        </p:nvGrpSpPr>
        <p:grpSpPr>
          <a:xfrm>
            <a:off x="1983977" y="402273"/>
            <a:ext cx="8772686"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6"/>
            </a:xfrm>
            <a:prstGeom prst="rect">
              <a:avLst/>
            </a:prstGeom>
          </p:spPr>
          <p:txBody>
            <a:bodyPr wrap="square" anchor="ctr">
              <a:spAutoFit/>
            </a:bodyPr>
            <a:lstStyle/>
            <a:p>
              <a:pPr algn="ctr"/>
              <a:r>
                <a:rPr lang="mn-MN" sz="1400" b="1">
                  <a:solidFill>
                    <a:schemeClr val="bg1"/>
                  </a:solidFill>
                  <a:cs typeface="Segoe UI" panose="020B0502040204020203" pitchFamily="34" charset="0"/>
                </a:rPr>
                <a:t>ЗАХ ЗЭЭЛИЙН СУДАЛГАА</a:t>
              </a:r>
            </a:p>
          </p:txBody>
        </p:sp>
      </p:grpSp>
      <p:grpSp>
        <p:nvGrpSpPr>
          <p:cNvPr id="29" name="Group 28">
            <a:extLst>
              <a:ext uri="{FF2B5EF4-FFF2-40B4-BE49-F238E27FC236}">
                <a16:creationId xmlns:a16="http://schemas.microsoft.com/office/drawing/2014/main" id="{9234E9AC-20B7-FB81-65F7-D499268C7BA2}"/>
              </a:ext>
            </a:extLst>
          </p:cNvPr>
          <p:cNvGrpSpPr/>
          <p:nvPr/>
        </p:nvGrpSpPr>
        <p:grpSpPr>
          <a:xfrm>
            <a:off x="346779" y="5230915"/>
            <a:ext cx="11498442" cy="877821"/>
            <a:chOff x="299549" y="5319611"/>
            <a:chExt cx="11498442" cy="877821"/>
          </a:xfrm>
        </p:grpSpPr>
        <p:sp>
          <p:nvSpPr>
            <p:cNvPr id="11" name="Rectangle: Rounded Corners 10">
              <a:extLst>
                <a:ext uri="{FF2B5EF4-FFF2-40B4-BE49-F238E27FC236}">
                  <a16:creationId xmlns:a16="http://schemas.microsoft.com/office/drawing/2014/main" id="{A0F68116-7D2D-FBD3-1BA2-9917F8CA66B9}"/>
                </a:ext>
              </a:extLst>
            </p:cNvPr>
            <p:cNvSpPr/>
            <p:nvPr/>
          </p:nvSpPr>
          <p:spPr>
            <a:xfrm>
              <a:off x="299549" y="5319611"/>
              <a:ext cx="11498442" cy="877821"/>
            </a:xfrm>
            <a:prstGeom prst="roundRect">
              <a:avLst/>
            </a:prstGeom>
            <a:solidFill>
              <a:schemeClr val="bg1"/>
            </a:solidFill>
            <a:ln>
              <a:noFill/>
            </a:ln>
            <a:effectLst>
              <a:outerShdw blurRad="50800" dist="25400" dir="2400000" algn="l" rotWithShape="0">
                <a:srgbClr val="00B0F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nSpc>
                  <a:spcPts val="1800"/>
                </a:lnSpc>
              </a:pPr>
              <a:endParaRPr lang="mn-MN" sz="1100" i="1" dirty="0">
                <a:solidFill>
                  <a:srgbClr val="0A0A0A"/>
                </a:solidFill>
                <a:latin typeface="Segoe UI" panose="020B0502040204020203" pitchFamily="34" charset="0"/>
                <a:cs typeface="Segoe UI" panose="020B0502040204020203" pitchFamily="34" charset="0"/>
              </a:endParaRPr>
            </a:p>
          </p:txBody>
        </p:sp>
        <p:sp>
          <p:nvSpPr>
            <p:cNvPr id="12" name="TextBox 11">
              <a:extLst>
                <a:ext uri="{FF2B5EF4-FFF2-40B4-BE49-F238E27FC236}">
                  <a16:creationId xmlns:a16="http://schemas.microsoft.com/office/drawing/2014/main" id="{89C819EB-3710-F2D9-53DA-CA7361694E1A}"/>
                </a:ext>
              </a:extLst>
            </p:cNvPr>
            <p:cNvSpPr txBox="1"/>
            <p:nvPr/>
          </p:nvSpPr>
          <p:spPr>
            <a:xfrm>
              <a:off x="551265" y="5430683"/>
              <a:ext cx="11089469" cy="713850"/>
            </a:xfrm>
            <a:prstGeom prst="rect">
              <a:avLst/>
            </a:prstGeom>
            <a:noFill/>
          </p:spPr>
          <p:txBody>
            <a:bodyPr wrap="square" rtlCol="0">
              <a:spAutoFit/>
            </a:bodyPr>
            <a:lstStyle/>
            <a:p>
              <a:pPr algn="just">
                <a:lnSpc>
                  <a:spcPct val="114000"/>
                </a:lnSpc>
              </a:pPr>
              <a:r>
                <a:rPr lang="mn-MN" sz="1200" i="1">
                  <a:uFill>
                    <a:solidFill>
                      <a:srgbClr val="074386"/>
                    </a:solidFill>
                  </a:uFill>
                  <a:cs typeface="Times New Roman"/>
                </a:rPr>
                <a:t>Эхний байдлаар Гастрономи ХХК /</a:t>
              </a:r>
              <a:r>
                <a:rPr lang="en-US" sz="1200" i="1">
                  <a:uFill>
                    <a:solidFill>
                      <a:srgbClr val="074386"/>
                    </a:solidFill>
                  </a:uFill>
                  <a:cs typeface="Times New Roman"/>
                </a:rPr>
                <a:t>Mom’s touch/</a:t>
              </a:r>
              <a:r>
                <a:rPr lang="mn-MN" sz="1200" i="1">
                  <a:uFill>
                    <a:solidFill>
                      <a:srgbClr val="074386"/>
                    </a:solidFill>
                  </a:uFill>
                  <a:cs typeface="Times New Roman"/>
                </a:rPr>
                <a:t>, Каппэ бэнэ монголиа ХХК /</a:t>
              </a:r>
              <a:r>
                <a:rPr lang="en-US" sz="1200" i="1">
                  <a:uFill>
                    <a:solidFill>
                      <a:srgbClr val="074386"/>
                    </a:solidFill>
                  </a:uFill>
                  <a:cs typeface="Times New Roman"/>
                </a:rPr>
                <a:t>Caffe Bene/  </a:t>
              </a:r>
              <a:r>
                <a:rPr lang="mn-MN" sz="1200" i="1">
                  <a:uFill>
                    <a:solidFill>
                      <a:srgbClr val="074386"/>
                    </a:solidFill>
                  </a:uFill>
                  <a:cs typeface="Times New Roman"/>
                </a:rPr>
                <a:t>нар тус зээлийн нөхцөлтэй хамтран ажиллахаар ЗБДСангийн шийдвэр, нөхцөлүүд дээрх байдлаар батлагдсан байна. Цаашид бусад сүлжээ, франчайз эрх олгогч байгууллагуудтай хамтран ажиллах боломжтой байна. </a:t>
              </a:r>
              <a:endParaRPr lang="en-US" sz="1200" i="1" dirty="0">
                <a:uFill>
                  <a:solidFill>
                    <a:srgbClr val="074386"/>
                  </a:solidFill>
                </a:uFill>
                <a:cs typeface="Times New Roman"/>
              </a:endParaRPr>
            </a:p>
          </p:txBody>
        </p:sp>
      </p:grpSp>
      <p:sp>
        <p:nvSpPr>
          <p:cNvPr id="13" name="TextBox 12">
            <a:extLst>
              <a:ext uri="{FF2B5EF4-FFF2-40B4-BE49-F238E27FC236}">
                <a16:creationId xmlns:a16="http://schemas.microsoft.com/office/drawing/2014/main" id="{A16C351B-5BEB-D4A2-8464-8AD3E7422AAD}"/>
              </a:ext>
            </a:extLst>
          </p:cNvPr>
          <p:cNvSpPr txBox="1"/>
          <p:nvPr/>
        </p:nvSpPr>
        <p:spPr>
          <a:xfrm>
            <a:off x="313189" y="1283142"/>
            <a:ext cx="4163561" cy="307777"/>
          </a:xfrm>
          <a:prstGeom prst="rect">
            <a:avLst/>
          </a:prstGeom>
          <a:noFill/>
        </p:spPr>
        <p:txBody>
          <a:bodyPr wrap="square" rtlCol="0">
            <a:spAutoFit/>
          </a:bodyPr>
          <a:lstStyle/>
          <a:p>
            <a:pPr algn="ctr"/>
            <a:r>
              <a:rPr lang="mn-MN" sz="1400" b="1">
                <a:solidFill>
                  <a:srgbClr val="002060"/>
                </a:solidFill>
                <a:cs typeface="Segoe UI" panose="020B0502040204020203" pitchFamily="34" charset="0"/>
              </a:rPr>
              <a:t>ХАМТРАН АЖИЛЛАХ ФРАНЧАЙЗ БРЕНДҮҮД</a:t>
            </a:r>
            <a:endParaRPr lang="en-US" sz="1400" b="1" dirty="0">
              <a:solidFill>
                <a:srgbClr val="002060"/>
              </a:solidFill>
              <a:cs typeface="Segoe UI" panose="020B0502040204020203" pitchFamily="34" charset="0"/>
            </a:endParaRPr>
          </a:p>
        </p:txBody>
      </p:sp>
      <p:sp>
        <p:nvSpPr>
          <p:cNvPr id="5" name="Rectangle: Rounded Corners 4">
            <a:extLst>
              <a:ext uri="{FF2B5EF4-FFF2-40B4-BE49-F238E27FC236}">
                <a16:creationId xmlns:a16="http://schemas.microsoft.com/office/drawing/2014/main" id="{404D1993-DB48-E50E-BD5E-49EF7E6A4231}"/>
              </a:ext>
            </a:extLst>
          </p:cNvPr>
          <p:cNvSpPr/>
          <p:nvPr/>
        </p:nvSpPr>
        <p:spPr>
          <a:xfrm>
            <a:off x="883294" y="1958912"/>
            <a:ext cx="4431125" cy="3074359"/>
          </a:xfrm>
          <a:prstGeom prst="roundRect">
            <a:avLst>
              <a:gd name="adj" fmla="val 0"/>
            </a:avLst>
          </a:prstGeom>
          <a:solidFill>
            <a:schemeClr val="bg1"/>
          </a:solidFill>
          <a:ln>
            <a:noFill/>
          </a:ln>
          <a:effectLst>
            <a:outerShdw blurRad="152400" dir="16560000" sx="103000" sy="103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nSpc>
                <a:spcPts val="1800"/>
              </a:lnSpc>
            </a:pPr>
            <a:endParaRPr lang="mn-MN" sz="1100" i="1" dirty="0">
              <a:solidFill>
                <a:srgbClr val="0A0A0A"/>
              </a:solidFill>
              <a:latin typeface="Segoe UI" panose="020B0502040204020203" pitchFamily="34" charset="0"/>
              <a:cs typeface="Segoe UI" panose="020B0502040204020203" pitchFamily="34" charset="0"/>
            </a:endParaRPr>
          </a:p>
        </p:txBody>
      </p:sp>
      <p:sp>
        <p:nvSpPr>
          <p:cNvPr id="10" name="Rectangle 9">
            <a:extLst>
              <a:ext uri="{FF2B5EF4-FFF2-40B4-BE49-F238E27FC236}">
                <a16:creationId xmlns:a16="http://schemas.microsoft.com/office/drawing/2014/main" id="{DE308958-3DB2-55C8-DE17-2BEE76CE6E5D}"/>
              </a:ext>
            </a:extLst>
          </p:cNvPr>
          <p:cNvSpPr/>
          <p:nvPr/>
        </p:nvSpPr>
        <p:spPr>
          <a:xfrm>
            <a:off x="883294" y="1892407"/>
            <a:ext cx="4431125" cy="87292"/>
          </a:xfrm>
          <a:prstGeom prst="rect">
            <a:avLst/>
          </a:prstGeom>
          <a:solidFill>
            <a:srgbClr val="705A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Image 1" descr="assets/caffebene.png">
            <a:extLst>
              <a:ext uri="{FF2B5EF4-FFF2-40B4-BE49-F238E27FC236}">
                <a16:creationId xmlns:a16="http://schemas.microsoft.com/office/drawing/2014/main" id="{EB42E571-FC18-2592-2327-F305B188BA63}"/>
              </a:ext>
            </a:extLst>
          </p:cNvPr>
          <p:cNvPicPr>
            <a:picLocks noChangeAspect="1"/>
          </p:cNvPicPr>
          <p:nvPr/>
        </p:nvPicPr>
        <p:blipFill>
          <a:blip r:embed="rId3"/>
          <a:stretch>
            <a:fillRect/>
          </a:stretch>
        </p:blipFill>
        <p:spPr>
          <a:xfrm>
            <a:off x="2111746" y="2000277"/>
            <a:ext cx="1675250" cy="929494"/>
          </a:xfrm>
          <a:prstGeom prst="rect">
            <a:avLst/>
          </a:prstGeom>
        </p:spPr>
      </p:pic>
      <p:pic>
        <p:nvPicPr>
          <p:cNvPr id="18" name="Picture 17">
            <a:extLst>
              <a:ext uri="{FF2B5EF4-FFF2-40B4-BE49-F238E27FC236}">
                <a16:creationId xmlns:a16="http://schemas.microsoft.com/office/drawing/2014/main" id="{4DC06B67-F4BE-DCB8-5605-8029CF12C96B}"/>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rcRect l="-2789" t="-1" r="-341" b="69154"/>
          <a:stretch/>
        </p:blipFill>
        <p:spPr>
          <a:xfrm>
            <a:off x="8038776" y="2431186"/>
            <a:ext cx="1608665" cy="241761"/>
          </a:xfrm>
          <a:prstGeom prst="rect">
            <a:avLst/>
          </a:prstGeom>
        </p:spPr>
      </p:pic>
      <p:sp>
        <p:nvSpPr>
          <p:cNvPr id="20" name="Rectangle 19">
            <a:extLst>
              <a:ext uri="{FF2B5EF4-FFF2-40B4-BE49-F238E27FC236}">
                <a16:creationId xmlns:a16="http://schemas.microsoft.com/office/drawing/2014/main" id="{C6F1A0F9-98CA-648A-8594-0A23C9C604DD}"/>
              </a:ext>
            </a:extLst>
          </p:cNvPr>
          <p:cNvSpPr/>
          <p:nvPr/>
        </p:nvSpPr>
        <p:spPr>
          <a:xfrm>
            <a:off x="6627544" y="1902029"/>
            <a:ext cx="4431125" cy="77670"/>
          </a:xfrm>
          <a:prstGeom prst="rect">
            <a:avLst/>
          </a:prstGeom>
          <a:solidFill>
            <a:srgbClr val="FFA7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995C516-0FF5-E07B-6C48-7E5E3793C360}"/>
              </a:ext>
            </a:extLst>
          </p:cNvPr>
          <p:cNvSpPr txBox="1"/>
          <p:nvPr/>
        </p:nvSpPr>
        <p:spPr>
          <a:xfrm>
            <a:off x="1964759" y="3003521"/>
            <a:ext cx="2268193"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mn-MN" sz="1100" b="1">
                <a:solidFill>
                  <a:srgbClr val="705A4D"/>
                </a:solidFill>
              </a:rPr>
              <a:t>КАППЭ БЭНЭ МОНГОЛИА ХХК</a:t>
            </a:r>
            <a:endParaRPr lang="en-US" sz="1100" b="1" dirty="0">
              <a:solidFill>
                <a:srgbClr val="705A4D"/>
              </a:solidFill>
              <a:latin typeface="+mn-lt"/>
              <a:cs typeface="Segoe UI" panose="020B0502040204020203" pitchFamily="34" charset="0"/>
            </a:endParaRPr>
          </a:p>
        </p:txBody>
      </p:sp>
      <p:sp>
        <p:nvSpPr>
          <p:cNvPr id="25" name="TextBox 24">
            <a:extLst>
              <a:ext uri="{FF2B5EF4-FFF2-40B4-BE49-F238E27FC236}">
                <a16:creationId xmlns:a16="http://schemas.microsoft.com/office/drawing/2014/main" id="{31341C15-965D-CAA7-F611-8A85A565D3B5}"/>
              </a:ext>
            </a:extLst>
          </p:cNvPr>
          <p:cNvSpPr txBox="1"/>
          <p:nvPr/>
        </p:nvSpPr>
        <p:spPr>
          <a:xfrm>
            <a:off x="8090418" y="3002501"/>
            <a:ext cx="1505376" cy="261610"/>
          </a:xfrm>
          <a:prstGeom prst="rect">
            <a:avLst/>
          </a:prstGeom>
          <a:noFill/>
        </p:spPr>
        <p:txBody>
          <a:bodyPr wrap="square">
            <a:spAutoFit/>
          </a:bodyPr>
          <a:lstStyle/>
          <a:p>
            <a:pPr algn="ctr"/>
            <a:r>
              <a:rPr lang="mn-MN" sz="1100" b="1" i="0">
                <a:solidFill>
                  <a:srgbClr val="FFA705"/>
                </a:solidFill>
                <a:uFill>
                  <a:solidFill>
                    <a:srgbClr val="074386"/>
                  </a:solidFill>
                </a:uFill>
                <a:cs typeface="Times New Roman"/>
              </a:rPr>
              <a:t>ГАСТРОНОМИ ХХК </a:t>
            </a:r>
            <a:endParaRPr lang="en-US" sz="1100" b="1" i="0" dirty="0">
              <a:solidFill>
                <a:srgbClr val="FFA705"/>
              </a:solidFill>
              <a:latin typeface="+mn-lt"/>
              <a:cs typeface="Segoe UI" panose="020B0502040204020203" pitchFamily="34" charset="0"/>
            </a:endParaRPr>
          </a:p>
        </p:txBody>
      </p:sp>
      <p:graphicFrame>
        <p:nvGraphicFramePr>
          <p:cNvPr id="26" name="Table 25">
            <a:extLst>
              <a:ext uri="{FF2B5EF4-FFF2-40B4-BE49-F238E27FC236}">
                <a16:creationId xmlns:a16="http://schemas.microsoft.com/office/drawing/2014/main" id="{77E7F7EA-C880-272E-EFC6-B731502FD416}"/>
              </a:ext>
            </a:extLst>
          </p:cNvPr>
          <p:cNvGraphicFramePr>
            <a:graphicFrameLocks noGrp="1"/>
          </p:cNvGraphicFramePr>
          <p:nvPr>
            <p:extLst>
              <p:ext uri="{D42A27DB-BD31-4B8C-83A1-F6EECF244321}">
                <p14:modId xmlns:p14="http://schemas.microsoft.com/office/powerpoint/2010/main" val="3049730450"/>
              </p:ext>
            </p:extLst>
          </p:nvPr>
        </p:nvGraphicFramePr>
        <p:xfrm>
          <a:off x="1084691" y="3331970"/>
          <a:ext cx="4028330" cy="1630380"/>
        </p:xfrm>
        <a:graphic>
          <a:graphicData uri="http://schemas.openxmlformats.org/drawingml/2006/table">
            <a:tbl>
              <a:tblPr firstRow="1" bandRow="1">
                <a:tableStyleId>{7E9639D4-E3E2-4D34-9284-5A2195B3D0D7}</a:tableStyleId>
              </a:tblPr>
              <a:tblGrid>
                <a:gridCol w="1887109">
                  <a:extLst>
                    <a:ext uri="{9D8B030D-6E8A-4147-A177-3AD203B41FA5}">
                      <a16:colId xmlns:a16="http://schemas.microsoft.com/office/drawing/2014/main" val="842720277"/>
                    </a:ext>
                  </a:extLst>
                </a:gridCol>
                <a:gridCol w="2141221">
                  <a:extLst>
                    <a:ext uri="{9D8B030D-6E8A-4147-A177-3AD203B41FA5}">
                      <a16:colId xmlns:a16="http://schemas.microsoft.com/office/drawing/2014/main" val="628289793"/>
                    </a:ext>
                  </a:extLst>
                </a:gridCol>
              </a:tblGrid>
              <a:tr h="289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rPr>
                        <a:t>Үйл ажиллагаа</a:t>
                      </a:r>
                      <a:r>
                        <a:rPr lang="en-US" sz="1050" b="0">
                          <a:solidFill>
                            <a:sysClr val="windowText" lastClr="000000"/>
                          </a:solidFill>
                        </a:rPr>
                        <a:t> </a:t>
                      </a:r>
                      <a:r>
                        <a:rPr lang="mn-MN" sz="1050" b="0">
                          <a:solidFill>
                            <a:sysClr val="windowText" lastClr="000000"/>
                          </a:solidFill>
                        </a:rPr>
                        <a:t>эхэлсэн он</a:t>
                      </a:r>
                      <a:r>
                        <a:rPr lang="en-US" sz="1050" b="0">
                          <a:solidFill>
                            <a:sysClr val="windowText" lastClr="000000"/>
                          </a:solidFill>
                        </a:rPr>
                        <a:t>:</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r>
                        <a:rPr lang="en-US" sz="1050" b="0" dirty="0">
                          <a:solidFill>
                            <a:sysClr val="windowText" lastClr="000000"/>
                          </a:solidFill>
                        </a:rPr>
                        <a:t>2013</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292836002"/>
                  </a:ext>
                </a:extLst>
              </a:tr>
              <a:tr h="289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dirty="0">
                          <a:solidFill>
                            <a:sysClr val="windowText" lastClr="000000"/>
                          </a:solidFill>
                        </a:rPr>
                        <a:t>Төрөл:</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mn-MN" sz="1050" b="0" dirty="0">
                          <a:solidFill>
                            <a:sysClr val="windowText" lastClr="000000"/>
                          </a:solidFill>
                        </a:rPr>
                        <a:t>БНСУ-ын </a:t>
                      </a:r>
                      <a:r>
                        <a:rPr lang="en-US" sz="1050" b="0" dirty="0">
                          <a:solidFill>
                            <a:sysClr val="windowText" lastClr="000000"/>
                          </a:solidFill>
                        </a:rPr>
                        <a:t>Caffe Bene </a:t>
                      </a:r>
                      <a:r>
                        <a:rPr lang="mn-MN" sz="1050" b="0" dirty="0">
                          <a:solidFill>
                            <a:sysClr val="windowText" lastClr="000000"/>
                          </a:solidFill>
                        </a:rPr>
                        <a:t>кофе шоп</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230525768"/>
                  </a:ext>
                </a:extLst>
              </a:tr>
              <a:tr h="4733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dirty="0">
                          <a:solidFill>
                            <a:sysClr val="windowText" lastClr="000000"/>
                          </a:solidFill>
                        </a:rPr>
                        <a:t>Франчайз </a:t>
                      </a:r>
                      <a:r>
                        <a:rPr lang="mn-MN" sz="1050" b="0">
                          <a:solidFill>
                            <a:sysClr val="windowText" lastClr="000000"/>
                          </a:solidFill>
                        </a:rPr>
                        <a:t>төлбөр  </a:t>
                      </a:r>
                    </a:p>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rPr>
                        <a:t>/Нэг удаа/:</a:t>
                      </a:r>
                      <a:endParaRPr lang="mn-MN"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en-US" sz="1050" b="0">
                          <a:solidFill>
                            <a:sysClr val="windowText" lastClr="000000"/>
                          </a:solidFill>
                        </a:rPr>
                        <a:t>~140,000</a:t>
                      </a:r>
                      <a:r>
                        <a:rPr lang="en-US" sz="1050" b="0" dirty="0">
                          <a:solidFill>
                            <a:sysClr val="windowText" lastClr="000000"/>
                          </a:solidFill>
                        </a:rPr>
                        <a:t>$</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842562738"/>
                  </a:ext>
                </a:extLst>
              </a:tr>
              <a:tr h="289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rPr>
                        <a:t>Нийт салбарын тоо</a:t>
                      </a:r>
                      <a:endParaRPr lang="mn-MN"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en-US" sz="1050" b="0">
                          <a:solidFill>
                            <a:sysClr val="windowText" lastClr="000000"/>
                          </a:solidFill>
                        </a:rPr>
                        <a:t>31</a:t>
                      </a:r>
                      <a:r>
                        <a:rPr lang="mn-MN" sz="1050" b="0">
                          <a:solidFill>
                            <a:sysClr val="windowText" lastClr="000000"/>
                          </a:solidFill>
                        </a:rPr>
                        <a:t> салбар</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551395400"/>
                  </a:ext>
                </a:extLst>
              </a:tr>
              <a:tr h="289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latin typeface="+mn-lt"/>
                          <a:cs typeface="Segoe UI" panose="020B0502040204020203" pitchFamily="34" charset="0"/>
                        </a:rPr>
                        <a:t>Салбарын бүтэц</a:t>
                      </a:r>
                      <a:endParaRPr lang="mn-MN"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en-US" sz="1050" b="0">
                          <a:solidFill>
                            <a:sysClr val="windowText" lastClr="000000"/>
                          </a:solidFill>
                        </a:rPr>
                        <a:t>/ 9</a:t>
                      </a:r>
                      <a:r>
                        <a:rPr lang="mn-MN" sz="1050" b="0">
                          <a:solidFill>
                            <a:sysClr val="windowText" lastClr="000000"/>
                          </a:solidFill>
                        </a:rPr>
                        <a:t>-н үндсэн, </a:t>
                      </a:r>
                      <a:r>
                        <a:rPr lang="en-US" sz="1050" b="0">
                          <a:solidFill>
                            <a:sysClr val="windowText" lastClr="000000"/>
                          </a:solidFill>
                        </a:rPr>
                        <a:t>22</a:t>
                      </a:r>
                      <a:r>
                        <a:rPr lang="mn-MN" sz="1050" b="0">
                          <a:solidFill>
                            <a:sysClr val="windowText" lastClr="000000"/>
                          </a:solidFill>
                        </a:rPr>
                        <a:t>н франчайз</a:t>
                      </a:r>
                      <a:r>
                        <a:rPr lang="en-US" sz="1050" b="0">
                          <a:solidFill>
                            <a:sysClr val="windowText" lastClr="000000"/>
                          </a:solidFill>
                        </a:rPr>
                        <a:t>/</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225361537"/>
                  </a:ext>
                </a:extLst>
              </a:tr>
            </a:tbl>
          </a:graphicData>
        </a:graphic>
      </p:graphicFrame>
      <p:graphicFrame>
        <p:nvGraphicFramePr>
          <p:cNvPr id="27" name="Table 26">
            <a:extLst>
              <a:ext uri="{FF2B5EF4-FFF2-40B4-BE49-F238E27FC236}">
                <a16:creationId xmlns:a16="http://schemas.microsoft.com/office/drawing/2014/main" id="{ABD27BDA-F0FA-0591-7725-17CCF44C07FA}"/>
              </a:ext>
            </a:extLst>
          </p:cNvPr>
          <p:cNvGraphicFramePr>
            <a:graphicFrameLocks noGrp="1"/>
          </p:cNvGraphicFramePr>
          <p:nvPr>
            <p:extLst>
              <p:ext uri="{D42A27DB-BD31-4B8C-83A1-F6EECF244321}">
                <p14:modId xmlns:p14="http://schemas.microsoft.com/office/powerpoint/2010/main" val="1683621126"/>
              </p:ext>
            </p:extLst>
          </p:nvPr>
        </p:nvGraphicFramePr>
        <p:xfrm>
          <a:off x="6828941" y="3323657"/>
          <a:ext cx="4028330" cy="1577340"/>
        </p:xfrm>
        <a:graphic>
          <a:graphicData uri="http://schemas.openxmlformats.org/drawingml/2006/table">
            <a:tbl>
              <a:tblPr firstRow="1" bandRow="1">
                <a:tableStyleId>{7E9639D4-E3E2-4D34-9284-5A2195B3D0D7}</a:tableStyleId>
              </a:tblPr>
              <a:tblGrid>
                <a:gridCol w="1857858">
                  <a:extLst>
                    <a:ext uri="{9D8B030D-6E8A-4147-A177-3AD203B41FA5}">
                      <a16:colId xmlns:a16="http://schemas.microsoft.com/office/drawing/2014/main" val="842720277"/>
                    </a:ext>
                  </a:extLst>
                </a:gridCol>
                <a:gridCol w="2170472">
                  <a:extLst>
                    <a:ext uri="{9D8B030D-6E8A-4147-A177-3AD203B41FA5}">
                      <a16:colId xmlns:a16="http://schemas.microsoft.com/office/drawing/2014/main" val="628289793"/>
                    </a:ext>
                  </a:extLst>
                </a:gridCol>
              </a:tblGrid>
              <a:tr h="2089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rPr>
                        <a:t>Үйл ажиллагаа</a:t>
                      </a:r>
                      <a:r>
                        <a:rPr lang="en-US" sz="1050" b="0">
                          <a:solidFill>
                            <a:sysClr val="windowText" lastClr="000000"/>
                          </a:solidFill>
                        </a:rPr>
                        <a:t> </a:t>
                      </a:r>
                      <a:r>
                        <a:rPr lang="mn-MN" sz="1050" b="0">
                          <a:solidFill>
                            <a:sysClr val="windowText" lastClr="000000"/>
                          </a:solidFill>
                        </a:rPr>
                        <a:t>эхэлсэн он</a:t>
                      </a:r>
                      <a:r>
                        <a:rPr lang="en-US" sz="1050" b="0">
                          <a:solidFill>
                            <a:sysClr val="windowText" lastClr="000000"/>
                          </a:solidFill>
                        </a:rPr>
                        <a:t>:</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r>
                        <a:rPr lang="en-US" sz="1050" b="0" dirty="0">
                          <a:solidFill>
                            <a:sysClr val="windowText" lastClr="000000"/>
                          </a:solidFill>
                        </a:rPr>
                        <a:t>2023</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3292836002"/>
                  </a:ext>
                </a:extLst>
              </a:tr>
              <a:tr h="341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dirty="0">
                          <a:solidFill>
                            <a:sysClr val="windowText" lastClr="000000"/>
                          </a:solidFill>
                        </a:rPr>
                        <a:t>Төрөл:</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mn-MN" sz="1050" b="0" dirty="0">
                          <a:solidFill>
                            <a:sysClr val="windowText" lastClr="000000"/>
                          </a:solidFill>
                        </a:rPr>
                        <a:t>БНСУ-ын </a:t>
                      </a:r>
                      <a:r>
                        <a:rPr lang="en-US" sz="1050" b="0" dirty="0">
                          <a:solidFill>
                            <a:sysClr val="windowText" lastClr="000000"/>
                          </a:solidFill>
                        </a:rPr>
                        <a:t>Mom’s Touch </a:t>
                      </a:r>
                      <a:r>
                        <a:rPr lang="mn-MN" sz="1050" b="0" dirty="0">
                          <a:solidFill>
                            <a:sysClr val="windowText" lastClr="000000"/>
                          </a:solidFill>
                        </a:rPr>
                        <a:t>түргэн хоолны /тахиа/ сүлжээ</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230525768"/>
                  </a:ext>
                </a:extLst>
              </a:tr>
              <a:tr h="341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dirty="0">
                          <a:solidFill>
                            <a:sysClr val="windowText" lastClr="000000"/>
                          </a:solidFill>
                        </a:rPr>
                        <a:t>Франчайз </a:t>
                      </a:r>
                      <a:r>
                        <a:rPr lang="mn-MN" sz="1050" b="0">
                          <a:solidFill>
                            <a:sysClr val="windowText" lastClr="000000"/>
                          </a:solidFill>
                        </a:rPr>
                        <a:t>төлбөр  </a:t>
                      </a:r>
                    </a:p>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rPr>
                        <a:t>/Нэг удаа/:</a:t>
                      </a:r>
                      <a:endParaRPr lang="mn-MN"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a:solidFill>
                            <a:sysClr val="windowText" lastClr="000000"/>
                          </a:solidFill>
                        </a:rPr>
                        <a:t>~120,000</a:t>
                      </a:r>
                      <a:r>
                        <a:rPr lang="en-US" sz="1050" b="0" dirty="0">
                          <a:solidFill>
                            <a:sysClr val="windowText" lastClr="000000"/>
                          </a:solidFill>
                        </a:rPr>
                        <a:t>$</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842562738"/>
                  </a:ext>
                </a:extLst>
              </a:tr>
              <a:tr h="2089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rPr>
                        <a:t>Нийт салбарын тоо</a:t>
                      </a:r>
                      <a:endParaRPr lang="mn-MN"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en-US" sz="1050" b="0">
                          <a:solidFill>
                            <a:sysClr val="windowText" lastClr="000000"/>
                          </a:solidFill>
                        </a:rPr>
                        <a:t>20</a:t>
                      </a:r>
                      <a:r>
                        <a:rPr lang="mn-MN" sz="1050" b="0">
                          <a:solidFill>
                            <a:sysClr val="windowText" lastClr="000000"/>
                          </a:solidFill>
                        </a:rPr>
                        <a:t> салбар</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55139540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050" b="0">
                          <a:solidFill>
                            <a:sysClr val="windowText" lastClr="000000"/>
                          </a:solidFill>
                          <a:latin typeface="+mn-lt"/>
                          <a:cs typeface="Segoe UI" panose="020B0502040204020203" pitchFamily="34" charset="0"/>
                        </a:rPr>
                        <a:t>Салбарын бүтэц</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en-US" sz="1050" b="0">
                          <a:solidFill>
                            <a:sysClr val="windowText" lastClr="000000"/>
                          </a:solidFill>
                        </a:rPr>
                        <a:t>/ 16</a:t>
                      </a:r>
                      <a:r>
                        <a:rPr lang="mn-MN" sz="1050" b="0">
                          <a:solidFill>
                            <a:sysClr val="windowText" lastClr="000000"/>
                          </a:solidFill>
                        </a:rPr>
                        <a:t>-н үндсэн, </a:t>
                      </a:r>
                      <a:r>
                        <a:rPr lang="en-US" sz="1050" b="0">
                          <a:solidFill>
                            <a:sysClr val="windowText" lastClr="000000"/>
                          </a:solidFill>
                        </a:rPr>
                        <a:t>4</a:t>
                      </a:r>
                      <a:r>
                        <a:rPr lang="mn-MN" sz="1050" b="0">
                          <a:solidFill>
                            <a:sysClr val="windowText" lastClr="000000"/>
                          </a:solidFill>
                        </a:rPr>
                        <a:t>-н франчайз</a:t>
                      </a:r>
                      <a:r>
                        <a:rPr lang="en-US" sz="1050" b="0">
                          <a:solidFill>
                            <a:sysClr val="windowText" lastClr="000000"/>
                          </a:solidFill>
                        </a:rPr>
                        <a:t>/</a:t>
                      </a:r>
                      <a:endParaRPr lang="en-US" sz="1050" b="0" dirty="0">
                        <a:solidFill>
                          <a:sysClr val="windowText" lastClr="000000"/>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984330979"/>
                  </a:ext>
                </a:extLst>
              </a:tr>
            </a:tbl>
          </a:graphicData>
        </a:graphic>
      </p:graphicFrame>
      <p:sp>
        <p:nvSpPr>
          <p:cNvPr id="30" name="TextBox 29">
            <a:extLst>
              <a:ext uri="{FF2B5EF4-FFF2-40B4-BE49-F238E27FC236}">
                <a16:creationId xmlns:a16="http://schemas.microsoft.com/office/drawing/2014/main" id="{A5A08FFA-921E-14D9-2E21-F967E462F8AE}"/>
              </a:ext>
            </a:extLst>
          </p:cNvPr>
          <p:cNvSpPr txBox="1"/>
          <p:nvPr/>
        </p:nvSpPr>
        <p:spPr>
          <a:xfrm>
            <a:off x="6668244" y="6141904"/>
            <a:ext cx="5257731" cy="246221"/>
          </a:xfrm>
          <a:prstGeom prst="rect">
            <a:avLst/>
          </a:prstGeom>
          <a:noFill/>
        </p:spPr>
        <p:txBody>
          <a:bodyPr wrap="square" rtlCol="0">
            <a:spAutoFit/>
          </a:bodyPr>
          <a:lstStyle/>
          <a:p>
            <a:pPr algn="r"/>
            <a:r>
              <a:rPr lang="mn-MN" sz="1000" i="1">
                <a:cs typeface="Segoe UI" panose="020B0502040204020203" pitchFamily="34" charset="0"/>
              </a:rPr>
              <a:t>Эх сурвалж</a:t>
            </a:r>
            <a:r>
              <a:rPr lang="en-US" sz="1000" i="1">
                <a:cs typeface="Segoe UI" panose="020B0502040204020203" pitchFamily="34" charset="0"/>
              </a:rPr>
              <a:t>:</a:t>
            </a:r>
            <a:r>
              <a:rPr lang="mn-MN" sz="1000" i="1">
                <a:cs typeface="Segoe UI" panose="020B0502040204020203" pitchFamily="34" charset="0"/>
              </a:rPr>
              <a:t>Нээлттэй мэдээлэл, 2026/08/31 байдлаар</a:t>
            </a:r>
            <a:endParaRPr lang="en-US" sz="1000" i="1" dirty="0">
              <a:cs typeface="Segoe UI" panose="020B0502040204020203" pitchFamily="34" charset="0"/>
            </a:endParaRPr>
          </a:p>
        </p:txBody>
      </p:sp>
    </p:spTree>
    <p:extLst>
      <p:ext uri="{BB962C8B-B14F-4D97-AF65-F5344CB8AC3E}">
        <p14:creationId xmlns:p14="http://schemas.microsoft.com/office/powerpoint/2010/main" val="225356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426873C-D579-B249-1B39-1DB1A010F3CE}"/>
              </a:ext>
            </a:extLst>
          </p:cNvPr>
          <p:cNvGrpSpPr/>
          <p:nvPr/>
        </p:nvGrpSpPr>
        <p:grpSpPr>
          <a:xfrm>
            <a:off x="1983977" y="402273"/>
            <a:ext cx="8772686"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ҮР АШГИЙН ТООЦООЛОЛ</a:t>
              </a:r>
            </a:p>
          </p:txBody>
        </p:sp>
      </p:grpSp>
      <p:sp>
        <p:nvSpPr>
          <p:cNvPr id="30" name="Slide Number Placeholder 1">
            <a:extLst>
              <a:ext uri="{FF2B5EF4-FFF2-40B4-BE49-F238E27FC236}">
                <a16:creationId xmlns:a16="http://schemas.microsoft.com/office/drawing/2014/main" id="{115B47EC-3EB2-E41E-861B-248B787B88A4}"/>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8</a:t>
            </a:fld>
            <a:endParaRPr lang="en-US" sz="1200" dirty="0">
              <a:solidFill>
                <a:schemeClr val="bg1">
                  <a:lumMod val="65000"/>
                </a:schemeClr>
              </a:solidFill>
              <a:cs typeface="Segoe UI Light" panose="020B0502040204020203" pitchFamily="34" charset="0"/>
            </a:endParaRPr>
          </a:p>
        </p:txBody>
      </p:sp>
      <p:graphicFrame>
        <p:nvGraphicFramePr>
          <p:cNvPr id="6" name="Table 5">
            <a:extLst>
              <a:ext uri="{FF2B5EF4-FFF2-40B4-BE49-F238E27FC236}">
                <a16:creationId xmlns:a16="http://schemas.microsoft.com/office/drawing/2014/main" id="{C74D6D31-086D-B60E-8F11-9C75692FCB59}"/>
              </a:ext>
            </a:extLst>
          </p:cNvPr>
          <p:cNvGraphicFramePr>
            <a:graphicFrameLocks noGrp="1"/>
          </p:cNvGraphicFramePr>
          <p:nvPr>
            <p:extLst>
              <p:ext uri="{D42A27DB-BD31-4B8C-83A1-F6EECF244321}">
                <p14:modId xmlns:p14="http://schemas.microsoft.com/office/powerpoint/2010/main" val="2940600013"/>
              </p:ext>
            </p:extLst>
          </p:nvPr>
        </p:nvGraphicFramePr>
        <p:xfrm>
          <a:off x="618253" y="1851043"/>
          <a:ext cx="4258547" cy="3153958"/>
        </p:xfrm>
        <a:graphic>
          <a:graphicData uri="http://schemas.openxmlformats.org/drawingml/2006/table">
            <a:tbl>
              <a:tblPr>
                <a:tableStyleId>{3B4B98B0-60AC-42C2-AFA5-B58CD77FA1E5}</a:tableStyleId>
              </a:tblPr>
              <a:tblGrid>
                <a:gridCol w="1975519">
                  <a:extLst>
                    <a:ext uri="{9D8B030D-6E8A-4147-A177-3AD203B41FA5}">
                      <a16:colId xmlns:a16="http://schemas.microsoft.com/office/drawing/2014/main" val="3365435308"/>
                    </a:ext>
                  </a:extLst>
                </a:gridCol>
                <a:gridCol w="1356717">
                  <a:extLst>
                    <a:ext uri="{9D8B030D-6E8A-4147-A177-3AD203B41FA5}">
                      <a16:colId xmlns:a16="http://schemas.microsoft.com/office/drawing/2014/main" val="436682545"/>
                    </a:ext>
                  </a:extLst>
                </a:gridCol>
                <a:gridCol w="926311">
                  <a:extLst>
                    <a:ext uri="{9D8B030D-6E8A-4147-A177-3AD203B41FA5}">
                      <a16:colId xmlns:a16="http://schemas.microsoft.com/office/drawing/2014/main" val="1393320186"/>
                    </a:ext>
                  </a:extLst>
                </a:gridCol>
              </a:tblGrid>
              <a:tr h="417622">
                <a:tc>
                  <a:txBody>
                    <a:bodyPr/>
                    <a:lstStyle/>
                    <a:p>
                      <a:pPr algn="l" fontAlgn="ctr"/>
                      <a:r>
                        <a:rPr lang="en-US" sz="1800" b="0" i="0" u="none" strike="noStrike">
                          <a:solidFill>
                            <a:srgbClr val="000000"/>
                          </a:solidFill>
                          <a:effectLst/>
                          <a:latin typeface="+mn-lt"/>
                        </a:rPr>
                        <a:t> </a:t>
                      </a:r>
                      <a:r>
                        <a:rPr lang="mn-MN" sz="1200" b="1" i="0" u="none" strike="noStrike">
                          <a:solidFill>
                            <a:schemeClr val="bg1"/>
                          </a:solidFill>
                          <a:effectLst/>
                          <a:latin typeface="+mn-lt"/>
                        </a:rPr>
                        <a:t>2026 он </a:t>
                      </a:r>
                      <a:r>
                        <a:rPr lang="en-US" sz="1200" b="1" i="0" u="none" strike="noStrike">
                          <a:solidFill>
                            <a:schemeClr val="bg1"/>
                          </a:solidFill>
                          <a:effectLst/>
                          <a:latin typeface="+mn-lt"/>
                        </a:rPr>
                        <a:t>/</a:t>
                      </a:r>
                      <a:r>
                        <a:rPr lang="mn-MN" sz="1200" b="1" i="0" u="none" strike="noStrike">
                          <a:solidFill>
                            <a:schemeClr val="bg1"/>
                          </a:solidFill>
                          <a:effectLst/>
                          <a:latin typeface="+mn-lt"/>
                        </a:rPr>
                        <a:t>Дундаж</a:t>
                      </a:r>
                      <a:r>
                        <a:rPr lang="en-US" sz="1200" b="1" i="0" u="none" strike="noStrike">
                          <a:solidFill>
                            <a:schemeClr val="bg1"/>
                          </a:solidFill>
                          <a:effectLst/>
                          <a:latin typeface="+mn-lt"/>
                        </a:rPr>
                        <a:t>/</a:t>
                      </a:r>
                      <a:endParaRPr lang="en-US" sz="1800" b="1" i="0" u="none" strike="noStrike">
                        <a:solidFill>
                          <a:schemeClr val="bg1"/>
                        </a:solidFill>
                        <a:effectLst/>
                        <a:latin typeface="+mn-lt"/>
                      </a:endParaRP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rtl="0" fontAlgn="ctr"/>
                      <a:r>
                        <a:rPr lang="en-US" sz="1000" b="1" i="0" u="none" strike="noStrike">
                          <a:solidFill>
                            <a:srgbClr val="FFFFFF"/>
                          </a:solidFill>
                          <a:effectLst/>
                          <a:latin typeface="+mn-lt"/>
                        </a:rPr>
                        <a:t>Caffe Bene</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rtl="0" fontAlgn="ctr"/>
                      <a:r>
                        <a:rPr lang="en-US" sz="1000" b="1" i="0" u="none" strike="noStrike">
                          <a:solidFill>
                            <a:srgbClr val="FFFFFF"/>
                          </a:solidFill>
                          <a:effectLst/>
                          <a:latin typeface="+mn-lt"/>
                        </a:rPr>
                        <a:t>Mom’s touch</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573516652"/>
                  </a:ext>
                </a:extLst>
              </a:tr>
              <a:tr h="228028">
                <a:tc>
                  <a:txBody>
                    <a:bodyPr/>
                    <a:lstStyle/>
                    <a:p>
                      <a:pPr algn="l" rtl="0" fontAlgn="b"/>
                      <a:r>
                        <a:rPr lang="mn-MN" sz="1000" b="1" i="0" u="none" strike="noStrike">
                          <a:solidFill>
                            <a:srgbClr val="000000"/>
                          </a:solidFill>
                          <a:effectLst/>
                          <a:latin typeface="+mn-lt"/>
                        </a:rPr>
                        <a:t>Борлуулалтын орлого</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737.1</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1350.5</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extLst>
                  <a:ext uri="{0D108BD9-81ED-4DB2-BD59-A6C34878D82A}">
                    <a16:rowId xmlns:a16="http://schemas.microsoft.com/office/drawing/2014/main" val="722938812"/>
                  </a:ext>
                </a:extLst>
              </a:tr>
              <a:tr h="228028">
                <a:tc>
                  <a:txBody>
                    <a:bodyPr/>
                    <a:lstStyle/>
                    <a:p>
                      <a:pPr algn="l" rtl="0" fontAlgn="b"/>
                      <a:r>
                        <a:rPr lang="mn-MN" sz="1000" b="0" i="0" u="none" strike="noStrike">
                          <a:solidFill>
                            <a:srgbClr val="000000"/>
                          </a:solidFill>
                          <a:effectLst/>
                          <a:latin typeface="+mn-lt"/>
                        </a:rPr>
                        <a:t>ББӨ</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38%</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50%</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57603572"/>
                  </a:ext>
                </a:extLst>
              </a:tr>
              <a:tr h="228028">
                <a:tc>
                  <a:txBody>
                    <a:bodyPr/>
                    <a:lstStyle/>
                    <a:p>
                      <a:pPr algn="l" rtl="0" fontAlgn="b"/>
                      <a:r>
                        <a:rPr lang="mn-MN" sz="1000" b="1" i="0" u="none" strike="noStrike">
                          <a:solidFill>
                            <a:srgbClr val="000000"/>
                          </a:solidFill>
                          <a:effectLst/>
                          <a:latin typeface="+mn-lt"/>
                        </a:rPr>
                        <a:t>Нийт ашиг</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457.0</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675.2</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extLst>
                  <a:ext uri="{0D108BD9-81ED-4DB2-BD59-A6C34878D82A}">
                    <a16:rowId xmlns:a16="http://schemas.microsoft.com/office/drawing/2014/main" val="4265456217"/>
                  </a:ext>
                </a:extLst>
              </a:tr>
              <a:tr h="228028">
                <a:tc>
                  <a:txBody>
                    <a:bodyPr/>
                    <a:lstStyle/>
                    <a:p>
                      <a:pPr algn="l" rtl="0" fontAlgn="b"/>
                      <a:r>
                        <a:rPr lang="mn-MN" sz="1000" b="0" i="0" u="none" strike="noStrike">
                          <a:solidFill>
                            <a:srgbClr val="000000"/>
                          </a:solidFill>
                          <a:effectLst/>
                          <a:latin typeface="+mn-lt"/>
                        </a:rPr>
                        <a:t>Цалингийн зардал </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49.2</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59.0</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4097030284"/>
                  </a:ext>
                </a:extLst>
              </a:tr>
              <a:tr h="228028">
                <a:tc>
                  <a:txBody>
                    <a:bodyPr/>
                    <a:lstStyle/>
                    <a:p>
                      <a:pPr algn="l" rtl="0" fontAlgn="b"/>
                      <a:r>
                        <a:rPr lang="mn-MN" sz="1000" b="0" i="0" u="none" strike="noStrike">
                          <a:solidFill>
                            <a:srgbClr val="000000"/>
                          </a:solidFill>
                          <a:effectLst/>
                          <a:latin typeface="+mn-lt"/>
                        </a:rPr>
                        <a:t>Түрээсийн зардал</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60.0</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60.0</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601991923"/>
                  </a:ext>
                </a:extLst>
              </a:tr>
              <a:tr h="228028">
                <a:tc>
                  <a:txBody>
                    <a:bodyPr/>
                    <a:lstStyle/>
                    <a:p>
                      <a:pPr algn="l" rtl="0" fontAlgn="b"/>
                      <a:r>
                        <a:rPr lang="mn-MN" sz="1000" b="0" i="0" u="none" strike="noStrike">
                          <a:solidFill>
                            <a:srgbClr val="000000"/>
                          </a:solidFill>
                          <a:effectLst/>
                          <a:latin typeface="+mn-lt"/>
                        </a:rPr>
                        <a:t>Рояалти төлбөр</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25.2</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50.4</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640970284"/>
                  </a:ext>
                </a:extLst>
              </a:tr>
              <a:tr h="228028">
                <a:tc>
                  <a:txBody>
                    <a:bodyPr/>
                    <a:lstStyle/>
                    <a:p>
                      <a:pPr algn="l" rtl="0" fontAlgn="b"/>
                      <a:r>
                        <a:rPr lang="mn-MN" sz="1000" b="0" i="0" u="none" strike="noStrike">
                          <a:solidFill>
                            <a:srgbClr val="000000"/>
                          </a:solidFill>
                          <a:effectLst/>
                          <a:latin typeface="+mn-lt"/>
                        </a:rPr>
                        <a:t>Зээлийн төлбөр</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140.6</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121.4</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274128481"/>
                  </a:ext>
                </a:extLst>
              </a:tr>
              <a:tr h="228028">
                <a:tc>
                  <a:txBody>
                    <a:bodyPr/>
                    <a:lstStyle/>
                    <a:p>
                      <a:pPr algn="l" rtl="0" fontAlgn="b"/>
                      <a:r>
                        <a:rPr lang="mn-MN" sz="1000" b="0" i="0" u="none" strike="noStrike">
                          <a:solidFill>
                            <a:srgbClr val="000000"/>
                          </a:solidFill>
                          <a:effectLst/>
                          <a:latin typeface="+mn-lt"/>
                        </a:rPr>
                        <a:t>Бусад зардал</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5.5</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5.5</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132392808"/>
                  </a:ext>
                </a:extLst>
              </a:tr>
              <a:tr h="228028">
                <a:tc>
                  <a:txBody>
                    <a:bodyPr/>
                    <a:lstStyle/>
                    <a:p>
                      <a:pPr algn="l" rtl="0" fontAlgn="b"/>
                      <a:r>
                        <a:rPr lang="mn-MN" sz="1000" b="1" i="0" u="none" strike="noStrike">
                          <a:solidFill>
                            <a:srgbClr val="000000"/>
                          </a:solidFill>
                          <a:effectLst/>
                          <a:latin typeface="+mn-lt"/>
                        </a:rPr>
                        <a:t>Татварын өмнөх ашиг</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176.5</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378.9</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extLst>
                  <a:ext uri="{0D108BD9-81ED-4DB2-BD59-A6C34878D82A}">
                    <a16:rowId xmlns:a16="http://schemas.microsoft.com/office/drawing/2014/main" val="4108399888"/>
                  </a:ext>
                </a:extLst>
              </a:tr>
              <a:tr h="228028">
                <a:tc>
                  <a:txBody>
                    <a:bodyPr/>
                    <a:lstStyle/>
                    <a:p>
                      <a:pPr algn="l" rtl="0" fontAlgn="b"/>
                      <a:r>
                        <a:rPr lang="mn-MN" sz="1000" b="0" i="0" u="none" strike="noStrike">
                          <a:solidFill>
                            <a:srgbClr val="000000"/>
                          </a:solidFill>
                          <a:effectLst/>
                          <a:latin typeface="+mn-lt"/>
                        </a:rPr>
                        <a:t>Татварын зардал 10%</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17.6</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tc>
                  <a:txBody>
                    <a:bodyPr/>
                    <a:lstStyle/>
                    <a:p>
                      <a:pPr algn="ctr" rtl="0" fontAlgn="b"/>
                      <a:r>
                        <a:rPr lang="en-US" sz="1000" b="0" i="0" u="none" strike="noStrike">
                          <a:solidFill>
                            <a:srgbClr val="000000"/>
                          </a:solidFill>
                          <a:effectLst/>
                          <a:latin typeface="+mn-lt"/>
                        </a:rPr>
                        <a:t>37.9</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noFill/>
                  </a:tcPr>
                </a:tc>
                <a:extLst>
                  <a:ext uri="{0D108BD9-81ED-4DB2-BD59-A6C34878D82A}">
                    <a16:rowId xmlns:a16="http://schemas.microsoft.com/office/drawing/2014/main" val="2396940587"/>
                  </a:ext>
                </a:extLst>
              </a:tr>
              <a:tr h="228028">
                <a:tc>
                  <a:txBody>
                    <a:bodyPr/>
                    <a:lstStyle/>
                    <a:p>
                      <a:pPr algn="l" rtl="0" fontAlgn="b"/>
                      <a:r>
                        <a:rPr lang="mn-MN" sz="1000" b="1" i="0" u="none" strike="noStrike">
                          <a:solidFill>
                            <a:srgbClr val="000000"/>
                          </a:solidFill>
                          <a:effectLst/>
                          <a:latin typeface="+mn-lt"/>
                        </a:rPr>
                        <a:t>Цэвэр ашиг</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158.8</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tc>
                  <a:txBody>
                    <a:bodyPr/>
                    <a:lstStyle/>
                    <a:p>
                      <a:pPr algn="ctr" rtl="0" fontAlgn="b"/>
                      <a:r>
                        <a:rPr lang="en-US" sz="1000" b="1" i="0" u="none" strike="noStrike">
                          <a:solidFill>
                            <a:srgbClr val="000000"/>
                          </a:solidFill>
                          <a:effectLst/>
                          <a:latin typeface="+mn-lt"/>
                        </a:rPr>
                        <a:t>341.0</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4DA3FF"/>
                    </a:solidFill>
                  </a:tcPr>
                </a:tc>
                <a:extLst>
                  <a:ext uri="{0D108BD9-81ED-4DB2-BD59-A6C34878D82A}">
                    <a16:rowId xmlns:a16="http://schemas.microsoft.com/office/drawing/2014/main" val="2977397071"/>
                  </a:ext>
                </a:extLst>
              </a:tr>
              <a:tr h="228028">
                <a:tc>
                  <a:txBody>
                    <a:bodyPr/>
                    <a:lstStyle/>
                    <a:p>
                      <a:pPr algn="l" rtl="0" fontAlgn="b"/>
                      <a:r>
                        <a:rPr lang="mn-MN" sz="1000" b="0" i="0" u="none" strike="noStrike">
                          <a:solidFill>
                            <a:srgbClr val="000000"/>
                          </a:solidFill>
                          <a:effectLst/>
                          <a:latin typeface="+mn-lt"/>
                        </a:rPr>
                        <a:t>Цэвэр ашгийн маржин</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accent6">
                        <a:lumMod val="20000"/>
                        <a:lumOff val="80000"/>
                      </a:schemeClr>
                    </a:solidFill>
                  </a:tcPr>
                </a:tc>
                <a:tc>
                  <a:txBody>
                    <a:bodyPr/>
                    <a:lstStyle/>
                    <a:p>
                      <a:pPr algn="ctr" rtl="0" fontAlgn="b"/>
                      <a:r>
                        <a:rPr lang="en-US" sz="1000" b="1" i="0" u="none" strike="noStrike">
                          <a:solidFill>
                            <a:srgbClr val="00B050"/>
                          </a:solidFill>
                          <a:effectLst/>
                          <a:latin typeface="+mn-lt"/>
                        </a:rPr>
                        <a:t>21.55%</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accent6">
                        <a:lumMod val="20000"/>
                        <a:lumOff val="80000"/>
                      </a:schemeClr>
                    </a:solidFill>
                  </a:tcPr>
                </a:tc>
                <a:tc>
                  <a:txBody>
                    <a:bodyPr/>
                    <a:lstStyle/>
                    <a:p>
                      <a:pPr algn="ctr" rtl="0" fontAlgn="b"/>
                      <a:r>
                        <a:rPr lang="en-US" sz="1000" b="1" i="0" u="none" strike="noStrike">
                          <a:solidFill>
                            <a:srgbClr val="00B050"/>
                          </a:solidFill>
                          <a:effectLst/>
                          <a:latin typeface="+mn-lt"/>
                        </a:rPr>
                        <a:t>25.25%</a:t>
                      </a:r>
                    </a:p>
                  </a:txBody>
                  <a:tcPr marL="7620" marR="7620" marT="7620" marB="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87102095"/>
                  </a:ext>
                </a:extLst>
              </a:tr>
            </a:tbl>
          </a:graphicData>
        </a:graphic>
      </p:graphicFrame>
      <p:sp>
        <p:nvSpPr>
          <p:cNvPr id="8" name="TextBox 7">
            <a:extLst>
              <a:ext uri="{FF2B5EF4-FFF2-40B4-BE49-F238E27FC236}">
                <a16:creationId xmlns:a16="http://schemas.microsoft.com/office/drawing/2014/main" id="{4736A904-11F7-1D7F-C8EE-02069DECF340}"/>
              </a:ext>
            </a:extLst>
          </p:cNvPr>
          <p:cNvSpPr txBox="1"/>
          <p:nvPr/>
        </p:nvSpPr>
        <p:spPr>
          <a:xfrm>
            <a:off x="530607" y="1559695"/>
            <a:ext cx="3741730" cy="246221"/>
          </a:xfrm>
          <a:prstGeom prst="rect">
            <a:avLst/>
          </a:prstGeom>
          <a:noFill/>
        </p:spPr>
        <p:txBody>
          <a:bodyPr wrap="none" rtlCol="0">
            <a:spAutoFit/>
          </a:bodyPr>
          <a:lstStyle/>
          <a:p>
            <a:r>
              <a:rPr lang="mn-MN" sz="1000" b="1">
                <a:solidFill>
                  <a:srgbClr val="002060"/>
                </a:solidFill>
                <a:cs typeface="Segoe UI" panose="020B0502040204020203" pitchFamily="34" charset="0"/>
              </a:rPr>
              <a:t>ДУНДАЖ ЖИЛИЙН ҮР АШГИЙН ТООЦОО </a:t>
            </a:r>
            <a:r>
              <a:rPr lang="mn-MN" sz="1000" i="1">
                <a:solidFill>
                  <a:srgbClr val="002060"/>
                </a:solidFill>
                <a:cs typeface="Segoe UI" panose="020B0502040204020203" pitchFamily="34" charset="0"/>
              </a:rPr>
              <a:t>(1 САЛБАР)</a:t>
            </a:r>
            <a:r>
              <a:rPr lang="en-US" sz="1000" i="1">
                <a:solidFill>
                  <a:srgbClr val="002060"/>
                </a:solidFill>
                <a:cs typeface="Segoe UI" panose="020B0502040204020203" pitchFamily="34" charset="0"/>
              </a:rPr>
              <a:t> </a:t>
            </a:r>
            <a:r>
              <a:rPr lang="mn-MN" sz="1000" i="1" u="none" strike="noStrike">
                <a:solidFill>
                  <a:srgbClr val="002060"/>
                </a:solidFill>
                <a:effectLst/>
              </a:rPr>
              <a:t>сая ₮</a:t>
            </a:r>
            <a:endParaRPr lang="mn-MN" sz="1000" i="1" u="none" strike="noStrike">
              <a:solidFill>
                <a:srgbClr val="002060"/>
              </a:solidFill>
              <a:effectLst/>
              <a:latin typeface="Segoe UI" panose="020B0502040204020203" pitchFamily="34" charset="0"/>
            </a:endParaRPr>
          </a:p>
        </p:txBody>
      </p:sp>
      <p:sp>
        <p:nvSpPr>
          <p:cNvPr id="11" name="TextBox 10">
            <a:extLst>
              <a:ext uri="{FF2B5EF4-FFF2-40B4-BE49-F238E27FC236}">
                <a16:creationId xmlns:a16="http://schemas.microsoft.com/office/drawing/2014/main" id="{D3980958-1B47-EAA0-99E8-D34D1593C82D}"/>
              </a:ext>
            </a:extLst>
          </p:cNvPr>
          <p:cNvSpPr txBox="1"/>
          <p:nvPr/>
        </p:nvSpPr>
        <p:spPr>
          <a:xfrm>
            <a:off x="6451617" y="5017463"/>
            <a:ext cx="5257731" cy="246221"/>
          </a:xfrm>
          <a:prstGeom prst="rect">
            <a:avLst/>
          </a:prstGeom>
          <a:noFill/>
        </p:spPr>
        <p:txBody>
          <a:bodyPr wrap="square" rtlCol="0">
            <a:spAutoFit/>
          </a:bodyPr>
          <a:lstStyle/>
          <a:p>
            <a:pPr algn="r"/>
            <a:r>
              <a:rPr lang="mn-MN" sz="1000" i="1">
                <a:cs typeface="Segoe UI" panose="020B0502040204020203" pitchFamily="34" charset="0"/>
              </a:rPr>
              <a:t>Эх сурвалж</a:t>
            </a:r>
            <a:r>
              <a:rPr lang="en-US" sz="1000" i="1">
                <a:cs typeface="Segoe UI" panose="020B0502040204020203" pitchFamily="34" charset="0"/>
              </a:rPr>
              <a:t>: </a:t>
            </a:r>
            <a:r>
              <a:rPr lang="mn-MN" sz="1000" i="1">
                <a:cs typeface="Segoe UI" panose="020B0502040204020203" pitchFamily="34" charset="0"/>
              </a:rPr>
              <a:t>Салбаруудын дундаж орлогоор таамагласан болно. </a:t>
            </a:r>
            <a:endParaRPr lang="en-US" sz="1000" i="1" dirty="0">
              <a:cs typeface="Segoe UI" panose="020B0502040204020203" pitchFamily="34" charset="0"/>
            </a:endParaRPr>
          </a:p>
        </p:txBody>
      </p:sp>
      <p:sp>
        <p:nvSpPr>
          <p:cNvPr id="3" name="TextBox 2">
            <a:extLst>
              <a:ext uri="{FF2B5EF4-FFF2-40B4-BE49-F238E27FC236}">
                <a16:creationId xmlns:a16="http://schemas.microsoft.com/office/drawing/2014/main" id="{A0737202-0BF1-DACE-C05F-1EF765A5DAC4}"/>
              </a:ext>
            </a:extLst>
          </p:cNvPr>
          <p:cNvSpPr txBox="1"/>
          <p:nvPr/>
        </p:nvSpPr>
        <p:spPr>
          <a:xfrm>
            <a:off x="1581534" y="5905557"/>
            <a:ext cx="9028931" cy="575735"/>
          </a:xfrm>
          <a:prstGeom prst="rect">
            <a:avLst/>
          </a:prstGeom>
          <a:noFill/>
        </p:spPr>
        <p:txBody>
          <a:bodyPr wrap="square">
            <a:spAutoFit/>
          </a:bodyPr>
          <a:lstStyle/>
          <a:p>
            <a:pPr marL="171450" indent="-171450" algn="ctr">
              <a:lnSpc>
                <a:spcPct val="150000"/>
              </a:lnSpc>
              <a:buFont typeface="Arial" panose="020B0604020202020204" pitchFamily="34" charset="0"/>
              <a:buChar char="•"/>
            </a:pPr>
            <a:r>
              <a:rPr lang="mn-MN" sz="1100" i="1"/>
              <a:t>Одоо ажиллаж буй салбаруудын дундаж борлуулалтын орлого, бусад зардал дээр тооцоолол хийсэн ба мэдрэмжийн шинжилгээ </a:t>
            </a:r>
            <a:r>
              <a:rPr lang="mn-MN" sz="1100" i="1">
                <a:hlinkClick r:id="rId3" action="ppaction://hlinksldjump"/>
              </a:rPr>
              <a:t>хавсралтад</a:t>
            </a:r>
            <a:r>
              <a:rPr lang="mn-MN" sz="1100" i="1"/>
              <a:t> орсон болно.</a:t>
            </a:r>
            <a:endParaRPr lang="en-US" sz="1100" i="1"/>
          </a:p>
        </p:txBody>
      </p:sp>
      <p:sp>
        <p:nvSpPr>
          <p:cNvPr id="12" name="TextBox 11">
            <a:extLst>
              <a:ext uri="{FF2B5EF4-FFF2-40B4-BE49-F238E27FC236}">
                <a16:creationId xmlns:a16="http://schemas.microsoft.com/office/drawing/2014/main" id="{95F9B478-5D50-200E-4210-967A13A7D28E}"/>
              </a:ext>
            </a:extLst>
          </p:cNvPr>
          <p:cNvSpPr txBox="1"/>
          <p:nvPr/>
        </p:nvSpPr>
        <p:spPr>
          <a:xfrm>
            <a:off x="5507933" y="1569381"/>
            <a:ext cx="2234907" cy="246221"/>
          </a:xfrm>
          <a:prstGeom prst="rect">
            <a:avLst/>
          </a:prstGeom>
          <a:noFill/>
        </p:spPr>
        <p:txBody>
          <a:bodyPr wrap="none" rtlCol="0">
            <a:spAutoFit/>
          </a:bodyPr>
          <a:lstStyle/>
          <a:p>
            <a:r>
              <a:rPr lang="mn-MN" sz="1000" b="1">
                <a:solidFill>
                  <a:srgbClr val="002060"/>
                </a:solidFill>
                <a:cs typeface="Segoe UI" panose="020B0502040204020203" pitchFamily="34" charset="0"/>
              </a:rPr>
              <a:t>ТОЛГОЙ КОМПАНИЙ ОЛОХ АШИГ </a:t>
            </a:r>
            <a:endParaRPr lang="en-US" sz="1000" dirty="0">
              <a:solidFill>
                <a:srgbClr val="002060"/>
              </a:solidFill>
              <a:cs typeface="Segoe UI" panose="020B0502040204020203" pitchFamily="34" charset="0"/>
            </a:endParaRPr>
          </a:p>
        </p:txBody>
      </p:sp>
      <p:graphicFrame>
        <p:nvGraphicFramePr>
          <p:cNvPr id="13" name="Table 12">
            <a:extLst>
              <a:ext uri="{FF2B5EF4-FFF2-40B4-BE49-F238E27FC236}">
                <a16:creationId xmlns:a16="http://schemas.microsoft.com/office/drawing/2014/main" id="{83C0C52E-5982-BA99-242A-486E6B1AF9A1}"/>
              </a:ext>
            </a:extLst>
          </p:cNvPr>
          <p:cNvGraphicFramePr>
            <a:graphicFrameLocks noGrp="1"/>
          </p:cNvGraphicFramePr>
          <p:nvPr>
            <p:extLst>
              <p:ext uri="{D42A27DB-BD31-4B8C-83A1-F6EECF244321}">
                <p14:modId xmlns:p14="http://schemas.microsoft.com/office/powerpoint/2010/main" val="2742188413"/>
              </p:ext>
            </p:extLst>
          </p:nvPr>
        </p:nvGraphicFramePr>
        <p:xfrm>
          <a:off x="5507933" y="1851042"/>
          <a:ext cx="6137220" cy="3153962"/>
        </p:xfrm>
        <a:graphic>
          <a:graphicData uri="http://schemas.openxmlformats.org/drawingml/2006/table">
            <a:tbl>
              <a:tblPr>
                <a:tableStyleId>{5C22544A-7EE6-4342-B048-85BDC9FD1C3A}</a:tableStyleId>
              </a:tblPr>
              <a:tblGrid>
                <a:gridCol w="3093970">
                  <a:extLst>
                    <a:ext uri="{9D8B030D-6E8A-4147-A177-3AD203B41FA5}">
                      <a16:colId xmlns:a16="http://schemas.microsoft.com/office/drawing/2014/main" val="2832437690"/>
                    </a:ext>
                  </a:extLst>
                </a:gridCol>
                <a:gridCol w="1521625">
                  <a:extLst>
                    <a:ext uri="{9D8B030D-6E8A-4147-A177-3AD203B41FA5}">
                      <a16:colId xmlns:a16="http://schemas.microsoft.com/office/drawing/2014/main" val="914880558"/>
                    </a:ext>
                  </a:extLst>
                </a:gridCol>
                <a:gridCol w="1521625">
                  <a:extLst>
                    <a:ext uri="{9D8B030D-6E8A-4147-A177-3AD203B41FA5}">
                      <a16:colId xmlns:a16="http://schemas.microsoft.com/office/drawing/2014/main" val="3847090611"/>
                    </a:ext>
                  </a:extLst>
                </a:gridCol>
              </a:tblGrid>
              <a:tr h="273847">
                <a:tc>
                  <a:txBody>
                    <a:bodyPr/>
                    <a:lstStyle/>
                    <a:p>
                      <a:pPr algn="ctr" fontAlgn="ctr"/>
                      <a:r>
                        <a:rPr lang="mn-MN" sz="1100" b="1" u="none" strike="noStrike">
                          <a:solidFill>
                            <a:schemeClr val="bg1"/>
                          </a:solidFill>
                          <a:effectLst/>
                        </a:rPr>
                        <a:t>Үзүүлэлт</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en-US" sz="1100" b="1" u="none" strike="noStrike">
                          <a:solidFill>
                            <a:schemeClr val="bg1"/>
                          </a:solidFill>
                          <a:effectLst/>
                        </a:rPr>
                        <a:t>Caffe Bene</a:t>
                      </a:r>
                      <a:endParaRPr lang="en-US"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en-US" sz="1100" b="1" u="none" strike="noStrike">
                          <a:solidFill>
                            <a:schemeClr val="bg1"/>
                          </a:solidFill>
                          <a:effectLst/>
                        </a:rPr>
                        <a:t>Mom’s Touch</a:t>
                      </a:r>
                      <a:endParaRPr lang="en-US"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23813433"/>
                  </a:ext>
                </a:extLst>
              </a:tr>
              <a:tr h="273847">
                <a:tc>
                  <a:txBody>
                    <a:bodyPr/>
                    <a:lstStyle/>
                    <a:p>
                      <a:pPr algn="ctr" fontAlgn="ctr"/>
                      <a:r>
                        <a:rPr lang="mn-MN" sz="1100" u="none" strike="noStrike">
                          <a:effectLst/>
                        </a:rPr>
                        <a:t>2026 оны борлуулалтын орлого</a:t>
                      </a:r>
                      <a:endParaRPr lang="mn-MN"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mn-MN" sz="1100" u="none" strike="noStrike">
                          <a:effectLst/>
                        </a:rPr>
                        <a:t>737.1 сая ₮</a:t>
                      </a:r>
                      <a:endParaRPr lang="mn-MN"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mn-MN" sz="1100" u="none" strike="noStrike">
                          <a:effectLst/>
                        </a:rPr>
                        <a:t>1,350.5 сая ₮</a:t>
                      </a:r>
                      <a:endParaRPr lang="mn-MN"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8036817"/>
                  </a:ext>
                </a:extLst>
              </a:tr>
              <a:tr h="273847">
                <a:tc>
                  <a:txBody>
                    <a:bodyPr/>
                    <a:lstStyle/>
                    <a:p>
                      <a:pPr algn="ctr" fontAlgn="ctr"/>
                      <a:r>
                        <a:rPr lang="mn-MN" sz="1100" u="none" strike="noStrike">
                          <a:effectLst/>
                        </a:rPr>
                        <a:t>Роялтигийн хувь</a:t>
                      </a:r>
                      <a:endParaRPr lang="mn-MN"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3.50%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4.50%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19438110"/>
                  </a:ext>
                </a:extLst>
              </a:tr>
              <a:tr h="273847">
                <a:tc>
                  <a:txBody>
                    <a:bodyPr/>
                    <a:lstStyle/>
                    <a:p>
                      <a:pPr algn="ctr" fontAlgn="ctr"/>
                      <a:r>
                        <a:rPr lang="mn-MN" sz="1100" b="1" u="none" strike="noStrike">
                          <a:effectLst/>
                        </a:rPr>
                        <a:t>Роялтигийн орлого</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ctr"/>
                      <a:r>
                        <a:rPr lang="mn-MN" sz="1100" b="1" u="none" strike="noStrike">
                          <a:effectLst/>
                        </a:rPr>
                        <a:t>25.8 сая ₮</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ctr"/>
                      <a:r>
                        <a:rPr lang="mn-MN" sz="1100" b="1" u="none" strike="noStrike">
                          <a:effectLst/>
                        </a:rPr>
                        <a:t>60.8 сая ₮</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extLst>
                  <a:ext uri="{0D108BD9-81ED-4DB2-BD59-A6C34878D82A}">
                    <a16:rowId xmlns:a16="http://schemas.microsoft.com/office/drawing/2014/main" val="2452034413"/>
                  </a:ext>
                </a:extLst>
              </a:tr>
              <a:tr h="273847">
                <a:tc>
                  <a:txBody>
                    <a:bodyPr/>
                    <a:lstStyle/>
                    <a:p>
                      <a:pPr algn="ctr" fontAlgn="ctr"/>
                      <a:r>
                        <a:rPr lang="mn-MN" sz="1100" u="none" strike="noStrike">
                          <a:effectLst/>
                        </a:rPr>
                        <a:t>Маркетингийн шимтгэлийн хувь</a:t>
                      </a:r>
                      <a:endParaRPr lang="mn-MN"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0.50%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0.50%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9831346"/>
                  </a:ext>
                </a:extLst>
              </a:tr>
              <a:tr h="273847">
                <a:tc>
                  <a:txBody>
                    <a:bodyPr/>
                    <a:lstStyle/>
                    <a:p>
                      <a:pPr algn="ctr" fontAlgn="ctr"/>
                      <a:r>
                        <a:rPr lang="mn-MN" sz="1100" b="1" u="none" strike="noStrike">
                          <a:effectLst/>
                        </a:rPr>
                        <a:t>Маркетингийн орлого</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ctr"/>
                      <a:r>
                        <a:rPr lang="mn-MN" sz="1100" b="1" u="none" strike="noStrike">
                          <a:effectLst/>
                        </a:rPr>
                        <a:t>3.7 сая ₮</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ctr"/>
                      <a:r>
                        <a:rPr lang="mn-MN" sz="1100" b="1" u="none" strike="noStrike">
                          <a:effectLst/>
                        </a:rPr>
                        <a:t>6.8 сая ₮</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extLst>
                  <a:ext uri="{0D108BD9-81ED-4DB2-BD59-A6C34878D82A}">
                    <a16:rowId xmlns:a16="http://schemas.microsoft.com/office/drawing/2014/main" val="2112419634"/>
                  </a:ext>
                </a:extLst>
              </a:tr>
              <a:tr h="273847">
                <a:tc>
                  <a:txBody>
                    <a:bodyPr/>
                    <a:lstStyle/>
                    <a:p>
                      <a:pPr algn="ctr" fontAlgn="ctr"/>
                      <a:r>
                        <a:rPr lang="mn-MN" sz="1100" u="none" strike="noStrike">
                          <a:effectLst/>
                        </a:rPr>
                        <a:t>Борлуулалтаас авах нийт хувь</a:t>
                      </a:r>
                      <a:endParaRPr lang="mn-MN"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4.00%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5.00%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0355991"/>
                  </a:ext>
                </a:extLst>
              </a:tr>
              <a:tr h="273847">
                <a:tc>
                  <a:txBody>
                    <a:bodyPr/>
                    <a:lstStyle/>
                    <a:p>
                      <a:pPr algn="ctr" fontAlgn="ctr"/>
                      <a:r>
                        <a:rPr lang="mn-MN" sz="1100" b="1" u="none" strike="noStrike">
                          <a:effectLst/>
                        </a:rPr>
                        <a:t>Жилийн давтагдах нийт орлого</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ctr"/>
                      <a:r>
                        <a:rPr lang="mn-MN" sz="1100" b="1" u="none" strike="noStrike">
                          <a:effectLst/>
                        </a:rPr>
                        <a:t>29.5 сая ₮</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ctr"/>
                      <a:r>
                        <a:rPr lang="mn-MN" sz="1100" b="1" u="none" strike="noStrike">
                          <a:effectLst/>
                        </a:rPr>
                        <a:t>67.5 сая ₮</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extLst>
                  <a:ext uri="{0D108BD9-81ED-4DB2-BD59-A6C34878D82A}">
                    <a16:rowId xmlns:a16="http://schemas.microsoft.com/office/drawing/2014/main" val="358759505"/>
                  </a:ext>
                </a:extLst>
              </a:tr>
              <a:tr h="273847">
                <a:tc>
                  <a:txBody>
                    <a:bodyPr/>
                    <a:lstStyle/>
                    <a:p>
                      <a:pPr algn="ctr" fontAlgn="ctr"/>
                      <a:r>
                        <a:rPr lang="mn-MN" sz="1100" u="none" strike="noStrike">
                          <a:effectLst/>
                        </a:rPr>
                        <a:t>Нэг удаагийн франчайзын төлбөр</a:t>
                      </a:r>
                      <a:endParaRPr lang="mn-MN"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$15,000 </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100" u="none" strike="noStrike">
                          <a:effectLst/>
                        </a:rPr>
                        <a:t>$20,000 </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1340571"/>
                  </a:ext>
                </a:extLst>
              </a:tr>
              <a:tr h="424935">
                <a:tc>
                  <a:txBody>
                    <a:bodyPr/>
                    <a:lstStyle/>
                    <a:p>
                      <a:pPr algn="ctr" fontAlgn="ctr"/>
                      <a:r>
                        <a:rPr lang="ru-RU" sz="1100" u="none" strike="noStrike">
                          <a:effectLst/>
                        </a:rPr>
                        <a:t>Салбар нээгдсэн эхний жилийн нийт орлого</a:t>
                      </a:r>
                      <a:endParaRPr lang="ru-RU"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mn-MN" sz="1100" u="none" strike="noStrike">
                          <a:effectLst/>
                        </a:rPr>
                        <a:t>29.5 сая ₮ + $15,000</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mn-MN" sz="1100" u="none" strike="noStrike">
                          <a:effectLst/>
                        </a:rPr>
                        <a:t>67.5 сая ₮ + $20,000 </a:t>
                      </a:r>
                      <a:endParaRPr lang="mn-MN"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9687103"/>
                  </a:ext>
                </a:extLst>
              </a:tr>
              <a:tr h="264404">
                <a:tc>
                  <a:txBody>
                    <a:bodyPr/>
                    <a:lstStyle/>
                    <a:p>
                      <a:pPr algn="ctr" fontAlgn="ctr"/>
                      <a:r>
                        <a:rPr lang="mn-MN" sz="1100" b="1" u="none" strike="noStrike">
                          <a:solidFill>
                            <a:schemeClr val="tx1"/>
                          </a:solidFill>
                          <a:effectLst/>
                        </a:rPr>
                        <a:t>Нийт</a:t>
                      </a:r>
                      <a:endParaRPr lang="mn-MN" sz="1100" b="1" i="0" u="none" strike="noStrike">
                        <a:solidFill>
                          <a:schemeClr val="tx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b"/>
                      <a:r>
                        <a:rPr lang="en-US" sz="1100" b="1" i="0" u="none" strike="noStrike">
                          <a:solidFill>
                            <a:schemeClr val="tx1"/>
                          </a:solidFill>
                          <a:effectLst/>
                          <a:latin typeface="Aptos Narrow" panose="020B0004020202020204" pitchFamily="34" charset="0"/>
                        </a:rPr>
                        <a:t>    112.2 </a:t>
                      </a:r>
                      <a:r>
                        <a:rPr lang="mn-MN" sz="1100" b="1" i="0" u="none" strike="noStrike">
                          <a:solidFill>
                            <a:schemeClr val="tx1"/>
                          </a:solidFill>
                          <a:effectLst/>
                          <a:latin typeface="Aptos Narrow" panose="020B0004020202020204" pitchFamily="34" charset="0"/>
                        </a:rPr>
                        <a:t>сая</a:t>
                      </a:r>
                      <a:r>
                        <a:rPr lang="en-US" sz="1100" b="1" i="0" u="none" strike="noStrike">
                          <a:solidFill>
                            <a:schemeClr val="tx1"/>
                          </a:solidFill>
                          <a:effectLst/>
                          <a:latin typeface="Aptos Narrow" panose="020B0004020202020204" pitchFamily="34" charset="0"/>
                        </a:rPr>
                        <a:t> </a:t>
                      </a:r>
                      <a:r>
                        <a:rPr lang="mn-MN" sz="1100" b="1" u="none" strike="noStrike">
                          <a:solidFill>
                            <a:schemeClr val="tx1"/>
                          </a:solidFill>
                          <a:effectLst/>
                        </a:rPr>
                        <a:t>₮</a:t>
                      </a:r>
                      <a:endParaRPr lang="en-US" sz="1100" b="1" i="0" u="none" strike="noStrike">
                        <a:solidFill>
                          <a:schemeClr val="tx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tc>
                  <a:txBody>
                    <a:bodyPr/>
                    <a:lstStyle/>
                    <a:p>
                      <a:pPr algn="ctr" fontAlgn="b"/>
                      <a:r>
                        <a:rPr lang="en-US" sz="1100" b="1" i="0" u="none" strike="noStrike">
                          <a:solidFill>
                            <a:schemeClr val="tx1"/>
                          </a:solidFill>
                          <a:effectLst/>
                          <a:latin typeface="Aptos Narrow" panose="020B0004020202020204" pitchFamily="34" charset="0"/>
                        </a:rPr>
                        <a:t>        139.4 </a:t>
                      </a:r>
                      <a:r>
                        <a:rPr lang="mn-MN" sz="1100" b="1" i="0" u="none" strike="noStrike">
                          <a:solidFill>
                            <a:schemeClr val="tx1"/>
                          </a:solidFill>
                          <a:effectLst/>
                          <a:latin typeface="Aptos Narrow" panose="020B0004020202020204" pitchFamily="34" charset="0"/>
                        </a:rPr>
                        <a:t>сая </a:t>
                      </a:r>
                      <a:r>
                        <a:rPr lang="mn-MN" sz="1100" b="1" u="none" strike="noStrike">
                          <a:solidFill>
                            <a:schemeClr val="tx1"/>
                          </a:solidFill>
                          <a:effectLst/>
                        </a:rPr>
                        <a:t>₮</a:t>
                      </a:r>
                      <a:endParaRPr lang="en-US" sz="1100" b="1" i="0" u="none" strike="noStrike">
                        <a:solidFill>
                          <a:schemeClr val="tx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solidFill>
                      <a:srgbClr val="4DA3FF"/>
                    </a:solidFill>
                  </a:tcPr>
                </a:tc>
                <a:extLst>
                  <a:ext uri="{0D108BD9-81ED-4DB2-BD59-A6C34878D82A}">
                    <a16:rowId xmlns:a16="http://schemas.microsoft.com/office/drawing/2014/main" val="3421488135"/>
                  </a:ext>
                </a:extLst>
              </a:tr>
            </a:tbl>
          </a:graphicData>
        </a:graphic>
      </p:graphicFrame>
      <p:cxnSp>
        <p:nvCxnSpPr>
          <p:cNvPr id="15" name="Straight Connector 14">
            <a:extLst>
              <a:ext uri="{FF2B5EF4-FFF2-40B4-BE49-F238E27FC236}">
                <a16:creationId xmlns:a16="http://schemas.microsoft.com/office/drawing/2014/main" id="{D06B3391-CA15-C8CF-96A9-497FD399F8A3}"/>
              </a:ext>
            </a:extLst>
          </p:cNvPr>
          <p:cNvCxnSpPr>
            <a:cxnSpLocks/>
          </p:cNvCxnSpPr>
          <p:nvPr/>
        </p:nvCxnSpPr>
        <p:spPr>
          <a:xfrm>
            <a:off x="5192683" y="1285778"/>
            <a:ext cx="0" cy="4286443"/>
          </a:xfrm>
          <a:prstGeom prst="line">
            <a:avLst/>
          </a:prstGeom>
          <a:ln w="9525">
            <a:solidFill>
              <a:srgbClr val="002060"/>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1857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426873C-D579-B249-1B39-1DB1A010F3CE}"/>
              </a:ext>
            </a:extLst>
          </p:cNvPr>
          <p:cNvGrpSpPr/>
          <p:nvPr/>
        </p:nvGrpSpPr>
        <p:grpSpPr>
          <a:xfrm>
            <a:off x="1983977" y="402273"/>
            <a:ext cx="8772686"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ҮР АШГИЙН ТООЦООЛОЛ</a:t>
              </a:r>
            </a:p>
          </p:txBody>
        </p:sp>
      </p:grpSp>
      <p:graphicFrame>
        <p:nvGraphicFramePr>
          <p:cNvPr id="8" name="Table 4">
            <a:extLst>
              <a:ext uri="{FF2B5EF4-FFF2-40B4-BE49-F238E27FC236}">
                <a16:creationId xmlns:a16="http://schemas.microsoft.com/office/drawing/2014/main" id="{238E3B73-C5C9-B635-EA3F-36FE66C6DC93}"/>
              </a:ext>
            </a:extLst>
          </p:cNvPr>
          <p:cNvGraphicFramePr>
            <a:graphicFrameLocks noGrp="1"/>
          </p:cNvGraphicFramePr>
          <p:nvPr>
            <p:extLst>
              <p:ext uri="{D42A27DB-BD31-4B8C-83A1-F6EECF244321}">
                <p14:modId xmlns:p14="http://schemas.microsoft.com/office/powerpoint/2010/main" val="3450078952"/>
              </p:ext>
            </p:extLst>
          </p:nvPr>
        </p:nvGraphicFramePr>
        <p:xfrm>
          <a:off x="564140" y="2918731"/>
          <a:ext cx="5228547" cy="2834640"/>
        </p:xfrm>
        <a:graphic>
          <a:graphicData uri="http://schemas.openxmlformats.org/drawingml/2006/table">
            <a:tbl>
              <a:tblPr firstRow="1" bandRow="1">
                <a:tableStyleId>{3B4B98B0-60AC-42C2-AFA5-B58CD77FA1E5}</a:tableStyleId>
              </a:tblPr>
              <a:tblGrid>
                <a:gridCol w="223382">
                  <a:extLst>
                    <a:ext uri="{9D8B030D-6E8A-4147-A177-3AD203B41FA5}">
                      <a16:colId xmlns:a16="http://schemas.microsoft.com/office/drawing/2014/main" val="3926744109"/>
                    </a:ext>
                  </a:extLst>
                </a:gridCol>
                <a:gridCol w="2357655">
                  <a:extLst>
                    <a:ext uri="{9D8B030D-6E8A-4147-A177-3AD203B41FA5}">
                      <a16:colId xmlns:a16="http://schemas.microsoft.com/office/drawing/2014/main" val="1721096387"/>
                    </a:ext>
                  </a:extLst>
                </a:gridCol>
                <a:gridCol w="1323755">
                  <a:extLst>
                    <a:ext uri="{9D8B030D-6E8A-4147-A177-3AD203B41FA5}">
                      <a16:colId xmlns:a16="http://schemas.microsoft.com/office/drawing/2014/main" val="2222926519"/>
                    </a:ext>
                  </a:extLst>
                </a:gridCol>
                <a:gridCol w="1323755">
                  <a:extLst>
                    <a:ext uri="{9D8B030D-6E8A-4147-A177-3AD203B41FA5}">
                      <a16:colId xmlns:a16="http://schemas.microsoft.com/office/drawing/2014/main" val="1882142664"/>
                    </a:ext>
                  </a:extLst>
                </a:gridCol>
              </a:tblGrid>
              <a:tr h="363452">
                <a:tc>
                  <a:txBody>
                    <a:bodyPr/>
                    <a:lstStyle/>
                    <a:p>
                      <a:pPr algn="ctr"/>
                      <a:r>
                        <a:rPr lang="mn-MN" sz="1000" dirty="0">
                          <a:solidFill>
                            <a:schemeClr val="bg1"/>
                          </a:solidFill>
                          <a:latin typeface="+mn-lt"/>
                          <a:cs typeface="Segoe UI" panose="020B0502040204020203" pitchFamily="34" charset="0"/>
                        </a:rPr>
                        <a:t>№</a:t>
                      </a:r>
                      <a:endParaRPr lang="en-US" sz="1000" dirty="0">
                        <a:solidFill>
                          <a:schemeClr val="bg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a:r>
                        <a:rPr lang="mn-MN" sz="1000" dirty="0">
                          <a:solidFill>
                            <a:schemeClr val="bg1"/>
                          </a:solidFill>
                          <a:latin typeface="+mn-lt"/>
                          <a:cs typeface="Segoe UI" panose="020B0502040204020203" pitchFamily="34" charset="0"/>
                        </a:rPr>
                        <a:t>Салбар нээхтэй холбоотой зардлууд</a:t>
                      </a:r>
                      <a:endParaRPr lang="en-US" sz="1000" dirty="0">
                        <a:solidFill>
                          <a:schemeClr val="bg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a:r>
                        <a:rPr lang="mn-MN" sz="1000" dirty="0">
                          <a:solidFill>
                            <a:schemeClr val="bg1"/>
                          </a:solidFill>
                          <a:latin typeface="+mn-lt"/>
                          <a:cs typeface="Segoe UI" panose="020B0502040204020203" pitchFamily="34" charset="0"/>
                        </a:rPr>
                        <a:t>Дүн /ам.доллар/ </a:t>
                      </a:r>
                      <a:endParaRPr lang="en-US" sz="1000" dirty="0">
                        <a:solidFill>
                          <a:schemeClr val="bg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a:r>
                        <a:rPr lang="mn-MN" sz="1000" dirty="0">
                          <a:solidFill>
                            <a:schemeClr val="bg1"/>
                          </a:solidFill>
                          <a:latin typeface="+mn-lt"/>
                          <a:cs typeface="Segoe UI" panose="020B0502040204020203" pitchFamily="34" charset="0"/>
                        </a:rPr>
                        <a:t>Эзлэх хувь</a:t>
                      </a:r>
                      <a:endParaRPr lang="en-US" sz="1000" dirty="0">
                        <a:solidFill>
                          <a:schemeClr val="bg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635967456"/>
                  </a:ext>
                </a:extLst>
              </a:tr>
              <a:tr h="223663">
                <a:tc>
                  <a:txBody>
                    <a:bodyPr/>
                    <a:lstStyle/>
                    <a:p>
                      <a:pPr algn="l"/>
                      <a:r>
                        <a:rPr lang="en-US" sz="1000" dirty="0">
                          <a:latin typeface="+mn-lt"/>
                          <a:cs typeface="Segoe UI" panose="020B0502040204020203" pitchFamily="34" charset="0"/>
                        </a:rPr>
                        <a:t>1</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dirty="0">
                          <a:latin typeface="+mn-lt"/>
                          <a:cs typeface="Segoe UI" panose="020B0502040204020203" pitchFamily="34" charset="0"/>
                        </a:rPr>
                        <a:t>Франчайзын төлбөр</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a:latin typeface="+mn-lt"/>
                          <a:cs typeface="Segoe UI" panose="020B0502040204020203" pitchFamily="34" charset="0"/>
                        </a:rPr>
                        <a:t>$15,000.0</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a:solidFill>
                            <a:schemeClr val="tx1"/>
                          </a:solidFill>
                          <a:latin typeface="+mn-lt"/>
                          <a:cs typeface="Segoe UI" panose="020B0502040204020203" pitchFamily="34" charset="0"/>
                        </a:rPr>
                        <a:t>10.8%</a:t>
                      </a:r>
                      <a:endParaRPr lang="en-US" sz="1000"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174680669"/>
                  </a:ext>
                </a:extLst>
              </a:tr>
              <a:tr h="223663">
                <a:tc>
                  <a:txBody>
                    <a:bodyPr/>
                    <a:lstStyle/>
                    <a:p>
                      <a:pPr algn="l"/>
                      <a:r>
                        <a:rPr lang="en-US" sz="1000" dirty="0">
                          <a:latin typeface="+mn-lt"/>
                          <a:cs typeface="Segoe UI" panose="020B0502040204020203" pitchFamily="34" charset="0"/>
                        </a:rPr>
                        <a:t>2</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a:latin typeface="+mn-lt"/>
                          <a:cs typeface="Segoe UI" panose="020B0502040204020203" pitchFamily="34" charset="0"/>
                        </a:rPr>
                        <a:t>Интерьер </a:t>
                      </a:r>
                      <a:r>
                        <a:rPr lang="mn-MN" sz="1000" dirty="0">
                          <a:latin typeface="+mn-lt"/>
                          <a:cs typeface="Segoe UI" panose="020B0502040204020203" pitchFamily="34" charset="0"/>
                        </a:rPr>
                        <a:t>засвар </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a:latin typeface="+mn-lt"/>
                          <a:cs typeface="Segoe UI" panose="020B0502040204020203" pitchFamily="34" charset="0"/>
                        </a:rPr>
                        <a:t>$40,350.0</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0">
                          <a:solidFill>
                            <a:schemeClr val="tx1"/>
                          </a:solidFill>
                          <a:latin typeface="+mn-lt"/>
                          <a:cs typeface="Segoe UI" panose="020B0502040204020203" pitchFamily="34" charset="0"/>
                        </a:rPr>
                        <a:t>29.0% </a:t>
                      </a:r>
                      <a:endParaRPr lang="en-US" sz="1000" b="0"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740667199"/>
                  </a:ext>
                </a:extLst>
              </a:tr>
              <a:tr h="223663">
                <a:tc>
                  <a:txBody>
                    <a:bodyPr/>
                    <a:lstStyle/>
                    <a:p>
                      <a:pPr algn="l"/>
                      <a:r>
                        <a:rPr lang="en-US" sz="1000" b="1" dirty="0">
                          <a:solidFill>
                            <a:schemeClr val="tx1"/>
                          </a:solidFill>
                          <a:latin typeface="+mn-lt"/>
                          <a:cs typeface="Segoe UI" panose="020B0502040204020203" pitchFamily="34" charset="0"/>
                        </a:rPr>
                        <a:t>3</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b="1" dirty="0">
                          <a:solidFill>
                            <a:schemeClr val="tx1"/>
                          </a:solidFill>
                          <a:latin typeface="+mn-lt"/>
                          <a:cs typeface="Segoe UI" panose="020B0502040204020203" pitchFamily="34" charset="0"/>
                        </a:rPr>
                        <a:t>Хаягжилт, нэмэлт засвар </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1">
                          <a:solidFill>
                            <a:schemeClr val="tx1"/>
                          </a:solidFill>
                          <a:latin typeface="+mn-lt"/>
                          <a:cs typeface="Segoe UI" panose="020B0502040204020203" pitchFamily="34" charset="0"/>
                        </a:rPr>
                        <a:t>$6,188.0</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1">
                          <a:solidFill>
                            <a:schemeClr val="tx1"/>
                          </a:solidFill>
                          <a:latin typeface="+mn-lt"/>
                          <a:cs typeface="Segoe UI" panose="020B0502040204020203" pitchFamily="34" charset="0"/>
                        </a:rPr>
                        <a:t>4.5</a:t>
                      </a:r>
                      <a:r>
                        <a:rPr lang="mn-MN" sz="1000" b="1">
                          <a:solidFill>
                            <a:schemeClr val="tx1"/>
                          </a:solidFill>
                          <a:latin typeface="+mn-lt"/>
                          <a:cs typeface="Segoe UI" panose="020B0502040204020203" pitchFamily="34" charset="0"/>
                        </a:rPr>
                        <a:t>%</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759837773"/>
                  </a:ext>
                </a:extLst>
              </a:tr>
              <a:tr h="223663">
                <a:tc>
                  <a:txBody>
                    <a:bodyPr/>
                    <a:lstStyle/>
                    <a:p>
                      <a:pPr algn="l"/>
                      <a:r>
                        <a:rPr lang="en-US" sz="1000" b="1">
                          <a:solidFill>
                            <a:schemeClr val="tx1"/>
                          </a:solidFill>
                          <a:latin typeface="+mn-lt"/>
                          <a:cs typeface="Segoe UI" panose="020B0502040204020203" pitchFamily="34" charset="0"/>
                        </a:rPr>
                        <a:t>4</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b="1">
                          <a:solidFill>
                            <a:schemeClr val="tx1"/>
                          </a:solidFill>
                          <a:latin typeface="+mn-lt"/>
                          <a:cs typeface="Segoe UI" panose="020B0502040204020203" pitchFamily="34" charset="0"/>
                        </a:rPr>
                        <a:t>Барьцаа</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mn-lt"/>
                          <a:cs typeface="Segoe UI" panose="020B0502040204020203" pitchFamily="34" charset="0"/>
                        </a:rPr>
                        <a:t>$</a:t>
                      </a:r>
                      <a:r>
                        <a:rPr lang="mn-MN" sz="1000" b="1">
                          <a:solidFill>
                            <a:schemeClr val="tx1"/>
                          </a:solidFill>
                          <a:latin typeface="+mn-lt"/>
                          <a:cs typeface="Segoe UI" panose="020B0502040204020203" pitchFamily="34" charset="0"/>
                        </a:rPr>
                        <a:t>2</a:t>
                      </a:r>
                      <a:r>
                        <a:rPr lang="en-US" sz="1000" b="1">
                          <a:solidFill>
                            <a:schemeClr val="tx1"/>
                          </a:solidFill>
                          <a:latin typeface="+mn-lt"/>
                          <a:cs typeface="Segoe UI" panose="020B0502040204020203" pitchFamily="34" charset="0"/>
                        </a:rPr>
                        <a:t>,</a:t>
                      </a:r>
                      <a:r>
                        <a:rPr lang="mn-MN" sz="1000" b="1">
                          <a:solidFill>
                            <a:schemeClr val="tx1"/>
                          </a:solidFill>
                          <a:latin typeface="+mn-lt"/>
                          <a:cs typeface="Segoe UI" panose="020B0502040204020203" pitchFamily="34" charset="0"/>
                        </a:rPr>
                        <a:t>000</a:t>
                      </a:r>
                      <a:r>
                        <a:rPr lang="en-US" sz="1000" b="1">
                          <a:solidFill>
                            <a:schemeClr val="tx1"/>
                          </a:solidFill>
                          <a:latin typeface="+mn-lt"/>
                          <a:cs typeface="Segoe UI" panose="020B0502040204020203" pitchFamily="34" charset="0"/>
                        </a:rPr>
                        <a:t>.0</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mn-lt"/>
                          <a:cs typeface="Segoe UI" panose="020B0502040204020203" pitchFamily="34" charset="0"/>
                        </a:rPr>
                        <a:t>1.4%</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76667648"/>
                  </a:ext>
                </a:extLst>
              </a:tr>
              <a:tr h="223663">
                <a:tc>
                  <a:txBody>
                    <a:bodyPr/>
                    <a:lstStyle/>
                    <a:p>
                      <a:pPr algn="l"/>
                      <a:r>
                        <a:rPr lang="en-US" sz="1000" b="1" dirty="0">
                          <a:solidFill>
                            <a:schemeClr val="tx1"/>
                          </a:solidFill>
                          <a:latin typeface="+mn-lt"/>
                          <a:cs typeface="Segoe UI" panose="020B0502040204020203" pitchFamily="34" charset="0"/>
                        </a:rPr>
                        <a:t>5</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b="1" dirty="0">
                          <a:solidFill>
                            <a:schemeClr val="tx1"/>
                          </a:solidFill>
                          <a:latin typeface="+mn-lt"/>
                          <a:cs typeface="Segoe UI" panose="020B0502040204020203" pitchFamily="34" charset="0"/>
                        </a:rPr>
                        <a:t>Сурталчилгааны хэрэгсэл</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1">
                          <a:solidFill>
                            <a:schemeClr val="tx1"/>
                          </a:solidFill>
                          <a:latin typeface="+mn-lt"/>
                          <a:cs typeface="Segoe UI" panose="020B0502040204020203" pitchFamily="34" charset="0"/>
                        </a:rPr>
                        <a:t>$876.0</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1">
                          <a:solidFill>
                            <a:schemeClr val="tx1"/>
                          </a:solidFill>
                          <a:latin typeface="+mn-lt"/>
                          <a:cs typeface="Segoe UI" panose="020B0502040204020203" pitchFamily="34" charset="0"/>
                        </a:rPr>
                        <a:t>0.6%</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555504526"/>
                  </a:ext>
                </a:extLst>
              </a:tr>
              <a:tr h="223663">
                <a:tc>
                  <a:txBody>
                    <a:bodyPr/>
                    <a:lstStyle/>
                    <a:p>
                      <a:pPr algn="l"/>
                      <a:r>
                        <a:rPr lang="en-US" sz="1000" b="1" dirty="0">
                          <a:solidFill>
                            <a:schemeClr val="tx1"/>
                          </a:solidFill>
                          <a:latin typeface="+mn-lt"/>
                          <a:cs typeface="Segoe UI" panose="020B0502040204020203" pitchFamily="34" charset="0"/>
                        </a:rPr>
                        <a:t>6</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b="1" dirty="0">
                          <a:solidFill>
                            <a:schemeClr val="tx1"/>
                          </a:solidFill>
                          <a:latin typeface="+mn-lt"/>
                          <a:cs typeface="Segoe UI" panose="020B0502040204020203" pitchFamily="34" charset="0"/>
                        </a:rPr>
                        <a:t>Тоног </a:t>
                      </a:r>
                      <a:r>
                        <a:rPr lang="mn-MN" sz="1000" b="1" kern="1200" dirty="0">
                          <a:solidFill>
                            <a:schemeClr val="tx1"/>
                          </a:solidFill>
                          <a:latin typeface="+mn-lt"/>
                          <a:ea typeface="+mn-ea"/>
                          <a:cs typeface="Segoe UI" panose="020B0502040204020203" pitchFamily="34" charset="0"/>
                        </a:rPr>
                        <a:t>төхөөрөмж</a:t>
                      </a:r>
                      <a:endParaRPr lang="en-US" sz="1000" b="1" kern="1200" dirty="0">
                        <a:solidFill>
                          <a:schemeClr val="tx1"/>
                        </a:solidFill>
                        <a:latin typeface="+mn-lt"/>
                        <a:ea typeface="+mn-ea"/>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1">
                          <a:solidFill>
                            <a:schemeClr val="tx1"/>
                          </a:solidFill>
                          <a:latin typeface="+mn-lt"/>
                          <a:cs typeface="Segoe UI" panose="020B0502040204020203" pitchFamily="34" charset="0"/>
                        </a:rPr>
                        <a:t>$54,240.0 </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1">
                          <a:solidFill>
                            <a:schemeClr val="tx1"/>
                          </a:solidFill>
                          <a:latin typeface="+mn-lt"/>
                          <a:cs typeface="Segoe UI" panose="020B0502040204020203" pitchFamily="34" charset="0"/>
                        </a:rPr>
                        <a:t>39.0%</a:t>
                      </a:r>
                      <a:endParaRPr lang="en-US" sz="1000" b="1"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29467730"/>
                  </a:ext>
                </a:extLst>
              </a:tr>
              <a:tr h="223663">
                <a:tc>
                  <a:txBody>
                    <a:bodyPr/>
                    <a:lstStyle/>
                    <a:p>
                      <a:pPr algn="l"/>
                      <a:r>
                        <a:rPr lang="en-US" sz="1000" dirty="0">
                          <a:latin typeface="+mn-lt"/>
                          <a:cs typeface="Segoe UI" panose="020B0502040204020203" pitchFamily="34" charset="0"/>
                        </a:rPr>
                        <a:t>7</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dirty="0">
                          <a:latin typeface="+mn-lt"/>
                          <a:cs typeface="Segoe UI" panose="020B0502040204020203" pitchFamily="34" charset="0"/>
                        </a:rPr>
                        <a:t>Гал тогооны хэрэгсэл</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a:latin typeface="+mn-lt"/>
                          <a:cs typeface="Segoe UI" panose="020B0502040204020203" pitchFamily="34" charset="0"/>
                        </a:rPr>
                        <a:t>$3,412.0</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0">
                          <a:solidFill>
                            <a:schemeClr val="tx1"/>
                          </a:solidFill>
                          <a:latin typeface="+mn-lt"/>
                          <a:cs typeface="Segoe UI" panose="020B0502040204020203" pitchFamily="34" charset="0"/>
                        </a:rPr>
                        <a:t>2.5% </a:t>
                      </a:r>
                      <a:endParaRPr lang="en-US" sz="1000" b="0"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521772771"/>
                  </a:ext>
                </a:extLst>
              </a:tr>
              <a:tr h="223663">
                <a:tc>
                  <a:txBody>
                    <a:bodyPr/>
                    <a:lstStyle/>
                    <a:p>
                      <a:pPr algn="l"/>
                      <a:r>
                        <a:rPr lang="en-US" sz="1000" dirty="0">
                          <a:latin typeface="+mn-lt"/>
                          <a:cs typeface="Segoe UI" panose="020B0502040204020203" pitchFamily="34" charset="0"/>
                        </a:rPr>
                        <a:t>8</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dirty="0">
                          <a:latin typeface="+mn-lt"/>
                          <a:cs typeface="Segoe UI" panose="020B0502040204020203" pitchFamily="34" charset="0"/>
                        </a:rPr>
                        <a:t>Тавилга</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a:latin typeface="+mn-lt"/>
                          <a:cs typeface="Segoe UI" panose="020B0502040204020203" pitchFamily="34" charset="0"/>
                        </a:rPr>
                        <a:t>$13,667.0</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0">
                          <a:solidFill>
                            <a:schemeClr val="tx1"/>
                          </a:solidFill>
                          <a:latin typeface="+mn-lt"/>
                          <a:cs typeface="Segoe UI" panose="020B0502040204020203" pitchFamily="34" charset="0"/>
                        </a:rPr>
                        <a:t>9.8</a:t>
                      </a:r>
                      <a:r>
                        <a:rPr lang="en-US" sz="1000" b="0" dirty="0">
                          <a:solidFill>
                            <a:schemeClr val="tx1"/>
                          </a:solidFill>
                          <a:latin typeface="+mn-lt"/>
                          <a:cs typeface="Segoe UI" panose="020B0502040204020203" pitchFamily="34" charset="0"/>
                        </a:rPr>
                        <a:t>%</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153425448"/>
                  </a:ext>
                </a:extLst>
              </a:tr>
              <a:tr h="231746">
                <a:tc>
                  <a:txBody>
                    <a:bodyPr/>
                    <a:lstStyle/>
                    <a:p>
                      <a:pPr algn="l"/>
                      <a:r>
                        <a:rPr lang="en-US" sz="1000" dirty="0">
                          <a:latin typeface="+mn-lt"/>
                          <a:cs typeface="Segoe UI" panose="020B0502040204020203" pitchFamily="34" charset="0"/>
                        </a:rPr>
                        <a:t>9</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a:r>
                        <a:rPr lang="mn-MN" sz="1000" dirty="0">
                          <a:latin typeface="+mn-lt"/>
                          <a:cs typeface="Segoe UI" panose="020B0502040204020203" pitchFamily="34" charset="0"/>
                        </a:rPr>
                        <a:t>Бусад зардал </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a:latin typeface="+mn-lt"/>
                          <a:cs typeface="Segoe UI" panose="020B0502040204020203" pitchFamily="34" charset="0"/>
                        </a:rPr>
                        <a:t>$3,248.0</a:t>
                      </a:r>
                      <a:endParaRPr lang="en-US" sz="1000"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a:solidFill>
                            <a:schemeClr val="tx1"/>
                          </a:solidFill>
                          <a:latin typeface="+mn-lt"/>
                          <a:cs typeface="Segoe UI" panose="020B0502040204020203" pitchFamily="34" charset="0"/>
                        </a:rPr>
                        <a:t>2.3%</a:t>
                      </a:r>
                      <a:endParaRPr lang="en-US" sz="1000" dirty="0">
                        <a:solidFill>
                          <a:schemeClr val="tx1"/>
                        </a:solidFill>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900927986"/>
                  </a:ext>
                </a:extLst>
              </a:tr>
              <a:tr h="223663">
                <a:tc gridSpan="2">
                  <a:txBody>
                    <a:bodyPr/>
                    <a:lstStyle/>
                    <a:p>
                      <a:pPr algn="ctr"/>
                      <a:r>
                        <a:rPr lang="mn-MN" sz="1000" b="1" dirty="0">
                          <a:latin typeface="+mn-lt"/>
                          <a:cs typeface="Segoe UI" panose="020B0502040204020203" pitchFamily="34" charset="0"/>
                        </a:rPr>
                        <a:t>Нийт </a:t>
                      </a:r>
                      <a:endParaRPr lang="en-US" sz="1000" b="1"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hMerge="1">
                  <a:txBody>
                    <a:bodyPr/>
                    <a:lstStyle/>
                    <a:p>
                      <a:endParaRPr lang="en-US" sz="1200" dirty="0"/>
                    </a:p>
                  </a:txBody>
                  <a:tcPr/>
                </a:tc>
                <a:tc>
                  <a:txBody>
                    <a:bodyPr/>
                    <a:lstStyle/>
                    <a:p>
                      <a:pPr algn="ctr"/>
                      <a:r>
                        <a:rPr lang="en-US" sz="1000" b="1">
                          <a:latin typeface="+mn-lt"/>
                          <a:cs typeface="Segoe UI" panose="020B0502040204020203" pitchFamily="34" charset="0"/>
                        </a:rPr>
                        <a:t>$1</a:t>
                      </a:r>
                      <a:r>
                        <a:rPr lang="mn-MN" sz="1000" b="1">
                          <a:latin typeface="+mn-lt"/>
                          <a:cs typeface="Segoe UI" panose="020B0502040204020203" pitchFamily="34" charset="0"/>
                        </a:rPr>
                        <a:t>38</a:t>
                      </a:r>
                      <a:r>
                        <a:rPr lang="en-US" sz="1000" b="1">
                          <a:latin typeface="+mn-lt"/>
                          <a:cs typeface="Segoe UI" panose="020B0502040204020203" pitchFamily="34" charset="0"/>
                        </a:rPr>
                        <a:t>,</a:t>
                      </a:r>
                      <a:r>
                        <a:rPr lang="mn-MN" sz="1000" b="1">
                          <a:latin typeface="+mn-lt"/>
                          <a:cs typeface="Segoe UI" panose="020B0502040204020203" pitchFamily="34" charset="0"/>
                        </a:rPr>
                        <a:t>971</a:t>
                      </a:r>
                      <a:r>
                        <a:rPr lang="en-US" sz="1000" b="1">
                          <a:latin typeface="+mn-lt"/>
                          <a:cs typeface="Segoe UI" panose="020B0502040204020203" pitchFamily="34" charset="0"/>
                        </a:rPr>
                        <a:t>.0</a:t>
                      </a:r>
                      <a:endParaRPr lang="en-US" sz="1000" b="1" dirty="0">
                        <a:latin typeface="+mn-lt"/>
                        <a:cs typeface="Segoe UI" panose="020B0502040204020203" pitchFamily="34" charset="0"/>
                      </a:endParaRP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a:r>
                        <a:rPr lang="en-US" sz="1000" b="1" dirty="0">
                          <a:latin typeface="+mn-lt"/>
                          <a:cs typeface="Segoe UI" panose="020B0502040204020203" pitchFamily="34" charset="0"/>
                        </a:rPr>
                        <a:t>100.0%</a:t>
                      </a:r>
                    </a:p>
                  </a:txBody>
                  <a:tcPr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430086379"/>
                  </a:ext>
                </a:extLst>
              </a:tr>
            </a:tbl>
          </a:graphicData>
        </a:graphic>
      </p:graphicFrame>
      <p:sp>
        <p:nvSpPr>
          <p:cNvPr id="20" name="TextBox 19">
            <a:extLst>
              <a:ext uri="{FF2B5EF4-FFF2-40B4-BE49-F238E27FC236}">
                <a16:creationId xmlns:a16="http://schemas.microsoft.com/office/drawing/2014/main" id="{89EACBDC-C19A-CFE1-39B7-25E8AED9DC60}"/>
              </a:ext>
            </a:extLst>
          </p:cNvPr>
          <p:cNvSpPr txBox="1"/>
          <p:nvPr/>
        </p:nvSpPr>
        <p:spPr>
          <a:xfrm>
            <a:off x="496922" y="1091826"/>
            <a:ext cx="6307624" cy="276999"/>
          </a:xfrm>
          <a:prstGeom prst="rect">
            <a:avLst/>
          </a:prstGeom>
          <a:noFill/>
        </p:spPr>
        <p:txBody>
          <a:bodyPr wrap="none" rtlCol="0">
            <a:spAutoFit/>
          </a:bodyPr>
          <a:lstStyle/>
          <a:p>
            <a:r>
              <a:rPr lang="mn-MN" sz="1200" b="1" i="1">
                <a:solidFill>
                  <a:srgbClr val="002060"/>
                </a:solidFill>
                <a:cs typeface="Segoe UI" panose="020B0502040204020203" pitchFamily="34" charset="0"/>
              </a:rPr>
              <a:t>НЭГ САЛБАР НЭЭХЭД ШААРДАГДАХ ХӨРӨНГӨ ОРУУЛАЛТ </a:t>
            </a:r>
            <a:r>
              <a:rPr lang="mn-MN" sz="1200" i="1">
                <a:solidFill>
                  <a:srgbClr val="002060"/>
                </a:solidFill>
                <a:cs typeface="Segoe UI" panose="020B0502040204020203" pitchFamily="34" charset="0"/>
              </a:rPr>
              <a:t>/1 САЛБАР,</a:t>
            </a:r>
            <a:r>
              <a:rPr lang="en-US" sz="1200" i="1">
                <a:solidFill>
                  <a:srgbClr val="002060"/>
                </a:solidFill>
                <a:cs typeface="Segoe UI" panose="020B0502040204020203" pitchFamily="34" charset="0"/>
              </a:rPr>
              <a:t> 100</a:t>
            </a:r>
            <a:r>
              <a:rPr lang="mn-MN" sz="1200" i="1">
                <a:solidFill>
                  <a:srgbClr val="002060"/>
                </a:solidFill>
                <a:cs typeface="Segoe UI" panose="020B0502040204020203" pitchFamily="34" charset="0"/>
              </a:rPr>
              <a:t>мкв талбай/</a:t>
            </a:r>
            <a:endParaRPr lang="en-US" sz="1200" i="1" dirty="0">
              <a:solidFill>
                <a:srgbClr val="002060"/>
              </a:solidFill>
              <a:cs typeface="Segoe UI" panose="020B0502040204020203" pitchFamily="34" charset="0"/>
            </a:endParaRPr>
          </a:p>
        </p:txBody>
      </p:sp>
      <p:sp>
        <p:nvSpPr>
          <p:cNvPr id="27" name="Rectangle: Rounded Corners 26">
            <a:extLst>
              <a:ext uri="{FF2B5EF4-FFF2-40B4-BE49-F238E27FC236}">
                <a16:creationId xmlns:a16="http://schemas.microsoft.com/office/drawing/2014/main" id="{E8E5A1F5-1295-B67E-C52E-219003DD9EEF}"/>
              </a:ext>
            </a:extLst>
          </p:cNvPr>
          <p:cNvSpPr/>
          <p:nvPr/>
        </p:nvSpPr>
        <p:spPr>
          <a:xfrm>
            <a:off x="564137" y="3789486"/>
            <a:ext cx="5224450" cy="987060"/>
          </a:xfrm>
          <a:prstGeom prst="roundRect">
            <a:avLst>
              <a:gd name="adj" fmla="val 9930"/>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Segoe UI" panose="020B0502040204020203" pitchFamily="34" charset="0"/>
            </a:endParaRPr>
          </a:p>
        </p:txBody>
      </p:sp>
      <p:sp>
        <p:nvSpPr>
          <p:cNvPr id="28" name="TextBox 27">
            <a:extLst>
              <a:ext uri="{FF2B5EF4-FFF2-40B4-BE49-F238E27FC236}">
                <a16:creationId xmlns:a16="http://schemas.microsoft.com/office/drawing/2014/main" id="{53807D7E-30BA-75DA-EB6E-408F7AA1C1DA}"/>
              </a:ext>
            </a:extLst>
          </p:cNvPr>
          <p:cNvSpPr txBox="1"/>
          <p:nvPr/>
        </p:nvSpPr>
        <p:spPr>
          <a:xfrm>
            <a:off x="1020464" y="6151060"/>
            <a:ext cx="10111811" cy="246221"/>
          </a:xfrm>
          <a:prstGeom prst="rect">
            <a:avLst/>
          </a:prstGeom>
          <a:noFill/>
        </p:spPr>
        <p:txBody>
          <a:bodyPr wrap="square" rtlCol="0">
            <a:spAutoFit/>
          </a:bodyPr>
          <a:lstStyle/>
          <a:p>
            <a:pPr algn="ctr"/>
            <a:r>
              <a:rPr lang="mn-MN" sz="1000">
                <a:cs typeface="Segoe UI" panose="020B0502040204020203" pitchFamily="34" charset="0"/>
              </a:rPr>
              <a:t>Тухайн үеийн зах зээлийн үнэлгээ болон элэгдлээс шалтгаалж франчайзын өртөг 130-150 мянган доллар</a:t>
            </a:r>
            <a:r>
              <a:rPr lang="en-US" sz="1000">
                <a:cs typeface="Segoe UI" panose="020B0502040204020203" pitchFamily="34" charset="0"/>
              </a:rPr>
              <a:t> </a:t>
            </a:r>
            <a:r>
              <a:rPr lang="mn-MN" sz="1000">
                <a:cs typeface="Segoe UI" panose="020B0502040204020203" pitchFamily="34" charset="0"/>
              </a:rPr>
              <a:t>байна. </a:t>
            </a:r>
            <a:endParaRPr lang="en-US" sz="1000" dirty="0">
              <a:cs typeface="Segoe UI" panose="020B0502040204020203" pitchFamily="34" charset="0"/>
            </a:endParaRPr>
          </a:p>
        </p:txBody>
      </p:sp>
      <p:sp>
        <p:nvSpPr>
          <p:cNvPr id="30" name="Slide Number Placeholder 1">
            <a:extLst>
              <a:ext uri="{FF2B5EF4-FFF2-40B4-BE49-F238E27FC236}">
                <a16:creationId xmlns:a16="http://schemas.microsoft.com/office/drawing/2014/main" id="{115B47EC-3EB2-E41E-861B-248B787B88A4}"/>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9</a:t>
            </a:fld>
            <a:endParaRPr lang="en-US" sz="1200" dirty="0">
              <a:solidFill>
                <a:schemeClr val="bg1">
                  <a:lumMod val="65000"/>
                </a:schemeClr>
              </a:solidFill>
              <a:cs typeface="Segoe UI Light" panose="020B0502040204020203" pitchFamily="34" charset="0"/>
            </a:endParaRPr>
          </a:p>
        </p:txBody>
      </p:sp>
      <p:sp>
        <p:nvSpPr>
          <p:cNvPr id="10" name="TextBox 9">
            <a:extLst>
              <a:ext uri="{FF2B5EF4-FFF2-40B4-BE49-F238E27FC236}">
                <a16:creationId xmlns:a16="http://schemas.microsoft.com/office/drawing/2014/main" id="{B56700D5-23F7-7CF7-AF1E-24CE08FE6DD5}"/>
              </a:ext>
            </a:extLst>
          </p:cNvPr>
          <p:cNvSpPr txBox="1"/>
          <p:nvPr/>
        </p:nvSpPr>
        <p:spPr>
          <a:xfrm>
            <a:off x="1881615" y="5762534"/>
            <a:ext cx="3911069" cy="246221"/>
          </a:xfrm>
          <a:prstGeom prst="rect">
            <a:avLst/>
          </a:prstGeom>
          <a:noFill/>
        </p:spPr>
        <p:txBody>
          <a:bodyPr wrap="square" rtlCol="0">
            <a:spAutoFit/>
          </a:bodyPr>
          <a:lstStyle/>
          <a:p>
            <a:pPr algn="r"/>
            <a:r>
              <a:rPr lang="mn-MN" sz="1000" i="1">
                <a:cs typeface="Segoe UI" panose="020B0502040204020203" pitchFamily="34" charset="0"/>
              </a:rPr>
              <a:t>Эх сурвалж</a:t>
            </a:r>
            <a:r>
              <a:rPr lang="en-US" sz="1000" i="1">
                <a:cs typeface="Segoe UI" panose="020B0502040204020203" pitchFamily="34" charset="0"/>
              </a:rPr>
              <a:t>: </a:t>
            </a:r>
            <a:r>
              <a:rPr lang="mn-MN" sz="1000" i="1">
                <a:cs typeface="Segoe UI" panose="020B0502040204020203" pitchFamily="34" charset="0"/>
              </a:rPr>
              <a:t>Франчайз эрхлэгч холбогдох байгууллага</a:t>
            </a:r>
            <a:endParaRPr lang="en-US" sz="1000" i="1" dirty="0">
              <a:cs typeface="Segoe UI" panose="020B0502040204020203" pitchFamily="34" charset="0"/>
            </a:endParaRPr>
          </a:p>
        </p:txBody>
      </p:sp>
      <p:graphicFrame>
        <p:nvGraphicFramePr>
          <p:cNvPr id="11" name="Table 10">
            <a:extLst>
              <a:ext uri="{FF2B5EF4-FFF2-40B4-BE49-F238E27FC236}">
                <a16:creationId xmlns:a16="http://schemas.microsoft.com/office/drawing/2014/main" id="{675E7FAB-9EBB-729D-F4CB-BF8C46776313}"/>
              </a:ext>
            </a:extLst>
          </p:cNvPr>
          <p:cNvGraphicFramePr>
            <a:graphicFrameLocks noGrp="1"/>
          </p:cNvGraphicFramePr>
          <p:nvPr>
            <p:extLst>
              <p:ext uri="{D42A27DB-BD31-4B8C-83A1-F6EECF244321}">
                <p14:modId xmlns:p14="http://schemas.microsoft.com/office/powerpoint/2010/main" val="3771084213"/>
              </p:ext>
            </p:extLst>
          </p:nvPr>
        </p:nvGraphicFramePr>
        <p:xfrm>
          <a:off x="6313207" y="2930277"/>
          <a:ext cx="5260748" cy="2834640"/>
        </p:xfrm>
        <a:graphic>
          <a:graphicData uri="http://schemas.openxmlformats.org/drawingml/2006/table">
            <a:tbl>
              <a:tblPr firstRow="1" firstCol="1" bandRow="1">
                <a:tableStyleId>{2D5ABB26-0587-4C30-8999-92F81FD0307C}</a:tableStyleId>
              </a:tblPr>
              <a:tblGrid>
                <a:gridCol w="346863">
                  <a:extLst>
                    <a:ext uri="{9D8B030D-6E8A-4147-A177-3AD203B41FA5}">
                      <a16:colId xmlns:a16="http://schemas.microsoft.com/office/drawing/2014/main" val="490329506"/>
                    </a:ext>
                  </a:extLst>
                </a:gridCol>
                <a:gridCol w="2428037">
                  <a:extLst>
                    <a:ext uri="{9D8B030D-6E8A-4147-A177-3AD203B41FA5}">
                      <a16:colId xmlns:a16="http://schemas.microsoft.com/office/drawing/2014/main" val="670196438"/>
                    </a:ext>
                  </a:extLst>
                </a:gridCol>
                <a:gridCol w="1368180">
                  <a:extLst>
                    <a:ext uri="{9D8B030D-6E8A-4147-A177-3AD203B41FA5}">
                      <a16:colId xmlns:a16="http://schemas.microsoft.com/office/drawing/2014/main" val="2095271275"/>
                    </a:ext>
                  </a:extLst>
                </a:gridCol>
                <a:gridCol w="1117668">
                  <a:extLst>
                    <a:ext uri="{9D8B030D-6E8A-4147-A177-3AD203B41FA5}">
                      <a16:colId xmlns:a16="http://schemas.microsoft.com/office/drawing/2014/main" val="2770055944"/>
                    </a:ext>
                  </a:extLst>
                </a:gridCol>
              </a:tblGrid>
              <a:tr h="490964">
                <a:tc>
                  <a:txBody>
                    <a:bodyPr/>
                    <a:lstStyle/>
                    <a:p>
                      <a:pPr algn="ctr" rtl="0" fontAlgn="ctr"/>
                      <a:r>
                        <a:rPr lang="en-US" sz="1000" b="1" i="0" u="none" strike="noStrike">
                          <a:solidFill>
                            <a:srgbClr val="FFFFFF"/>
                          </a:solidFill>
                          <a:effectLst/>
                          <a:latin typeface="+mn-lt"/>
                        </a:rPr>
                        <a:t>№</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rtl="0" fontAlgn="ctr"/>
                      <a:r>
                        <a:rPr lang="mn-MN" sz="1000" b="1" i="0" u="none" strike="noStrike">
                          <a:solidFill>
                            <a:srgbClr val="FFFFFF"/>
                          </a:solidFill>
                          <a:effectLst/>
                          <a:latin typeface="+mn-lt"/>
                        </a:rPr>
                        <a:t>Салбар нээхтэй холбоотой зардлууд</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rtl="0" fontAlgn="ctr"/>
                      <a:r>
                        <a:rPr lang="mn-MN" sz="1000" b="1" i="0" u="none" strike="noStrike">
                          <a:solidFill>
                            <a:srgbClr val="FFFFFF"/>
                          </a:solidFill>
                          <a:effectLst/>
                          <a:latin typeface="+mn-lt"/>
                        </a:rPr>
                        <a:t>Дүн /ам.доллар/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rtl="0" fontAlgn="ctr"/>
                      <a:r>
                        <a:rPr lang="mn-MN" sz="1000" b="1" i="0" u="none" strike="noStrike">
                          <a:solidFill>
                            <a:srgbClr val="FFFFFF"/>
                          </a:solidFill>
                          <a:effectLst/>
                          <a:latin typeface="+mn-lt"/>
                        </a:rPr>
                        <a:t>Эзлэх хувь</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396538285"/>
                  </a:ext>
                </a:extLst>
              </a:tr>
              <a:tr h="361572">
                <a:tc>
                  <a:txBody>
                    <a:bodyPr/>
                    <a:lstStyle/>
                    <a:p>
                      <a:pPr algn="ctr" rtl="0" fontAlgn="ctr"/>
                      <a:r>
                        <a:rPr lang="en-US" sz="1000" b="0" i="0" u="none" strike="noStrike">
                          <a:solidFill>
                            <a:srgbClr val="000000"/>
                          </a:solidFill>
                          <a:effectLst/>
                          <a:latin typeface="+mn-lt"/>
                        </a:rPr>
                        <a:t>1</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Франчайзын төлбөр</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$20,000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15.9%</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14185837"/>
                  </a:ext>
                </a:extLst>
              </a:tr>
              <a:tr h="247763">
                <a:tc>
                  <a:txBody>
                    <a:bodyPr/>
                    <a:lstStyle/>
                    <a:p>
                      <a:pPr algn="ctr" rtl="0" fontAlgn="ctr"/>
                      <a:r>
                        <a:rPr lang="en-US" sz="1000" b="0" i="0" u="none" strike="noStrike">
                          <a:solidFill>
                            <a:srgbClr val="000000"/>
                          </a:solidFill>
                          <a:effectLst/>
                          <a:latin typeface="+mn-lt"/>
                        </a:rPr>
                        <a:t>2</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Барьцаа</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$2,000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1.6%</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584589868"/>
                  </a:ext>
                </a:extLst>
              </a:tr>
              <a:tr h="247763">
                <a:tc>
                  <a:txBody>
                    <a:bodyPr/>
                    <a:lstStyle/>
                    <a:p>
                      <a:pPr algn="ctr" rtl="0" fontAlgn="ctr"/>
                      <a:r>
                        <a:rPr lang="en-US" sz="1000" b="0" i="0" u="none" strike="noStrike">
                          <a:solidFill>
                            <a:srgbClr val="000000"/>
                          </a:solidFill>
                          <a:effectLst/>
                          <a:latin typeface="+mn-lt"/>
                        </a:rPr>
                        <a:t>3</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Интерьер засвар</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$43,284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34.4%</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134202949"/>
                  </a:ext>
                </a:extLst>
              </a:tr>
              <a:tr h="247763">
                <a:tc>
                  <a:txBody>
                    <a:bodyPr/>
                    <a:lstStyle/>
                    <a:p>
                      <a:pPr algn="ctr" rtl="0" fontAlgn="ctr"/>
                      <a:r>
                        <a:rPr lang="en-US" sz="1000" b="0" i="0" u="none" strike="noStrike">
                          <a:solidFill>
                            <a:srgbClr val="000000"/>
                          </a:solidFill>
                          <a:effectLst/>
                          <a:latin typeface="+mn-lt"/>
                        </a:rPr>
                        <a:t>4</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Хаягжилт, нэмэлт засал</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$4,446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3.5%</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801970479"/>
                  </a:ext>
                </a:extLst>
              </a:tr>
              <a:tr h="247763">
                <a:tc>
                  <a:txBody>
                    <a:bodyPr/>
                    <a:lstStyle/>
                    <a:p>
                      <a:pPr algn="ctr" rtl="0" fontAlgn="ctr"/>
                      <a:r>
                        <a:rPr lang="en-US" sz="1000" b="0" i="0" u="none" strike="noStrike">
                          <a:solidFill>
                            <a:srgbClr val="000000"/>
                          </a:solidFill>
                          <a:effectLst/>
                          <a:latin typeface="+mn-lt"/>
                        </a:rPr>
                        <a:t>5</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Тоног төхөөрөмж</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$43,100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34.3%</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702957251"/>
                  </a:ext>
                </a:extLst>
              </a:tr>
              <a:tr h="247763">
                <a:tc>
                  <a:txBody>
                    <a:bodyPr/>
                    <a:lstStyle/>
                    <a:p>
                      <a:pPr algn="ctr" rtl="0" fontAlgn="ctr"/>
                      <a:r>
                        <a:rPr lang="en-US" sz="1000" b="0" i="0" u="none" strike="noStrike">
                          <a:solidFill>
                            <a:srgbClr val="000000"/>
                          </a:solidFill>
                          <a:effectLst/>
                          <a:latin typeface="+mn-lt"/>
                        </a:rPr>
                        <a:t>6</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Тавилга</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$8,184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6.5%</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759701847"/>
                  </a:ext>
                </a:extLst>
              </a:tr>
              <a:tr h="247763">
                <a:tc>
                  <a:txBody>
                    <a:bodyPr/>
                    <a:lstStyle/>
                    <a:p>
                      <a:pPr algn="ctr" rtl="0" fontAlgn="ctr"/>
                      <a:r>
                        <a:rPr lang="en-US" sz="1000" b="0" i="0" u="none" strike="noStrike">
                          <a:solidFill>
                            <a:srgbClr val="000000"/>
                          </a:solidFill>
                          <a:effectLst/>
                          <a:latin typeface="+mn-lt"/>
                        </a:rPr>
                        <a:t>7</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Гал тогооны хэрэгсэл</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$1,961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1.6%</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998951421"/>
                  </a:ext>
                </a:extLst>
              </a:tr>
              <a:tr h="247763">
                <a:tc>
                  <a:txBody>
                    <a:bodyPr/>
                    <a:lstStyle/>
                    <a:p>
                      <a:pPr algn="ctr" rtl="0" fontAlgn="ctr"/>
                      <a:r>
                        <a:rPr lang="en-US" sz="1000" b="0" i="0" u="none" strike="noStrike">
                          <a:solidFill>
                            <a:srgbClr val="000000"/>
                          </a:solidFill>
                          <a:effectLst/>
                          <a:latin typeface="+mn-lt"/>
                        </a:rPr>
                        <a:t>8</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l" rtl="0" fontAlgn="ctr"/>
                      <a:r>
                        <a:rPr lang="mn-MN" sz="1000" b="0" i="0" u="none" strike="noStrike">
                          <a:solidFill>
                            <a:srgbClr val="000000"/>
                          </a:solidFill>
                          <a:effectLst/>
                          <a:latin typeface="+mn-lt"/>
                        </a:rPr>
                        <a:t>Бусад зардал</a:t>
                      </a:r>
                    </a:p>
                  </a:txBody>
                  <a:tcPr marL="6858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$2,787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0" i="0" u="none" strike="noStrike">
                          <a:solidFill>
                            <a:srgbClr val="000000"/>
                          </a:solidFill>
                          <a:effectLst/>
                          <a:latin typeface="+mn-lt"/>
                        </a:rPr>
                        <a:t>2.2%</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676912683"/>
                  </a:ext>
                </a:extLst>
              </a:tr>
              <a:tr h="247763">
                <a:tc gridSpan="2">
                  <a:txBody>
                    <a:bodyPr/>
                    <a:lstStyle/>
                    <a:p>
                      <a:pPr algn="ctr" rtl="0" fontAlgn="ctr"/>
                      <a:r>
                        <a:rPr lang="mn-MN" sz="1000" b="1" i="0" u="none" strike="noStrike">
                          <a:solidFill>
                            <a:srgbClr val="000000"/>
                          </a:solidFill>
                          <a:effectLst/>
                          <a:latin typeface="+mn-lt"/>
                        </a:rPr>
                        <a:t>Нийт</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hMerge="1">
                  <a:txBody>
                    <a:bodyPr/>
                    <a:lstStyle/>
                    <a:p>
                      <a:endParaRPr lang="en-US"/>
                    </a:p>
                  </a:txBody>
                  <a:tcPr/>
                </a:tc>
                <a:tc>
                  <a:txBody>
                    <a:bodyPr/>
                    <a:lstStyle/>
                    <a:p>
                      <a:pPr algn="ctr" rtl="0" fontAlgn="ctr"/>
                      <a:r>
                        <a:rPr lang="en-US" sz="1000" b="1" i="0" u="none" strike="noStrike">
                          <a:solidFill>
                            <a:srgbClr val="000000"/>
                          </a:solidFill>
                          <a:effectLst/>
                          <a:latin typeface="+mn-lt"/>
                        </a:rPr>
                        <a:t>$125,762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1" i="0" u="none" strike="noStrike">
                          <a:solidFill>
                            <a:srgbClr val="000000"/>
                          </a:solidFill>
                          <a:effectLst/>
                          <a:latin typeface="+mn-lt"/>
                        </a:rPr>
                        <a:t>100.0%</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107439349"/>
                  </a:ext>
                </a:extLst>
              </a:tr>
            </a:tbl>
          </a:graphicData>
        </a:graphic>
      </p:graphicFrame>
      <p:pic>
        <p:nvPicPr>
          <p:cNvPr id="12" name="Picture 11">
            <a:extLst>
              <a:ext uri="{FF2B5EF4-FFF2-40B4-BE49-F238E27FC236}">
                <a16:creationId xmlns:a16="http://schemas.microsoft.com/office/drawing/2014/main" id="{8C8F36CC-738E-093F-A248-78F57416730A}"/>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rcRect l="-2789" t="-1" r="-341" b="69154"/>
          <a:stretch/>
        </p:blipFill>
        <p:spPr>
          <a:xfrm>
            <a:off x="6281564" y="2087496"/>
            <a:ext cx="1608665" cy="241761"/>
          </a:xfrm>
          <a:prstGeom prst="rect">
            <a:avLst/>
          </a:prstGeom>
        </p:spPr>
      </p:pic>
      <p:pic>
        <p:nvPicPr>
          <p:cNvPr id="13" name="Picture 12">
            <a:extLst>
              <a:ext uri="{FF2B5EF4-FFF2-40B4-BE49-F238E27FC236}">
                <a16:creationId xmlns:a16="http://schemas.microsoft.com/office/drawing/2014/main" id="{5F4CA4C8-26B0-9418-40D5-09F5ED523454}"/>
              </a:ext>
            </a:extLst>
          </p:cNvPr>
          <p:cNvPicPr>
            <a:picLocks noChangeAspect="1"/>
          </p:cNvPicPr>
          <p:nvPr/>
        </p:nvPicPr>
        <p:blipFill>
          <a:blip r:embed="rId5">
            <a:extLst>
              <a:ext uri="{28A0092B-C50C-407E-A947-70E740481C1C}">
                <a14:useLocalDpi xmlns:a14="http://schemas.microsoft.com/office/drawing/2010/main" val="0"/>
              </a:ext>
            </a:extLst>
          </a:blip>
          <a:srcRect t="17980" b="22534"/>
          <a:stretch/>
        </p:blipFill>
        <p:spPr>
          <a:xfrm>
            <a:off x="496922" y="1876557"/>
            <a:ext cx="1608665" cy="530131"/>
          </a:xfrm>
          <a:prstGeom prst="rect">
            <a:avLst/>
          </a:prstGeom>
        </p:spPr>
      </p:pic>
      <p:sp>
        <p:nvSpPr>
          <p:cNvPr id="15" name="TextBox 14">
            <a:extLst>
              <a:ext uri="{FF2B5EF4-FFF2-40B4-BE49-F238E27FC236}">
                <a16:creationId xmlns:a16="http://schemas.microsoft.com/office/drawing/2014/main" id="{469AAB2B-12EF-6CA5-0CD8-B1412825CA06}"/>
              </a:ext>
            </a:extLst>
          </p:cNvPr>
          <p:cNvSpPr txBox="1"/>
          <p:nvPr/>
        </p:nvSpPr>
        <p:spPr>
          <a:xfrm>
            <a:off x="7662886" y="5762534"/>
            <a:ext cx="3911069" cy="246221"/>
          </a:xfrm>
          <a:prstGeom prst="rect">
            <a:avLst/>
          </a:prstGeom>
          <a:noFill/>
        </p:spPr>
        <p:txBody>
          <a:bodyPr wrap="square" rtlCol="0">
            <a:spAutoFit/>
          </a:bodyPr>
          <a:lstStyle/>
          <a:p>
            <a:pPr algn="r"/>
            <a:r>
              <a:rPr lang="mn-MN" sz="1000" i="1">
                <a:cs typeface="Segoe UI" panose="020B0502040204020203" pitchFamily="34" charset="0"/>
              </a:rPr>
              <a:t>Эх сурвалж</a:t>
            </a:r>
            <a:r>
              <a:rPr lang="en-US" sz="1000" i="1">
                <a:cs typeface="Segoe UI" panose="020B0502040204020203" pitchFamily="34" charset="0"/>
              </a:rPr>
              <a:t>: </a:t>
            </a:r>
            <a:r>
              <a:rPr lang="mn-MN" sz="1000" i="1">
                <a:cs typeface="Segoe UI" panose="020B0502040204020203" pitchFamily="34" charset="0"/>
              </a:rPr>
              <a:t>Франчайз эрхлэгч холбогдох байгууллага</a:t>
            </a:r>
            <a:endParaRPr lang="en-US" sz="1000" i="1" dirty="0">
              <a:cs typeface="Segoe UI" panose="020B0502040204020203" pitchFamily="34" charset="0"/>
            </a:endParaRPr>
          </a:p>
        </p:txBody>
      </p:sp>
      <p:sp>
        <p:nvSpPr>
          <p:cNvPr id="5" name="TextBox 4">
            <a:extLst>
              <a:ext uri="{FF2B5EF4-FFF2-40B4-BE49-F238E27FC236}">
                <a16:creationId xmlns:a16="http://schemas.microsoft.com/office/drawing/2014/main" id="{6800C921-5BEB-E10A-9F8C-48E940F13E1E}"/>
              </a:ext>
            </a:extLst>
          </p:cNvPr>
          <p:cNvSpPr txBox="1"/>
          <p:nvPr/>
        </p:nvSpPr>
        <p:spPr>
          <a:xfrm>
            <a:off x="4338882" y="1610795"/>
            <a:ext cx="1127298" cy="253916"/>
          </a:xfrm>
          <a:prstGeom prst="rect">
            <a:avLst/>
          </a:prstGeom>
          <a:noFill/>
        </p:spPr>
        <p:txBody>
          <a:bodyPr wrap="square" rtlCol="0">
            <a:spAutoFit/>
          </a:bodyPr>
          <a:lstStyle/>
          <a:p>
            <a:pPr algn="ctr"/>
            <a:r>
              <a:rPr lang="en-US" sz="1050" b="1" i="1">
                <a:cs typeface="Segoe UI" panose="020B0502040204020203" pitchFamily="34" charset="0"/>
              </a:rPr>
              <a:t>MNT</a:t>
            </a:r>
          </a:p>
        </p:txBody>
      </p:sp>
      <p:sp>
        <p:nvSpPr>
          <p:cNvPr id="6" name="TextBox 5">
            <a:extLst>
              <a:ext uri="{FF2B5EF4-FFF2-40B4-BE49-F238E27FC236}">
                <a16:creationId xmlns:a16="http://schemas.microsoft.com/office/drawing/2014/main" id="{6044481F-ABF6-A430-3445-65704A6C7A60}"/>
              </a:ext>
            </a:extLst>
          </p:cNvPr>
          <p:cNvSpPr txBox="1"/>
          <p:nvPr/>
        </p:nvSpPr>
        <p:spPr>
          <a:xfrm>
            <a:off x="2604970" y="1604997"/>
            <a:ext cx="1127298" cy="253916"/>
          </a:xfrm>
          <a:prstGeom prst="rect">
            <a:avLst/>
          </a:prstGeom>
          <a:noFill/>
        </p:spPr>
        <p:txBody>
          <a:bodyPr wrap="square" rtlCol="0">
            <a:spAutoFit/>
          </a:bodyPr>
          <a:lstStyle/>
          <a:p>
            <a:pPr algn="ctr"/>
            <a:r>
              <a:rPr lang="en-US" sz="1050" b="1" i="1">
                <a:cs typeface="Segoe UI" panose="020B0502040204020203" pitchFamily="34" charset="0"/>
              </a:rPr>
              <a:t>USD</a:t>
            </a:r>
            <a:endParaRPr lang="en-US" sz="900" b="1" i="1">
              <a:cs typeface="Segoe UI" panose="020B0502040204020203" pitchFamily="34" charset="0"/>
            </a:endParaRPr>
          </a:p>
        </p:txBody>
      </p:sp>
      <p:sp>
        <p:nvSpPr>
          <p:cNvPr id="18" name="Rectangle: Rounded Corners 17">
            <a:extLst>
              <a:ext uri="{FF2B5EF4-FFF2-40B4-BE49-F238E27FC236}">
                <a16:creationId xmlns:a16="http://schemas.microsoft.com/office/drawing/2014/main" id="{F826E10C-1CE6-8C0A-5F28-B68D27B406DC}"/>
              </a:ext>
            </a:extLst>
          </p:cNvPr>
          <p:cNvSpPr/>
          <p:nvPr/>
        </p:nvSpPr>
        <p:spPr>
          <a:xfrm>
            <a:off x="2342002" y="1893099"/>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en-US" sz="1200">
                <a:solidFill>
                  <a:schemeClr val="tx1"/>
                </a:solidFill>
                <a:cs typeface="Segoe UI" panose="020B0502040204020203" pitchFamily="34" charset="0"/>
              </a:rPr>
              <a:t>$138,971.0</a:t>
            </a:r>
          </a:p>
        </p:txBody>
      </p:sp>
      <p:pic>
        <p:nvPicPr>
          <p:cNvPr id="19" name="Picture 18">
            <a:extLst>
              <a:ext uri="{FF2B5EF4-FFF2-40B4-BE49-F238E27FC236}">
                <a16:creationId xmlns:a16="http://schemas.microsoft.com/office/drawing/2014/main" id="{FCDC2C7B-94DA-62DB-AF38-87B9739BAD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63197" y="1833349"/>
            <a:ext cx="157610" cy="157610"/>
          </a:xfrm>
          <a:prstGeom prst="rect">
            <a:avLst/>
          </a:prstGeom>
        </p:spPr>
      </p:pic>
      <p:sp>
        <p:nvSpPr>
          <p:cNvPr id="21" name="Rectangle: Rounded Corners 20">
            <a:extLst>
              <a:ext uri="{FF2B5EF4-FFF2-40B4-BE49-F238E27FC236}">
                <a16:creationId xmlns:a16="http://schemas.microsoft.com/office/drawing/2014/main" id="{46C4D448-0A9C-08B3-C6AB-CA68653CFD18}"/>
              </a:ext>
            </a:extLst>
          </p:cNvPr>
          <p:cNvSpPr/>
          <p:nvPr/>
        </p:nvSpPr>
        <p:spPr>
          <a:xfrm>
            <a:off x="4111586" y="1881870"/>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en-US" sz="1200">
                <a:solidFill>
                  <a:schemeClr val="tx1"/>
                </a:solidFill>
                <a:cs typeface="Segoe UI" panose="020B0502040204020203" pitchFamily="34" charset="0"/>
              </a:rPr>
              <a:t>499,600,745</a:t>
            </a:r>
          </a:p>
        </p:txBody>
      </p:sp>
      <p:pic>
        <p:nvPicPr>
          <p:cNvPr id="23" name="Picture 22">
            <a:extLst>
              <a:ext uri="{FF2B5EF4-FFF2-40B4-BE49-F238E27FC236}">
                <a16:creationId xmlns:a16="http://schemas.microsoft.com/office/drawing/2014/main" id="{FD96BD24-E758-22E5-06A3-6E75474F35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32781" y="1822120"/>
            <a:ext cx="157610" cy="157610"/>
          </a:xfrm>
          <a:prstGeom prst="rect">
            <a:avLst/>
          </a:prstGeom>
        </p:spPr>
      </p:pic>
      <p:sp>
        <p:nvSpPr>
          <p:cNvPr id="24" name="TextBox 23">
            <a:extLst>
              <a:ext uri="{FF2B5EF4-FFF2-40B4-BE49-F238E27FC236}">
                <a16:creationId xmlns:a16="http://schemas.microsoft.com/office/drawing/2014/main" id="{AAE86E2D-7B19-CE63-F9A5-CCC3BE9CBF9E}"/>
              </a:ext>
            </a:extLst>
          </p:cNvPr>
          <p:cNvSpPr txBox="1"/>
          <p:nvPr/>
        </p:nvSpPr>
        <p:spPr>
          <a:xfrm>
            <a:off x="10044719" y="1610795"/>
            <a:ext cx="1127298" cy="253916"/>
          </a:xfrm>
          <a:prstGeom prst="rect">
            <a:avLst/>
          </a:prstGeom>
          <a:noFill/>
        </p:spPr>
        <p:txBody>
          <a:bodyPr wrap="square" rtlCol="0">
            <a:spAutoFit/>
          </a:bodyPr>
          <a:lstStyle/>
          <a:p>
            <a:pPr algn="ctr"/>
            <a:r>
              <a:rPr lang="en-US" sz="1050" b="1" i="1">
                <a:cs typeface="Segoe UI" panose="020B0502040204020203" pitchFamily="34" charset="0"/>
              </a:rPr>
              <a:t>MNT</a:t>
            </a:r>
          </a:p>
        </p:txBody>
      </p:sp>
      <p:sp>
        <p:nvSpPr>
          <p:cNvPr id="25" name="TextBox 24">
            <a:extLst>
              <a:ext uri="{FF2B5EF4-FFF2-40B4-BE49-F238E27FC236}">
                <a16:creationId xmlns:a16="http://schemas.microsoft.com/office/drawing/2014/main" id="{80906411-E259-5EB1-6A6B-8F43EE3EB363}"/>
              </a:ext>
            </a:extLst>
          </p:cNvPr>
          <p:cNvSpPr txBox="1"/>
          <p:nvPr/>
        </p:nvSpPr>
        <p:spPr>
          <a:xfrm>
            <a:off x="8310807" y="1604997"/>
            <a:ext cx="1127298" cy="253916"/>
          </a:xfrm>
          <a:prstGeom prst="rect">
            <a:avLst/>
          </a:prstGeom>
          <a:noFill/>
        </p:spPr>
        <p:txBody>
          <a:bodyPr wrap="square" rtlCol="0">
            <a:spAutoFit/>
          </a:bodyPr>
          <a:lstStyle/>
          <a:p>
            <a:pPr algn="ctr"/>
            <a:r>
              <a:rPr lang="en-US" sz="1050" b="1" i="1">
                <a:cs typeface="Segoe UI" panose="020B0502040204020203" pitchFamily="34" charset="0"/>
              </a:rPr>
              <a:t>USD</a:t>
            </a:r>
            <a:endParaRPr lang="en-US" sz="900" b="1" i="1">
              <a:cs typeface="Segoe UI" panose="020B0502040204020203" pitchFamily="34" charset="0"/>
            </a:endParaRPr>
          </a:p>
        </p:txBody>
      </p:sp>
      <p:sp>
        <p:nvSpPr>
          <p:cNvPr id="26" name="Rectangle: Rounded Corners 25">
            <a:extLst>
              <a:ext uri="{FF2B5EF4-FFF2-40B4-BE49-F238E27FC236}">
                <a16:creationId xmlns:a16="http://schemas.microsoft.com/office/drawing/2014/main" id="{17DDBE59-F3DC-9C49-9661-FE1FE7C97B79}"/>
              </a:ext>
            </a:extLst>
          </p:cNvPr>
          <p:cNvSpPr/>
          <p:nvPr/>
        </p:nvSpPr>
        <p:spPr>
          <a:xfrm>
            <a:off x="8047839" y="1893099"/>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en-US" sz="1200">
                <a:solidFill>
                  <a:schemeClr val="tx1"/>
                </a:solidFill>
                <a:cs typeface="Segoe UI" panose="020B0502040204020203" pitchFamily="34" charset="0"/>
              </a:rPr>
              <a:t>$125,762</a:t>
            </a:r>
          </a:p>
        </p:txBody>
      </p:sp>
      <p:pic>
        <p:nvPicPr>
          <p:cNvPr id="29" name="Picture 28">
            <a:extLst>
              <a:ext uri="{FF2B5EF4-FFF2-40B4-BE49-F238E27FC236}">
                <a16:creationId xmlns:a16="http://schemas.microsoft.com/office/drawing/2014/main" id="{B8DC7E6A-82BA-B571-D6CF-5C811E88A6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69034" y="1833349"/>
            <a:ext cx="157610" cy="157610"/>
          </a:xfrm>
          <a:prstGeom prst="rect">
            <a:avLst/>
          </a:prstGeom>
        </p:spPr>
      </p:pic>
      <p:sp>
        <p:nvSpPr>
          <p:cNvPr id="31" name="Rectangle: Rounded Corners 30">
            <a:extLst>
              <a:ext uri="{FF2B5EF4-FFF2-40B4-BE49-F238E27FC236}">
                <a16:creationId xmlns:a16="http://schemas.microsoft.com/office/drawing/2014/main" id="{6E9D5449-D60F-B543-023E-06A40AC86982}"/>
              </a:ext>
            </a:extLst>
          </p:cNvPr>
          <p:cNvSpPr/>
          <p:nvPr/>
        </p:nvSpPr>
        <p:spPr>
          <a:xfrm>
            <a:off x="9817423" y="1881870"/>
            <a:ext cx="1611974" cy="522637"/>
          </a:xfrm>
          <a:prstGeom prst="roundRect">
            <a:avLst/>
          </a:prstGeom>
          <a:solidFill>
            <a:schemeClr val="bg1"/>
          </a:solidFill>
          <a:ln w="9525">
            <a:solidFill>
              <a:srgbClr val="00206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pPr>
            <a:r>
              <a:rPr lang="en-US" sz="1200" i="0" u="none" strike="noStrike">
                <a:solidFill>
                  <a:srgbClr val="000000"/>
                </a:solidFill>
                <a:effectLst/>
                <a:latin typeface="+mn-lt"/>
              </a:rPr>
              <a:t>452,114,390</a:t>
            </a:r>
            <a:endParaRPr lang="en-US" sz="1200">
              <a:solidFill>
                <a:schemeClr val="tx1"/>
              </a:solidFill>
              <a:cs typeface="Segoe UI" panose="020B0502040204020203" pitchFamily="34" charset="0"/>
            </a:endParaRPr>
          </a:p>
        </p:txBody>
      </p:sp>
      <p:pic>
        <p:nvPicPr>
          <p:cNvPr id="32" name="Picture 31">
            <a:extLst>
              <a:ext uri="{FF2B5EF4-FFF2-40B4-BE49-F238E27FC236}">
                <a16:creationId xmlns:a16="http://schemas.microsoft.com/office/drawing/2014/main" id="{EC49BEB4-71D7-4699-E043-5209941EE2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38618" y="1822120"/>
            <a:ext cx="157610" cy="157610"/>
          </a:xfrm>
          <a:prstGeom prst="rect">
            <a:avLst/>
          </a:prstGeom>
        </p:spPr>
      </p:pic>
      <p:sp>
        <p:nvSpPr>
          <p:cNvPr id="4" name="TextBox 3">
            <a:extLst>
              <a:ext uri="{FF2B5EF4-FFF2-40B4-BE49-F238E27FC236}">
                <a16:creationId xmlns:a16="http://schemas.microsoft.com/office/drawing/2014/main" id="{BFE46C0D-A1AB-F118-F34B-7621A604E57C}"/>
              </a:ext>
            </a:extLst>
          </p:cNvPr>
          <p:cNvSpPr txBox="1"/>
          <p:nvPr/>
        </p:nvSpPr>
        <p:spPr>
          <a:xfrm>
            <a:off x="1040094" y="2563328"/>
            <a:ext cx="10111811" cy="246221"/>
          </a:xfrm>
          <a:prstGeom prst="rect">
            <a:avLst/>
          </a:prstGeom>
          <a:noFill/>
        </p:spPr>
        <p:txBody>
          <a:bodyPr wrap="square" rtlCol="0">
            <a:spAutoFit/>
          </a:bodyPr>
          <a:lstStyle/>
          <a:p>
            <a:pPr algn="ctr"/>
            <a:r>
              <a:rPr lang="mn-MN" sz="1000">
                <a:cs typeface="Segoe UI" panose="020B0502040204020203" pitchFamily="34" charset="0"/>
              </a:rPr>
              <a:t>Зах зээлийн нөхцөл байдал, түрээсийн төлбөр, түрээсэлж буй газрын хэмжээ, цахилгааны төлбөр нь хэлбэлзэлцдэг тул зээлийн хэмжээ 550 сая болж байна. </a:t>
            </a:r>
            <a:endParaRPr lang="en-US" sz="1000" dirty="0">
              <a:cs typeface="Segoe UI" panose="020B0502040204020203" pitchFamily="34" charset="0"/>
            </a:endParaRPr>
          </a:p>
        </p:txBody>
      </p:sp>
    </p:spTree>
    <p:extLst>
      <p:ext uri="{BB962C8B-B14F-4D97-AF65-F5344CB8AC3E}">
        <p14:creationId xmlns:p14="http://schemas.microsoft.com/office/powerpoint/2010/main" val="3006398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10</a:t>
            </a:fld>
            <a:endParaRPr lang="en-US" sz="1200" dirty="0">
              <a:solidFill>
                <a:schemeClr val="bg1">
                  <a:lumMod val="65000"/>
                </a:schemeClr>
              </a:solidFill>
              <a:cs typeface="Segoe UI Light" panose="020B0502040204020203" pitchFamily="34" charset="0"/>
            </a:endParaRPr>
          </a:p>
        </p:txBody>
      </p:sp>
      <p:grpSp>
        <p:nvGrpSpPr>
          <p:cNvPr id="2" name="Group 1">
            <a:extLst>
              <a:ext uri="{FF2B5EF4-FFF2-40B4-BE49-F238E27FC236}">
                <a16:creationId xmlns:a16="http://schemas.microsoft.com/office/drawing/2014/main" id="{5426873C-D579-B249-1B39-1DB1A010F3CE}"/>
              </a:ext>
            </a:extLst>
          </p:cNvPr>
          <p:cNvGrpSpPr/>
          <p:nvPr/>
        </p:nvGrpSpPr>
        <p:grpSpPr>
          <a:xfrm>
            <a:off x="3233651" y="402273"/>
            <a:ext cx="6273338"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ҮР АШГИЙН ТООЦООЛОЛ</a:t>
              </a:r>
            </a:p>
          </p:txBody>
        </p:sp>
      </p:grpSp>
      <p:sp>
        <p:nvSpPr>
          <p:cNvPr id="16" name="Rectangle 15">
            <a:extLst>
              <a:ext uri="{FF2B5EF4-FFF2-40B4-BE49-F238E27FC236}">
                <a16:creationId xmlns:a16="http://schemas.microsoft.com/office/drawing/2014/main" id="{020005E0-A527-6019-157E-BBAFFE5BBD30}"/>
              </a:ext>
            </a:extLst>
          </p:cNvPr>
          <p:cNvSpPr>
            <a:spLocks noChangeArrowheads="1"/>
          </p:cNvSpPr>
          <p:nvPr/>
        </p:nvSpPr>
        <p:spPr bwMode="auto">
          <a:xfrm>
            <a:off x="7002089" y="5988322"/>
            <a:ext cx="492388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mn-MN" altLang="en-US" sz="1100" b="0" i="1" u="none" strike="noStrike" cap="none" normalizeH="0" baseline="0">
                <a:ln>
                  <a:noFill/>
                </a:ln>
                <a:solidFill>
                  <a:schemeClr val="tx1"/>
                </a:solidFill>
                <a:effectLst/>
                <a:latin typeface="Segoe UI Light" panose="020B0502040204020203" pitchFamily="34" charset="0"/>
                <a:ea typeface="Calibri" panose="020F0502020204030204" pitchFamily="34" charset="0"/>
                <a:cs typeface="Segoe UI Light" panose="020B0502040204020203" pitchFamily="34" charset="0"/>
              </a:rPr>
              <a:t>*Хамтарч ажиллах франчайз үйл ажиллагаа явуулдаг байгууллагын франчайз нээх тоон дээр зээлийн багц бодогдсон болно </a:t>
            </a:r>
            <a:endParaRPr kumimoji="0" lang="en-US" altLang="en-US" sz="1100" b="0" i="1" u="none" strike="noStrike" cap="none" normalizeH="0" baseline="0" dirty="0">
              <a:ln>
                <a:noFill/>
              </a:ln>
              <a:solidFill>
                <a:schemeClr val="tx1"/>
              </a:solidFill>
              <a:effectLst/>
              <a:latin typeface="Segoe UI Light" panose="020B0502040204020203" pitchFamily="34" charset="0"/>
              <a:cs typeface="Segoe UI Light" panose="020B0502040204020203" pitchFamily="34" charset="0"/>
            </a:endParaRPr>
          </a:p>
        </p:txBody>
      </p:sp>
      <p:graphicFrame>
        <p:nvGraphicFramePr>
          <p:cNvPr id="18" name="Table 17">
            <a:extLst>
              <a:ext uri="{FF2B5EF4-FFF2-40B4-BE49-F238E27FC236}">
                <a16:creationId xmlns:a16="http://schemas.microsoft.com/office/drawing/2014/main" id="{A2A78AA3-472F-0D9F-8FE7-068268CD04B0}"/>
              </a:ext>
            </a:extLst>
          </p:cNvPr>
          <p:cNvGraphicFramePr>
            <a:graphicFrameLocks noGrp="1"/>
          </p:cNvGraphicFramePr>
          <p:nvPr>
            <p:extLst>
              <p:ext uri="{D42A27DB-BD31-4B8C-83A1-F6EECF244321}">
                <p14:modId xmlns:p14="http://schemas.microsoft.com/office/powerpoint/2010/main" val="3271398987"/>
              </p:ext>
            </p:extLst>
          </p:nvPr>
        </p:nvGraphicFramePr>
        <p:xfrm>
          <a:off x="3914183" y="1530451"/>
          <a:ext cx="8011792" cy="4332120"/>
        </p:xfrm>
        <a:graphic>
          <a:graphicData uri="http://schemas.openxmlformats.org/drawingml/2006/table">
            <a:tbl>
              <a:tblPr>
                <a:effectLst/>
              </a:tblPr>
              <a:tblGrid>
                <a:gridCol w="2801853">
                  <a:extLst>
                    <a:ext uri="{9D8B030D-6E8A-4147-A177-3AD203B41FA5}">
                      <a16:colId xmlns:a16="http://schemas.microsoft.com/office/drawing/2014/main" val="1355882365"/>
                    </a:ext>
                  </a:extLst>
                </a:gridCol>
                <a:gridCol w="1491133">
                  <a:extLst>
                    <a:ext uri="{9D8B030D-6E8A-4147-A177-3AD203B41FA5}">
                      <a16:colId xmlns:a16="http://schemas.microsoft.com/office/drawing/2014/main" val="995428426"/>
                    </a:ext>
                  </a:extLst>
                </a:gridCol>
                <a:gridCol w="1239602">
                  <a:extLst>
                    <a:ext uri="{9D8B030D-6E8A-4147-A177-3AD203B41FA5}">
                      <a16:colId xmlns:a16="http://schemas.microsoft.com/office/drawing/2014/main" val="3068720036"/>
                    </a:ext>
                  </a:extLst>
                </a:gridCol>
                <a:gridCol w="1239602">
                  <a:extLst>
                    <a:ext uri="{9D8B030D-6E8A-4147-A177-3AD203B41FA5}">
                      <a16:colId xmlns:a16="http://schemas.microsoft.com/office/drawing/2014/main" val="3305853177"/>
                    </a:ext>
                  </a:extLst>
                </a:gridCol>
                <a:gridCol w="1239602">
                  <a:extLst>
                    <a:ext uri="{9D8B030D-6E8A-4147-A177-3AD203B41FA5}">
                      <a16:colId xmlns:a16="http://schemas.microsoft.com/office/drawing/2014/main" val="3954347097"/>
                    </a:ext>
                  </a:extLst>
                </a:gridCol>
              </a:tblGrid>
              <a:tr h="288808">
                <a:tc gridSpan="5">
                  <a:txBody>
                    <a:bodyPr/>
                    <a:lstStyle/>
                    <a:p>
                      <a:pPr algn="ctr" rtl="0" fontAlgn="ctr"/>
                      <a:r>
                        <a:rPr lang="mn-MN" sz="1200" b="1" i="0" u="none" strike="noStrike">
                          <a:solidFill>
                            <a:srgbClr val="FFFFFF"/>
                          </a:solidFill>
                          <a:effectLst/>
                          <a:latin typeface="Aptos Narrow" panose="020B0004020202020204" pitchFamily="34" charset="0"/>
                        </a:rPr>
                        <a:t>ТООЦООЛОЛ</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002060"/>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0070C0"/>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0070C0"/>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0070C0"/>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0070C0"/>
                    </a:solidFill>
                  </a:tcPr>
                </a:tc>
                <a:extLst>
                  <a:ext uri="{0D108BD9-81ED-4DB2-BD59-A6C34878D82A}">
                    <a16:rowId xmlns:a16="http://schemas.microsoft.com/office/drawing/2014/main" val="2954306696"/>
                  </a:ext>
                </a:extLst>
              </a:tr>
              <a:tr h="288808">
                <a:tc>
                  <a:txBody>
                    <a:bodyPr/>
                    <a:lstStyle/>
                    <a:p>
                      <a:pPr algn="l" rtl="0" fontAlgn="ctr"/>
                      <a:r>
                        <a:rPr lang="mn-MN" sz="1200" b="0" i="0" u="none" strike="noStrike">
                          <a:solidFill>
                            <a:srgbClr val="000000"/>
                          </a:solidFill>
                          <a:effectLst/>
                          <a:latin typeface="Aptos Narrow" panose="020B0004020202020204" pitchFamily="34" charset="0"/>
                        </a:rPr>
                        <a:t>Батлан даалтын хувь</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tc>
                  <a:txBody>
                    <a:bodyPr/>
                    <a:lstStyle/>
                    <a:p>
                      <a:pPr algn="ctr" rtl="0" fontAlgn="ctr"/>
                      <a:r>
                        <a:rPr lang="en-US" sz="1200" b="1" i="0" u="none" strike="noStrike">
                          <a:solidFill>
                            <a:srgbClr val="002060"/>
                          </a:solidFill>
                          <a:effectLst/>
                          <a:latin typeface="Aptos Narrow" panose="020B0004020202020204" pitchFamily="34" charset="0"/>
                        </a:rPr>
                        <a:t>30%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tc>
                  <a:txBody>
                    <a:bodyPr/>
                    <a:lstStyle/>
                    <a:p>
                      <a:pPr algn="ctr" rtl="0" fontAlgn="ctr"/>
                      <a:r>
                        <a:rPr lang="en-US" sz="1200" b="1" i="0" u="none" strike="noStrike">
                          <a:solidFill>
                            <a:srgbClr val="002060"/>
                          </a:solidFill>
                          <a:effectLst/>
                          <a:latin typeface="Aptos Narrow" panose="020B0004020202020204" pitchFamily="34" charset="0"/>
                        </a:rPr>
                        <a:t>40%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tc>
                  <a:txBody>
                    <a:bodyPr/>
                    <a:lstStyle/>
                    <a:p>
                      <a:pPr algn="ctr" rtl="0" fontAlgn="ctr"/>
                      <a:r>
                        <a:rPr lang="en-US" sz="1200" b="1" i="0" u="none" strike="noStrike">
                          <a:solidFill>
                            <a:srgbClr val="002060"/>
                          </a:solidFill>
                          <a:effectLst/>
                          <a:latin typeface="Aptos Narrow" panose="020B0004020202020204" pitchFamily="34" charset="0"/>
                        </a:rPr>
                        <a:t>50%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tc>
                  <a:txBody>
                    <a:bodyPr/>
                    <a:lstStyle/>
                    <a:p>
                      <a:pPr algn="ctr" rtl="0" fontAlgn="ctr"/>
                      <a:r>
                        <a:rPr lang="en-US" sz="1200" b="1" i="0" u="none" strike="noStrike">
                          <a:solidFill>
                            <a:srgbClr val="002060"/>
                          </a:solidFill>
                          <a:effectLst/>
                          <a:latin typeface="Aptos Narrow" panose="020B0004020202020204" pitchFamily="34" charset="0"/>
                        </a:rPr>
                        <a:t>60%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2909301678"/>
                  </a:ext>
                </a:extLst>
              </a:tr>
              <a:tr h="288808">
                <a:tc>
                  <a:txBody>
                    <a:bodyPr/>
                    <a:lstStyle/>
                    <a:p>
                      <a:pPr algn="l" rtl="0" fontAlgn="ctr"/>
                      <a:r>
                        <a:rPr lang="mn-MN" sz="1200" b="0" i="0" u="none" strike="noStrike">
                          <a:solidFill>
                            <a:srgbClr val="000000"/>
                          </a:solidFill>
                          <a:effectLst/>
                          <a:latin typeface="Aptos Narrow" panose="020B0004020202020204" pitchFamily="34" charset="0"/>
                        </a:rPr>
                        <a:t>Зээлийн хүү</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DAE3F3"/>
                    </a:solidFill>
                  </a:tcPr>
                </a:tc>
                <a:tc>
                  <a:txBody>
                    <a:bodyPr/>
                    <a:lstStyle/>
                    <a:p>
                      <a:pPr algn="ctr" rtl="0" fontAlgn="ctr"/>
                      <a:r>
                        <a:rPr lang="en-US" sz="1200" b="1" i="0" u="none" strike="noStrike">
                          <a:solidFill>
                            <a:srgbClr val="002060"/>
                          </a:solidFill>
                          <a:effectLst/>
                          <a:latin typeface="Aptos Narrow" panose="020B0004020202020204" pitchFamily="34" charset="0"/>
                        </a:rPr>
                        <a:t>15.38%</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DAE3F3"/>
                    </a:solidFill>
                  </a:tcPr>
                </a:tc>
                <a:tc>
                  <a:txBody>
                    <a:bodyPr/>
                    <a:lstStyle/>
                    <a:p>
                      <a:pPr algn="ctr" rtl="0" fontAlgn="ctr"/>
                      <a:r>
                        <a:rPr lang="en-US" sz="1200" b="1" i="0" u="none" strike="noStrike">
                          <a:solidFill>
                            <a:srgbClr val="002060"/>
                          </a:solidFill>
                          <a:effectLst/>
                          <a:latin typeface="Aptos Narrow" panose="020B0004020202020204" pitchFamily="34" charset="0"/>
                        </a:rPr>
                        <a:t>14.25%</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DAE3F3"/>
                    </a:solidFill>
                  </a:tcPr>
                </a:tc>
                <a:tc>
                  <a:txBody>
                    <a:bodyPr/>
                    <a:lstStyle/>
                    <a:p>
                      <a:pPr algn="ctr" rtl="0" fontAlgn="ctr"/>
                      <a:r>
                        <a:rPr lang="en-US" sz="1200" b="1" i="0" u="none" strike="noStrike">
                          <a:solidFill>
                            <a:srgbClr val="002060"/>
                          </a:solidFill>
                          <a:effectLst/>
                          <a:latin typeface="Aptos Narrow" panose="020B0004020202020204" pitchFamily="34" charset="0"/>
                        </a:rPr>
                        <a:t>13.13%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DAE3F3"/>
                    </a:solidFill>
                  </a:tcPr>
                </a:tc>
                <a:tc>
                  <a:txBody>
                    <a:bodyPr/>
                    <a:lstStyle/>
                    <a:p>
                      <a:pPr algn="ctr" rtl="0" fontAlgn="ctr"/>
                      <a:r>
                        <a:rPr lang="en-US" sz="1200" b="1" i="0" u="none" strike="noStrike">
                          <a:solidFill>
                            <a:srgbClr val="002060"/>
                          </a:solidFill>
                          <a:effectLst/>
                          <a:latin typeface="Aptos Narrow" panose="020B0004020202020204" pitchFamily="34" charset="0"/>
                        </a:rPr>
                        <a:t>12.00%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DAE3F3"/>
                    </a:solidFill>
                  </a:tcPr>
                </a:tc>
                <a:extLst>
                  <a:ext uri="{0D108BD9-81ED-4DB2-BD59-A6C34878D82A}">
                    <a16:rowId xmlns:a16="http://schemas.microsoft.com/office/drawing/2014/main" val="3598519844"/>
                  </a:ext>
                </a:extLst>
              </a:tr>
              <a:tr h="288808">
                <a:tc>
                  <a:txBody>
                    <a:bodyPr/>
                    <a:lstStyle/>
                    <a:p>
                      <a:pPr algn="l" rtl="0" fontAlgn="ctr"/>
                      <a:r>
                        <a:rPr lang="mn-MN" sz="1200" b="0" i="0" u="none" strike="noStrike">
                          <a:solidFill>
                            <a:srgbClr val="000000"/>
                          </a:solidFill>
                          <a:effectLst/>
                          <a:latin typeface="Aptos Narrow" panose="020B0004020202020204" pitchFamily="34" charset="0"/>
                        </a:rPr>
                        <a:t>Зээлийн багцын төсөөлөл</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algn="ctr" rtl="0" fontAlgn="ctr"/>
                      <a:r>
                        <a:rPr lang="en-US" sz="1200" b="0" i="0" u="none" strike="noStrike">
                          <a:solidFill>
                            <a:srgbClr val="000000"/>
                          </a:solidFill>
                          <a:effectLst/>
                          <a:latin typeface="Aptos Narrow" panose="020B0004020202020204" pitchFamily="34" charset="0"/>
                        </a:rPr>
                        <a:t> 5,500,000,000.00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chemeClr val="bg1"/>
                    </a:solidFill>
                  </a:tcPr>
                </a:tc>
                <a:extLst>
                  <a:ext uri="{0D108BD9-81ED-4DB2-BD59-A6C34878D82A}">
                    <a16:rowId xmlns:a16="http://schemas.microsoft.com/office/drawing/2014/main" val="1921681986"/>
                  </a:ext>
                </a:extLst>
              </a:tr>
              <a:tr h="288808">
                <a:tc>
                  <a:txBody>
                    <a:bodyPr/>
                    <a:lstStyle/>
                    <a:p>
                      <a:pPr algn="l" rtl="0" fontAlgn="ctr"/>
                      <a:r>
                        <a:rPr lang="en-US" sz="1200" b="1" i="0" u="none" strike="noStrike">
                          <a:solidFill>
                            <a:schemeClr val="tx1"/>
                          </a:solidFill>
                          <a:effectLst/>
                          <a:latin typeface="Aptos Narrow" panose="020B0004020202020204" pitchFamily="34" charset="0"/>
                        </a:rPr>
                        <a:t> I. </a:t>
                      </a:r>
                      <a:r>
                        <a:rPr lang="mn-MN" sz="1200" b="1" i="0" u="none" strike="noStrike">
                          <a:solidFill>
                            <a:schemeClr val="tx1"/>
                          </a:solidFill>
                          <a:effectLst/>
                          <a:latin typeface="Aptos Narrow" panose="020B0004020202020204" pitchFamily="34" charset="0"/>
                        </a:rPr>
                        <a:t>ОРЛОГО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1,025,357,142.86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963,482,142.86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901,607,142.86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839,732,142.86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947318"/>
                  </a:ext>
                </a:extLst>
              </a:tr>
              <a:tr h="288808">
                <a:tc>
                  <a:txBody>
                    <a:bodyPr/>
                    <a:lstStyle/>
                    <a:p>
                      <a:pPr algn="l" rtl="0" fontAlgn="ctr"/>
                      <a:r>
                        <a:rPr lang="mn-MN" sz="1200" b="0" i="0" u="none" strike="noStrike">
                          <a:solidFill>
                            <a:schemeClr val="tx1"/>
                          </a:solidFill>
                          <a:effectLst/>
                          <a:latin typeface="Aptos Narrow" panose="020B0004020202020204" pitchFamily="34" charset="0"/>
                        </a:rPr>
                        <a:t>Зээлийн хүүний орлого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845,625,000.00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783,750,000.00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721,875,000.00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660,000,000.00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extLst>
                  <a:ext uri="{0D108BD9-81ED-4DB2-BD59-A6C34878D82A}">
                    <a16:rowId xmlns:a16="http://schemas.microsoft.com/office/drawing/2014/main" val="1169858516"/>
                  </a:ext>
                </a:extLst>
              </a:tr>
              <a:tr h="288808">
                <a:tc>
                  <a:txBody>
                    <a:bodyPr/>
                    <a:lstStyle/>
                    <a:p>
                      <a:pPr algn="l" rtl="0" fontAlgn="ctr"/>
                      <a:r>
                        <a:rPr lang="mn-MN" sz="1200" b="0" i="0" u="none" strike="noStrike">
                          <a:solidFill>
                            <a:schemeClr val="tx1"/>
                          </a:solidFill>
                          <a:effectLst/>
                          <a:latin typeface="Aptos Narrow" panose="020B0004020202020204" pitchFamily="34" charset="0"/>
                        </a:rPr>
                        <a:t>Хөрвөх хөрөнгийн орлого</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152,232,142.86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152,232,142.86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152,232,142.86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152,232,142.86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extLst>
                  <a:ext uri="{0D108BD9-81ED-4DB2-BD59-A6C34878D82A}">
                    <a16:rowId xmlns:a16="http://schemas.microsoft.com/office/drawing/2014/main" val="3152152748"/>
                  </a:ext>
                </a:extLst>
              </a:tr>
              <a:tr h="288808">
                <a:tc>
                  <a:txBody>
                    <a:bodyPr/>
                    <a:lstStyle/>
                    <a:p>
                      <a:pPr algn="l" rtl="0" fontAlgn="b"/>
                      <a:r>
                        <a:rPr lang="mn-MN" sz="1200" b="0" i="0" u="none" strike="noStrike">
                          <a:solidFill>
                            <a:schemeClr val="tx1"/>
                          </a:solidFill>
                          <a:effectLst/>
                          <a:latin typeface="Aptos Narrow" panose="020B0004020202020204" pitchFamily="34" charset="0"/>
                        </a:rPr>
                        <a:t>Зээлийн үйлчилгээний шимтгэл /0.5%/</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27,500,000.00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27,500,000.00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27,500,000.00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chemeClr val="tx1"/>
                          </a:solidFill>
                          <a:effectLst/>
                          <a:latin typeface="Aptos Narrow" panose="020B0004020202020204" pitchFamily="34" charset="0"/>
                        </a:rPr>
                        <a:t>        27,500,000.00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1502734"/>
                  </a:ext>
                </a:extLst>
              </a:tr>
              <a:tr h="288808">
                <a:tc>
                  <a:txBody>
                    <a:bodyPr/>
                    <a:lstStyle/>
                    <a:p>
                      <a:pPr algn="l" rtl="0" fontAlgn="ctr"/>
                      <a:r>
                        <a:rPr lang="en-US" sz="1200" b="1" i="0" u="none" strike="noStrike">
                          <a:solidFill>
                            <a:schemeClr val="tx1"/>
                          </a:solidFill>
                          <a:effectLst/>
                          <a:latin typeface="Aptos Narrow" panose="020B0004020202020204" pitchFamily="34" charset="0"/>
                        </a:rPr>
                        <a:t>II.</a:t>
                      </a:r>
                      <a:r>
                        <a:rPr lang="mn-MN" sz="1200" b="1" i="0" u="none" strike="noStrike">
                          <a:solidFill>
                            <a:schemeClr val="tx1"/>
                          </a:solidFill>
                          <a:effectLst/>
                          <a:latin typeface="Aptos Narrow" panose="020B0004020202020204" pitchFamily="34" charset="0"/>
                        </a:rPr>
                        <a:t>ЗАРДАЛ/₮/**:</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(891,078,571.43)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(858,628,571.43)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(826,178,571.43)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1" i="0" u="none" strike="noStrike">
                          <a:solidFill>
                            <a:schemeClr val="tx1"/>
                          </a:solidFill>
                          <a:effectLst/>
                          <a:latin typeface="Aptos Narrow" panose="020B0004020202020204" pitchFamily="34" charset="0"/>
                        </a:rPr>
                        <a:t>    (793,728,571.43)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7457927"/>
                  </a:ext>
                </a:extLst>
              </a:tr>
              <a:tr h="288808">
                <a:tc>
                  <a:txBody>
                    <a:bodyPr/>
                    <a:lstStyle/>
                    <a:p>
                      <a:pPr algn="l" rtl="0" fontAlgn="b"/>
                      <a:r>
                        <a:rPr lang="mn-MN" sz="1200" b="0" i="0" u="none" strike="noStrike">
                          <a:solidFill>
                            <a:schemeClr val="tx1"/>
                          </a:solidFill>
                          <a:effectLst/>
                          <a:latin typeface="Aptos Narrow" panose="020B0004020202020204" pitchFamily="34" charset="0"/>
                        </a:rPr>
                        <a:t>Батлан даалтын эх үүсвэрийн зардал /5.0%/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(82,500,000.00)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(110,000,000.00)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(137,500,000.00)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(165,000,000.00)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extLst>
                  <a:ext uri="{0D108BD9-81ED-4DB2-BD59-A6C34878D82A}">
                    <a16:rowId xmlns:a16="http://schemas.microsoft.com/office/drawing/2014/main" val="2651650782"/>
                  </a:ext>
                </a:extLst>
              </a:tr>
              <a:tr h="288808">
                <a:tc>
                  <a:txBody>
                    <a:bodyPr/>
                    <a:lstStyle/>
                    <a:p>
                      <a:pPr algn="l" rtl="0" fontAlgn="b"/>
                      <a:r>
                        <a:rPr lang="ru-RU" sz="1200" b="0" i="0" u="none" strike="noStrike">
                          <a:solidFill>
                            <a:schemeClr val="tx1"/>
                          </a:solidFill>
                          <a:effectLst/>
                          <a:latin typeface="Aptos Narrow" panose="020B0004020202020204" pitchFamily="34" charset="0"/>
                        </a:rPr>
                        <a:t>Дотоод эх үүсвэрийн зардал /10.9%/</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(419,650,000.00)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(359,700,000.00)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(299,750,000.00)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(239,800,000.00)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extLst>
                  <a:ext uri="{0D108BD9-81ED-4DB2-BD59-A6C34878D82A}">
                    <a16:rowId xmlns:a16="http://schemas.microsoft.com/office/drawing/2014/main" val="3332958004"/>
                  </a:ext>
                </a:extLst>
              </a:tr>
              <a:tr h="288808">
                <a:tc>
                  <a:txBody>
                    <a:bodyPr/>
                    <a:lstStyle/>
                    <a:p>
                      <a:pPr algn="l" rtl="0" fontAlgn="b"/>
                      <a:r>
                        <a:rPr lang="mn-MN" sz="1200" b="0" i="0" u="none" strike="noStrike">
                          <a:solidFill>
                            <a:schemeClr val="tx1"/>
                          </a:solidFill>
                          <a:effectLst/>
                          <a:latin typeface="Aptos Narrow" panose="020B0004020202020204" pitchFamily="34" charset="0"/>
                        </a:rPr>
                        <a:t>Хөрвөх хөрөнгийн зардал /10.9%/</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(256,928,571.43)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(256,928,571.43)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(256,928,571.43)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(256,928,571.43)</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extLst>
                  <a:ext uri="{0D108BD9-81ED-4DB2-BD59-A6C34878D82A}">
                    <a16:rowId xmlns:a16="http://schemas.microsoft.com/office/drawing/2014/main" val="4055214004"/>
                  </a:ext>
                </a:extLst>
              </a:tr>
              <a:tr h="288808">
                <a:tc>
                  <a:txBody>
                    <a:bodyPr/>
                    <a:lstStyle/>
                    <a:p>
                      <a:pPr algn="l" rtl="0" fontAlgn="b"/>
                      <a:r>
                        <a:rPr lang="mn-MN" sz="1200" b="0" i="0" u="none" strike="noStrike">
                          <a:solidFill>
                            <a:schemeClr val="tx1"/>
                          </a:solidFill>
                          <a:effectLst/>
                          <a:latin typeface="Aptos Narrow" panose="020B0004020202020204" pitchFamily="34" charset="0"/>
                        </a:rPr>
                        <a:t>Үйл ажиллагааны зардал /1.9%/</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(104,500,000.00)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(104,500,000.00)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(104,500,000.00)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(104,500,000.00)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noFill/>
                  </a:tcPr>
                </a:tc>
                <a:extLst>
                  <a:ext uri="{0D108BD9-81ED-4DB2-BD59-A6C34878D82A}">
                    <a16:rowId xmlns:a16="http://schemas.microsoft.com/office/drawing/2014/main" val="124155216"/>
                  </a:ext>
                </a:extLst>
              </a:tr>
              <a:tr h="288808">
                <a:tc>
                  <a:txBody>
                    <a:bodyPr/>
                    <a:lstStyle/>
                    <a:p>
                      <a:pPr algn="l" rtl="0" fontAlgn="b"/>
                      <a:r>
                        <a:rPr lang="mn-MN" sz="1200" b="0" i="0" u="none" strike="noStrike">
                          <a:solidFill>
                            <a:schemeClr val="tx1"/>
                          </a:solidFill>
                          <a:effectLst/>
                          <a:latin typeface="Aptos Narrow" panose="020B0004020202020204" pitchFamily="34" charset="0"/>
                        </a:rPr>
                        <a:t> Эрсдэлийн маржин /0.5%/</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(27,500,000.00)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(27,500,000.00)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(27,500,000.00)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b"/>
                      <a:r>
                        <a:rPr lang="en-US" sz="1200" b="0" i="0" u="none" strike="noStrike">
                          <a:solidFill>
                            <a:srgbClr val="000000"/>
                          </a:solidFill>
                          <a:effectLst/>
                          <a:latin typeface="Aptos Narrow" panose="020B0004020202020204" pitchFamily="34" charset="0"/>
                        </a:rPr>
                        <a:t>      (27,500,000.00)</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268842"/>
                  </a:ext>
                </a:extLst>
              </a:tr>
              <a:tr h="288808">
                <a:tc>
                  <a:txBody>
                    <a:bodyPr/>
                    <a:lstStyle/>
                    <a:p>
                      <a:pPr algn="ctr" rtl="0" fontAlgn="ctr"/>
                      <a:r>
                        <a:rPr lang="mn-MN" sz="1200" b="1" i="0" u="none" strike="noStrike">
                          <a:solidFill>
                            <a:schemeClr val="bg1"/>
                          </a:solidFill>
                          <a:effectLst/>
                          <a:latin typeface="Aptos Narrow" panose="020B0004020202020204" pitchFamily="34" charset="0"/>
                        </a:rPr>
                        <a:t>ТАТВАРЫН ӨМНӨХ АШИГ: (</a:t>
                      </a:r>
                      <a:r>
                        <a:rPr lang="en-US" sz="1200" b="1" i="0" u="none" strike="noStrike">
                          <a:solidFill>
                            <a:schemeClr val="bg1"/>
                          </a:solidFill>
                          <a:effectLst/>
                          <a:latin typeface="Aptos Narrow" panose="020B0004020202020204" pitchFamily="34" charset="0"/>
                        </a:rPr>
                        <a:t>I-II)</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b"/>
                      <a:r>
                        <a:rPr lang="en-US" sz="1200" b="1" i="0" u="none" strike="noStrike">
                          <a:solidFill>
                            <a:srgbClr val="FFFFFF"/>
                          </a:solidFill>
                          <a:effectLst/>
                          <a:latin typeface="Aptos Narrow" panose="020B0004020202020204" pitchFamily="34" charset="0"/>
                        </a:rPr>
                        <a:t>       134,278,571.43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b"/>
                      <a:r>
                        <a:rPr lang="en-US" sz="1200" b="1" i="0" u="none" strike="noStrike">
                          <a:solidFill>
                            <a:srgbClr val="FFFFFF"/>
                          </a:solidFill>
                          <a:effectLst/>
                          <a:latin typeface="Aptos Narrow" panose="020B0004020202020204" pitchFamily="34" charset="0"/>
                        </a:rPr>
                        <a:t>      104,853,571.43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b"/>
                      <a:r>
                        <a:rPr lang="en-US" sz="1200" b="1" i="0" u="none" strike="noStrike">
                          <a:solidFill>
                            <a:srgbClr val="FFFFFF"/>
                          </a:solidFill>
                          <a:effectLst/>
                          <a:latin typeface="Aptos Narrow" panose="020B0004020202020204" pitchFamily="34" charset="0"/>
                        </a:rPr>
                        <a:t>        75,428,571.43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b"/>
                      <a:r>
                        <a:rPr lang="en-US" sz="1200" b="1" i="0" u="none" strike="noStrike">
                          <a:solidFill>
                            <a:srgbClr val="FFFFFF"/>
                          </a:solidFill>
                          <a:effectLst/>
                          <a:latin typeface="Aptos Narrow" panose="020B0004020202020204" pitchFamily="34" charset="0"/>
                        </a:rPr>
                        <a:t>        46,003,571.43 </a:t>
                      </a:r>
                    </a:p>
                  </a:txBody>
                  <a:tcPr marL="7620" marR="7620" marT="762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675877373"/>
                  </a:ext>
                </a:extLst>
              </a:tr>
            </a:tbl>
          </a:graphicData>
        </a:graphic>
      </p:graphicFrame>
      <p:sp>
        <p:nvSpPr>
          <p:cNvPr id="3" name="Rectangle 2">
            <a:extLst>
              <a:ext uri="{FF2B5EF4-FFF2-40B4-BE49-F238E27FC236}">
                <a16:creationId xmlns:a16="http://schemas.microsoft.com/office/drawing/2014/main" id="{656FBE8A-68AC-6C44-6BB1-675A3F903710}"/>
              </a:ext>
            </a:extLst>
          </p:cNvPr>
          <p:cNvSpPr/>
          <p:nvPr/>
        </p:nvSpPr>
        <p:spPr>
          <a:xfrm>
            <a:off x="3914183" y="1253452"/>
            <a:ext cx="4712962" cy="276999"/>
          </a:xfrm>
          <a:prstGeom prst="rect">
            <a:avLst/>
          </a:prstGeom>
        </p:spPr>
        <p:txBody>
          <a:bodyPr wrap="square" anchor="ctr">
            <a:spAutoFit/>
          </a:bodyPr>
          <a:lstStyle/>
          <a:p>
            <a:r>
              <a:rPr lang="mn-MN" sz="1200" b="1" i="1">
                <a:solidFill>
                  <a:srgbClr val="002060"/>
                </a:solidFill>
                <a:cs typeface="Segoe UI" panose="020B0502040204020203" pitchFamily="34" charset="0"/>
              </a:rPr>
              <a:t>Үр ашгийн тооцоолол</a:t>
            </a:r>
            <a:endParaRPr lang="en-US" sz="1200" b="1" i="1" dirty="0">
              <a:solidFill>
                <a:srgbClr val="002060"/>
              </a:solidFill>
              <a:cs typeface="Segoe UI" panose="020B0502040204020203" pitchFamily="34" charset="0"/>
            </a:endParaRPr>
          </a:p>
        </p:txBody>
      </p:sp>
      <p:sp>
        <p:nvSpPr>
          <p:cNvPr id="4" name="Rectangle 3">
            <a:extLst>
              <a:ext uri="{FF2B5EF4-FFF2-40B4-BE49-F238E27FC236}">
                <a16:creationId xmlns:a16="http://schemas.microsoft.com/office/drawing/2014/main" id="{809455D1-35D3-44C7-3936-EC612A7B8649}"/>
              </a:ext>
            </a:extLst>
          </p:cNvPr>
          <p:cNvSpPr/>
          <p:nvPr/>
        </p:nvSpPr>
        <p:spPr>
          <a:xfrm>
            <a:off x="266025" y="1738181"/>
            <a:ext cx="4712962" cy="276999"/>
          </a:xfrm>
          <a:prstGeom prst="rect">
            <a:avLst/>
          </a:prstGeom>
        </p:spPr>
        <p:txBody>
          <a:bodyPr wrap="square" anchor="ctr">
            <a:spAutoFit/>
          </a:bodyPr>
          <a:lstStyle/>
          <a:p>
            <a:r>
              <a:rPr lang="mn-MN" sz="1200" b="1" i="1">
                <a:solidFill>
                  <a:srgbClr val="002060"/>
                </a:solidFill>
                <a:cs typeface="Segoe UI" panose="020B0502040204020203" pitchFamily="34" charset="0"/>
              </a:rPr>
              <a:t>Урьдчилсан төлөвлөгөө</a:t>
            </a:r>
            <a:endParaRPr lang="en-US" sz="1200" b="1" i="1" dirty="0">
              <a:solidFill>
                <a:srgbClr val="002060"/>
              </a:solidFill>
              <a:cs typeface="Segoe UI" panose="020B0502040204020203" pitchFamily="34" charset="0"/>
            </a:endParaRPr>
          </a:p>
        </p:txBody>
      </p:sp>
      <p:sp>
        <p:nvSpPr>
          <p:cNvPr id="6" name="Rectangle 5">
            <a:extLst>
              <a:ext uri="{FF2B5EF4-FFF2-40B4-BE49-F238E27FC236}">
                <a16:creationId xmlns:a16="http://schemas.microsoft.com/office/drawing/2014/main" id="{F1469B43-F2A2-1E66-02F0-0F3263932E35}"/>
              </a:ext>
            </a:extLst>
          </p:cNvPr>
          <p:cNvSpPr/>
          <p:nvPr/>
        </p:nvSpPr>
        <p:spPr>
          <a:xfrm>
            <a:off x="313189" y="2085731"/>
            <a:ext cx="3281295" cy="3506075"/>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Light" panose="020B0502040204020203" pitchFamily="34" charset="0"/>
              <a:cs typeface="Segoe UI Light" panose="020B0502040204020203" pitchFamily="34" charset="0"/>
            </a:endParaRPr>
          </a:p>
        </p:txBody>
      </p:sp>
      <p:grpSp>
        <p:nvGrpSpPr>
          <p:cNvPr id="8" name="Group 7">
            <a:extLst>
              <a:ext uri="{FF2B5EF4-FFF2-40B4-BE49-F238E27FC236}">
                <a16:creationId xmlns:a16="http://schemas.microsoft.com/office/drawing/2014/main" id="{4B7A4287-2B4F-9482-22AB-4D30D8328917}"/>
              </a:ext>
            </a:extLst>
          </p:cNvPr>
          <p:cNvGrpSpPr/>
          <p:nvPr/>
        </p:nvGrpSpPr>
        <p:grpSpPr>
          <a:xfrm>
            <a:off x="404291" y="2970138"/>
            <a:ext cx="1267597" cy="757624"/>
            <a:chOff x="5689171" y="5238282"/>
            <a:chExt cx="2263442" cy="363617"/>
          </a:xfrm>
        </p:grpSpPr>
        <p:sp>
          <p:nvSpPr>
            <p:cNvPr id="19" name="TextBox 18">
              <a:extLst>
                <a:ext uri="{FF2B5EF4-FFF2-40B4-BE49-F238E27FC236}">
                  <a16:creationId xmlns:a16="http://schemas.microsoft.com/office/drawing/2014/main" id="{E98C6DBF-E491-4FFF-A7F7-93837159E02D}"/>
                </a:ext>
              </a:extLst>
            </p:cNvPr>
            <p:cNvSpPr txBox="1"/>
            <p:nvPr/>
          </p:nvSpPr>
          <p:spPr>
            <a:xfrm>
              <a:off x="5689171" y="5380326"/>
              <a:ext cx="2263442" cy="221573"/>
            </a:xfrm>
            <a:prstGeom prst="rect">
              <a:avLst/>
            </a:prstGeom>
            <a:noFill/>
          </p:spPr>
          <p:txBody>
            <a:bodyPr wrap="square" rtlCol="0">
              <a:spAutoFit/>
            </a:bodyPr>
            <a:lstStyle/>
            <a:p>
              <a:pPr algn="ctr"/>
              <a:r>
                <a:rPr lang="mn-MN" sz="1200" b="1">
                  <a:latin typeface="Segoe UI Light" panose="020B0502040204020203" pitchFamily="34" charset="0"/>
                  <a:cs typeface="Segoe UI Light" panose="020B0502040204020203" pitchFamily="34" charset="0"/>
                </a:rPr>
                <a:t>Салбар шинээр нээх</a:t>
              </a:r>
              <a:endParaRPr lang="mn-MN" sz="1200" b="1" dirty="0">
                <a:latin typeface="Segoe UI Light" panose="020B0502040204020203" pitchFamily="34" charset="0"/>
                <a:cs typeface="Segoe UI Light" panose="020B0502040204020203" pitchFamily="34" charset="0"/>
              </a:endParaRPr>
            </a:p>
          </p:txBody>
        </p:sp>
        <p:sp>
          <p:nvSpPr>
            <p:cNvPr id="20" name="TextBox 19">
              <a:extLst>
                <a:ext uri="{FF2B5EF4-FFF2-40B4-BE49-F238E27FC236}">
                  <a16:creationId xmlns:a16="http://schemas.microsoft.com/office/drawing/2014/main" id="{3EE79778-6EC6-9549-991B-DD677C080A8F}"/>
                </a:ext>
              </a:extLst>
            </p:cNvPr>
            <p:cNvSpPr txBox="1"/>
            <p:nvPr/>
          </p:nvSpPr>
          <p:spPr>
            <a:xfrm>
              <a:off x="6244114" y="5238282"/>
              <a:ext cx="1028651" cy="162487"/>
            </a:xfrm>
            <a:prstGeom prst="rect">
              <a:avLst/>
            </a:prstGeom>
            <a:noFill/>
          </p:spPr>
          <p:txBody>
            <a:bodyPr wrap="square" rtlCol="0">
              <a:spAutoFit/>
            </a:bodyPr>
            <a:lstStyle/>
            <a:p>
              <a:pPr algn="ctr"/>
              <a:r>
                <a:rPr lang="en-US" sz="1600" b="1">
                  <a:solidFill>
                    <a:srgbClr val="0080FF"/>
                  </a:solidFill>
                  <a:latin typeface="Segoe UI Light" panose="020B0502040204020203" pitchFamily="34" charset="0"/>
                  <a:cs typeface="Segoe UI Light" panose="020B0502040204020203" pitchFamily="34" charset="0"/>
                </a:rPr>
                <a:t>10 </a:t>
              </a:r>
              <a:endParaRPr lang="mn-MN" sz="1600" dirty="0">
                <a:solidFill>
                  <a:srgbClr val="0080FF"/>
                </a:solidFill>
                <a:latin typeface="Segoe UI Light" panose="020B0502040204020203" pitchFamily="34" charset="0"/>
                <a:cs typeface="Segoe UI Light" panose="020B0502040204020203" pitchFamily="34" charset="0"/>
              </a:endParaRPr>
            </a:p>
          </p:txBody>
        </p:sp>
      </p:grpSp>
      <p:grpSp>
        <p:nvGrpSpPr>
          <p:cNvPr id="9" name="Group 8">
            <a:extLst>
              <a:ext uri="{FF2B5EF4-FFF2-40B4-BE49-F238E27FC236}">
                <a16:creationId xmlns:a16="http://schemas.microsoft.com/office/drawing/2014/main" id="{5A48BE8B-ED44-E32E-913A-FD9391CFE6B1}"/>
              </a:ext>
            </a:extLst>
          </p:cNvPr>
          <p:cNvGrpSpPr/>
          <p:nvPr/>
        </p:nvGrpSpPr>
        <p:grpSpPr>
          <a:xfrm>
            <a:off x="2112726" y="2956222"/>
            <a:ext cx="1537355" cy="852133"/>
            <a:chOff x="7356943" y="6630317"/>
            <a:chExt cx="2745126" cy="408976"/>
          </a:xfrm>
        </p:grpSpPr>
        <p:sp>
          <p:nvSpPr>
            <p:cNvPr id="12" name="TextBox 11">
              <a:extLst>
                <a:ext uri="{FF2B5EF4-FFF2-40B4-BE49-F238E27FC236}">
                  <a16:creationId xmlns:a16="http://schemas.microsoft.com/office/drawing/2014/main" id="{739A5344-F072-0504-AA0C-520E8D8C15A8}"/>
                </a:ext>
              </a:extLst>
            </p:cNvPr>
            <p:cNvSpPr txBox="1"/>
            <p:nvPr/>
          </p:nvSpPr>
          <p:spPr>
            <a:xfrm>
              <a:off x="7778942" y="6817720"/>
              <a:ext cx="1901128" cy="221573"/>
            </a:xfrm>
            <a:prstGeom prst="rect">
              <a:avLst/>
            </a:prstGeom>
            <a:noFill/>
          </p:spPr>
          <p:txBody>
            <a:bodyPr wrap="square" rtlCol="0">
              <a:spAutoFit/>
            </a:bodyPr>
            <a:lstStyle/>
            <a:p>
              <a:pPr algn="ctr"/>
              <a:r>
                <a:rPr lang="mn-MN" sz="1200" b="1">
                  <a:solidFill>
                    <a:schemeClr val="tx1">
                      <a:lumMod val="75000"/>
                      <a:lumOff val="25000"/>
                    </a:schemeClr>
                  </a:solidFill>
                  <a:latin typeface="Segoe UI Light" panose="020B0502040204020203" pitchFamily="34" charset="0"/>
                  <a:cs typeface="Segoe UI Light" panose="020B0502040204020203" pitchFamily="34" charset="0"/>
                </a:rPr>
                <a:t>1 салбар нээх зардал</a:t>
              </a:r>
              <a:endParaRPr lang="mn-MN" sz="1200" b="1" dirty="0">
                <a:solidFill>
                  <a:schemeClr val="tx1">
                    <a:lumMod val="75000"/>
                    <a:lumOff val="25000"/>
                  </a:schemeClr>
                </a:solidFill>
                <a:latin typeface="Segoe UI Light" panose="020B0502040204020203" pitchFamily="34" charset="0"/>
                <a:cs typeface="Segoe UI Light" panose="020B0502040204020203" pitchFamily="34" charset="0"/>
              </a:endParaRPr>
            </a:p>
          </p:txBody>
        </p:sp>
        <p:sp>
          <p:nvSpPr>
            <p:cNvPr id="13" name="TextBox 12">
              <a:extLst>
                <a:ext uri="{FF2B5EF4-FFF2-40B4-BE49-F238E27FC236}">
                  <a16:creationId xmlns:a16="http://schemas.microsoft.com/office/drawing/2014/main" id="{AADE0BF0-DB57-FDA4-8A88-9808CB514B47}"/>
                </a:ext>
              </a:extLst>
            </p:cNvPr>
            <p:cNvSpPr txBox="1"/>
            <p:nvPr/>
          </p:nvSpPr>
          <p:spPr>
            <a:xfrm>
              <a:off x="7356943" y="6630317"/>
              <a:ext cx="2745126" cy="147716"/>
            </a:xfrm>
            <a:prstGeom prst="rect">
              <a:avLst/>
            </a:prstGeom>
            <a:noFill/>
          </p:spPr>
          <p:txBody>
            <a:bodyPr wrap="square" rtlCol="0">
              <a:spAutoFit/>
            </a:bodyPr>
            <a:lstStyle/>
            <a:p>
              <a:pPr algn="ctr"/>
              <a:r>
                <a:rPr lang="mn-MN" sz="1400" b="1">
                  <a:solidFill>
                    <a:srgbClr val="0080FF"/>
                  </a:solidFill>
                  <a:latin typeface="Segoe UI Light" panose="020B0502040204020203" pitchFamily="34" charset="0"/>
                  <a:cs typeface="Segoe UI Light" panose="020B0502040204020203" pitchFamily="34" charset="0"/>
                </a:rPr>
                <a:t>550.0 </a:t>
              </a:r>
              <a:r>
                <a:rPr lang="mn-MN" sz="1400" b="1" dirty="0">
                  <a:solidFill>
                    <a:srgbClr val="0080FF"/>
                  </a:solidFill>
                  <a:latin typeface="Segoe UI Light" panose="020B0502040204020203" pitchFamily="34" charset="0"/>
                  <a:cs typeface="Segoe UI Light" panose="020B0502040204020203" pitchFamily="34" charset="0"/>
                </a:rPr>
                <a:t>сая</a:t>
              </a:r>
            </a:p>
          </p:txBody>
        </p:sp>
      </p:grpSp>
      <p:sp>
        <p:nvSpPr>
          <p:cNvPr id="10" name="Arrow: Left-Right 9">
            <a:extLst>
              <a:ext uri="{FF2B5EF4-FFF2-40B4-BE49-F238E27FC236}">
                <a16:creationId xmlns:a16="http://schemas.microsoft.com/office/drawing/2014/main" id="{569DEC58-340F-07A2-8612-403B0E9F64A7}"/>
              </a:ext>
            </a:extLst>
          </p:cNvPr>
          <p:cNvSpPr/>
          <p:nvPr/>
        </p:nvSpPr>
        <p:spPr>
          <a:xfrm>
            <a:off x="1693038" y="3122139"/>
            <a:ext cx="634872" cy="162079"/>
          </a:xfrm>
          <a:prstGeom prst="leftRightArrow">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Light" panose="020B0502040204020203" pitchFamily="34" charset="0"/>
              <a:cs typeface="Segoe UI Light" panose="020B0502040204020203" pitchFamily="34" charset="0"/>
            </a:endParaRPr>
          </a:p>
        </p:txBody>
      </p:sp>
      <p:sp>
        <p:nvSpPr>
          <p:cNvPr id="11" name="TextBox 10">
            <a:extLst>
              <a:ext uri="{FF2B5EF4-FFF2-40B4-BE49-F238E27FC236}">
                <a16:creationId xmlns:a16="http://schemas.microsoft.com/office/drawing/2014/main" id="{3E2C02B4-AD65-4EB9-CF05-8B8E058E6346}"/>
              </a:ext>
            </a:extLst>
          </p:cNvPr>
          <p:cNvSpPr txBox="1"/>
          <p:nvPr/>
        </p:nvSpPr>
        <p:spPr>
          <a:xfrm>
            <a:off x="355363" y="4095380"/>
            <a:ext cx="3191256" cy="861774"/>
          </a:xfrm>
          <a:prstGeom prst="rect">
            <a:avLst/>
          </a:prstGeom>
          <a:noFill/>
        </p:spPr>
        <p:txBody>
          <a:bodyPr wrap="square">
            <a:spAutoFit/>
          </a:bodyPr>
          <a:lstStyle/>
          <a:p>
            <a:pPr algn="ctr"/>
            <a:r>
              <a:rPr lang="mn-MN" sz="1000" i="1">
                <a:solidFill>
                  <a:srgbClr val="002060"/>
                </a:solidFill>
                <a:latin typeface="Segoe UI Light" panose="020B0502040204020203" pitchFamily="34" charset="0"/>
                <a:cs typeface="Segoe UI Light" panose="020B0502040204020203" pitchFamily="34" charset="0"/>
              </a:rPr>
              <a:t>Хамтран ажиллах 2 Франчайзын хувьд цаашдын 1 жилийн төлөвлөгөөнд </a:t>
            </a:r>
            <a:r>
              <a:rPr lang="en-US" sz="1000" i="1">
                <a:solidFill>
                  <a:srgbClr val="002060"/>
                </a:solidFill>
                <a:latin typeface="Segoe UI Light" panose="020B0502040204020203" pitchFamily="34" charset="0"/>
                <a:cs typeface="Segoe UI Light" panose="020B0502040204020203" pitchFamily="34" charset="0"/>
              </a:rPr>
              <a:t>Caffe bene</a:t>
            </a:r>
            <a:r>
              <a:rPr lang="mn-MN" sz="1000" i="1">
                <a:solidFill>
                  <a:srgbClr val="002060"/>
                </a:solidFill>
                <a:latin typeface="Segoe UI Light" panose="020B0502040204020203" pitchFamily="34" charset="0"/>
                <a:cs typeface="Segoe UI Light" panose="020B0502040204020203" pitchFamily="34" charset="0"/>
              </a:rPr>
              <a:t> 4</a:t>
            </a:r>
            <a:r>
              <a:rPr lang="en-US" sz="1000" i="1">
                <a:solidFill>
                  <a:srgbClr val="002060"/>
                </a:solidFill>
                <a:latin typeface="Segoe UI Light" panose="020B0502040204020203" pitchFamily="34" charset="0"/>
                <a:cs typeface="Segoe UI Light" panose="020B0502040204020203" pitchFamily="34" charset="0"/>
              </a:rPr>
              <a:t> , mom’s touch</a:t>
            </a:r>
            <a:r>
              <a:rPr lang="mn-MN" sz="1000" i="1">
                <a:solidFill>
                  <a:srgbClr val="002060"/>
                </a:solidFill>
                <a:latin typeface="Segoe UI Light" panose="020B0502040204020203" pitchFamily="34" charset="0"/>
                <a:cs typeface="Segoe UI Light" panose="020B0502040204020203" pitchFamily="34" charset="0"/>
              </a:rPr>
              <a:t> 6</a:t>
            </a:r>
            <a:r>
              <a:rPr lang="en-US" sz="1000" i="1">
                <a:solidFill>
                  <a:srgbClr val="002060"/>
                </a:solidFill>
                <a:latin typeface="Segoe UI Light" panose="020B0502040204020203" pitchFamily="34" charset="0"/>
                <a:cs typeface="Segoe UI Light" panose="020B0502040204020203" pitchFamily="34" charset="0"/>
              </a:rPr>
              <a:t> </a:t>
            </a:r>
            <a:r>
              <a:rPr lang="mn-MN" sz="1000" i="1">
                <a:solidFill>
                  <a:srgbClr val="002060"/>
                </a:solidFill>
                <a:latin typeface="Segoe UI Light" panose="020B0502040204020203" pitchFamily="34" charset="0"/>
                <a:cs typeface="Segoe UI Light" panose="020B0502040204020203" pitchFamily="34" charset="0"/>
              </a:rPr>
              <a:t>салбар тус тус шинээр нээхээр төлөвлөж байгаа ба бид зээлийн багцаа хамгийн дээд түвшинд 5,5 тэрбум барих төлөвтэй байна. </a:t>
            </a:r>
            <a:endParaRPr lang="en-US" sz="1000" i="1" dirty="0">
              <a:solidFill>
                <a:srgbClr val="002060"/>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980434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11</a:t>
            </a:fld>
            <a:endParaRPr lang="en-US" sz="1200" dirty="0">
              <a:solidFill>
                <a:schemeClr val="bg1">
                  <a:lumMod val="65000"/>
                </a:schemeClr>
              </a:solidFill>
              <a:cs typeface="Segoe UI Light" panose="020B0502040204020203" pitchFamily="34" charset="0"/>
            </a:endParaRPr>
          </a:p>
        </p:txBody>
      </p:sp>
      <p:grpSp>
        <p:nvGrpSpPr>
          <p:cNvPr id="2" name="Group 1">
            <a:extLst>
              <a:ext uri="{FF2B5EF4-FFF2-40B4-BE49-F238E27FC236}">
                <a16:creationId xmlns:a16="http://schemas.microsoft.com/office/drawing/2014/main" id="{5426873C-D579-B249-1B39-1DB1A010F3CE}"/>
              </a:ext>
            </a:extLst>
          </p:cNvPr>
          <p:cNvGrpSpPr/>
          <p:nvPr/>
        </p:nvGrpSpPr>
        <p:grpSpPr>
          <a:xfrm>
            <a:off x="3233651" y="402273"/>
            <a:ext cx="6273338"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6"/>
            </a:xfrm>
            <a:prstGeom prst="rect">
              <a:avLst/>
            </a:prstGeom>
          </p:spPr>
          <p:txBody>
            <a:bodyPr wrap="square" anchor="ctr">
              <a:spAutoFit/>
            </a:bodyPr>
            <a:lstStyle/>
            <a:p>
              <a:pPr algn="ctr"/>
              <a:r>
                <a:rPr lang="mn-MN" sz="1400" b="1">
                  <a:solidFill>
                    <a:schemeClr val="bg1"/>
                  </a:solidFill>
                  <a:cs typeface="Segoe UI" panose="020B0502040204020203" pitchFamily="34" charset="0"/>
                </a:rPr>
                <a:t>ҮР АШГИЙН ТООЦООЛОЛ</a:t>
              </a:r>
            </a:p>
          </p:txBody>
        </p:sp>
      </p:grpSp>
      <p:graphicFrame>
        <p:nvGraphicFramePr>
          <p:cNvPr id="3" name="Table 2">
            <a:extLst>
              <a:ext uri="{FF2B5EF4-FFF2-40B4-BE49-F238E27FC236}">
                <a16:creationId xmlns:a16="http://schemas.microsoft.com/office/drawing/2014/main" id="{3F39E070-78C4-DADF-DE80-063CD38E43E1}"/>
              </a:ext>
            </a:extLst>
          </p:cNvPr>
          <p:cNvGraphicFramePr>
            <a:graphicFrameLocks noGrp="1"/>
          </p:cNvGraphicFramePr>
          <p:nvPr>
            <p:extLst>
              <p:ext uri="{D42A27DB-BD31-4B8C-83A1-F6EECF244321}">
                <p14:modId xmlns:p14="http://schemas.microsoft.com/office/powerpoint/2010/main" val="3337020697"/>
              </p:ext>
            </p:extLst>
          </p:nvPr>
        </p:nvGraphicFramePr>
        <p:xfrm>
          <a:off x="541846" y="1573722"/>
          <a:ext cx="10888152" cy="3181157"/>
        </p:xfrm>
        <a:graphic>
          <a:graphicData uri="http://schemas.openxmlformats.org/drawingml/2006/table">
            <a:tbl>
              <a:tblPr>
                <a:tableStyleId>{5C22544A-7EE6-4342-B048-85BDC9FD1C3A}</a:tableStyleId>
              </a:tblPr>
              <a:tblGrid>
                <a:gridCol w="3110900">
                  <a:extLst>
                    <a:ext uri="{9D8B030D-6E8A-4147-A177-3AD203B41FA5}">
                      <a16:colId xmlns:a16="http://schemas.microsoft.com/office/drawing/2014/main" val="187108926"/>
                    </a:ext>
                  </a:extLst>
                </a:gridCol>
                <a:gridCol w="1944313">
                  <a:extLst>
                    <a:ext uri="{9D8B030D-6E8A-4147-A177-3AD203B41FA5}">
                      <a16:colId xmlns:a16="http://schemas.microsoft.com/office/drawing/2014/main" val="2922414143"/>
                    </a:ext>
                  </a:extLst>
                </a:gridCol>
                <a:gridCol w="1944313">
                  <a:extLst>
                    <a:ext uri="{9D8B030D-6E8A-4147-A177-3AD203B41FA5}">
                      <a16:colId xmlns:a16="http://schemas.microsoft.com/office/drawing/2014/main" val="1124036836"/>
                    </a:ext>
                  </a:extLst>
                </a:gridCol>
                <a:gridCol w="1944313">
                  <a:extLst>
                    <a:ext uri="{9D8B030D-6E8A-4147-A177-3AD203B41FA5}">
                      <a16:colId xmlns:a16="http://schemas.microsoft.com/office/drawing/2014/main" val="484853373"/>
                    </a:ext>
                  </a:extLst>
                </a:gridCol>
                <a:gridCol w="1944313">
                  <a:extLst>
                    <a:ext uri="{9D8B030D-6E8A-4147-A177-3AD203B41FA5}">
                      <a16:colId xmlns:a16="http://schemas.microsoft.com/office/drawing/2014/main" val="2985446706"/>
                    </a:ext>
                  </a:extLst>
                </a:gridCol>
              </a:tblGrid>
              <a:tr h="444678">
                <a:tc gridSpan="5">
                  <a:txBody>
                    <a:bodyPr/>
                    <a:lstStyle/>
                    <a:p>
                      <a:pPr algn="ctr" rtl="0" fontAlgn="ctr"/>
                      <a:r>
                        <a:rPr lang="mn-MN" sz="1200" b="1" u="none" strike="noStrike">
                          <a:solidFill>
                            <a:schemeClr val="bg1"/>
                          </a:solidFill>
                          <a:effectLst/>
                        </a:rPr>
                        <a:t>ТООЦООЛОЛ</a:t>
                      </a:r>
                      <a:endParaRPr lang="mn-MN" sz="1200" b="1" i="0" u="none" strike="noStrike">
                        <a:solidFill>
                          <a:schemeClr val="bg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48418144"/>
                  </a:ext>
                </a:extLst>
              </a:tr>
              <a:tr h="444678">
                <a:tc>
                  <a:txBody>
                    <a:bodyPr/>
                    <a:lstStyle/>
                    <a:p>
                      <a:pPr algn="ctr" rtl="0" fontAlgn="ctr"/>
                      <a:r>
                        <a:rPr lang="mn-MN" sz="1200" u="none" strike="noStrike">
                          <a:effectLst/>
                        </a:rPr>
                        <a:t>Батлан даалтын хувь</a:t>
                      </a:r>
                      <a:endParaRPr lang="mn-MN" sz="12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30%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40%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50%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60%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379517307"/>
                  </a:ext>
                </a:extLst>
              </a:tr>
              <a:tr h="444678">
                <a:tc>
                  <a:txBody>
                    <a:bodyPr/>
                    <a:lstStyle/>
                    <a:p>
                      <a:pPr algn="ctr" rtl="0" fontAlgn="ctr"/>
                      <a:r>
                        <a:rPr lang="mn-MN" sz="1200" u="none" strike="noStrike">
                          <a:effectLst/>
                        </a:rPr>
                        <a:t>Зээлийн хүү</a:t>
                      </a:r>
                      <a:endParaRPr lang="mn-MN" sz="12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15.38%</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14.25%</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13.13%</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12.00%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30095529"/>
                  </a:ext>
                </a:extLst>
              </a:tr>
              <a:tr h="410471">
                <a:tc>
                  <a:txBody>
                    <a:bodyPr/>
                    <a:lstStyle/>
                    <a:p>
                      <a:pPr algn="ctr" fontAlgn="b"/>
                      <a:r>
                        <a:rPr lang="mn-MN" sz="1200" b="1" u="none" strike="noStrike">
                          <a:solidFill>
                            <a:schemeClr val="bg1"/>
                          </a:solidFill>
                          <a:effectLst/>
                        </a:rPr>
                        <a:t>Зээлийн багцын дүн</a:t>
                      </a:r>
                      <a:endParaRPr lang="mn-MN" sz="1200" b="1" i="0" u="none" strike="noStrike">
                        <a:solidFill>
                          <a:schemeClr val="bg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gridSpan="4">
                  <a:txBody>
                    <a:bodyPr/>
                    <a:lstStyle/>
                    <a:p>
                      <a:pPr algn="ctr" fontAlgn="b"/>
                      <a:r>
                        <a:rPr lang="mn-MN" sz="1200" b="1" u="none" strike="noStrike">
                          <a:solidFill>
                            <a:schemeClr val="bg1"/>
                          </a:solidFill>
                          <a:effectLst/>
                        </a:rPr>
                        <a:t>Татварын өмнөх ашиг</a:t>
                      </a:r>
                      <a:r>
                        <a:rPr lang="en-US" sz="1200" b="1" u="none" strike="noStrike">
                          <a:solidFill>
                            <a:schemeClr val="bg1"/>
                          </a:solidFill>
                          <a:effectLst/>
                        </a:rPr>
                        <a:t> /</a:t>
                      </a:r>
                      <a:r>
                        <a:rPr lang="mn-MN" sz="1200" b="1" u="none" strike="noStrike">
                          <a:solidFill>
                            <a:schemeClr val="bg1"/>
                          </a:solidFill>
                          <a:effectLst/>
                        </a:rPr>
                        <a:t>сая </a:t>
                      </a:r>
                      <a:r>
                        <a:rPr lang="en-US" sz="1200" b="1">
                          <a:solidFill>
                            <a:schemeClr val="bg1"/>
                          </a:solidFill>
                        </a:rPr>
                        <a:t>₮/</a:t>
                      </a:r>
                      <a:endParaRPr lang="mn-MN" sz="1200" b="1" i="0" u="none" strike="noStrike">
                        <a:solidFill>
                          <a:schemeClr val="bg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84580579"/>
                  </a:ext>
                </a:extLst>
              </a:tr>
              <a:tr h="478884">
                <a:tc>
                  <a:txBody>
                    <a:bodyPr/>
                    <a:lstStyle/>
                    <a:p>
                      <a:pPr algn="ctr" fontAlgn="ctr"/>
                      <a:r>
                        <a:rPr lang="en-US" sz="1200" u="none" strike="noStrike">
                          <a:effectLst/>
                        </a:rPr>
                        <a:t>2 </a:t>
                      </a:r>
                      <a:r>
                        <a:rPr lang="mn-MN" sz="1200" u="none" strike="noStrike">
                          <a:effectLst/>
                        </a:rPr>
                        <a:t>зээл </a:t>
                      </a:r>
                      <a:r>
                        <a:rPr lang="en-US" sz="1200" u="none" strike="noStrike">
                          <a:effectLst/>
                        </a:rPr>
                        <a:t>= </a:t>
                      </a:r>
                      <a:r>
                        <a:rPr lang="mn-MN" sz="1200" u="none" strike="noStrike">
                          <a:effectLst/>
                        </a:rPr>
                        <a:t>1.1 тэрбум ₮</a:t>
                      </a:r>
                      <a:endParaRPr lang="mn-MN"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26.86</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20.97</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15.09</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9.2</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35979588"/>
                  </a:ext>
                </a:extLst>
              </a:tr>
              <a:tr h="478884">
                <a:tc>
                  <a:txBody>
                    <a:bodyPr/>
                    <a:lstStyle/>
                    <a:p>
                      <a:pPr algn="ctr" fontAlgn="ctr"/>
                      <a:r>
                        <a:rPr lang="en-US" sz="1200" u="none" strike="noStrike">
                          <a:effectLst/>
                        </a:rPr>
                        <a:t>5 </a:t>
                      </a:r>
                      <a:r>
                        <a:rPr lang="mn-MN" sz="1200" u="none" strike="noStrike">
                          <a:effectLst/>
                        </a:rPr>
                        <a:t>зээл </a:t>
                      </a:r>
                      <a:r>
                        <a:rPr lang="en-US" sz="1200" u="none" strike="noStrike">
                          <a:effectLst/>
                        </a:rPr>
                        <a:t>= </a:t>
                      </a:r>
                      <a:r>
                        <a:rPr lang="mn-MN" sz="1200" u="none" strike="noStrike">
                          <a:effectLst/>
                        </a:rPr>
                        <a:t>2.5 тэрбум ₮</a:t>
                      </a:r>
                      <a:endParaRPr lang="mn-MN"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61.04</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47.66</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34.29</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20.91</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391444770"/>
                  </a:ext>
                </a:extLst>
              </a:tr>
              <a:tr h="478884">
                <a:tc>
                  <a:txBody>
                    <a:bodyPr/>
                    <a:lstStyle/>
                    <a:p>
                      <a:pPr algn="ctr" fontAlgn="ctr"/>
                      <a:r>
                        <a:rPr lang="en-US" sz="1200" u="none" strike="noStrike">
                          <a:effectLst/>
                        </a:rPr>
                        <a:t>10 </a:t>
                      </a:r>
                      <a:r>
                        <a:rPr lang="mn-MN" sz="1200" u="none" strike="noStrike">
                          <a:effectLst/>
                        </a:rPr>
                        <a:t>зээл </a:t>
                      </a:r>
                      <a:r>
                        <a:rPr lang="en-US" sz="1200" u="none" strike="noStrike">
                          <a:effectLst/>
                        </a:rPr>
                        <a:t>= </a:t>
                      </a:r>
                      <a:r>
                        <a:rPr lang="mn-MN" sz="1200" u="none" strike="noStrike">
                          <a:effectLst/>
                        </a:rPr>
                        <a:t>5.5 тэрбум ₮</a:t>
                      </a:r>
                      <a:endParaRPr lang="mn-MN"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134.28</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104.85</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75.43</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46</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203555226"/>
                  </a:ext>
                </a:extLst>
              </a:tr>
            </a:tbl>
          </a:graphicData>
        </a:graphic>
      </p:graphicFrame>
      <p:sp>
        <p:nvSpPr>
          <p:cNvPr id="4" name="Rectangle 3">
            <a:extLst>
              <a:ext uri="{FF2B5EF4-FFF2-40B4-BE49-F238E27FC236}">
                <a16:creationId xmlns:a16="http://schemas.microsoft.com/office/drawing/2014/main" id="{6A759A26-12A1-83EB-AA75-89FE6FDF576B}"/>
              </a:ext>
            </a:extLst>
          </p:cNvPr>
          <p:cNvSpPr/>
          <p:nvPr/>
        </p:nvSpPr>
        <p:spPr>
          <a:xfrm>
            <a:off x="440246" y="1296723"/>
            <a:ext cx="4712962" cy="276999"/>
          </a:xfrm>
          <a:prstGeom prst="rect">
            <a:avLst/>
          </a:prstGeom>
        </p:spPr>
        <p:txBody>
          <a:bodyPr wrap="square" anchor="ctr">
            <a:spAutoFit/>
          </a:bodyPr>
          <a:lstStyle/>
          <a:p>
            <a:r>
              <a:rPr lang="mn-MN" sz="1200" b="1" i="1">
                <a:solidFill>
                  <a:srgbClr val="002060"/>
                </a:solidFill>
                <a:cs typeface="Segoe UI" panose="020B0502040204020203" pitchFamily="34" charset="0"/>
              </a:rPr>
              <a:t>Үр ашгийн тооцоолол нөхцөлтэй. </a:t>
            </a:r>
            <a:endParaRPr lang="en-US" sz="1200" b="1" i="1" dirty="0">
              <a:solidFill>
                <a:srgbClr val="002060"/>
              </a:solidFill>
              <a:cs typeface="Segoe UI" panose="020B0502040204020203" pitchFamily="34" charset="0"/>
            </a:endParaRPr>
          </a:p>
        </p:txBody>
      </p:sp>
      <p:sp>
        <p:nvSpPr>
          <p:cNvPr id="10" name="Rectangle 9">
            <a:extLst>
              <a:ext uri="{FF2B5EF4-FFF2-40B4-BE49-F238E27FC236}">
                <a16:creationId xmlns:a16="http://schemas.microsoft.com/office/drawing/2014/main" id="{C8B8A9D9-B53A-3EEF-D633-3FE896BEA753}"/>
              </a:ext>
            </a:extLst>
          </p:cNvPr>
          <p:cNvSpPr>
            <a:spLocks noChangeArrowheads="1"/>
          </p:cNvSpPr>
          <p:nvPr/>
        </p:nvSpPr>
        <p:spPr bwMode="auto">
          <a:xfrm>
            <a:off x="2370335" y="5206667"/>
            <a:ext cx="7451329" cy="575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mn-MN" altLang="en-US" sz="1100" b="0" i="1" u="none" strike="noStrike" cap="none" normalizeH="0" baseline="0">
                <a:ln>
                  <a:noFill/>
                </a:ln>
                <a:solidFill>
                  <a:schemeClr val="tx1"/>
                </a:solidFill>
                <a:effectLst/>
                <a:ea typeface="Calibri" panose="020F0502020204030204" pitchFamily="34" charset="0"/>
                <a:cs typeface="Segoe UI Light" panose="020B0502040204020203" pitchFamily="34" charset="0"/>
              </a:rPr>
              <a:t>Зээлийн багцын хүрээнд </a:t>
            </a:r>
            <a:r>
              <a:rPr kumimoji="0" lang="en-US" altLang="en-US" sz="1100" b="0" i="1" u="none" strike="noStrike" cap="none" normalizeH="0" baseline="0">
                <a:ln>
                  <a:noFill/>
                </a:ln>
                <a:solidFill>
                  <a:schemeClr val="tx1"/>
                </a:solidFill>
                <a:effectLst/>
                <a:ea typeface="Calibri" panose="020F0502020204030204" pitchFamily="34" charset="0"/>
                <a:cs typeface="Segoe UI Light" panose="020B0502040204020203" pitchFamily="34" charset="0"/>
              </a:rPr>
              <a:t>1.1 </a:t>
            </a:r>
            <a:r>
              <a:rPr kumimoji="0" lang="mn-MN" altLang="en-US" sz="1100" b="0" i="1" u="none" strike="noStrike" cap="none" normalizeH="0" baseline="0">
                <a:ln>
                  <a:noFill/>
                </a:ln>
                <a:solidFill>
                  <a:schemeClr val="tx1"/>
                </a:solidFill>
                <a:effectLst/>
                <a:ea typeface="Calibri" panose="020F0502020204030204" pitchFamily="34" charset="0"/>
                <a:cs typeface="Segoe UI Light" panose="020B0502040204020203" pitchFamily="34" charset="0"/>
              </a:rPr>
              <a:t>тэрбум 2</a:t>
            </a:r>
            <a:r>
              <a:rPr kumimoji="0" lang="en-US" altLang="en-US" sz="1100" b="0" i="1" u="none" strike="noStrike" cap="none" normalizeH="0" baseline="0">
                <a:ln>
                  <a:noFill/>
                </a:ln>
                <a:solidFill>
                  <a:schemeClr val="tx1"/>
                </a:solidFill>
                <a:effectLst/>
                <a:ea typeface="Calibri" panose="020F0502020204030204" pitchFamily="34" charset="0"/>
                <a:cs typeface="Segoe UI Light" panose="020B0502040204020203" pitchFamily="34" charset="0"/>
              </a:rPr>
              <a:t>.5</a:t>
            </a:r>
            <a:r>
              <a:rPr kumimoji="0" lang="mn-MN" altLang="en-US" sz="1100" b="0" i="1" u="none" strike="noStrike" cap="none" normalizeH="0" baseline="0">
                <a:ln>
                  <a:noFill/>
                </a:ln>
                <a:solidFill>
                  <a:schemeClr val="tx1"/>
                </a:solidFill>
                <a:effectLst/>
                <a:ea typeface="Calibri" panose="020F0502020204030204" pitchFamily="34" charset="0"/>
                <a:cs typeface="Segoe UI Light" panose="020B0502040204020203" pitchFamily="34" charset="0"/>
              </a:rPr>
              <a:t> тэрбум дээр тус тус харьцуулалт хийн ашигт ажиллагаа эерэг байхаар ажиглагдаж байна. </a:t>
            </a:r>
            <a:endParaRPr kumimoji="0" lang="en-US" altLang="en-US" sz="1100" b="0" i="1" u="none" strike="noStrike" cap="none" normalizeH="0" baseline="0" dirty="0">
              <a:ln>
                <a:noFill/>
              </a:ln>
              <a:solidFill>
                <a:schemeClr val="tx1"/>
              </a:solidFill>
              <a:effectLst/>
              <a:cs typeface="Segoe UI Light" panose="020B0502040204020203" pitchFamily="34" charset="0"/>
            </a:endParaRPr>
          </a:p>
        </p:txBody>
      </p:sp>
    </p:spTree>
    <p:extLst>
      <p:ext uri="{BB962C8B-B14F-4D97-AF65-F5344CB8AC3E}">
        <p14:creationId xmlns:p14="http://schemas.microsoft.com/office/powerpoint/2010/main" val="2172586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
            <a:extLst>
              <a:ext uri="{FF2B5EF4-FFF2-40B4-BE49-F238E27FC236}">
                <a16:creationId xmlns:a16="http://schemas.microsoft.com/office/drawing/2014/main" id="{445B1799-308C-47FA-AF0F-D354F5E602B0}"/>
              </a:ext>
            </a:extLst>
          </p:cNvPr>
          <p:cNvSpPr txBox="1">
            <a:spLocks/>
          </p:cNvSpPr>
          <p:nvPr/>
        </p:nvSpPr>
        <p:spPr>
          <a:xfrm>
            <a:off x="11828237" y="64542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Light" panose="020B0502040204020203" pitchFamily="34" charset="0"/>
                <a:cs typeface="Segoe UI Light" panose="020B0502040204020203" pitchFamily="34" charset="0"/>
              </a:rPr>
              <a:pPr/>
              <a:t>12</a:t>
            </a:fld>
            <a:endParaRPr lang="en-US" sz="12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30" name="Group 29">
            <a:extLst>
              <a:ext uri="{FF2B5EF4-FFF2-40B4-BE49-F238E27FC236}">
                <a16:creationId xmlns:a16="http://schemas.microsoft.com/office/drawing/2014/main" id="{015B4868-F259-718C-4E37-BF1639416117}"/>
              </a:ext>
            </a:extLst>
          </p:cNvPr>
          <p:cNvGrpSpPr/>
          <p:nvPr/>
        </p:nvGrpSpPr>
        <p:grpSpPr>
          <a:xfrm>
            <a:off x="2796800" y="1418965"/>
            <a:ext cx="2766435" cy="455565"/>
            <a:chOff x="1681139" y="1312865"/>
            <a:chExt cx="1881211" cy="322353"/>
          </a:xfrm>
        </p:grpSpPr>
        <p:sp>
          <p:nvSpPr>
            <p:cNvPr id="31" name="Rectangle: Top Corners Rounded 30">
              <a:extLst>
                <a:ext uri="{FF2B5EF4-FFF2-40B4-BE49-F238E27FC236}">
                  <a16:creationId xmlns:a16="http://schemas.microsoft.com/office/drawing/2014/main" id="{0A803DFA-FFCD-BBEA-A79E-D7C9F2C5077B}"/>
                </a:ext>
              </a:extLst>
            </p:cNvPr>
            <p:cNvSpPr/>
            <p:nvPr/>
          </p:nvSpPr>
          <p:spPr>
            <a:xfrm>
              <a:off x="1681139" y="1312865"/>
              <a:ext cx="1881211" cy="322353"/>
            </a:xfrm>
            <a:prstGeom prst="round2SameRect">
              <a:avLst>
                <a:gd name="adj1" fmla="val 50000"/>
                <a:gd name="adj2" fmla="val 0"/>
              </a:avLst>
            </a:prstGeom>
            <a:gradFill flip="none" rotWithShape="1">
              <a:gsLst>
                <a:gs pos="0">
                  <a:srgbClr val="0649CD"/>
                </a:gs>
                <a:gs pos="100000">
                  <a:srgbClr val="0686D5"/>
                </a:gs>
              </a:gsLst>
              <a:lin ang="2700000" scaled="1"/>
              <a:tileRect/>
            </a:gradFill>
            <a:ln>
              <a:noFill/>
            </a:ln>
            <a:effectLst>
              <a:reflection blurRad="6350" stA="50000" endA="300" endPos="90000" dir="5400000" sy="-100000" algn="bl" rotWithShape="0"/>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US" sz="1100">
                <a:solidFill>
                  <a:schemeClr val="tx1"/>
                </a:solidFill>
                <a:cs typeface="Segoe UI" panose="020B0502040204020203" pitchFamily="34" charset="0"/>
              </a:endParaRPr>
            </a:p>
          </p:txBody>
        </p:sp>
        <p:pic>
          <p:nvPicPr>
            <p:cNvPr id="32" name="Picture 31" descr="A blue logo with arrows&#10;&#10;AI-generated content may be incorrect.">
              <a:extLst>
                <a:ext uri="{FF2B5EF4-FFF2-40B4-BE49-F238E27FC236}">
                  <a16:creationId xmlns:a16="http://schemas.microsoft.com/office/drawing/2014/main" id="{30228C89-0532-1B89-6CE7-93AE775282C0}"/>
                </a:ext>
              </a:extLst>
            </p:cNvPr>
            <p:cNvPicPr>
              <a:picLocks noChangeAspect="1"/>
            </p:cNvPicPr>
            <p:nvPr/>
          </p:nvPicPr>
          <p:blipFill>
            <a:blip r:embed="rId3">
              <a:alphaModFix/>
              <a:biLevel thresh="25000"/>
              <a:extLst>
                <a:ext uri="{28A0092B-C50C-407E-A947-70E740481C1C}">
                  <a14:useLocalDpi xmlns:a14="http://schemas.microsoft.com/office/drawing/2010/main" val="0"/>
                </a:ext>
              </a:extLst>
            </a:blip>
            <a:stretch>
              <a:fillRect/>
            </a:stretch>
          </p:blipFill>
          <p:spPr>
            <a:xfrm>
              <a:off x="2484261" y="1338813"/>
              <a:ext cx="270285" cy="271292"/>
            </a:xfrm>
            <a:prstGeom prst="rect">
              <a:avLst/>
            </a:prstGeom>
          </p:spPr>
        </p:pic>
      </p:grpSp>
      <p:sp>
        <p:nvSpPr>
          <p:cNvPr id="34" name="Rectangle: Top Corners Rounded 33">
            <a:extLst>
              <a:ext uri="{FF2B5EF4-FFF2-40B4-BE49-F238E27FC236}">
                <a16:creationId xmlns:a16="http://schemas.microsoft.com/office/drawing/2014/main" id="{2CC06160-E8BD-30A7-0F57-8D43D5343F47}"/>
              </a:ext>
            </a:extLst>
          </p:cNvPr>
          <p:cNvSpPr/>
          <p:nvPr/>
        </p:nvSpPr>
        <p:spPr>
          <a:xfrm>
            <a:off x="5619097" y="1424805"/>
            <a:ext cx="2766435" cy="455565"/>
          </a:xfrm>
          <a:prstGeom prst="round2SameRect">
            <a:avLst>
              <a:gd name="adj1" fmla="val 50000"/>
              <a:gd name="adj2" fmla="val 0"/>
            </a:avLst>
          </a:prstGeom>
          <a:solidFill>
            <a:srgbClr val="002060"/>
          </a:solidFill>
          <a:ln>
            <a:noFill/>
          </a:ln>
          <a:effectLst>
            <a:reflection blurRad="6350" stA="50000" endA="300" endPos="90000" dir="5400000" sy="-100000" algn="bl" rotWithShape="0"/>
          </a:effectLst>
        </p:spPr>
        <p:style>
          <a:lnRef idx="0">
            <a:scrgbClr r="0" g="0" b="0"/>
          </a:lnRef>
          <a:fillRef idx="0">
            <a:scrgbClr r="0" g="0" b="0"/>
          </a:fillRef>
          <a:effectRef idx="0">
            <a:scrgbClr r="0" g="0" b="0"/>
          </a:effectRef>
          <a:fontRef idx="minor">
            <a:schemeClr val="lt1"/>
          </a:fontRef>
        </p:style>
        <p:txBody>
          <a:bodyPr rtlCol="0" anchor="ctr"/>
          <a:lstStyle/>
          <a:p>
            <a:pPr algn="ctr"/>
            <a:endParaRPr lang="en-US" sz="1100">
              <a:solidFill>
                <a:schemeClr val="tx1"/>
              </a:solidFill>
              <a:cs typeface="Segoe UI" panose="020B0502040204020203" pitchFamily="34" charset="0"/>
            </a:endParaRPr>
          </a:p>
        </p:txBody>
      </p:sp>
      <p:sp>
        <p:nvSpPr>
          <p:cNvPr id="39" name="Rectangle 38">
            <a:extLst>
              <a:ext uri="{FF2B5EF4-FFF2-40B4-BE49-F238E27FC236}">
                <a16:creationId xmlns:a16="http://schemas.microsoft.com/office/drawing/2014/main" id="{20B965BD-D740-9916-9B56-650A13A016BD}"/>
              </a:ext>
            </a:extLst>
          </p:cNvPr>
          <p:cNvSpPr/>
          <p:nvPr/>
        </p:nvSpPr>
        <p:spPr>
          <a:xfrm>
            <a:off x="2796800" y="1874529"/>
            <a:ext cx="2766435" cy="506526"/>
          </a:xfrm>
          <a:prstGeom prst="rect">
            <a:avLst/>
          </a:prstGeom>
          <a:solidFill>
            <a:schemeClr val="bg1">
              <a:lumMod val="8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a:solidFill>
                  <a:schemeClr val="tx1"/>
                </a:solidFill>
                <a:cs typeface="Segoe UI" panose="020B0502040204020203" pitchFamily="34" charset="0"/>
              </a:rPr>
              <a:t>ЗБДС-тай хамтарсан франчайз эзэмшигчдийг дэмжих зээл</a:t>
            </a:r>
            <a:endParaRPr lang="en-US" sz="1100" dirty="0">
              <a:solidFill>
                <a:schemeClr val="tx1"/>
              </a:solidFill>
              <a:cs typeface="Segoe UI" panose="020B0502040204020203" pitchFamily="34" charset="0"/>
            </a:endParaRPr>
          </a:p>
        </p:txBody>
      </p:sp>
      <p:sp>
        <p:nvSpPr>
          <p:cNvPr id="43" name="TextBox 42">
            <a:extLst>
              <a:ext uri="{FF2B5EF4-FFF2-40B4-BE49-F238E27FC236}">
                <a16:creationId xmlns:a16="http://schemas.microsoft.com/office/drawing/2014/main" id="{28802B00-91B6-4A0B-F0CF-683F908945A6}"/>
              </a:ext>
            </a:extLst>
          </p:cNvPr>
          <p:cNvSpPr txBox="1"/>
          <p:nvPr/>
        </p:nvSpPr>
        <p:spPr>
          <a:xfrm>
            <a:off x="149629" y="1979939"/>
            <a:ext cx="2325893" cy="261610"/>
          </a:xfrm>
          <a:prstGeom prst="rect">
            <a:avLst/>
          </a:prstGeom>
          <a:noFill/>
        </p:spPr>
        <p:txBody>
          <a:bodyPr wrap="square" rtlCol="0">
            <a:spAutoFit/>
          </a:bodyPr>
          <a:lstStyle/>
          <a:p>
            <a:pPr algn="r"/>
            <a:r>
              <a:rPr lang="mn-MN" sz="1100" b="1" i="1" dirty="0">
                <a:cs typeface="Segoe UI" panose="020B0502040204020203" pitchFamily="34" charset="0"/>
              </a:rPr>
              <a:t>Бүтээгдэхүүний нэр</a:t>
            </a:r>
            <a:endParaRPr lang="en-US" sz="1100" b="1" i="1" dirty="0">
              <a:cs typeface="Segoe UI" panose="020B0502040204020203" pitchFamily="34" charset="0"/>
            </a:endParaRPr>
          </a:p>
        </p:txBody>
      </p:sp>
      <p:sp>
        <p:nvSpPr>
          <p:cNvPr id="45" name="TextBox 44">
            <a:extLst>
              <a:ext uri="{FF2B5EF4-FFF2-40B4-BE49-F238E27FC236}">
                <a16:creationId xmlns:a16="http://schemas.microsoft.com/office/drawing/2014/main" id="{A9034FB4-5CA0-4F27-E355-D03D6BB7F694}"/>
              </a:ext>
            </a:extLst>
          </p:cNvPr>
          <p:cNvSpPr txBox="1"/>
          <p:nvPr/>
        </p:nvSpPr>
        <p:spPr>
          <a:xfrm>
            <a:off x="149628" y="2507044"/>
            <a:ext cx="2325893" cy="261610"/>
          </a:xfrm>
          <a:prstGeom prst="rect">
            <a:avLst/>
          </a:prstGeom>
          <a:noFill/>
        </p:spPr>
        <p:txBody>
          <a:bodyPr wrap="square" rtlCol="0">
            <a:spAutoFit/>
          </a:bodyPr>
          <a:lstStyle/>
          <a:p>
            <a:pPr algn="r"/>
            <a:r>
              <a:rPr lang="mn-MN" sz="1100" b="1" i="1" dirty="0">
                <a:cs typeface="Segoe UI" panose="020B0502040204020203" pitchFamily="34" charset="0"/>
              </a:rPr>
              <a:t>Зээлийн хүү </a:t>
            </a:r>
            <a:r>
              <a:rPr lang="en-US" sz="1100" b="1" i="1" dirty="0">
                <a:cs typeface="Segoe UI" panose="020B0502040204020203" pitchFamily="34" charset="0"/>
              </a:rPr>
              <a:t>/ </a:t>
            </a:r>
            <a:r>
              <a:rPr lang="mn-MN" sz="1100" b="1" i="1" dirty="0">
                <a:cs typeface="Segoe UI" panose="020B0502040204020203" pitchFamily="34" charset="0"/>
              </a:rPr>
              <a:t>Жил</a:t>
            </a:r>
            <a:r>
              <a:rPr lang="en-US" sz="1100" b="1" i="1" dirty="0">
                <a:cs typeface="Segoe UI" panose="020B0502040204020203" pitchFamily="34" charset="0"/>
              </a:rPr>
              <a:t>/ </a:t>
            </a:r>
          </a:p>
        </p:txBody>
      </p:sp>
      <p:sp>
        <p:nvSpPr>
          <p:cNvPr id="46" name="TextBox 45">
            <a:extLst>
              <a:ext uri="{FF2B5EF4-FFF2-40B4-BE49-F238E27FC236}">
                <a16:creationId xmlns:a16="http://schemas.microsoft.com/office/drawing/2014/main" id="{E371EB1B-49FF-C024-B1CD-96F42B009FA9}"/>
              </a:ext>
            </a:extLst>
          </p:cNvPr>
          <p:cNvSpPr txBox="1"/>
          <p:nvPr/>
        </p:nvSpPr>
        <p:spPr>
          <a:xfrm>
            <a:off x="149622" y="3059161"/>
            <a:ext cx="2325893" cy="261610"/>
          </a:xfrm>
          <a:prstGeom prst="rect">
            <a:avLst/>
          </a:prstGeom>
          <a:noFill/>
        </p:spPr>
        <p:txBody>
          <a:bodyPr wrap="square" rtlCol="0">
            <a:spAutoFit/>
          </a:bodyPr>
          <a:lstStyle/>
          <a:p>
            <a:pPr algn="r"/>
            <a:r>
              <a:rPr lang="mn-MN" sz="1100" b="1" i="1" dirty="0">
                <a:cs typeface="Segoe UI" panose="020B0502040204020203" pitchFamily="34" charset="0"/>
              </a:rPr>
              <a:t>Зээлийн дээд хэмжээ</a:t>
            </a:r>
            <a:endParaRPr lang="en-US" sz="1100" b="1" i="1" dirty="0">
              <a:cs typeface="Segoe UI" panose="020B0502040204020203" pitchFamily="34" charset="0"/>
            </a:endParaRPr>
          </a:p>
        </p:txBody>
      </p:sp>
      <p:sp>
        <p:nvSpPr>
          <p:cNvPr id="47" name="TextBox 46">
            <a:extLst>
              <a:ext uri="{FF2B5EF4-FFF2-40B4-BE49-F238E27FC236}">
                <a16:creationId xmlns:a16="http://schemas.microsoft.com/office/drawing/2014/main" id="{928099D6-0301-1DEC-D258-4381991FD46E}"/>
              </a:ext>
            </a:extLst>
          </p:cNvPr>
          <p:cNvSpPr txBox="1"/>
          <p:nvPr/>
        </p:nvSpPr>
        <p:spPr>
          <a:xfrm>
            <a:off x="149623" y="3593974"/>
            <a:ext cx="2325893" cy="261610"/>
          </a:xfrm>
          <a:prstGeom prst="rect">
            <a:avLst/>
          </a:prstGeom>
          <a:noFill/>
        </p:spPr>
        <p:txBody>
          <a:bodyPr wrap="square" rtlCol="0">
            <a:spAutoFit/>
          </a:bodyPr>
          <a:lstStyle/>
          <a:p>
            <a:pPr algn="r"/>
            <a:r>
              <a:rPr lang="mn-MN" sz="1100" b="1" i="1" dirty="0">
                <a:cs typeface="Segoe UI" panose="020B0502040204020203" pitchFamily="34" charset="0"/>
              </a:rPr>
              <a:t>Зээлийн хугацаа</a:t>
            </a:r>
            <a:endParaRPr lang="en-US" sz="1100" b="1" i="1" dirty="0">
              <a:cs typeface="Segoe UI" panose="020B0502040204020203" pitchFamily="34" charset="0"/>
            </a:endParaRPr>
          </a:p>
        </p:txBody>
      </p:sp>
      <p:sp>
        <p:nvSpPr>
          <p:cNvPr id="48" name="TextBox 47">
            <a:extLst>
              <a:ext uri="{FF2B5EF4-FFF2-40B4-BE49-F238E27FC236}">
                <a16:creationId xmlns:a16="http://schemas.microsoft.com/office/drawing/2014/main" id="{E5520D8D-9916-81F6-A943-960030B0EF6F}"/>
              </a:ext>
            </a:extLst>
          </p:cNvPr>
          <p:cNvSpPr txBox="1"/>
          <p:nvPr/>
        </p:nvSpPr>
        <p:spPr>
          <a:xfrm>
            <a:off x="149616" y="4181070"/>
            <a:ext cx="2325893" cy="261610"/>
          </a:xfrm>
          <a:prstGeom prst="rect">
            <a:avLst/>
          </a:prstGeom>
          <a:noFill/>
        </p:spPr>
        <p:txBody>
          <a:bodyPr wrap="square" rtlCol="0">
            <a:spAutoFit/>
          </a:bodyPr>
          <a:lstStyle/>
          <a:p>
            <a:pPr algn="r"/>
            <a:r>
              <a:rPr lang="mn-MN" sz="1100" b="1" i="1">
                <a:cs typeface="Segoe UI" panose="020B0502040204020203" pitchFamily="34" charset="0"/>
              </a:rPr>
              <a:t>Батлан даалтын дээд хэмжээ</a:t>
            </a:r>
            <a:endParaRPr lang="en-US" sz="1100" b="1" i="1" dirty="0">
              <a:cs typeface="Segoe UI" panose="020B0502040204020203" pitchFamily="34" charset="0"/>
            </a:endParaRPr>
          </a:p>
        </p:txBody>
      </p:sp>
      <p:sp>
        <p:nvSpPr>
          <p:cNvPr id="49" name="TextBox 48">
            <a:extLst>
              <a:ext uri="{FF2B5EF4-FFF2-40B4-BE49-F238E27FC236}">
                <a16:creationId xmlns:a16="http://schemas.microsoft.com/office/drawing/2014/main" id="{8BD2C7C8-7F37-97AF-3D2F-91795F9DE66E}"/>
              </a:ext>
            </a:extLst>
          </p:cNvPr>
          <p:cNvSpPr txBox="1"/>
          <p:nvPr/>
        </p:nvSpPr>
        <p:spPr>
          <a:xfrm>
            <a:off x="149618" y="4806689"/>
            <a:ext cx="2325893" cy="261610"/>
          </a:xfrm>
          <a:prstGeom prst="rect">
            <a:avLst/>
          </a:prstGeom>
          <a:noFill/>
        </p:spPr>
        <p:txBody>
          <a:bodyPr wrap="square" rtlCol="0">
            <a:spAutoFit/>
          </a:bodyPr>
          <a:lstStyle/>
          <a:p>
            <a:pPr algn="r"/>
            <a:r>
              <a:rPr lang="mn-MN" sz="1100" b="1" i="1" dirty="0">
                <a:cs typeface="Segoe UI" panose="020B0502040204020203" pitchFamily="34" charset="0"/>
              </a:rPr>
              <a:t>Зээлийн шимтгэл</a:t>
            </a:r>
            <a:endParaRPr lang="en-US" sz="1100" b="1" i="1" dirty="0">
              <a:cs typeface="Segoe UI" panose="020B0502040204020203" pitchFamily="34" charset="0"/>
            </a:endParaRPr>
          </a:p>
        </p:txBody>
      </p:sp>
      <p:sp>
        <p:nvSpPr>
          <p:cNvPr id="52" name="Rectangle 51">
            <a:extLst>
              <a:ext uri="{FF2B5EF4-FFF2-40B4-BE49-F238E27FC236}">
                <a16:creationId xmlns:a16="http://schemas.microsoft.com/office/drawing/2014/main" id="{24F911B9-85A4-512E-801A-B4FFA82FBDAB}"/>
              </a:ext>
            </a:extLst>
          </p:cNvPr>
          <p:cNvSpPr/>
          <p:nvPr/>
        </p:nvSpPr>
        <p:spPr>
          <a:xfrm>
            <a:off x="2793360" y="4031950"/>
            <a:ext cx="2766435" cy="559850"/>
          </a:xfrm>
          <a:prstGeom prst="rect">
            <a:avLst/>
          </a:prstGeom>
          <a:solidFill>
            <a:schemeClr val="bg1">
              <a:lumMod val="8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a:solidFill>
                  <a:schemeClr val="tx1"/>
                </a:solidFill>
                <a:cs typeface="Segoe UI" panose="020B0502040204020203" pitchFamily="34" charset="0"/>
              </a:rPr>
              <a:t>330 сая төгрөг хүртэл</a:t>
            </a:r>
            <a:endParaRPr lang="en-US" sz="1100" dirty="0">
              <a:solidFill>
                <a:schemeClr val="tx1"/>
              </a:solidFill>
              <a:cs typeface="Segoe UI" panose="020B0502040204020203" pitchFamily="34" charset="0"/>
            </a:endParaRPr>
          </a:p>
        </p:txBody>
      </p:sp>
      <p:sp>
        <p:nvSpPr>
          <p:cNvPr id="53" name="Rectangle 52">
            <a:extLst>
              <a:ext uri="{FF2B5EF4-FFF2-40B4-BE49-F238E27FC236}">
                <a16:creationId xmlns:a16="http://schemas.microsoft.com/office/drawing/2014/main" id="{3E7C7C76-576A-4BEB-440D-CB2FC360C6C9}"/>
              </a:ext>
            </a:extLst>
          </p:cNvPr>
          <p:cNvSpPr/>
          <p:nvPr/>
        </p:nvSpPr>
        <p:spPr>
          <a:xfrm>
            <a:off x="2790651" y="3480194"/>
            <a:ext cx="2766435" cy="559850"/>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a:solidFill>
                  <a:schemeClr val="tx1"/>
                </a:solidFill>
                <a:cs typeface="Segoe UI" panose="020B0502040204020203" pitchFamily="34" charset="0"/>
              </a:rPr>
              <a:t>60 </a:t>
            </a:r>
            <a:r>
              <a:rPr lang="mn-MN" sz="1100">
                <a:solidFill>
                  <a:schemeClr val="tx1"/>
                </a:solidFill>
                <a:cs typeface="Segoe UI" panose="020B0502040204020203" pitchFamily="34" charset="0"/>
              </a:rPr>
              <a:t>сар хүртэл</a:t>
            </a:r>
            <a:endParaRPr lang="en-US" sz="1100" dirty="0">
              <a:solidFill>
                <a:schemeClr val="tx1"/>
              </a:solidFill>
              <a:cs typeface="Segoe UI" panose="020B0502040204020203" pitchFamily="34" charset="0"/>
            </a:endParaRPr>
          </a:p>
        </p:txBody>
      </p:sp>
      <p:sp>
        <p:nvSpPr>
          <p:cNvPr id="56" name="Rectangle 55">
            <a:extLst>
              <a:ext uri="{FF2B5EF4-FFF2-40B4-BE49-F238E27FC236}">
                <a16:creationId xmlns:a16="http://schemas.microsoft.com/office/drawing/2014/main" id="{CD46ED55-86A8-C029-0C32-D39FEFCC16CD}"/>
              </a:ext>
            </a:extLst>
          </p:cNvPr>
          <p:cNvSpPr/>
          <p:nvPr/>
        </p:nvSpPr>
        <p:spPr>
          <a:xfrm>
            <a:off x="2784498" y="2922601"/>
            <a:ext cx="2766435" cy="544909"/>
          </a:xfrm>
          <a:prstGeom prst="rect">
            <a:avLst/>
          </a:prstGeom>
          <a:solidFill>
            <a:schemeClr val="bg1">
              <a:lumMod val="8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b="0" i="0">
                <a:solidFill>
                  <a:schemeClr val="tx1"/>
                </a:solidFill>
                <a:effectLst/>
                <a:cs typeface="Segoe UI" panose="020B0502040204020203" pitchFamily="34" charset="0"/>
              </a:rPr>
              <a:t>550 сая.₮ хүртэл</a:t>
            </a:r>
            <a:endParaRPr lang="en-US" sz="1100" dirty="0">
              <a:solidFill>
                <a:schemeClr val="tx1"/>
              </a:solidFill>
              <a:cs typeface="Segoe UI" panose="020B0502040204020203" pitchFamily="34" charset="0"/>
            </a:endParaRPr>
          </a:p>
        </p:txBody>
      </p:sp>
      <p:sp>
        <p:nvSpPr>
          <p:cNvPr id="57" name="Rectangle 56">
            <a:extLst>
              <a:ext uri="{FF2B5EF4-FFF2-40B4-BE49-F238E27FC236}">
                <a16:creationId xmlns:a16="http://schemas.microsoft.com/office/drawing/2014/main" id="{07E10798-E4A8-8FB2-9AD6-C6937F95BFE3}"/>
              </a:ext>
            </a:extLst>
          </p:cNvPr>
          <p:cNvSpPr/>
          <p:nvPr/>
        </p:nvSpPr>
        <p:spPr>
          <a:xfrm>
            <a:off x="2793359" y="4590157"/>
            <a:ext cx="2766435" cy="559850"/>
          </a:xfrm>
          <a:prstGeom prst="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a:solidFill>
                  <a:schemeClr val="tx1"/>
                </a:solidFill>
                <a:cs typeface="Segoe UI" panose="020B0502040204020203" pitchFamily="34" charset="0"/>
              </a:rPr>
              <a:t>Жилийн 1% (батлан даалтын үлдэгдлээс тооцож жил бүр төлнө)</a:t>
            </a:r>
            <a:endParaRPr lang="en-US" sz="1100" dirty="0">
              <a:solidFill>
                <a:schemeClr val="tx1"/>
              </a:solidFill>
              <a:cs typeface="Segoe UI" panose="020B0502040204020203" pitchFamily="34" charset="0"/>
            </a:endParaRPr>
          </a:p>
        </p:txBody>
      </p:sp>
      <p:sp>
        <p:nvSpPr>
          <p:cNvPr id="59" name="Rectangle 58">
            <a:extLst>
              <a:ext uri="{FF2B5EF4-FFF2-40B4-BE49-F238E27FC236}">
                <a16:creationId xmlns:a16="http://schemas.microsoft.com/office/drawing/2014/main" id="{107A4FA2-78FC-9CEC-007F-0A05B0C49DEF}"/>
              </a:ext>
            </a:extLst>
          </p:cNvPr>
          <p:cNvSpPr/>
          <p:nvPr/>
        </p:nvSpPr>
        <p:spPr>
          <a:xfrm>
            <a:off x="5619097" y="1877465"/>
            <a:ext cx="2766435" cy="506526"/>
          </a:xfrm>
          <a:prstGeom prst="rect">
            <a:avLst/>
          </a:prstGeom>
          <a:solidFill>
            <a:schemeClr val="bg1">
              <a:lumMod val="8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ru-RU" sz="1100" b="0" i="0">
                <a:solidFill>
                  <a:schemeClr val="tx1"/>
                </a:solidFill>
                <a:effectLst/>
                <a:cs typeface="Segoe UI" panose="020B0502040204020203" pitchFamily="34" charset="0"/>
              </a:rPr>
              <a:t>CU франчайз эрх авах бизнесийн зээл</a:t>
            </a:r>
            <a:endParaRPr lang="en-US" sz="1100" dirty="0">
              <a:solidFill>
                <a:schemeClr val="tx1"/>
              </a:solidFill>
              <a:cs typeface="Segoe UI" panose="020B0502040204020203" pitchFamily="34" charset="0"/>
            </a:endParaRPr>
          </a:p>
        </p:txBody>
      </p:sp>
      <p:sp>
        <p:nvSpPr>
          <p:cNvPr id="61" name="Rectangle 60">
            <a:extLst>
              <a:ext uri="{FF2B5EF4-FFF2-40B4-BE49-F238E27FC236}">
                <a16:creationId xmlns:a16="http://schemas.microsoft.com/office/drawing/2014/main" id="{08E194F1-4F25-11D6-F61C-854B6CA25725}"/>
              </a:ext>
            </a:extLst>
          </p:cNvPr>
          <p:cNvSpPr/>
          <p:nvPr/>
        </p:nvSpPr>
        <p:spPr>
          <a:xfrm>
            <a:off x="5615657" y="4034886"/>
            <a:ext cx="2766435" cy="559850"/>
          </a:xfrm>
          <a:prstGeom prst="rect">
            <a:avLst/>
          </a:prstGeom>
          <a:solidFill>
            <a:schemeClr val="bg1">
              <a:lumMod val="8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b="0" i="0">
                <a:solidFill>
                  <a:schemeClr val="tx1"/>
                </a:solidFill>
                <a:effectLst/>
                <a:cs typeface="Segoe UI" panose="020B0502040204020203" pitchFamily="34" charset="0"/>
              </a:rPr>
              <a:t>84 сая төгрөг</a:t>
            </a:r>
            <a:endParaRPr lang="en-US" sz="1100" dirty="0">
              <a:solidFill>
                <a:schemeClr val="tx1"/>
              </a:solidFill>
              <a:cs typeface="Segoe UI" panose="020B0502040204020203" pitchFamily="34" charset="0"/>
            </a:endParaRPr>
          </a:p>
        </p:txBody>
      </p:sp>
      <p:sp>
        <p:nvSpPr>
          <p:cNvPr id="62" name="Rectangle 61">
            <a:extLst>
              <a:ext uri="{FF2B5EF4-FFF2-40B4-BE49-F238E27FC236}">
                <a16:creationId xmlns:a16="http://schemas.microsoft.com/office/drawing/2014/main" id="{9C217487-E1DF-A96A-EF0D-05A304088C00}"/>
              </a:ext>
            </a:extLst>
          </p:cNvPr>
          <p:cNvSpPr/>
          <p:nvPr/>
        </p:nvSpPr>
        <p:spPr>
          <a:xfrm>
            <a:off x="5612948" y="3483130"/>
            <a:ext cx="2766435" cy="559850"/>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00">
                <a:solidFill>
                  <a:schemeClr val="tx1"/>
                </a:solidFill>
                <a:cs typeface="Segoe UI" panose="020B0502040204020203" pitchFamily="34" charset="0"/>
              </a:rPr>
              <a:t>60 </a:t>
            </a:r>
            <a:r>
              <a:rPr lang="mn-MN" sz="1100">
                <a:solidFill>
                  <a:schemeClr val="tx1"/>
                </a:solidFill>
                <a:cs typeface="Segoe UI" panose="020B0502040204020203" pitchFamily="34" charset="0"/>
              </a:rPr>
              <a:t>сар хүртэл</a:t>
            </a:r>
            <a:endParaRPr lang="en-US" sz="1100" dirty="0">
              <a:solidFill>
                <a:schemeClr val="tx1"/>
              </a:solidFill>
              <a:cs typeface="Segoe UI" panose="020B0502040204020203" pitchFamily="34" charset="0"/>
            </a:endParaRPr>
          </a:p>
        </p:txBody>
      </p:sp>
      <p:sp>
        <p:nvSpPr>
          <p:cNvPr id="64" name="Rectangle 63">
            <a:extLst>
              <a:ext uri="{FF2B5EF4-FFF2-40B4-BE49-F238E27FC236}">
                <a16:creationId xmlns:a16="http://schemas.microsoft.com/office/drawing/2014/main" id="{C8311EC4-FA1A-7C29-41EA-DA73761751B3}"/>
              </a:ext>
            </a:extLst>
          </p:cNvPr>
          <p:cNvSpPr/>
          <p:nvPr/>
        </p:nvSpPr>
        <p:spPr>
          <a:xfrm>
            <a:off x="5612946" y="2379969"/>
            <a:ext cx="2766435" cy="559850"/>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a:solidFill>
                  <a:schemeClr val="tx1"/>
                </a:solidFill>
                <a:cs typeface="Segoe UI" panose="020B0502040204020203" pitchFamily="34" charset="0"/>
              </a:rPr>
              <a:t>8</a:t>
            </a:r>
            <a:r>
              <a:rPr lang="en-US" sz="1100">
                <a:solidFill>
                  <a:schemeClr val="tx1"/>
                </a:solidFill>
                <a:cs typeface="Segoe UI" panose="020B0502040204020203" pitchFamily="34" charset="0"/>
              </a:rPr>
              <a:t>.88%</a:t>
            </a:r>
            <a:endParaRPr lang="en-US" sz="1100" dirty="0">
              <a:solidFill>
                <a:schemeClr val="tx1"/>
              </a:solidFill>
              <a:cs typeface="Segoe UI" panose="020B0502040204020203" pitchFamily="34" charset="0"/>
            </a:endParaRPr>
          </a:p>
        </p:txBody>
      </p:sp>
      <p:sp>
        <p:nvSpPr>
          <p:cNvPr id="65" name="Rectangle 64">
            <a:extLst>
              <a:ext uri="{FF2B5EF4-FFF2-40B4-BE49-F238E27FC236}">
                <a16:creationId xmlns:a16="http://schemas.microsoft.com/office/drawing/2014/main" id="{E4EF109F-2332-D47B-3A9F-0F5C8995DB95}"/>
              </a:ext>
            </a:extLst>
          </p:cNvPr>
          <p:cNvSpPr/>
          <p:nvPr/>
        </p:nvSpPr>
        <p:spPr>
          <a:xfrm>
            <a:off x="5606795" y="2925537"/>
            <a:ext cx="2766435" cy="544909"/>
          </a:xfrm>
          <a:prstGeom prst="rect">
            <a:avLst/>
          </a:prstGeom>
          <a:solidFill>
            <a:schemeClr val="bg1">
              <a:lumMod val="8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a:solidFill>
                  <a:schemeClr val="tx1"/>
                </a:solidFill>
                <a:cs typeface="Segoe UI" panose="020B0502040204020203" pitchFamily="34" charset="0"/>
              </a:rPr>
              <a:t>140 сая.₮ хүртэл</a:t>
            </a:r>
            <a:endParaRPr lang="en-US" sz="1100" dirty="0">
              <a:solidFill>
                <a:schemeClr val="tx1"/>
              </a:solidFill>
              <a:cs typeface="Segoe UI" panose="020B0502040204020203" pitchFamily="34" charset="0"/>
            </a:endParaRPr>
          </a:p>
        </p:txBody>
      </p:sp>
      <p:sp>
        <p:nvSpPr>
          <p:cNvPr id="66" name="Rectangle 65">
            <a:extLst>
              <a:ext uri="{FF2B5EF4-FFF2-40B4-BE49-F238E27FC236}">
                <a16:creationId xmlns:a16="http://schemas.microsoft.com/office/drawing/2014/main" id="{0C96E7C3-5BBA-344F-CEBB-FEA988F3931A}"/>
              </a:ext>
            </a:extLst>
          </p:cNvPr>
          <p:cNvSpPr/>
          <p:nvPr/>
        </p:nvSpPr>
        <p:spPr>
          <a:xfrm>
            <a:off x="5615656" y="4593093"/>
            <a:ext cx="2766435" cy="559850"/>
          </a:xfrm>
          <a:prstGeom prst="rect">
            <a:avLst/>
          </a:prstGeom>
          <a:no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a:solidFill>
                  <a:schemeClr val="tx1"/>
                </a:solidFill>
                <a:cs typeface="Segoe UI" panose="020B0502040204020203" pitchFamily="34" charset="0"/>
              </a:rPr>
              <a:t>Жилийн 1% (батлан даалтын үлдэгдлээс тооцож жил бүр төлнө)</a:t>
            </a:r>
            <a:endParaRPr lang="en-US" sz="1100" dirty="0">
              <a:solidFill>
                <a:schemeClr val="tx1"/>
              </a:solidFill>
              <a:cs typeface="Segoe UI" panose="020B0502040204020203" pitchFamily="34" charset="0"/>
            </a:endParaRPr>
          </a:p>
        </p:txBody>
      </p:sp>
      <p:sp>
        <p:nvSpPr>
          <p:cNvPr id="77" name="Slide Number Placeholder 1">
            <a:extLst>
              <a:ext uri="{FF2B5EF4-FFF2-40B4-BE49-F238E27FC236}">
                <a16:creationId xmlns:a16="http://schemas.microsoft.com/office/drawing/2014/main" id="{8D324704-3309-BBD2-B4FF-C9806F59C039}"/>
              </a:ext>
            </a:extLst>
          </p:cNvPr>
          <p:cNvSpPr txBox="1">
            <a:spLocks/>
          </p:cNvSpPr>
          <p:nvPr/>
        </p:nvSpPr>
        <p:spPr>
          <a:xfrm>
            <a:off x="11828237" y="64542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panose="020B0502040204020203" pitchFamily="34" charset="0"/>
                <a:cs typeface="Segoe UI" panose="020B0502040204020203" pitchFamily="34" charset="0"/>
              </a:rPr>
              <a:pPr/>
              <a:t>12</a:t>
            </a:fld>
            <a:endParaRPr lang="en-US" sz="1200" dirty="0">
              <a:solidFill>
                <a:schemeClr val="bg1">
                  <a:lumMod val="65000"/>
                </a:schemeClr>
              </a:solidFill>
              <a:latin typeface="Segoe UI" panose="020B0502040204020203" pitchFamily="34" charset="0"/>
              <a:cs typeface="Segoe UI" panose="020B0502040204020203" pitchFamily="34" charset="0"/>
            </a:endParaRPr>
          </a:p>
        </p:txBody>
      </p:sp>
      <p:pic>
        <p:nvPicPr>
          <p:cNvPr id="79" name="Picture 78" descr="A blue and black logo&#10;&#10;AI-generated content may be incorrect.">
            <a:extLst>
              <a:ext uri="{FF2B5EF4-FFF2-40B4-BE49-F238E27FC236}">
                <a16:creationId xmlns:a16="http://schemas.microsoft.com/office/drawing/2014/main" id="{0ECC7EB5-E2C8-C786-A372-E66530AC7A7A}"/>
              </a:ext>
            </a:extLst>
          </p:cNvPr>
          <p:cNvPicPr>
            <a:picLocks noChangeAspect="1"/>
          </p:cNvPicPr>
          <p:nvPr/>
        </p:nvPicPr>
        <p:blipFill>
          <a:blip r:embed="rId4"/>
          <a:stretch>
            <a:fillRect/>
          </a:stretch>
        </p:blipFill>
        <p:spPr>
          <a:xfrm>
            <a:off x="313189" y="343598"/>
            <a:ext cx="1140210" cy="425077"/>
          </a:xfrm>
          <a:prstGeom prst="rect">
            <a:avLst/>
          </a:prstGeom>
          <a:noFill/>
        </p:spPr>
      </p:pic>
      <p:cxnSp>
        <p:nvCxnSpPr>
          <p:cNvPr id="80" name="Straight Connector 79">
            <a:extLst>
              <a:ext uri="{FF2B5EF4-FFF2-40B4-BE49-F238E27FC236}">
                <a16:creationId xmlns:a16="http://schemas.microsoft.com/office/drawing/2014/main" id="{D02B6A64-3402-5FDC-796A-DAB87CEEAF5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7B862F03-18C9-B106-5B44-45D48164A21A}"/>
              </a:ext>
            </a:extLst>
          </p:cNvPr>
          <p:cNvGrpSpPr/>
          <p:nvPr/>
        </p:nvGrpSpPr>
        <p:grpSpPr>
          <a:xfrm>
            <a:off x="3025833" y="386359"/>
            <a:ext cx="6140334" cy="322352"/>
            <a:chOff x="4033374" y="215436"/>
            <a:chExt cx="4065373" cy="338092"/>
          </a:xfrm>
        </p:grpSpPr>
        <p:sp>
          <p:nvSpPr>
            <p:cNvPr id="82" name="Rounded Rectangle 40">
              <a:extLst>
                <a:ext uri="{FF2B5EF4-FFF2-40B4-BE49-F238E27FC236}">
                  <a16:creationId xmlns:a16="http://schemas.microsoft.com/office/drawing/2014/main" id="{4D5D836A-8659-9756-67A1-EA36CC53160D}"/>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83" name="Rectangle 82">
              <a:extLst>
                <a:ext uri="{FF2B5EF4-FFF2-40B4-BE49-F238E27FC236}">
                  <a16:creationId xmlns:a16="http://schemas.microsoft.com/office/drawing/2014/main" id="{A550DA4D-9AEF-8397-73DD-77726009BAF8}"/>
                </a:ext>
              </a:extLst>
            </p:cNvPr>
            <p:cNvSpPr/>
            <p:nvPr/>
          </p:nvSpPr>
          <p:spPr>
            <a:xfrm>
              <a:off x="4244477" y="219631"/>
              <a:ext cx="3643166" cy="322804"/>
            </a:xfrm>
            <a:prstGeom prst="rect">
              <a:avLst/>
            </a:prstGeom>
          </p:spPr>
          <p:txBody>
            <a:bodyPr wrap="square" anchor="ctr">
              <a:spAutoFit/>
            </a:bodyPr>
            <a:lstStyle/>
            <a:p>
              <a:pPr algn="ctr"/>
              <a:r>
                <a:rPr lang="mn-MN" sz="1400" b="1">
                  <a:solidFill>
                    <a:schemeClr val="bg1"/>
                  </a:solidFill>
                  <a:cs typeface="Segoe UI" panose="020B0502040204020203" pitchFamily="34" charset="0"/>
                </a:rPr>
                <a:t>ӨРСӨЛДӨГЧИЙН СУДАЛГАА</a:t>
              </a:r>
              <a:endParaRPr lang="en-US" sz="1400" b="1" dirty="0">
                <a:solidFill>
                  <a:schemeClr val="bg1"/>
                </a:solidFill>
                <a:cs typeface="Segoe UI" panose="020B0502040204020203" pitchFamily="34" charset="0"/>
              </a:endParaRPr>
            </a:p>
          </p:txBody>
        </p:sp>
      </p:grpSp>
      <p:sp>
        <p:nvSpPr>
          <p:cNvPr id="15" name="Slide Number Placeholder 1">
            <a:extLst>
              <a:ext uri="{FF2B5EF4-FFF2-40B4-BE49-F238E27FC236}">
                <a16:creationId xmlns:a16="http://schemas.microsoft.com/office/drawing/2014/main" id="{7EA252CC-CB94-FA14-4F44-0E5613C6A046}"/>
              </a:ext>
            </a:extLst>
          </p:cNvPr>
          <p:cNvSpPr txBox="1">
            <a:spLocks/>
          </p:cNvSpPr>
          <p:nvPr/>
        </p:nvSpPr>
        <p:spPr>
          <a:xfrm>
            <a:off x="11956556" y="799720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Light" panose="020B0502040204020203" pitchFamily="34" charset="0"/>
                <a:cs typeface="Segoe UI Light" panose="020B0502040204020203" pitchFamily="34" charset="0"/>
              </a:rPr>
              <a:pPr/>
              <a:t>12</a:t>
            </a:fld>
            <a:endParaRPr lang="en-US" sz="1200" dirty="0">
              <a:solidFill>
                <a:schemeClr val="bg1">
                  <a:lumMod val="65000"/>
                </a:schemeClr>
              </a:solidFill>
              <a:latin typeface="Segoe UI Light" panose="020B0502040204020203" pitchFamily="34" charset="0"/>
              <a:cs typeface="Segoe UI Light" panose="020B0502040204020203" pitchFamily="34" charset="0"/>
            </a:endParaRPr>
          </a:p>
        </p:txBody>
      </p:sp>
      <p:sp>
        <p:nvSpPr>
          <p:cNvPr id="16" name="Rectangle: Top Corners Rounded 15">
            <a:extLst>
              <a:ext uri="{FF2B5EF4-FFF2-40B4-BE49-F238E27FC236}">
                <a16:creationId xmlns:a16="http://schemas.microsoft.com/office/drawing/2014/main" id="{4F209899-86D2-955D-9029-1E041AB483F1}"/>
              </a:ext>
            </a:extLst>
          </p:cNvPr>
          <p:cNvSpPr/>
          <p:nvPr/>
        </p:nvSpPr>
        <p:spPr>
          <a:xfrm>
            <a:off x="2802221" y="5185928"/>
            <a:ext cx="2766435" cy="674880"/>
          </a:xfrm>
          <a:prstGeom prst="round2SameRect">
            <a:avLst>
              <a:gd name="adj1" fmla="val 0"/>
              <a:gd name="adj2" fmla="val 19745"/>
            </a:avLst>
          </a:prstGeom>
          <a:solidFill>
            <a:srgbClr val="ECECEC"/>
          </a:solidFill>
          <a:ln>
            <a:solidFill>
              <a:srgbClr val="ECECEC"/>
            </a:solid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b="0" i="0">
                <a:solidFill>
                  <a:schemeClr val="tx1"/>
                </a:solidFill>
                <a:effectLst/>
                <a:cs typeface="Segoe UI" panose="020B0502040204020203" pitchFamily="34" charset="0"/>
              </a:rPr>
              <a:t>50.000 төгрөг /нэг удаа төлнө/</a:t>
            </a:r>
            <a:endParaRPr lang="en-US" sz="1100" dirty="0">
              <a:solidFill>
                <a:schemeClr val="tx1"/>
              </a:solidFill>
              <a:cs typeface="Segoe UI" panose="020B0502040204020203" pitchFamily="34" charset="0"/>
            </a:endParaRPr>
          </a:p>
        </p:txBody>
      </p:sp>
      <p:sp>
        <p:nvSpPr>
          <p:cNvPr id="20" name="Rectangle: Top Corners Rounded 19">
            <a:extLst>
              <a:ext uri="{FF2B5EF4-FFF2-40B4-BE49-F238E27FC236}">
                <a16:creationId xmlns:a16="http://schemas.microsoft.com/office/drawing/2014/main" id="{001B7B94-0855-BD7F-85D3-3EA9CECB427B}"/>
              </a:ext>
            </a:extLst>
          </p:cNvPr>
          <p:cNvSpPr/>
          <p:nvPr/>
        </p:nvSpPr>
        <p:spPr>
          <a:xfrm>
            <a:off x="5624518" y="5188864"/>
            <a:ext cx="2766435" cy="674880"/>
          </a:xfrm>
          <a:prstGeom prst="round2SameRect">
            <a:avLst>
              <a:gd name="adj1" fmla="val 0"/>
              <a:gd name="adj2" fmla="val 19745"/>
            </a:avLst>
          </a:prstGeom>
          <a:solidFill>
            <a:srgbClr val="ECECEC"/>
          </a:solidFill>
          <a:ln>
            <a:solidFill>
              <a:srgbClr val="ECECEC"/>
            </a:solid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b="0" i="0">
                <a:solidFill>
                  <a:schemeClr val="tx1"/>
                </a:solidFill>
                <a:effectLst/>
                <a:cs typeface="Segoe UI" panose="020B0502040204020203" pitchFamily="34" charset="0"/>
              </a:rPr>
              <a:t>50.000 төгрөг /нэг удаа төлнө/</a:t>
            </a:r>
            <a:endParaRPr lang="en-US" sz="1100" dirty="0">
              <a:solidFill>
                <a:schemeClr val="tx1"/>
              </a:solidFill>
              <a:cs typeface="Segoe UI" panose="020B0502040204020203" pitchFamily="34" charset="0"/>
            </a:endParaRPr>
          </a:p>
        </p:txBody>
      </p:sp>
      <p:sp>
        <p:nvSpPr>
          <p:cNvPr id="26" name="Slide Number Placeholder 1">
            <a:extLst>
              <a:ext uri="{FF2B5EF4-FFF2-40B4-BE49-F238E27FC236}">
                <a16:creationId xmlns:a16="http://schemas.microsoft.com/office/drawing/2014/main" id="{22A34DCE-5B27-5AFC-A7DC-B2FB07C96AED}"/>
              </a:ext>
            </a:extLst>
          </p:cNvPr>
          <p:cNvSpPr txBox="1">
            <a:spLocks/>
          </p:cNvSpPr>
          <p:nvPr/>
        </p:nvSpPr>
        <p:spPr>
          <a:xfrm>
            <a:off x="11956556" y="799720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panose="020B0502040204020203" pitchFamily="34" charset="0"/>
                <a:cs typeface="Segoe UI" panose="020B0502040204020203" pitchFamily="34" charset="0"/>
              </a:rPr>
              <a:pPr/>
              <a:t>12</a:t>
            </a:fld>
            <a:endParaRPr lang="en-US" sz="1200" dirty="0">
              <a:solidFill>
                <a:schemeClr val="bg1">
                  <a:lumMod val="65000"/>
                </a:schemeClr>
              </a:solidFill>
              <a:latin typeface="Segoe UI" panose="020B0502040204020203" pitchFamily="34" charset="0"/>
              <a:cs typeface="Segoe UI" panose="020B0502040204020203" pitchFamily="34" charset="0"/>
            </a:endParaRPr>
          </a:p>
        </p:txBody>
      </p:sp>
      <p:sp>
        <p:nvSpPr>
          <p:cNvPr id="29" name="TextBox 28">
            <a:extLst>
              <a:ext uri="{FF2B5EF4-FFF2-40B4-BE49-F238E27FC236}">
                <a16:creationId xmlns:a16="http://schemas.microsoft.com/office/drawing/2014/main" id="{75D14988-53EE-B7A0-00B7-401D54EF7376}"/>
              </a:ext>
            </a:extLst>
          </p:cNvPr>
          <p:cNvSpPr txBox="1"/>
          <p:nvPr/>
        </p:nvSpPr>
        <p:spPr>
          <a:xfrm>
            <a:off x="149617" y="5377599"/>
            <a:ext cx="2325893" cy="430887"/>
          </a:xfrm>
          <a:prstGeom prst="rect">
            <a:avLst/>
          </a:prstGeom>
          <a:noFill/>
        </p:spPr>
        <p:txBody>
          <a:bodyPr wrap="square" rtlCol="0">
            <a:spAutoFit/>
          </a:bodyPr>
          <a:lstStyle/>
          <a:p>
            <a:pPr algn="r"/>
            <a:r>
              <a:rPr lang="mn-MN" sz="1100" b="1" i="1">
                <a:cs typeface="Segoe UI" panose="020B0502040204020203" pitchFamily="34" charset="0"/>
              </a:rPr>
              <a:t>Батлан даалтын үйлчилгээний хураамж</a:t>
            </a:r>
            <a:endParaRPr lang="mn-MN" sz="1100" b="1" i="1" dirty="0">
              <a:cs typeface="Segoe UI" panose="020B0502040204020203" pitchFamily="34" charset="0"/>
            </a:endParaRPr>
          </a:p>
        </p:txBody>
      </p:sp>
      <p:pic>
        <p:nvPicPr>
          <p:cNvPr id="2" name="Picture 8" descr="American Chamber of Commerce in Mongolia">
            <a:extLst>
              <a:ext uri="{FF2B5EF4-FFF2-40B4-BE49-F238E27FC236}">
                <a16:creationId xmlns:a16="http://schemas.microsoft.com/office/drawing/2014/main" id="{9FF3F434-4C09-19A1-2C4D-4294584BD880}"/>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31800" t="13992" r="30552" b="42901"/>
          <a:stretch/>
        </p:blipFill>
        <p:spPr bwMode="auto">
          <a:xfrm>
            <a:off x="6775382" y="1455636"/>
            <a:ext cx="429260" cy="42012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8E09FB4-E4EE-57AF-9555-A68303D96822}"/>
              </a:ext>
            </a:extLst>
          </p:cNvPr>
          <p:cNvSpPr/>
          <p:nvPr/>
        </p:nvSpPr>
        <p:spPr>
          <a:xfrm>
            <a:off x="2746359" y="1310308"/>
            <a:ext cx="2878159" cy="4651128"/>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1A9D334-FA21-C65F-D630-3827344261EB}"/>
              </a:ext>
            </a:extLst>
          </p:cNvPr>
          <p:cNvSpPr txBox="1"/>
          <p:nvPr/>
        </p:nvSpPr>
        <p:spPr>
          <a:xfrm>
            <a:off x="8493815" y="1313968"/>
            <a:ext cx="3394440" cy="4892301"/>
          </a:xfrm>
          <a:prstGeom prst="rect">
            <a:avLst/>
          </a:prstGeom>
          <a:noFill/>
        </p:spPr>
        <p:txBody>
          <a:bodyPr wrap="square">
            <a:spAutoFit/>
          </a:bodyPr>
          <a:lstStyle/>
          <a:p>
            <a:pPr marL="171450" indent="-171450" algn="just">
              <a:lnSpc>
                <a:spcPct val="150000"/>
              </a:lnSpc>
              <a:buFont typeface="Arial" panose="020B0604020202020204" pitchFamily="34" charset="0"/>
              <a:buChar char="•"/>
            </a:pPr>
            <a:r>
              <a:rPr lang="mn-MN" sz="1100" i="1"/>
              <a:t>Зээлийн батлан даалтын сангаас зээлийн хүүг жилийн 10.27 хувь байхаар санал ирүүлсэн боловч тухайн үеийн зах зээлийн нөхцөл болон банкны өгөөжийн тооцооллоор эдийн засгийн үр ашиггүй гэж үзэн түр түдгэлзүүлсэн. </a:t>
            </a:r>
          </a:p>
          <a:p>
            <a:pPr marL="171450" indent="-171450" algn="just">
              <a:lnSpc>
                <a:spcPct val="150000"/>
              </a:lnSpc>
              <a:buFont typeface="Arial" panose="020B0604020202020204" pitchFamily="34" charset="0"/>
              <a:buChar char="•"/>
            </a:pPr>
            <a:r>
              <a:rPr lang="mn-MN" sz="1100" i="1"/>
              <a:t>2026 оны 9 дүгээр сарын байдлаар зах зээл дэх зээлийн хүү өссөн тул уг саналыг дахин судалж, хэрэгжүүлэх боломжийг үнэлүүлэхээр хүргүүлж байна. </a:t>
            </a:r>
          </a:p>
          <a:p>
            <a:pPr marL="171450" indent="-171450" algn="just">
              <a:lnSpc>
                <a:spcPct val="150000"/>
              </a:lnSpc>
              <a:buFont typeface="Arial" panose="020B0604020202020204" pitchFamily="34" charset="0"/>
              <a:buChar char="•"/>
            </a:pPr>
            <a:r>
              <a:rPr lang="mn-MN" sz="1100" i="1"/>
              <a:t>Жишиг бүтээгдэхүүний хувьд Капитрон банк 2023 онд ижил төрлийн санхүүжилтийн бүтээгдэхүүн нэвтрүүлж, 2024 оны 5 дугаар сарын байдлаар 20 эмэгтэй бизнес эрхлэгчид нийт 2 тэрбум төгрөгийн зээл олгосон туршлагатай байна. Тус бүтээгдэхүүний одоогийн хэрэгжилт болон үр дүнгийн талаарх шинэчилсэн нээлттэй мэдээлэл байхгүй байна.</a:t>
            </a:r>
            <a:endParaRPr lang="en-US" sz="1100" i="1"/>
          </a:p>
        </p:txBody>
      </p:sp>
      <p:sp>
        <p:nvSpPr>
          <p:cNvPr id="3" name="Rectangle 2">
            <a:extLst>
              <a:ext uri="{FF2B5EF4-FFF2-40B4-BE49-F238E27FC236}">
                <a16:creationId xmlns:a16="http://schemas.microsoft.com/office/drawing/2014/main" id="{67432425-6E62-FD4E-D463-54ED1C3971B0}"/>
              </a:ext>
            </a:extLst>
          </p:cNvPr>
          <p:cNvSpPr/>
          <p:nvPr/>
        </p:nvSpPr>
        <p:spPr>
          <a:xfrm>
            <a:off x="2809353" y="2379968"/>
            <a:ext cx="2766435" cy="536735"/>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mn-MN" sz="1100" kern="1200">
                <a:solidFill>
                  <a:schemeClr val="tx1"/>
                </a:solidFill>
                <a:ea typeface="+mn-ea"/>
                <a:cs typeface="Times New Roman"/>
              </a:rPr>
              <a:t>12</a:t>
            </a:r>
            <a:r>
              <a:rPr lang="en-US" sz="1100">
                <a:solidFill>
                  <a:schemeClr val="tx1"/>
                </a:solidFill>
                <a:cs typeface="Times New Roman"/>
              </a:rPr>
              <a:t>%</a:t>
            </a:r>
            <a:r>
              <a:rPr lang="mn-MN" sz="1100">
                <a:solidFill>
                  <a:schemeClr val="tx1"/>
                </a:solidFill>
                <a:cs typeface="Times New Roman"/>
              </a:rPr>
              <a:t>-15</a:t>
            </a:r>
            <a:r>
              <a:rPr lang="en-US" sz="1100">
                <a:solidFill>
                  <a:schemeClr val="tx1"/>
                </a:solidFill>
                <a:cs typeface="Times New Roman"/>
              </a:rPr>
              <a:t>.8%</a:t>
            </a:r>
            <a:endParaRPr lang="en-US" sz="1100" kern="1200">
              <a:solidFill>
                <a:schemeClr val="tx1"/>
              </a:solidFill>
              <a:ea typeface="+mn-ea"/>
              <a:cs typeface="Times New Roman"/>
            </a:endParaRPr>
          </a:p>
        </p:txBody>
      </p:sp>
    </p:spTree>
    <p:extLst>
      <p:ext uri="{BB962C8B-B14F-4D97-AF65-F5344CB8AC3E}">
        <p14:creationId xmlns:p14="http://schemas.microsoft.com/office/powerpoint/2010/main" val="3189872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A9C390-AA5A-40F9-B72C-3C81A068448F}"/>
              </a:ext>
            </a:extLst>
          </p:cNvPr>
          <p:cNvSpPr txBox="1">
            <a:spLocks/>
          </p:cNvSpPr>
          <p:nvPr/>
        </p:nvSpPr>
        <p:spPr>
          <a:xfrm>
            <a:off x="11828237" y="6454298"/>
            <a:ext cx="363763"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Light" panose="020B0502040204020203" pitchFamily="34" charset="0"/>
                <a:cs typeface="Segoe UI Light" panose="020B0502040204020203" pitchFamily="34" charset="0"/>
              </a:rPr>
              <a:pPr/>
              <a:t>13</a:t>
            </a:fld>
            <a:endParaRPr lang="en-US" sz="1200" dirty="0">
              <a:solidFill>
                <a:schemeClr val="bg1">
                  <a:lumMod val="65000"/>
                </a:schemeClr>
              </a:solidFill>
              <a:latin typeface="Segoe UI Light" panose="020B0502040204020203" pitchFamily="34" charset="0"/>
              <a:cs typeface="Segoe UI Light" panose="020B0502040204020203" pitchFamily="34" charset="0"/>
            </a:endParaRPr>
          </a:p>
        </p:txBody>
      </p:sp>
      <p:sp>
        <p:nvSpPr>
          <p:cNvPr id="7" name="Rectangle 6">
            <a:extLst>
              <a:ext uri="{FF2B5EF4-FFF2-40B4-BE49-F238E27FC236}">
                <a16:creationId xmlns:a16="http://schemas.microsoft.com/office/drawing/2014/main" id="{121E8B4C-E2C1-7F30-DD94-46F0CA236A3A}"/>
              </a:ext>
            </a:extLst>
          </p:cNvPr>
          <p:cNvSpPr/>
          <p:nvPr/>
        </p:nvSpPr>
        <p:spPr>
          <a:xfrm>
            <a:off x="228600" y="1143000"/>
            <a:ext cx="1524000" cy="838198"/>
          </a:xfrm>
          <a:prstGeom prst="rect">
            <a:avLst/>
          </a:prstGeom>
          <a:gradFill>
            <a:gsLst>
              <a:gs pos="0">
                <a:srgbClr val="0080FF"/>
              </a:gs>
              <a:gs pos="100000">
                <a:srgbClr val="00B0F0"/>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n-MN" sz="1400" b="1" dirty="0">
                <a:latin typeface="Segoe UI" panose="020B0502040204020203" pitchFamily="34" charset="0"/>
                <a:cs typeface="Segoe UI" panose="020B0502040204020203" pitchFamily="34" charset="0"/>
              </a:rPr>
              <a:t>Харилцагч</a:t>
            </a:r>
            <a:endParaRPr lang="en-US" sz="1400" b="1" dirty="0">
              <a:latin typeface="Segoe UI" panose="020B0502040204020203" pitchFamily="34" charset="0"/>
              <a:cs typeface="Segoe UI" panose="020B0502040204020203" pitchFamily="34" charset="0"/>
            </a:endParaRPr>
          </a:p>
        </p:txBody>
      </p:sp>
      <p:cxnSp>
        <p:nvCxnSpPr>
          <p:cNvPr id="28" name="Straight Connector 27">
            <a:extLst>
              <a:ext uri="{FF2B5EF4-FFF2-40B4-BE49-F238E27FC236}">
                <a16:creationId xmlns:a16="http://schemas.microsoft.com/office/drawing/2014/main" id="{51D3D90D-C856-B379-A1F5-B3F6ED63888A}"/>
              </a:ext>
            </a:extLst>
          </p:cNvPr>
          <p:cNvCxnSpPr>
            <a:cxnSpLocks/>
            <a:endCxn id="7" idx="1"/>
          </p:cNvCxnSpPr>
          <p:nvPr/>
        </p:nvCxnSpPr>
        <p:spPr>
          <a:xfrm>
            <a:off x="0" y="1562099"/>
            <a:ext cx="228600" cy="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C0874094-ADFA-FD48-3EA4-C6DF1102179A}"/>
              </a:ext>
            </a:extLst>
          </p:cNvPr>
          <p:cNvSpPr/>
          <p:nvPr/>
        </p:nvSpPr>
        <p:spPr>
          <a:xfrm>
            <a:off x="1524000" y="2758580"/>
            <a:ext cx="1524000" cy="838198"/>
          </a:xfrm>
          <a:prstGeom prst="rect">
            <a:avLst/>
          </a:prstGeom>
          <a:gradFill>
            <a:gsLst>
              <a:gs pos="0">
                <a:srgbClr val="0080FF"/>
              </a:gs>
              <a:gs pos="100000">
                <a:srgbClr val="00B0F0"/>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n-MN" sz="1400" b="1">
                <a:latin typeface="Segoe UI" panose="020B0502040204020203" pitchFamily="34" charset="0"/>
                <a:cs typeface="Segoe UI" panose="020B0502040204020203" pitchFamily="34" charset="0"/>
              </a:rPr>
              <a:t>Франчайз</a:t>
            </a:r>
            <a:endParaRPr lang="en-US" sz="1400" b="1" dirty="0">
              <a:latin typeface="Segoe UI" panose="020B0502040204020203" pitchFamily="34" charset="0"/>
              <a:cs typeface="Segoe UI" panose="020B0502040204020203" pitchFamily="34" charset="0"/>
            </a:endParaRPr>
          </a:p>
        </p:txBody>
      </p:sp>
      <p:sp>
        <p:nvSpPr>
          <p:cNvPr id="37" name="Rectangle 36">
            <a:extLst>
              <a:ext uri="{FF2B5EF4-FFF2-40B4-BE49-F238E27FC236}">
                <a16:creationId xmlns:a16="http://schemas.microsoft.com/office/drawing/2014/main" id="{E2433F73-4146-64BD-796C-7EC152DA38B3}"/>
              </a:ext>
            </a:extLst>
          </p:cNvPr>
          <p:cNvSpPr/>
          <p:nvPr/>
        </p:nvSpPr>
        <p:spPr>
          <a:xfrm>
            <a:off x="5638800" y="2743200"/>
            <a:ext cx="1524000" cy="838198"/>
          </a:xfrm>
          <a:prstGeom prst="rect">
            <a:avLst/>
          </a:prstGeom>
          <a:gradFill>
            <a:gsLst>
              <a:gs pos="0">
                <a:srgbClr val="0080FF"/>
              </a:gs>
              <a:gs pos="100000">
                <a:srgbClr val="00B0F0"/>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n-MN" sz="1400" b="1">
                <a:latin typeface="Segoe UI" panose="020B0502040204020203" pitchFamily="34" charset="0"/>
                <a:cs typeface="Segoe UI" panose="020B0502040204020203" pitchFamily="34" charset="0"/>
              </a:rPr>
              <a:t>ЗБДС</a:t>
            </a:r>
            <a:endParaRPr lang="en-US" sz="1400" b="1" dirty="0">
              <a:latin typeface="Segoe UI" panose="020B0502040204020203" pitchFamily="34" charset="0"/>
              <a:cs typeface="Segoe UI" panose="020B0502040204020203" pitchFamily="34" charset="0"/>
            </a:endParaRPr>
          </a:p>
        </p:txBody>
      </p:sp>
      <p:sp>
        <p:nvSpPr>
          <p:cNvPr id="38" name="Rectangle 37">
            <a:extLst>
              <a:ext uri="{FF2B5EF4-FFF2-40B4-BE49-F238E27FC236}">
                <a16:creationId xmlns:a16="http://schemas.microsoft.com/office/drawing/2014/main" id="{B4984733-2EC5-854A-DBAB-0A94C63A63F0}"/>
              </a:ext>
            </a:extLst>
          </p:cNvPr>
          <p:cNvSpPr/>
          <p:nvPr/>
        </p:nvSpPr>
        <p:spPr>
          <a:xfrm>
            <a:off x="3581400" y="2748094"/>
            <a:ext cx="1524000" cy="838198"/>
          </a:xfrm>
          <a:prstGeom prst="rect">
            <a:avLst/>
          </a:prstGeom>
          <a:gradFill>
            <a:gsLst>
              <a:gs pos="0">
                <a:srgbClr val="0080FF"/>
              </a:gs>
              <a:gs pos="100000">
                <a:srgbClr val="00B0F0"/>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n-MN" sz="1400" b="1" dirty="0">
                <a:latin typeface="Segoe UI" panose="020B0502040204020203" pitchFamily="34" charset="0"/>
                <a:cs typeface="Segoe UI" panose="020B0502040204020203" pitchFamily="34" charset="0"/>
              </a:rPr>
              <a:t>Арилжааны банк</a:t>
            </a:r>
            <a:endParaRPr lang="en-US" sz="1400" b="1" dirty="0">
              <a:latin typeface="Segoe UI" panose="020B0502040204020203" pitchFamily="34" charset="0"/>
              <a:cs typeface="Segoe UI" panose="020B0502040204020203" pitchFamily="34" charset="0"/>
            </a:endParaRPr>
          </a:p>
        </p:txBody>
      </p:sp>
      <p:sp>
        <p:nvSpPr>
          <p:cNvPr id="40" name="Rectangle 39">
            <a:extLst>
              <a:ext uri="{FF2B5EF4-FFF2-40B4-BE49-F238E27FC236}">
                <a16:creationId xmlns:a16="http://schemas.microsoft.com/office/drawing/2014/main" id="{01B16607-E0C9-0FCC-F9F0-881601441F42}"/>
              </a:ext>
            </a:extLst>
          </p:cNvPr>
          <p:cNvSpPr/>
          <p:nvPr/>
        </p:nvSpPr>
        <p:spPr>
          <a:xfrm>
            <a:off x="6939805" y="4717412"/>
            <a:ext cx="1524000" cy="838198"/>
          </a:xfrm>
          <a:prstGeom prst="rect">
            <a:avLst/>
          </a:prstGeom>
          <a:gradFill>
            <a:gsLst>
              <a:gs pos="0">
                <a:srgbClr val="0080FF"/>
              </a:gs>
              <a:gs pos="100000">
                <a:srgbClr val="00B0F0"/>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n-MN" sz="1400" b="1">
                <a:latin typeface="Segoe UI" panose="020B0502040204020203" pitchFamily="34" charset="0"/>
                <a:cs typeface="Segoe UI" panose="020B0502040204020203" pitchFamily="34" charset="0"/>
              </a:rPr>
              <a:t>Арилжааны банк</a:t>
            </a:r>
            <a:endParaRPr lang="en-US" sz="1400" b="1" dirty="0">
              <a:latin typeface="Segoe UI" panose="020B0502040204020203" pitchFamily="34" charset="0"/>
              <a:cs typeface="Segoe UI" panose="020B0502040204020203" pitchFamily="34" charset="0"/>
            </a:endParaRPr>
          </a:p>
        </p:txBody>
      </p:sp>
      <p:sp>
        <p:nvSpPr>
          <p:cNvPr id="41" name="Rectangle 40">
            <a:extLst>
              <a:ext uri="{FF2B5EF4-FFF2-40B4-BE49-F238E27FC236}">
                <a16:creationId xmlns:a16="http://schemas.microsoft.com/office/drawing/2014/main" id="{D2679428-98A8-3552-983B-ABFDEB7A654C}"/>
              </a:ext>
            </a:extLst>
          </p:cNvPr>
          <p:cNvSpPr/>
          <p:nvPr/>
        </p:nvSpPr>
        <p:spPr>
          <a:xfrm>
            <a:off x="8765806" y="4720907"/>
            <a:ext cx="1524000" cy="838198"/>
          </a:xfrm>
          <a:prstGeom prst="rect">
            <a:avLst/>
          </a:prstGeom>
          <a:gradFill>
            <a:gsLst>
              <a:gs pos="0">
                <a:srgbClr val="0080FF"/>
              </a:gs>
              <a:gs pos="100000">
                <a:srgbClr val="00B0F0"/>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n-MN" sz="1400" b="1">
                <a:latin typeface="Segoe UI" panose="020B0502040204020203" pitchFamily="34" charset="0"/>
                <a:cs typeface="Segoe UI" panose="020B0502040204020203" pitchFamily="34" charset="0"/>
              </a:rPr>
              <a:t>Франчайз </a:t>
            </a:r>
            <a:endParaRPr lang="en-US" sz="1400" b="1" dirty="0">
              <a:latin typeface="Segoe UI" panose="020B0502040204020203" pitchFamily="34" charset="0"/>
              <a:cs typeface="Segoe UI" panose="020B0502040204020203" pitchFamily="34" charset="0"/>
            </a:endParaRPr>
          </a:p>
        </p:txBody>
      </p:sp>
      <p:sp>
        <p:nvSpPr>
          <p:cNvPr id="42" name="Rectangle 41">
            <a:extLst>
              <a:ext uri="{FF2B5EF4-FFF2-40B4-BE49-F238E27FC236}">
                <a16:creationId xmlns:a16="http://schemas.microsoft.com/office/drawing/2014/main" id="{95F2FD2E-CFFC-F44C-CC94-F2D2F51F62B8}"/>
              </a:ext>
            </a:extLst>
          </p:cNvPr>
          <p:cNvSpPr/>
          <p:nvPr/>
        </p:nvSpPr>
        <p:spPr>
          <a:xfrm>
            <a:off x="10591807" y="4724402"/>
            <a:ext cx="1524000" cy="838198"/>
          </a:xfrm>
          <a:prstGeom prst="rect">
            <a:avLst/>
          </a:prstGeom>
          <a:gradFill>
            <a:gsLst>
              <a:gs pos="0">
                <a:srgbClr val="0080FF"/>
              </a:gs>
              <a:gs pos="100000">
                <a:srgbClr val="00B0F0"/>
              </a:gs>
            </a:gsLst>
            <a:lin ang="13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mn-MN" sz="1400" b="1">
                <a:latin typeface="Segoe UI" panose="020B0502040204020203" pitchFamily="34" charset="0"/>
                <a:cs typeface="Segoe UI" panose="020B0502040204020203" pitchFamily="34" charset="0"/>
              </a:rPr>
              <a:t>ЗБДС, Арилжааны </a:t>
            </a:r>
            <a:r>
              <a:rPr lang="mn-MN" sz="1400" b="1" dirty="0">
                <a:latin typeface="Segoe UI" panose="020B0502040204020203" pitchFamily="34" charset="0"/>
                <a:cs typeface="Segoe UI" panose="020B0502040204020203" pitchFamily="34" charset="0"/>
              </a:rPr>
              <a:t>банк</a:t>
            </a:r>
            <a:endParaRPr lang="en-US" sz="1400" b="1" dirty="0">
              <a:latin typeface="Segoe UI" panose="020B0502040204020203" pitchFamily="34" charset="0"/>
              <a:cs typeface="Segoe UI" panose="020B0502040204020203" pitchFamily="34" charset="0"/>
            </a:endParaRPr>
          </a:p>
        </p:txBody>
      </p:sp>
      <p:cxnSp>
        <p:nvCxnSpPr>
          <p:cNvPr id="45" name="Connector: Elbow 44">
            <a:extLst>
              <a:ext uri="{FF2B5EF4-FFF2-40B4-BE49-F238E27FC236}">
                <a16:creationId xmlns:a16="http://schemas.microsoft.com/office/drawing/2014/main" id="{14B5F67B-4B8A-1D6F-FEC0-8B00DAAD123C}"/>
              </a:ext>
            </a:extLst>
          </p:cNvPr>
          <p:cNvCxnSpPr>
            <a:stCxn id="7" idx="3"/>
            <a:endCxn id="36" idx="0"/>
          </p:cNvCxnSpPr>
          <p:nvPr/>
        </p:nvCxnSpPr>
        <p:spPr>
          <a:xfrm>
            <a:off x="1752600" y="1562099"/>
            <a:ext cx="533400" cy="1196481"/>
          </a:xfrm>
          <a:prstGeom prst="bentConnector2">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A945313-5A44-29DE-7743-5EE39B3504DD}"/>
              </a:ext>
            </a:extLst>
          </p:cNvPr>
          <p:cNvCxnSpPr>
            <a:stCxn id="36" idx="3"/>
            <a:endCxn id="38" idx="1"/>
          </p:cNvCxnSpPr>
          <p:nvPr/>
        </p:nvCxnSpPr>
        <p:spPr>
          <a:xfrm flipV="1">
            <a:off x="3048000" y="3167193"/>
            <a:ext cx="533400" cy="10486"/>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0344C05-49CC-F176-E1D1-BCF8341EC2E8}"/>
              </a:ext>
            </a:extLst>
          </p:cNvPr>
          <p:cNvCxnSpPr>
            <a:stCxn id="38" idx="3"/>
            <a:endCxn id="37" idx="1"/>
          </p:cNvCxnSpPr>
          <p:nvPr/>
        </p:nvCxnSpPr>
        <p:spPr>
          <a:xfrm flipV="1">
            <a:off x="5105400" y="3162299"/>
            <a:ext cx="533400" cy="4894"/>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04DE710A-D987-167D-2A3F-3B3C47ABD903}"/>
              </a:ext>
            </a:extLst>
          </p:cNvPr>
          <p:cNvCxnSpPr>
            <a:stCxn id="37" idx="3"/>
            <a:endCxn id="40" idx="0"/>
          </p:cNvCxnSpPr>
          <p:nvPr/>
        </p:nvCxnSpPr>
        <p:spPr>
          <a:xfrm>
            <a:off x="7162800" y="3162299"/>
            <a:ext cx="539005" cy="1555113"/>
          </a:xfrm>
          <a:prstGeom prst="bentConnector2">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494A831C-8BE4-63F9-F472-3B1DFFC72066}"/>
              </a:ext>
            </a:extLst>
          </p:cNvPr>
          <p:cNvCxnSpPr>
            <a:stCxn id="40" idx="3"/>
            <a:endCxn id="41" idx="1"/>
          </p:cNvCxnSpPr>
          <p:nvPr/>
        </p:nvCxnSpPr>
        <p:spPr>
          <a:xfrm>
            <a:off x="8463805" y="5136511"/>
            <a:ext cx="302001" cy="3495"/>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8289EB26-EA77-C8C7-5619-FFE059E10435}"/>
              </a:ext>
            </a:extLst>
          </p:cNvPr>
          <p:cNvCxnSpPr>
            <a:stCxn id="41" idx="3"/>
            <a:endCxn id="42" idx="1"/>
          </p:cNvCxnSpPr>
          <p:nvPr/>
        </p:nvCxnSpPr>
        <p:spPr>
          <a:xfrm>
            <a:off x="10289806" y="5140006"/>
            <a:ext cx="302001" cy="3495"/>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4413BC78-7CBF-4095-C4DC-50367FDDD779}"/>
              </a:ext>
            </a:extLst>
          </p:cNvPr>
          <p:cNvSpPr txBox="1"/>
          <p:nvPr/>
        </p:nvSpPr>
        <p:spPr>
          <a:xfrm>
            <a:off x="1412239" y="3741711"/>
            <a:ext cx="1747522" cy="707886"/>
          </a:xfrm>
          <a:prstGeom prst="rect">
            <a:avLst/>
          </a:prstGeom>
          <a:noFill/>
        </p:spPr>
        <p:txBody>
          <a:bodyPr wrap="square">
            <a:spAutoFit/>
          </a:bodyPr>
          <a:lstStyle/>
          <a:p>
            <a:pPr lvl="0" algn="ctr"/>
            <a:r>
              <a:rPr lang="mn-MN" sz="1000">
                <a:solidFill>
                  <a:schemeClr val="tx1"/>
                </a:solidFill>
                <a:latin typeface="Segoe UI Light" panose="020B0502040204020203" pitchFamily="34" charset="0"/>
                <a:cs typeface="Segoe UI Light" panose="020B0502040204020203" pitchFamily="34" charset="0"/>
              </a:rPr>
              <a:t>Харилцагч франчайзтай харилцан тохиролцож боломжийг судлана. </a:t>
            </a:r>
            <a:r>
              <a:rPr lang="en-US" sz="1000">
                <a:solidFill>
                  <a:schemeClr val="tx1"/>
                </a:solidFill>
                <a:latin typeface="Segoe UI Light" panose="020B0502040204020203" pitchFamily="34" charset="0"/>
                <a:cs typeface="Segoe UI Light" panose="020B0502040204020203" pitchFamily="34" charset="0"/>
              </a:rPr>
              <a:t>/</a:t>
            </a:r>
            <a:r>
              <a:rPr lang="mn-MN" sz="1000">
                <a:solidFill>
                  <a:schemeClr val="tx1"/>
                </a:solidFill>
                <a:latin typeface="Segoe UI Light" panose="020B0502040204020203" pitchFamily="34" charset="0"/>
                <a:cs typeface="Segoe UI Light" panose="020B0502040204020203" pitchFamily="34" charset="0"/>
              </a:rPr>
              <a:t>Санал болгоно</a:t>
            </a:r>
            <a:r>
              <a:rPr lang="en-US" sz="1000">
                <a:solidFill>
                  <a:schemeClr val="tx1"/>
                </a:solidFill>
                <a:latin typeface="Segoe UI Light" panose="020B0502040204020203" pitchFamily="34" charset="0"/>
                <a:cs typeface="Segoe UI Light" panose="020B0502040204020203" pitchFamily="34" charset="0"/>
              </a:rPr>
              <a:t>/</a:t>
            </a:r>
            <a:endParaRPr lang="en-US" sz="1000" dirty="0">
              <a:solidFill>
                <a:schemeClr val="tx1"/>
              </a:solidFill>
              <a:latin typeface="Segoe UI Light" panose="020B0502040204020203" pitchFamily="34" charset="0"/>
              <a:cs typeface="Segoe UI Light" panose="020B0502040204020203" pitchFamily="34" charset="0"/>
            </a:endParaRPr>
          </a:p>
        </p:txBody>
      </p:sp>
      <p:sp>
        <p:nvSpPr>
          <p:cNvPr id="68" name="TextBox 67">
            <a:extLst>
              <a:ext uri="{FF2B5EF4-FFF2-40B4-BE49-F238E27FC236}">
                <a16:creationId xmlns:a16="http://schemas.microsoft.com/office/drawing/2014/main" id="{0CBCDE2C-3F0F-80B2-9BF5-3714AC9026F2}"/>
              </a:ext>
            </a:extLst>
          </p:cNvPr>
          <p:cNvSpPr txBox="1"/>
          <p:nvPr/>
        </p:nvSpPr>
        <p:spPr>
          <a:xfrm>
            <a:off x="3469640" y="3815210"/>
            <a:ext cx="1747521" cy="246221"/>
          </a:xfrm>
          <a:prstGeom prst="rect">
            <a:avLst/>
          </a:prstGeom>
          <a:noFill/>
        </p:spPr>
        <p:txBody>
          <a:bodyPr wrap="square">
            <a:spAutoFit/>
          </a:bodyPr>
          <a:lstStyle/>
          <a:p>
            <a:pPr lvl="0" algn="ctr"/>
            <a:r>
              <a:rPr lang="mn-MN" sz="1000">
                <a:latin typeface="Segoe UI Light" panose="020B0502040204020203" pitchFamily="34" charset="0"/>
                <a:cs typeface="Segoe UI Light" panose="020B0502040204020203" pitchFamily="34" charset="0"/>
              </a:rPr>
              <a:t>Зээлийн судалгаа</a:t>
            </a:r>
          </a:p>
        </p:txBody>
      </p:sp>
      <p:sp>
        <p:nvSpPr>
          <p:cNvPr id="70" name="TextBox 69">
            <a:extLst>
              <a:ext uri="{FF2B5EF4-FFF2-40B4-BE49-F238E27FC236}">
                <a16:creationId xmlns:a16="http://schemas.microsoft.com/office/drawing/2014/main" id="{45C39300-EF4C-70A2-CF4F-69B2A6B23641}"/>
              </a:ext>
            </a:extLst>
          </p:cNvPr>
          <p:cNvSpPr txBox="1"/>
          <p:nvPr/>
        </p:nvSpPr>
        <p:spPr>
          <a:xfrm>
            <a:off x="5302936" y="2040294"/>
            <a:ext cx="2195728" cy="553998"/>
          </a:xfrm>
          <a:prstGeom prst="rect">
            <a:avLst/>
          </a:prstGeom>
          <a:noFill/>
        </p:spPr>
        <p:txBody>
          <a:bodyPr wrap="square">
            <a:spAutoFit/>
          </a:bodyPr>
          <a:lstStyle/>
          <a:p>
            <a:pPr lvl="0" algn="ctr"/>
            <a:r>
              <a:rPr lang="mn-MN" sz="1000">
                <a:latin typeface="Segoe UI Light" panose="020B0502040204020203" pitchFamily="34" charset="0"/>
                <a:cs typeface="Segoe UI Light" panose="020B0502040204020203" pitchFamily="34" charset="0"/>
              </a:rPr>
              <a:t>ЗБДС одоо хэвийн үйл ажиллагаа явуулж байгаа нөхцөлтэй ижил байдлаар батлан даалт олгоно.</a:t>
            </a:r>
            <a:endParaRPr lang="en-US" sz="1000" dirty="0">
              <a:solidFill>
                <a:schemeClr val="tx1"/>
              </a:solidFill>
              <a:latin typeface="Segoe UI Light" panose="020B0502040204020203" pitchFamily="34" charset="0"/>
              <a:cs typeface="Segoe UI Light" panose="020B0502040204020203" pitchFamily="34" charset="0"/>
            </a:endParaRPr>
          </a:p>
        </p:txBody>
      </p:sp>
      <p:sp>
        <p:nvSpPr>
          <p:cNvPr id="71" name="TextBox 70">
            <a:extLst>
              <a:ext uri="{FF2B5EF4-FFF2-40B4-BE49-F238E27FC236}">
                <a16:creationId xmlns:a16="http://schemas.microsoft.com/office/drawing/2014/main" id="{9BCAB3A4-BFC5-FF2C-5148-0E73FE36E273}"/>
              </a:ext>
            </a:extLst>
          </p:cNvPr>
          <p:cNvSpPr txBox="1"/>
          <p:nvPr/>
        </p:nvSpPr>
        <p:spPr>
          <a:xfrm>
            <a:off x="2998519" y="4974224"/>
            <a:ext cx="3626568" cy="338554"/>
          </a:xfrm>
          <a:prstGeom prst="rect">
            <a:avLst/>
          </a:prstGeom>
          <a:noFill/>
        </p:spPr>
        <p:txBody>
          <a:bodyPr wrap="square">
            <a:spAutoFit/>
          </a:bodyPr>
          <a:lstStyle/>
          <a:p>
            <a:pPr algn="ctr"/>
            <a:r>
              <a:rPr lang="mn-MN" sz="1600" b="1">
                <a:solidFill>
                  <a:srgbClr val="002060"/>
                </a:solidFill>
                <a:latin typeface="Segoe UI" panose="020B0502040204020203" pitchFamily="34" charset="0"/>
                <a:cs typeface="Segoe UI" panose="020B0502040204020203" pitchFamily="34" charset="0"/>
              </a:rPr>
              <a:t>Зээл олгох, дараах үйл ажиллагаа</a:t>
            </a:r>
            <a:endParaRPr lang="en-US" sz="1600" b="1" dirty="0">
              <a:solidFill>
                <a:srgbClr val="002060"/>
              </a:solidFill>
              <a:latin typeface="Segoe UI" panose="020B0502040204020203" pitchFamily="34" charset="0"/>
              <a:cs typeface="Segoe UI" panose="020B0502040204020203" pitchFamily="34" charset="0"/>
            </a:endParaRPr>
          </a:p>
        </p:txBody>
      </p:sp>
      <p:sp>
        <p:nvSpPr>
          <p:cNvPr id="73" name="TextBox 72">
            <a:extLst>
              <a:ext uri="{FF2B5EF4-FFF2-40B4-BE49-F238E27FC236}">
                <a16:creationId xmlns:a16="http://schemas.microsoft.com/office/drawing/2014/main" id="{AC83E429-35A1-B72F-7EC0-1497891F6BD7}"/>
              </a:ext>
            </a:extLst>
          </p:cNvPr>
          <p:cNvSpPr txBox="1"/>
          <p:nvPr/>
        </p:nvSpPr>
        <p:spPr>
          <a:xfrm>
            <a:off x="8652909" y="5671067"/>
            <a:ext cx="1749794" cy="553998"/>
          </a:xfrm>
          <a:prstGeom prst="rect">
            <a:avLst/>
          </a:prstGeom>
          <a:noFill/>
        </p:spPr>
        <p:txBody>
          <a:bodyPr wrap="square">
            <a:spAutoFit/>
          </a:bodyPr>
          <a:lstStyle/>
          <a:p>
            <a:pPr lvl="0" algn="ctr"/>
            <a:r>
              <a:rPr lang="mn-MN" sz="1000">
                <a:latin typeface="Segoe UI Light" panose="020B0502040204020203" pitchFamily="34" charset="0"/>
                <a:cs typeface="Segoe UI Light" panose="020B0502040204020203" pitchFamily="34" charset="0"/>
              </a:rPr>
              <a:t>Харилцагчтай хамтран шинэ салбар нээх, эрх олгох</a:t>
            </a:r>
            <a:endParaRPr lang="en-US" sz="1000" dirty="0">
              <a:latin typeface="Segoe UI Light" panose="020B0502040204020203" pitchFamily="34" charset="0"/>
              <a:cs typeface="Segoe UI Light" panose="020B0502040204020203" pitchFamily="34" charset="0"/>
            </a:endParaRPr>
          </a:p>
        </p:txBody>
      </p:sp>
      <p:sp>
        <p:nvSpPr>
          <p:cNvPr id="75" name="TextBox 74">
            <a:extLst>
              <a:ext uri="{FF2B5EF4-FFF2-40B4-BE49-F238E27FC236}">
                <a16:creationId xmlns:a16="http://schemas.microsoft.com/office/drawing/2014/main" id="{F2BCD41F-6EE4-3DBE-52F2-7D5B94469A6C}"/>
              </a:ext>
            </a:extLst>
          </p:cNvPr>
          <p:cNvSpPr txBox="1"/>
          <p:nvPr/>
        </p:nvSpPr>
        <p:spPr>
          <a:xfrm>
            <a:off x="10487554" y="5709837"/>
            <a:ext cx="1732505" cy="246221"/>
          </a:xfrm>
          <a:prstGeom prst="rect">
            <a:avLst/>
          </a:prstGeom>
          <a:noFill/>
        </p:spPr>
        <p:txBody>
          <a:bodyPr wrap="square">
            <a:spAutoFit/>
          </a:bodyPr>
          <a:lstStyle/>
          <a:p>
            <a:pPr lvl="0" algn="ctr"/>
            <a:r>
              <a:rPr lang="mn-MN" sz="1000" b="0" kern="1200">
                <a:latin typeface="Segoe UI Light" panose="020B0502040204020203" pitchFamily="34" charset="0"/>
                <a:cs typeface="Segoe UI Light" panose="020B0502040204020203" pitchFamily="34" charset="0"/>
              </a:rPr>
              <a:t>Хяналт</a:t>
            </a:r>
            <a:endParaRPr lang="en-US" sz="1000" kern="1200" dirty="0">
              <a:latin typeface="Segoe UI Light" panose="020B0502040204020203" pitchFamily="34" charset="0"/>
              <a:cs typeface="Segoe UI Light" panose="020B0502040204020203" pitchFamily="34" charset="0"/>
            </a:endParaRPr>
          </a:p>
        </p:txBody>
      </p:sp>
      <p:sp>
        <p:nvSpPr>
          <p:cNvPr id="76" name="TextBox 75">
            <a:extLst>
              <a:ext uri="{FF2B5EF4-FFF2-40B4-BE49-F238E27FC236}">
                <a16:creationId xmlns:a16="http://schemas.microsoft.com/office/drawing/2014/main" id="{70838672-43A5-8069-374F-B4F812F6402A}"/>
              </a:ext>
            </a:extLst>
          </p:cNvPr>
          <p:cNvSpPr txBox="1"/>
          <p:nvPr/>
        </p:nvSpPr>
        <p:spPr>
          <a:xfrm>
            <a:off x="6939805" y="5671067"/>
            <a:ext cx="1524000" cy="246221"/>
          </a:xfrm>
          <a:prstGeom prst="rect">
            <a:avLst/>
          </a:prstGeom>
          <a:noFill/>
        </p:spPr>
        <p:txBody>
          <a:bodyPr wrap="square">
            <a:spAutoFit/>
          </a:bodyPr>
          <a:lstStyle/>
          <a:p>
            <a:pPr lvl="0" algn="ctr"/>
            <a:r>
              <a:rPr lang="mn-MN" sz="1000" b="0">
                <a:latin typeface="Segoe UI Light" panose="020B0502040204020203" pitchFamily="34" charset="0"/>
                <a:cs typeface="Segoe UI Light" panose="020B0502040204020203" pitchFamily="34" charset="0"/>
              </a:rPr>
              <a:t>Зээл олгох</a:t>
            </a:r>
            <a:endParaRPr lang="en-US" sz="1000" dirty="0">
              <a:latin typeface="Segoe UI Light" panose="020B0502040204020203" pitchFamily="34" charset="0"/>
              <a:cs typeface="Segoe UI Light" panose="020B0502040204020203" pitchFamily="34" charset="0"/>
            </a:endParaRPr>
          </a:p>
        </p:txBody>
      </p:sp>
      <p:pic>
        <p:nvPicPr>
          <p:cNvPr id="4" name="Picture 3" descr="A blue and black logo&#10;&#10;AI-generated content may be incorrect.">
            <a:extLst>
              <a:ext uri="{FF2B5EF4-FFF2-40B4-BE49-F238E27FC236}">
                <a16:creationId xmlns:a16="http://schemas.microsoft.com/office/drawing/2014/main" id="{4021BB9D-A0F4-8DB3-A40C-82265B616B0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5" name="Straight Connector 4">
            <a:extLst>
              <a:ext uri="{FF2B5EF4-FFF2-40B4-BE49-F238E27FC236}">
                <a16:creationId xmlns:a16="http://schemas.microsoft.com/office/drawing/2014/main" id="{F0D3F079-09BE-1C3F-E07A-7EDD9C55A517}"/>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8AFA4F82-7B5A-D61D-BA88-268176A37ADC}"/>
              </a:ext>
            </a:extLst>
          </p:cNvPr>
          <p:cNvGrpSpPr/>
          <p:nvPr/>
        </p:nvGrpSpPr>
        <p:grpSpPr>
          <a:xfrm>
            <a:off x="3233651" y="402273"/>
            <a:ext cx="6273338" cy="322941"/>
            <a:chOff x="4033374" y="215436"/>
            <a:chExt cx="4065373" cy="338092"/>
          </a:xfrm>
        </p:grpSpPr>
        <p:sp>
          <p:nvSpPr>
            <p:cNvPr id="8" name="Rounded Rectangle 40">
              <a:extLst>
                <a:ext uri="{FF2B5EF4-FFF2-40B4-BE49-F238E27FC236}">
                  <a16:creationId xmlns:a16="http://schemas.microsoft.com/office/drawing/2014/main" id="{B5817F55-8864-F52F-7680-3FDE051D6861}"/>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9" name="Rectangle 8">
              <a:extLst>
                <a:ext uri="{FF2B5EF4-FFF2-40B4-BE49-F238E27FC236}">
                  <a16:creationId xmlns:a16="http://schemas.microsoft.com/office/drawing/2014/main" id="{2D08F3E7-DD53-3EFF-39FB-4D96D8117E6E}"/>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ЗЭЭЛ ОЛГОЛТЫН ПРОЦЕСС</a:t>
              </a:r>
              <a:endParaRPr lang="en-US" sz="1400" b="1" dirty="0">
                <a:solidFill>
                  <a:schemeClr val="bg1"/>
                </a:solidFill>
                <a:cs typeface="Segoe UI" panose="020B0502040204020203" pitchFamily="34" charset="0"/>
              </a:endParaRPr>
            </a:p>
          </p:txBody>
        </p:sp>
      </p:grpSp>
    </p:spTree>
    <p:extLst>
      <p:ext uri="{BB962C8B-B14F-4D97-AF65-F5344CB8AC3E}">
        <p14:creationId xmlns:p14="http://schemas.microsoft.com/office/powerpoint/2010/main" val="587973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14</a:t>
            </a:fld>
            <a:endParaRPr lang="en-US" sz="1200" dirty="0">
              <a:solidFill>
                <a:schemeClr val="bg1">
                  <a:lumMod val="65000"/>
                </a:schemeClr>
              </a:solidFill>
              <a:cs typeface="Segoe UI Light" panose="020B0502040204020203" pitchFamily="34" charset="0"/>
            </a:endParaRPr>
          </a:p>
        </p:txBody>
      </p:sp>
      <p:grpSp>
        <p:nvGrpSpPr>
          <p:cNvPr id="2" name="Group 1">
            <a:extLst>
              <a:ext uri="{FF2B5EF4-FFF2-40B4-BE49-F238E27FC236}">
                <a16:creationId xmlns:a16="http://schemas.microsoft.com/office/drawing/2014/main" id="{5426873C-D579-B249-1B39-1DB1A010F3CE}"/>
              </a:ext>
            </a:extLst>
          </p:cNvPr>
          <p:cNvGrpSpPr/>
          <p:nvPr/>
        </p:nvGrpSpPr>
        <p:grpSpPr>
          <a:xfrm>
            <a:off x="3233651" y="402273"/>
            <a:ext cx="6273338"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Шийдвэрлүүлэх санал</a:t>
              </a:r>
              <a:endParaRPr lang="en-US" sz="1400" b="1" dirty="0">
                <a:solidFill>
                  <a:schemeClr val="bg1"/>
                </a:solidFill>
                <a:cs typeface="Segoe UI" panose="020B0502040204020203" pitchFamily="34" charset="0"/>
              </a:endParaRPr>
            </a:p>
          </p:txBody>
        </p:sp>
      </p:grpSp>
      <p:sp>
        <p:nvSpPr>
          <p:cNvPr id="10" name="TextBox 9">
            <a:extLst>
              <a:ext uri="{FF2B5EF4-FFF2-40B4-BE49-F238E27FC236}">
                <a16:creationId xmlns:a16="http://schemas.microsoft.com/office/drawing/2014/main" id="{CCAEBCC0-98B0-BA59-DA01-86A4918E4C5D}"/>
              </a:ext>
            </a:extLst>
          </p:cNvPr>
          <p:cNvSpPr txBox="1"/>
          <p:nvPr/>
        </p:nvSpPr>
        <p:spPr>
          <a:xfrm>
            <a:off x="5084121" y="1628346"/>
            <a:ext cx="6727510" cy="461665"/>
          </a:xfrm>
          <a:prstGeom prst="rect">
            <a:avLst/>
          </a:prstGeom>
          <a:noFill/>
        </p:spPr>
        <p:txBody>
          <a:bodyPr wrap="square" rtlCol="0">
            <a:spAutoFit/>
          </a:bodyPr>
          <a:lstStyle/>
          <a:p>
            <a:pPr algn="just"/>
            <a:r>
              <a:rPr lang="mn-MN" sz="1200">
                <a:cs typeface="Segoe UI Light" panose="020B0502040204020203" pitchFamily="34" charset="0"/>
              </a:rPr>
              <a:t>ЗБДС-тай хамтарсан франчайз эзэмшигчдийг дэмжих зээлийн бүтээгдэхүүнийг дараах нөхцөлөөр батлуулах санал</a:t>
            </a:r>
            <a:r>
              <a:rPr lang="en-US" sz="1200">
                <a:cs typeface="Segoe UI Light" panose="020B0502040204020203" pitchFamily="34" charset="0"/>
              </a:rPr>
              <a:t>:</a:t>
            </a:r>
            <a:endParaRPr lang="mn-MN" sz="1200" dirty="0">
              <a:cs typeface="Segoe UI Light" panose="020B0502040204020203" pitchFamily="34" charset="0"/>
            </a:endParaRPr>
          </a:p>
        </p:txBody>
      </p:sp>
      <p:sp>
        <p:nvSpPr>
          <p:cNvPr id="11" name="Rectangle 10">
            <a:extLst>
              <a:ext uri="{FF2B5EF4-FFF2-40B4-BE49-F238E27FC236}">
                <a16:creationId xmlns:a16="http://schemas.microsoft.com/office/drawing/2014/main" id="{B262E8B0-DB8F-05DB-A6BB-C3FF0AB18F1A}"/>
              </a:ext>
            </a:extLst>
          </p:cNvPr>
          <p:cNvSpPr/>
          <p:nvPr/>
        </p:nvSpPr>
        <p:spPr>
          <a:xfrm>
            <a:off x="6825665" y="979361"/>
            <a:ext cx="3244421" cy="369332"/>
          </a:xfrm>
          <a:prstGeom prst="rect">
            <a:avLst/>
          </a:prstGeom>
        </p:spPr>
        <p:txBody>
          <a:bodyPr wrap="square">
            <a:spAutoFit/>
          </a:bodyPr>
          <a:lstStyle/>
          <a:p>
            <a:pPr algn="ctr"/>
            <a:r>
              <a:rPr lang="mn-MN" b="1" dirty="0">
                <a:solidFill>
                  <a:srgbClr val="0080FF"/>
                </a:solidFill>
                <a:cs typeface="Segoe UI Light" panose="020B0502040204020203" pitchFamily="34" charset="0"/>
              </a:rPr>
              <a:t>ШИЙДВЭРЛҮҮЛЭХ САНАЛ</a:t>
            </a:r>
          </a:p>
        </p:txBody>
      </p:sp>
      <p:sp>
        <p:nvSpPr>
          <p:cNvPr id="12" name="Rectangle 11">
            <a:extLst>
              <a:ext uri="{FF2B5EF4-FFF2-40B4-BE49-F238E27FC236}">
                <a16:creationId xmlns:a16="http://schemas.microsoft.com/office/drawing/2014/main" id="{97E6CF6B-A45F-B2FC-3C40-62C0AF8A5B9D}"/>
              </a:ext>
            </a:extLst>
          </p:cNvPr>
          <p:cNvSpPr/>
          <p:nvPr/>
        </p:nvSpPr>
        <p:spPr>
          <a:xfrm>
            <a:off x="204931" y="2090011"/>
            <a:ext cx="4290870" cy="3416320"/>
          </a:xfrm>
          <a:prstGeom prst="rect">
            <a:avLst/>
          </a:prstGeom>
        </p:spPr>
        <p:txBody>
          <a:bodyPr wrap="square">
            <a:spAutoFit/>
          </a:bodyPr>
          <a:lstStyle/>
          <a:p>
            <a:pPr algn="just"/>
            <a:r>
              <a:rPr lang="mn-MN" sz="1200" b="1" dirty="0">
                <a:cs typeface="Segoe UI Light" panose="020B0502040204020203" pitchFamily="34" charset="0"/>
              </a:rPr>
              <a:t>Саналын үндэслэл</a:t>
            </a:r>
            <a:r>
              <a:rPr lang="en-US" sz="1200" b="1" dirty="0">
                <a:cs typeface="Segoe UI Light" panose="020B0502040204020203" pitchFamily="34" charset="0"/>
              </a:rPr>
              <a:t>:</a:t>
            </a:r>
          </a:p>
          <a:p>
            <a:pPr marL="742950" lvl="1" indent="-285750" algn="just">
              <a:buFont typeface="Arial" panose="020B0604020202020204" pitchFamily="34" charset="0"/>
              <a:buChar char="•"/>
            </a:pPr>
            <a:endParaRPr lang="en-US" sz="1200" dirty="0">
              <a:cs typeface="Segoe UI Light" panose="020B0502040204020203" pitchFamily="34" charset="0"/>
            </a:endParaRPr>
          </a:p>
          <a:p>
            <a:pPr marL="742950" lvl="1" indent="-285750" algn="just">
              <a:buFont typeface="Wingdings" panose="05000000000000000000" pitchFamily="2" charset="2"/>
              <a:buChar char="ü"/>
            </a:pPr>
            <a:r>
              <a:rPr lang="mn-MN" sz="1200" dirty="0">
                <a:cs typeface="Segoe UI Light" panose="020B0502040204020203" pitchFamily="34" charset="0"/>
              </a:rPr>
              <a:t>Хөнгөлөлттэй бичил бизнесийн зээлээр дамжуулан зах зээлээ тэлэх, шинэ харилцагчдыг татах, бусад бүтээгдэхүүн үйлчилгээг харилцагчдад борлуулах</a:t>
            </a:r>
          </a:p>
          <a:p>
            <a:pPr marL="742950" lvl="1" indent="-285750" algn="just">
              <a:buFont typeface="Wingdings" panose="05000000000000000000" pitchFamily="2" charset="2"/>
              <a:buChar char="ü"/>
            </a:pPr>
            <a:r>
              <a:rPr lang="mn-MN" sz="1200" dirty="0">
                <a:cs typeface="Segoe UI Light" panose="020B0502040204020203" pitchFamily="34" charset="0"/>
              </a:rPr>
              <a:t>Одоогийн харилцагчдаа хөнгөлөлттэй нөхцөлтэй зээлээр халамжлах, хамтын ажиллагааг тогтвортой урт хугацаанд хадгалах</a:t>
            </a:r>
          </a:p>
          <a:p>
            <a:pPr marL="742950" lvl="1" indent="-285750" algn="just">
              <a:buFont typeface="Wingdings" panose="05000000000000000000" pitchFamily="2" charset="2"/>
              <a:buChar char="ü"/>
            </a:pPr>
            <a:r>
              <a:rPr lang="mn-MN" sz="1200" dirty="0">
                <a:cs typeface="Segoe UI Light" panose="020B0502040204020203" pitchFamily="34" charset="0"/>
              </a:rPr>
              <a:t>Хувьцаа эзэмшигчдийн 51% ба түүнээс дээш хувьд эмэгтэй хувьцаа эзэмшигч байх шаардлага тавьж байгаа тул бизнес эрхлэгч эмэгтэйчүүдийн нийгмийн тэгш байдал, тогтвортой хөгжил, ажлын байр, өрхийн амьжиргааг дэмжих </a:t>
            </a:r>
          </a:p>
          <a:p>
            <a:pPr marL="742950" lvl="1" indent="-285750" algn="just">
              <a:buFont typeface="Wingdings" panose="05000000000000000000" pitchFamily="2" charset="2"/>
              <a:buChar char="ü"/>
            </a:pPr>
            <a:r>
              <a:rPr lang="mn-MN" sz="1200">
                <a:cs typeface="Segoe UI Light" panose="020B0502040204020203" pitchFamily="34" charset="0"/>
              </a:rPr>
              <a:t>Зээлийн </a:t>
            </a:r>
            <a:r>
              <a:rPr lang="mn-MN" sz="1200" dirty="0">
                <a:cs typeface="Segoe UI Light" panose="020B0502040204020203" pitchFamily="34" charset="0"/>
              </a:rPr>
              <a:t>нөхцөлүүд нь ЗБДСангийн ерөнхий гэрээний нөхцөлөөс зөрүүгүй /Ерөнхий гэрээний нөхцөл дотор байгаа/</a:t>
            </a:r>
          </a:p>
        </p:txBody>
      </p:sp>
      <p:cxnSp>
        <p:nvCxnSpPr>
          <p:cNvPr id="13" name="Straight Connector 12">
            <a:extLst>
              <a:ext uri="{FF2B5EF4-FFF2-40B4-BE49-F238E27FC236}">
                <a16:creationId xmlns:a16="http://schemas.microsoft.com/office/drawing/2014/main" id="{9C75F143-F8A9-19BB-7437-9620FE17DBD4}"/>
              </a:ext>
            </a:extLst>
          </p:cNvPr>
          <p:cNvCxnSpPr>
            <a:cxnSpLocks/>
          </p:cNvCxnSpPr>
          <p:nvPr/>
        </p:nvCxnSpPr>
        <p:spPr>
          <a:xfrm>
            <a:off x="4758266" y="1351680"/>
            <a:ext cx="0" cy="4377267"/>
          </a:xfrm>
          <a:prstGeom prst="line">
            <a:avLst/>
          </a:prstGeom>
          <a:ln w="9525" cap="flat" cmpd="sng" algn="ctr">
            <a:solidFill>
              <a:srgbClr val="00206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aphicFrame>
        <p:nvGraphicFramePr>
          <p:cNvPr id="4" name="Table 3">
            <a:extLst>
              <a:ext uri="{FF2B5EF4-FFF2-40B4-BE49-F238E27FC236}">
                <a16:creationId xmlns:a16="http://schemas.microsoft.com/office/drawing/2014/main" id="{3A754F99-8E50-C542-D7F7-D1A9E6072F2B}"/>
              </a:ext>
            </a:extLst>
          </p:cNvPr>
          <p:cNvGraphicFramePr>
            <a:graphicFrameLocks noGrp="1"/>
          </p:cNvGraphicFramePr>
          <p:nvPr>
            <p:extLst>
              <p:ext uri="{D42A27DB-BD31-4B8C-83A1-F6EECF244321}">
                <p14:modId xmlns:p14="http://schemas.microsoft.com/office/powerpoint/2010/main" val="1089055293"/>
              </p:ext>
            </p:extLst>
          </p:nvPr>
        </p:nvGraphicFramePr>
        <p:xfrm>
          <a:off x="5084121" y="2090011"/>
          <a:ext cx="6735972" cy="4060200"/>
        </p:xfrm>
        <a:graphic>
          <a:graphicData uri="http://schemas.openxmlformats.org/drawingml/2006/table">
            <a:tbl>
              <a:tblPr firstRow="1" bandRow="1">
                <a:tableStyleId>{2D5ABB26-0587-4C30-8999-92F81FD0307C}</a:tableStyleId>
              </a:tblPr>
              <a:tblGrid>
                <a:gridCol w="1715398">
                  <a:extLst>
                    <a:ext uri="{9D8B030D-6E8A-4147-A177-3AD203B41FA5}">
                      <a16:colId xmlns:a16="http://schemas.microsoft.com/office/drawing/2014/main" val="1101567087"/>
                    </a:ext>
                  </a:extLst>
                </a:gridCol>
                <a:gridCol w="5020574">
                  <a:extLst>
                    <a:ext uri="{9D8B030D-6E8A-4147-A177-3AD203B41FA5}">
                      <a16:colId xmlns:a16="http://schemas.microsoft.com/office/drawing/2014/main" val="4080555504"/>
                    </a:ext>
                  </a:extLst>
                </a:gridCol>
              </a:tblGrid>
              <a:tr h="264320">
                <a:tc gridSpan="2">
                  <a:txBody>
                    <a:bodyPr/>
                    <a:lstStyle/>
                    <a:p>
                      <a:pPr algn="ctr"/>
                      <a:r>
                        <a:rPr lang="mn-MN" sz="1000" b="1" kern="1200" dirty="0">
                          <a:solidFill>
                            <a:srgbClr val="FFFFFF"/>
                          </a:solidFill>
                          <a:latin typeface="+mn-lt"/>
                          <a:ea typeface="+mn-ea"/>
                          <a:cs typeface="Times New Roman"/>
                        </a:rPr>
                        <a:t>ЗЭЭЛИЙН НӨХЦӨЛ</a:t>
                      </a:r>
                      <a:endParaRPr lang="en-US" sz="1000" b="1" kern="1200" dirty="0">
                        <a:solidFill>
                          <a:srgbClr val="FFFFFF"/>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solidFill>
                      <a:srgbClr val="002060"/>
                    </a:solidFill>
                  </a:tcPr>
                </a:tc>
                <a:tc hMerge="1">
                  <a:txBody>
                    <a:bodyPr/>
                    <a:lstStyle/>
                    <a:p>
                      <a:endParaRPr lang="en-US"/>
                    </a:p>
                  </a:txBody>
                  <a:tcPr>
                    <a:lnL w="12700" cap="flat" cmpd="sng" algn="ctr">
                      <a:solidFill>
                        <a:schemeClr val="bg1">
                          <a:lumMod val="75000"/>
                        </a:schemeClr>
                      </a:solidFill>
                      <a:prstDash val="sysDot"/>
                      <a:round/>
                      <a:headEnd type="none" w="med" len="med"/>
                      <a:tailEnd type="none" w="med" len="med"/>
                    </a:lnL>
                  </a:tcPr>
                </a:tc>
                <a:extLst>
                  <a:ext uri="{0D108BD9-81ED-4DB2-BD59-A6C34878D82A}">
                    <a16:rowId xmlns:a16="http://schemas.microsoft.com/office/drawing/2014/main" val="2594941572"/>
                  </a:ext>
                </a:extLst>
              </a:tr>
              <a:tr h="264320">
                <a:tc>
                  <a:txBody>
                    <a:bodyPr/>
                    <a:lstStyle/>
                    <a:p>
                      <a:pPr marL="70485" marR="0" lvl="0" indent="0" algn="l" defTabSz="914400" rtl="0" eaLnBrk="1" fontAlgn="auto" latinLnBrk="0" hangingPunct="1">
                        <a:lnSpc>
                          <a:spcPct val="100000"/>
                        </a:lnSpc>
                        <a:spcBef>
                          <a:spcPts val="305"/>
                        </a:spcBef>
                        <a:spcAft>
                          <a:spcPts val="0"/>
                        </a:spcAft>
                        <a:buClrTx/>
                        <a:buSzTx/>
                        <a:buFontTx/>
                        <a:buNone/>
                        <a:tabLst/>
                        <a:defRPr/>
                      </a:pPr>
                      <a:r>
                        <a:rPr lang="mn-MN" sz="1000" b="1" kern="1200" spc="-10" dirty="0">
                          <a:solidFill>
                            <a:schemeClr val="tx1"/>
                          </a:solidFill>
                          <a:latin typeface="+mn-lt"/>
                          <a:ea typeface="+mn-ea"/>
                          <a:cs typeface="Times New Roman"/>
                        </a:rPr>
                        <a:t>Зээлийн хэмжээ</a:t>
                      </a:r>
                      <a:endParaRPr lang="en-US" sz="1000" b="1" kern="1200" spc="-10" dirty="0">
                        <a:solidFill>
                          <a:schemeClr val="tx1"/>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algn="l"/>
                      <a:r>
                        <a:rPr lang="mn-MN" sz="1000" kern="1200" noProof="0" dirty="0">
                          <a:solidFill>
                            <a:schemeClr val="tx1"/>
                          </a:solidFill>
                          <a:latin typeface="+mn-lt"/>
                          <a:ea typeface="+mn-ea"/>
                          <a:cs typeface="Times New Roman"/>
                        </a:rPr>
                        <a:t>550 сая.₮ хүртэл</a:t>
                      </a:r>
                      <a:endParaRPr lang="en-US" sz="1000" kern="1200" dirty="0">
                        <a:solidFill>
                          <a:schemeClr val="tx1"/>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2770823433"/>
                  </a:ext>
                </a:extLst>
              </a:tr>
              <a:tr h="264320">
                <a:tc>
                  <a:txBody>
                    <a:bodyPr/>
                    <a:lstStyle/>
                    <a:p>
                      <a:pPr marL="70485" marR="0" lvl="0" indent="0" algn="l" defTabSz="914400" rtl="0" eaLnBrk="1" fontAlgn="auto" latinLnBrk="0" hangingPunct="1">
                        <a:lnSpc>
                          <a:spcPct val="100000"/>
                        </a:lnSpc>
                        <a:spcBef>
                          <a:spcPts val="305"/>
                        </a:spcBef>
                        <a:spcAft>
                          <a:spcPts val="0"/>
                        </a:spcAft>
                        <a:buClrTx/>
                        <a:buSzTx/>
                        <a:buFontTx/>
                        <a:buNone/>
                        <a:tabLst/>
                        <a:defRPr/>
                      </a:pPr>
                      <a:r>
                        <a:rPr lang="mn-MN" sz="1000" b="1" kern="1200" spc="-10" dirty="0">
                          <a:solidFill>
                            <a:schemeClr val="tx1"/>
                          </a:solidFill>
                          <a:latin typeface="+mn-lt"/>
                          <a:ea typeface="+mn-ea"/>
                          <a:cs typeface="Times New Roman"/>
                        </a:rPr>
                        <a:t>Батлан даалтын хувь</a:t>
                      </a:r>
                      <a:endParaRPr lang="en-US" sz="1000" b="1" kern="1200" spc="-10" dirty="0">
                        <a:solidFill>
                          <a:schemeClr val="tx1"/>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algn="l"/>
                      <a:r>
                        <a:rPr lang="mn-MN" sz="1000" kern="1200" dirty="0">
                          <a:solidFill>
                            <a:schemeClr val="tx1"/>
                          </a:solidFill>
                          <a:latin typeface="+mn-lt"/>
                          <a:ea typeface="+mn-ea"/>
                          <a:cs typeface="Times New Roman"/>
                        </a:rPr>
                        <a:t>30%-60% хүртэл</a:t>
                      </a:r>
                      <a:endParaRPr lang="en-US" sz="1000" kern="1200" dirty="0">
                        <a:solidFill>
                          <a:schemeClr val="tx1"/>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2797811142"/>
                  </a:ext>
                </a:extLst>
              </a:tr>
              <a:tr h="264320">
                <a:tc>
                  <a:txBody>
                    <a:bodyPr/>
                    <a:lstStyle/>
                    <a:p>
                      <a:pPr marL="70485" algn="l" defTabSz="914400" rtl="0" eaLnBrk="1" latinLnBrk="0" hangingPunct="1">
                        <a:lnSpc>
                          <a:spcPct val="100000"/>
                        </a:lnSpc>
                        <a:spcBef>
                          <a:spcPts val="305"/>
                        </a:spcBef>
                      </a:pPr>
                      <a:r>
                        <a:rPr lang="mn-MN" sz="1000" b="1" kern="1200" spc="-10" dirty="0">
                          <a:solidFill>
                            <a:schemeClr val="tx1"/>
                          </a:solidFill>
                          <a:latin typeface="+mn-lt"/>
                          <a:ea typeface="+mn-ea"/>
                          <a:cs typeface="Times New Roman"/>
                        </a:rPr>
                        <a:t>Зээлийн хүү</a:t>
                      </a:r>
                      <a:endParaRPr lang="en-US" sz="1000" b="1" kern="1200" spc="-10" dirty="0">
                        <a:solidFill>
                          <a:schemeClr val="tx1"/>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marL="0" algn="l" defTabSz="914400" rtl="0" eaLnBrk="1" latinLnBrk="0" hangingPunct="1"/>
                      <a:r>
                        <a:rPr lang="mn-MN" sz="1000" kern="1200">
                          <a:solidFill>
                            <a:schemeClr val="tx1"/>
                          </a:solidFill>
                          <a:latin typeface="+mn-lt"/>
                          <a:ea typeface="+mn-ea"/>
                          <a:cs typeface="Times New Roman"/>
                        </a:rPr>
                        <a:t>12-15.38%</a:t>
                      </a:r>
                      <a:endParaRPr lang="en-US" sz="1000" kern="1200" dirty="0">
                        <a:solidFill>
                          <a:schemeClr val="tx1"/>
                        </a:solidFill>
                        <a:latin typeface="+mn-lt"/>
                        <a:ea typeface="+mn-ea"/>
                        <a:cs typeface="Times New Roman"/>
                      </a:endParaRPr>
                    </a:p>
                  </a:txBody>
                  <a:tcPr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638066145"/>
                  </a:ext>
                </a:extLst>
              </a:tr>
              <a:tr h="264320">
                <a:tc>
                  <a:txBody>
                    <a:bodyPr/>
                    <a:lstStyle/>
                    <a:p>
                      <a:pPr marL="70485" algn="l" defTabSz="914400" rtl="0" eaLnBrk="1" latinLnBrk="0" hangingPunct="1">
                        <a:lnSpc>
                          <a:spcPct val="100000"/>
                        </a:lnSpc>
                        <a:spcBef>
                          <a:spcPts val="305"/>
                        </a:spcBef>
                      </a:pPr>
                      <a:r>
                        <a:rPr lang="mn-MN" sz="1000" b="1" kern="1200" spc="-10" dirty="0">
                          <a:solidFill>
                            <a:schemeClr val="tx1"/>
                          </a:solidFill>
                          <a:latin typeface="+mn-lt"/>
                          <a:ea typeface="+mn-ea"/>
                          <a:cs typeface="Times New Roman"/>
                        </a:rPr>
                        <a:t>Зээлийн хугацаа</a:t>
                      </a:r>
                      <a:endParaRPr lang="en-US" sz="1000" b="1" kern="1200" spc="-10" dirty="0">
                        <a:solidFill>
                          <a:schemeClr val="tx1"/>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algn="l"/>
                      <a:r>
                        <a:rPr lang="mn-MN" sz="1000" kern="1200" dirty="0">
                          <a:solidFill>
                            <a:schemeClr val="tx1"/>
                          </a:solidFill>
                          <a:latin typeface="+mn-lt"/>
                          <a:ea typeface="+mn-ea"/>
                          <a:cs typeface="Times New Roman"/>
                        </a:rPr>
                        <a:t>60 сар хүртэл</a:t>
                      </a:r>
                      <a:endParaRPr lang="en-US" sz="1000" kern="1200" dirty="0">
                        <a:solidFill>
                          <a:schemeClr val="tx1"/>
                        </a:solidFill>
                        <a:latin typeface="+mn-lt"/>
                        <a:ea typeface="+mn-ea"/>
                        <a:cs typeface="Times New Roman"/>
                      </a:endParaRPr>
                    </a:p>
                  </a:txBody>
                  <a:tcP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169921915"/>
                  </a:ext>
                </a:extLst>
              </a:tr>
              <a:tr h="264320">
                <a:tc>
                  <a:txBody>
                    <a:bodyPr/>
                    <a:lstStyle/>
                    <a:p>
                      <a:pPr marL="70485" marR="0" algn="l" defTabSz="914400" rtl="0" eaLnBrk="1" latinLnBrk="0" hangingPunct="1">
                        <a:lnSpc>
                          <a:spcPct val="100000"/>
                        </a:lnSpc>
                        <a:spcBef>
                          <a:spcPts val="305"/>
                        </a:spcBef>
                        <a:spcAft>
                          <a:spcPts val="0"/>
                        </a:spcAft>
                      </a:pPr>
                      <a:r>
                        <a:rPr lang="mn-MN" sz="1000" b="1" kern="1200" spc="-10" dirty="0">
                          <a:solidFill>
                            <a:schemeClr val="tx1"/>
                          </a:solidFill>
                          <a:latin typeface="+mn-lt"/>
                          <a:ea typeface="+mn-ea"/>
                          <a:cs typeface="Times New Roman"/>
                        </a:rPr>
                        <a:t>Эргэн төлөлт</a:t>
                      </a:r>
                      <a:endParaRPr lang="en-US" sz="1000" b="1" kern="1200" spc="-1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marL="0" marR="0">
                        <a:lnSpc>
                          <a:spcPct val="107000"/>
                        </a:lnSpc>
                        <a:spcBef>
                          <a:spcPts val="0"/>
                        </a:spcBef>
                        <a:spcAft>
                          <a:spcPts val="0"/>
                        </a:spcAft>
                      </a:pPr>
                      <a:r>
                        <a:rPr lang="mn-MN" sz="1000" kern="1200" dirty="0">
                          <a:solidFill>
                            <a:schemeClr val="tx1"/>
                          </a:solidFill>
                          <a:latin typeface="+mn-lt"/>
                          <a:ea typeface="+mn-ea"/>
                          <a:cs typeface="Times New Roman"/>
                        </a:rPr>
                        <a:t>Эхний 3 хүртэл сар үндсэн зээлийн төлбөрөөс чөлөөлөх</a:t>
                      </a:r>
                      <a:endParaRPr lang="en-US" sz="1000" kern="120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3921777938"/>
                  </a:ext>
                </a:extLst>
              </a:tr>
              <a:tr h="264320">
                <a:tc>
                  <a:txBody>
                    <a:bodyPr/>
                    <a:lstStyle/>
                    <a:p>
                      <a:pPr marL="70485" marR="0" algn="l" defTabSz="914400" rtl="0" eaLnBrk="1" latinLnBrk="0" hangingPunct="1">
                        <a:lnSpc>
                          <a:spcPct val="100000"/>
                        </a:lnSpc>
                        <a:spcBef>
                          <a:spcPts val="305"/>
                        </a:spcBef>
                        <a:spcAft>
                          <a:spcPts val="0"/>
                        </a:spcAft>
                      </a:pPr>
                      <a:r>
                        <a:rPr lang="mn-MN" sz="1000" b="1" kern="1200" spc="-10">
                          <a:solidFill>
                            <a:schemeClr val="tx1"/>
                          </a:solidFill>
                          <a:latin typeface="+mn-lt"/>
                          <a:ea typeface="+mn-ea"/>
                          <a:cs typeface="Times New Roman"/>
                        </a:rPr>
                        <a:t>Батлан даалтын шимтгэл</a:t>
                      </a:r>
                      <a:endParaRPr lang="en-US" sz="1000" b="1" kern="1200" spc="-1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marL="0" marR="0">
                        <a:lnSpc>
                          <a:spcPct val="107000"/>
                        </a:lnSpc>
                        <a:spcBef>
                          <a:spcPts val="0"/>
                        </a:spcBef>
                        <a:spcAft>
                          <a:spcPts val="0"/>
                        </a:spcAft>
                      </a:pPr>
                      <a:r>
                        <a:rPr lang="mn-MN" sz="1000" kern="1200" dirty="0">
                          <a:solidFill>
                            <a:schemeClr val="tx1"/>
                          </a:solidFill>
                          <a:latin typeface="+mn-lt"/>
                          <a:ea typeface="+mn-ea"/>
                          <a:cs typeface="Times New Roman"/>
                        </a:rPr>
                        <a:t>1% /жил бүрийн батлан даалтын үлдэгдэл дүнгээс 1 хувь/</a:t>
                      </a:r>
                      <a:endParaRPr lang="en-US" sz="1000" kern="120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2459935067"/>
                  </a:ext>
                </a:extLst>
              </a:tr>
              <a:tr h="264320">
                <a:tc>
                  <a:txBody>
                    <a:bodyPr/>
                    <a:lstStyle/>
                    <a:p>
                      <a:pPr marL="70485" marR="0" algn="l" defTabSz="914400" rtl="0" eaLnBrk="1" latinLnBrk="0" hangingPunct="1">
                        <a:lnSpc>
                          <a:spcPct val="100000"/>
                        </a:lnSpc>
                        <a:spcBef>
                          <a:spcPts val="305"/>
                        </a:spcBef>
                        <a:spcAft>
                          <a:spcPts val="0"/>
                        </a:spcAft>
                      </a:pPr>
                      <a:r>
                        <a:rPr lang="mn-MN" sz="1000" b="1" kern="1200" spc="-10" dirty="0">
                          <a:solidFill>
                            <a:schemeClr val="tx1"/>
                          </a:solidFill>
                          <a:latin typeface="+mn-lt"/>
                          <a:ea typeface="+mn-ea"/>
                          <a:cs typeface="Times New Roman"/>
                        </a:rPr>
                        <a:t>Батлан даалтын хураамж</a:t>
                      </a:r>
                      <a:endParaRPr lang="en-US" sz="1000" b="1" kern="1200" spc="-1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marL="0" marR="0">
                        <a:lnSpc>
                          <a:spcPct val="107000"/>
                        </a:lnSpc>
                        <a:spcBef>
                          <a:spcPts val="0"/>
                        </a:spcBef>
                        <a:spcAft>
                          <a:spcPts val="0"/>
                        </a:spcAft>
                      </a:pPr>
                      <a:r>
                        <a:rPr lang="mn-MN" sz="1000" kern="1200" dirty="0">
                          <a:solidFill>
                            <a:schemeClr val="tx1"/>
                          </a:solidFill>
                          <a:latin typeface="+mn-lt"/>
                          <a:ea typeface="+mn-ea"/>
                          <a:cs typeface="Times New Roman"/>
                        </a:rPr>
                        <a:t>50,000 төгрөг</a:t>
                      </a:r>
                      <a:endParaRPr lang="en-US" sz="1000" kern="120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1948968892"/>
                  </a:ext>
                </a:extLst>
              </a:tr>
              <a:tr h="264320">
                <a:tc>
                  <a:txBody>
                    <a:bodyPr/>
                    <a:lstStyle/>
                    <a:p>
                      <a:pPr marL="70485" marR="0" algn="l" defTabSz="914400" rtl="0" eaLnBrk="1" latinLnBrk="0" hangingPunct="1">
                        <a:lnSpc>
                          <a:spcPct val="100000"/>
                        </a:lnSpc>
                        <a:spcBef>
                          <a:spcPts val="305"/>
                        </a:spcBef>
                        <a:spcAft>
                          <a:spcPts val="0"/>
                        </a:spcAft>
                      </a:pPr>
                      <a:r>
                        <a:rPr lang="mn-MN" sz="1000" b="1" kern="1200" spc="-10" dirty="0">
                          <a:solidFill>
                            <a:schemeClr val="tx1"/>
                          </a:solidFill>
                          <a:latin typeface="+mn-lt"/>
                          <a:ea typeface="+mn-ea"/>
                          <a:cs typeface="Times New Roman"/>
                        </a:rPr>
                        <a:t>Барьцаа хөрөнгө</a:t>
                      </a:r>
                      <a:endParaRPr lang="en-US" sz="1000" b="1" kern="1200" spc="-1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marL="0" marR="0">
                        <a:lnSpc>
                          <a:spcPct val="107000"/>
                        </a:lnSpc>
                        <a:spcBef>
                          <a:spcPts val="0"/>
                        </a:spcBef>
                        <a:spcAft>
                          <a:spcPts val="0"/>
                        </a:spcAft>
                      </a:pPr>
                      <a:r>
                        <a:rPr lang="mn-MN" sz="1000" kern="1200" dirty="0">
                          <a:solidFill>
                            <a:schemeClr val="tx1"/>
                          </a:solidFill>
                          <a:latin typeface="+mn-lt"/>
                          <a:ea typeface="+mn-ea"/>
                          <a:cs typeface="Times New Roman"/>
                        </a:rPr>
                        <a:t>Франчайз эзэмшигч нь шаардлагатай барьцаа хөрөнгийн 40%-ийг зөвхөн үл хөдлөх хөрөнгөөр бүрдүүлнэ.</a:t>
                      </a:r>
                      <a:endParaRPr lang="en-US" sz="1000" kern="120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2309207211"/>
                  </a:ext>
                </a:extLst>
              </a:tr>
              <a:tr h="264320">
                <a:tc>
                  <a:txBody>
                    <a:bodyPr/>
                    <a:lstStyle/>
                    <a:p>
                      <a:pPr marL="70485" marR="0" algn="l" defTabSz="914400" rtl="0" eaLnBrk="1" latinLnBrk="0" hangingPunct="1">
                        <a:lnSpc>
                          <a:spcPct val="100000"/>
                        </a:lnSpc>
                        <a:spcBef>
                          <a:spcPts val="305"/>
                        </a:spcBef>
                        <a:spcAft>
                          <a:spcPts val="0"/>
                        </a:spcAft>
                      </a:pPr>
                      <a:r>
                        <a:rPr lang="mn-MN" sz="1000" b="1" kern="1200" spc="-10" dirty="0">
                          <a:solidFill>
                            <a:schemeClr val="tx1"/>
                          </a:solidFill>
                          <a:latin typeface="+mn-lt"/>
                          <a:ea typeface="+mn-ea"/>
                          <a:cs typeface="Times New Roman"/>
                        </a:rPr>
                        <a:t>Зээлдэгчид тавигдах ерөнхий шаардлага</a:t>
                      </a:r>
                      <a:endParaRPr lang="en-US" sz="1000" b="1" kern="1200" spc="-1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tc>
                  <a:txBody>
                    <a:bodyPr/>
                    <a:lstStyle/>
                    <a:p>
                      <a:pPr marL="342900" marR="0" lvl="0" indent="-342900">
                        <a:lnSpc>
                          <a:spcPct val="107000"/>
                        </a:lnSpc>
                        <a:spcBef>
                          <a:spcPts val="0"/>
                        </a:spcBef>
                        <a:spcAft>
                          <a:spcPts val="0"/>
                        </a:spcAft>
                        <a:buFont typeface="+mj-lt"/>
                        <a:buAutoNum type="arabicPeriod"/>
                      </a:pPr>
                      <a:r>
                        <a:rPr lang="mn-MN" sz="1000" kern="1200" dirty="0">
                          <a:solidFill>
                            <a:schemeClr val="tx1"/>
                          </a:solidFill>
                          <a:latin typeface="+mn-lt"/>
                          <a:ea typeface="+mn-ea"/>
                          <a:cs typeface="Times New Roman"/>
                        </a:rPr>
                        <a:t>Зээлдэгч нь барьцаа хөрөнгийн дутагдалтай жижиг дунд үйлдвэрлэл үйлчилгээ эрхлэгч байх;</a:t>
                      </a:r>
                      <a:endParaRPr lang="en-US" sz="1000" kern="1200" dirty="0">
                        <a:solidFill>
                          <a:schemeClr val="tx1"/>
                        </a:solidFill>
                        <a:latin typeface="+mn-lt"/>
                        <a:ea typeface="+mn-ea"/>
                        <a:cs typeface="Times New Roman"/>
                      </a:endParaRPr>
                    </a:p>
                    <a:p>
                      <a:pPr marL="342900" marR="0" lvl="0" indent="-342900" fontAlgn="base">
                        <a:lnSpc>
                          <a:spcPct val="107000"/>
                        </a:lnSpc>
                        <a:spcBef>
                          <a:spcPts val="0"/>
                        </a:spcBef>
                        <a:spcAft>
                          <a:spcPts val="0"/>
                        </a:spcAft>
                        <a:buFont typeface="+mj-lt"/>
                        <a:buAutoNum type="arabicPeriod"/>
                      </a:pPr>
                      <a:r>
                        <a:rPr lang="mn-MN" sz="1000" kern="1200" dirty="0">
                          <a:solidFill>
                            <a:schemeClr val="tx1"/>
                          </a:solidFill>
                          <a:latin typeface="+mn-lt"/>
                          <a:ea typeface="+mn-ea"/>
                          <a:cs typeface="Times New Roman"/>
                        </a:rPr>
                        <a:t>Нэгээс дээш жил үйл ажиллагаа явуулсан, санхүүгийн орлоготой байх​</a:t>
                      </a:r>
                      <a:endParaRPr lang="en-US" sz="1000" kern="1200" dirty="0">
                        <a:solidFill>
                          <a:schemeClr val="tx1"/>
                        </a:solidFill>
                        <a:latin typeface="+mn-lt"/>
                        <a:ea typeface="+mn-ea"/>
                        <a:cs typeface="Times New Roman"/>
                      </a:endParaRPr>
                    </a:p>
                    <a:p>
                      <a:pPr marL="342900" marR="0" lvl="0" indent="-342900">
                        <a:lnSpc>
                          <a:spcPct val="107000"/>
                        </a:lnSpc>
                        <a:spcBef>
                          <a:spcPts val="0"/>
                        </a:spcBef>
                        <a:spcAft>
                          <a:spcPts val="0"/>
                        </a:spcAft>
                        <a:buFont typeface="+mj-lt"/>
                        <a:buAutoNum type="arabicPeriod"/>
                      </a:pPr>
                      <a:r>
                        <a:rPr lang="mn-MN" sz="1000" b="1" kern="1200" dirty="0">
                          <a:solidFill>
                            <a:schemeClr val="tx1"/>
                          </a:solidFill>
                          <a:latin typeface="+mn-lt"/>
                          <a:ea typeface="+mn-ea"/>
                          <a:cs typeface="Times New Roman"/>
                        </a:rPr>
                        <a:t>Зээлдэгч нь хуулийн этгээдийн эмэгтэй хувьцаа эзэмшигч 51 хувь ба түүнээс дээш хувьтай байна. </a:t>
                      </a:r>
                      <a:endParaRPr lang="en-US" sz="1000" b="1" kern="1200" dirty="0">
                        <a:solidFill>
                          <a:schemeClr val="tx1"/>
                        </a:solidFill>
                        <a:latin typeface="+mn-lt"/>
                        <a:ea typeface="+mn-ea"/>
                        <a:cs typeface="Times New Roman"/>
                      </a:endParaRPr>
                    </a:p>
                    <a:p>
                      <a:pPr marL="342900" marR="0" lvl="0" indent="-342900" fontAlgn="base">
                        <a:lnSpc>
                          <a:spcPct val="107000"/>
                        </a:lnSpc>
                        <a:spcBef>
                          <a:spcPts val="0"/>
                        </a:spcBef>
                        <a:spcAft>
                          <a:spcPts val="0"/>
                        </a:spcAft>
                        <a:buFont typeface="+mj-lt"/>
                        <a:buAutoNum type="arabicPeriod"/>
                      </a:pPr>
                      <a:r>
                        <a:rPr lang="mn-MN" sz="1000" kern="1200">
                          <a:solidFill>
                            <a:schemeClr val="tx1"/>
                          </a:solidFill>
                          <a:latin typeface="+mn-lt"/>
                          <a:ea typeface="+mn-ea"/>
                          <a:cs typeface="Times New Roman"/>
                        </a:rPr>
                        <a:t>Сүүлийн 6 сард хугацаа хэтэрсэн чанаргүй зээлийн үлдэгдэл үүсээгүй байх​</a:t>
                      </a:r>
                      <a:endParaRPr lang="en-US" sz="1000" kern="1200">
                        <a:solidFill>
                          <a:schemeClr val="tx1"/>
                        </a:solidFill>
                        <a:latin typeface="+mn-lt"/>
                        <a:ea typeface="+mn-ea"/>
                        <a:cs typeface="Times New Roman"/>
                      </a:endParaRPr>
                    </a:p>
                    <a:p>
                      <a:pPr marL="342900" marR="0" lvl="0" indent="-342900">
                        <a:lnSpc>
                          <a:spcPct val="107000"/>
                        </a:lnSpc>
                        <a:spcBef>
                          <a:spcPts val="0"/>
                        </a:spcBef>
                        <a:spcAft>
                          <a:spcPts val="0"/>
                        </a:spcAft>
                        <a:buFont typeface="+mj-lt"/>
                        <a:buAutoNum type="arabicPeriod"/>
                      </a:pPr>
                      <a:r>
                        <a:rPr lang="mn-MN" sz="1000" kern="1200">
                          <a:solidFill>
                            <a:schemeClr val="tx1"/>
                          </a:solidFill>
                          <a:latin typeface="+mn-lt"/>
                          <a:ea typeface="+mn-ea"/>
                          <a:cs typeface="Times New Roman"/>
                        </a:rPr>
                        <a:t>Бусад </a:t>
                      </a:r>
                      <a:r>
                        <a:rPr lang="mn-MN" sz="1000" kern="1200" dirty="0">
                          <a:solidFill>
                            <a:schemeClr val="tx1"/>
                          </a:solidFill>
                          <a:latin typeface="+mn-lt"/>
                          <a:ea typeface="+mn-ea"/>
                          <a:cs typeface="Times New Roman"/>
                        </a:rPr>
                        <a:t>зээлийн барьцаанд байгаа үл хөдлөх болон хөдлөх хөрөнгийг барьцаанд тооцохгүй;</a:t>
                      </a:r>
                      <a:endParaRPr lang="en-US" sz="1000" kern="1200" dirty="0">
                        <a:solidFill>
                          <a:schemeClr val="tx1"/>
                        </a:solidFill>
                        <a:latin typeface="+mn-lt"/>
                        <a:ea typeface="+mn-ea"/>
                        <a:cs typeface="Times New Roman"/>
                      </a:endParaRPr>
                    </a:p>
                    <a:p>
                      <a:pPr marL="342900" marR="0" lvl="0" indent="-342900">
                        <a:lnSpc>
                          <a:spcPct val="107000"/>
                        </a:lnSpc>
                        <a:spcBef>
                          <a:spcPts val="0"/>
                        </a:spcBef>
                        <a:spcAft>
                          <a:spcPts val="0"/>
                        </a:spcAft>
                        <a:buFont typeface="+mj-lt"/>
                        <a:buAutoNum type="arabicPeriod"/>
                      </a:pPr>
                      <a:r>
                        <a:rPr lang="mn-MN" sz="1000" kern="1200" dirty="0">
                          <a:solidFill>
                            <a:schemeClr val="tx1"/>
                          </a:solidFill>
                          <a:latin typeface="+mn-lt"/>
                          <a:ea typeface="+mn-ea"/>
                          <a:cs typeface="Times New Roman"/>
                        </a:rPr>
                        <a:t>Банкны зээлийн үйл ажиллагаанд баримталдаг бусад журамд заасан шаардлагуудыг хангасан байх.</a:t>
                      </a:r>
                      <a:endParaRPr lang="en-US" sz="1000" kern="1200" dirty="0">
                        <a:solidFill>
                          <a:schemeClr val="tx1"/>
                        </a:solidFill>
                        <a:latin typeface="+mn-lt"/>
                        <a:ea typeface="+mn-ea"/>
                        <a:cs typeface="Times New Roman"/>
                      </a:endParaRPr>
                    </a:p>
                  </a:txBody>
                  <a:tcPr marL="68580" marR="68580" marT="0" marB="0" anchor="ctr">
                    <a:lnL w="12700" cap="flat" cmpd="sng" algn="ctr">
                      <a:solidFill>
                        <a:schemeClr val="bg1">
                          <a:lumMod val="75000"/>
                        </a:schemeClr>
                      </a:solidFill>
                      <a:prstDash val="sysDot"/>
                      <a:round/>
                      <a:headEnd type="none" w="med" len="med"/>
                      <a:tailEnd type="none" w="med" len="med"/>
                    </a:lnL>
                    <a:lnR w="12700" cap="flat" cmpd="sng" algn="ctr">
                      <a:solidFill>
                        <a:schemeClr val="bg1">
                          <a:lumMod val="75000"/>
                        </a:schemeClr>
                      </a:solidFill>
                      <a:prstDash val="sysDot"/>
                      <a:round/>
                      <a:headEnd type="none" w="med" len="med"/>
                      <a:tailEnd type="none" w="med" len="med"/>
                    </a:lnR>
                    <a:lnT w="12700" cap="flat" cmpd="sng" algn="ctr">
                      <a:solidFill>
                        <a:schemeClr val="bg1">
                          <a:lumMod val="75000"/>
                        </a:schemeClr>
                      </a:solidFill>
                      <a:prstDash val="sysDot"/>
                      <a:round/>
                      <a:headEnd type="none" w="med" len="med"/>
                      <a:tailEnd type="none" w="med" len="med"/>
                    </a:lnT>
                    <a:lnB w="12700" cap="flat" cmpd="sng" algn="ctr">
                      <a:solidFill>
                        <a:schemeClr val="bg1">
                          <a:lumMod val="75000"/>
                        </a:schemeClr>
                      </a:solidFill>
                      <a:prstDash val="sysDot"/>
                      <a:round/>
                      <a:headEnd type="none" w="med" len="med"/>
                      <a:tailEnd type="none" w="med" len="med"/>
                    </a:lnB>
                  </a:tcPr>
                </a:tc>
                <a:extLst>
                  <a:ext uri="{0D108BD9-81ED-4DB2-BD59-A6C34878D82A}">
                    <a16:rowId xmlns:a16="http://schemas.microsoft.com/office/drawing/2014/main" val="426333956"/>
                  </a:ext>
                </a:extLst>
              </a:tr>
            </a:tbl>
          </a:graphicData>
        </a:graphic>
      </p:graphicFrame>
    </p:spTree>
    <p:extLst>
      <p:ext uri="{BB962C8B-B14F-4D97-AF65-F5344CB8AC3E}">
        <p14:creationId xmlns:p14="http://schemas.microsoft.com/office/powerpoint/2010/main" val="508322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011C9CC5-2F93-FD89-DCD9-88BBA679EE5A}"/>
              </a:ext>
            </a:extLst>
          </p:cNvPr>
          <p:cNvGrpSpPr/>
          <p:nvPr/>
        </p:nvGrpSpPr>
        <p:grpSpPr>
          <a:xfrm>
            <a:off x="3903126" y="386359"/>
            <a:ext cx="4385748" cy="322352"/>
            <a:chOff x="4033374" y="215436"/>
            <a:chExt cx="4065373" cy="338092"/>
          </a:xfrm>
        </p:grpSpPr>
        <p:sp>
          <p:nvSpPr>
            <p:cNvPr id="24" name="Rounded Rectangle 40">
              <a:extLst>
                <a:ext uri="{FF2B5EF4-FFF2-40B4-BE49-F238E27FC236}">
                  <a16:creationId xmlns:a16="http://schemas.microsoft.com/office/drawing/2014/main" id="{CAA87672-A3B9-F7F2-83A4-4B73A6ACB85E}"/>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25" name="Rectangle 24">
              <a:extLst>
                <a:ext uri="{FF2B5EF4-FFF2-40B4-BE49-F238E27FC236}">
                  <a16:creationId xmlns:a16="http://schemas.microsoft.com/office/drawing/2014/main" id="{E7076B1A-7615-B58F-B4E2-0427198337D4}"/>
                </a:ext>
              </a:extLst>
            </p:cNvPr>
            <p:cNvSpPr/>
            <p:nvPr/>
          </p:nvSpPr>
          <p:spPr>
            <a:xfrm>
              <a:off x="4244477" y="219631"/>
              <a:ext cx="3643166" cy="322804"/>
            </a:xfrm>
            <a:prstGeom prst="rect">
              <a:avLst/>
            </a:prstGeom>
          </p:spPr>
          <p:txBody>
            <a:bodyPr wrap="square" anchor="ctr">
              <a:spAutoFit/>
            </a:bodyPr>
            <a:lstStyle/>
            <a:p>
              <a:pPr algn="ctr"/>
              <a:r>
                <a:rPr lang="mn-MN" sz="1400" b="1">
                  <a:solidFill>
                    <a:schemeClr val="bg1"/>
                  </a:solidFill>
                  <a:cs typeface="Segoe UI" panose="020B0502040204020203" pitchFamily="34" charset="0"/>
                </a:rPr>
                <a:t>Газар нэгжийн санал</a:t>
              </a:r>
              <a:endParaRPr lang="en-US" sz="1400" b="1" dirty="0">
                <a:solidFill>
                  <a:schemeClr val="bg1"/>
                </a:solidFill>
                <a:cs typeface="Segoe UI" panose="020B0502040204020203" pitchFamily="34" charset="0"/>
              </a:endParaRPr>
            </a:p>
          </p:txBody>
        </p:sp>
      </p:grpSp>
      <p:sp>
        <p:nvSpPr>
          <p:cNvPr id="19" name="Slide Number Placeholder 1">
            <a:extLst>
              <a:ext uri="{FF2B5EF4-FFF2-40B4-BE49-F238E27FC236}">
                <a16:creationId xmlns:a16="http://schemas.microsoft.com/office/drawing/2014/main" id="{445B1799-308C-47FA-AF0F-D354F5E602B0}"/>
              </a:ext>
            </a:extLst>
          </p:cNvPr>
          <p:cNvSpPr txBox="1">
            <a:spLocks/>
          </p:cNvSpPr>
          <p:nvPr/>
        </p:nvSpPr>
        <p:spPr>
          <a:xfrm>
            <a:off x="11828237" y="64542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15</a:t>
            </a:fld>
            <a:endParaRPr lang="en-US" sz="1200" dirty="0">
              <a:solidFill>
                <a:schemeClr val="bg1">
                  <a:lumMod val="65000"/>
                </a:schemeClr>
              </a:solidFill>
              <a:cs typeface="Segoe UI Light" panose="020B0502040204020203" pitchFamily="34" charset="0"/>
            </a:endParaRPr>
          </a:p>
        </p:txBody>
      </p:sp>
      <p:graphicFrame>
        <p:nvGraphicFramePr>
          <p:cNvPr id="2" name="Table 1">
            <a:extLst>
              <a:ext uri="{FF2B5EF4-FFF2-40B4-BE49-F238E27FC236}">
                <a16:creationId xmlns:a16="http://schemas.microsoft.com/office/drawing/2014/main" id="{C29F4C5E-11A7-1527-1F0D-C9D8488D0B94}"/>
              </a:ext>
            </a:extLst>
          </p:cNvPr>
          <p:cNvGraphicFramePr>
            <a:graphicFrameLocks noGrp="1"/>
          </p:cNvGraphicFramePr>
          <p:nvPr>
            <p:extLst>
              <p:ext uri="{D42A27DB-BD31-4B8C-83A1-F6EECF244321}">
                <p14:modId xmlns:p14="http://schemas.microsoft.com/office/powerpoint/2010/main" val="110112599"/>
              </p:ext>
            </p:extLst>
          </p:nvPr>
        </p:nvGraphicFramePr>
        <p:xfrm>
          <a:off x="781879" y="2006093"/>
          <a:ext cx="10883418" cy="3558587"/>
        </p:xfrm>
        <a:graphic>
          <a:graphicData uri="http://schemas.openxmlformats.org/drawingml/2006/table">
            <a:tbl>
              <a:tblPr firstRow="1" bandRow="1">
                <a:tableStyleId>{00A15C55-8517-42AA-B614-E9B94910E393}</a:tableStyleId>
              </a:tblPr>
              <a:tblGrid>
                <a:gridCol w="391941">
                  <a:extLst>
                    <a:ext uri="{9D8B030D-6E8A-4147-A177-3AD203B41FA5}">
                      <a16:colId xmlns:a16="http://schemas.microsoft.com/office/drawing/2014/main" val="4210881952"/>
                    </a:ext>
                  </a:extLst>
                </a:gridCol>
                <a:gridCol w="1371791">
                  <a:extLst>
                    <a:ext uri="{9D8B030D-6E8A-4147-A177-3AD203B41FA5}">
                      <a16:colId xmlns:a16="http://schemas.microsoft.com/office/drawing/2014/main" val="3258742972"/>
                    </a:ext>
                  </a:extLst>
                </a:gridCol>
                <a:gridCol w="9119686">
                  <a:extLst>
                    <a:ext uri="{9D8B030D-6E8A-4147-A177-3AD203B41FA5}">
                      <a16:colId xmlns:a16="http://schemas.microsoft.com/office/drawing/2014/main" val="3687958397"/>
                    </a:ext>
                  </a:extLst>
                </a:gridCol>
              </a:tblGrid>
              <a:tr h="495077">
                <a:tc>
                  <a:txBody>
                    <a:bodyPr/>
                    <a:lstStyle/>
                    <a:p>
                      <a:pPr algn="ctr"/>
                      <a:r>
                        <a:rPr lang="mn-MN" sz="1200" b="1" dirty="0">
                          <a:latin typeface="Segoe UI" panose="020B0502040204020203" pitchFamily="34" charset="0"/>
                          <a:cs typeface="Segoe UI" panose="020B0502040204020203" pitchFamily="34" charset="0"/>
                        </a:rPr>
                        <a:t>№</a:t>
                      </a:r>
                      <a:endParaRPr lang="en-US" sz="1200" b="1" dirty="0">
                        <a:latin typeface="Segoe UI" panose="020B0502040204020203" pitchFamily="34" charset="0"/>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FF"/>
                    </a:solidFill>
                  </a:tcPr>
                </a:tc>
                <a:tc>
                  <a:txBody>
                    <a:bodyPr/>
                    <a:lstStyle/>
                    <a:p>
                      <a:pPr algn="ctr"/>
                      <a:r>
                        <a:rPr lang="mn-MN" sz="1200" b="1" dirty="0">
                          <a:latin typeface="Segoe UI" panose="020B0502040204020203" pitchFamily="34" charset="0"/>
                          <a:cs typeface="Segoe UI" panose="020B0502040204020203" pitchFamily="34" charset="0"/>
                        </a:rPr>
                        <a:t>ГАЗАР, ХЭЛТЭС</a:t>
                      </a:r>
                      <a:endParaRPr lang="en-US" sz="1200" b="1" dirty="0">
                        <a:latin typeface="Segoe UI" panose="020B0502040204020203" pitchFamily="34" charset="0"/>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FF"/>
                    </a:solidFill>
                  </a:tcPr>
                </a:tc>
                <a:tc>
                  <a:txBody>
                    <a:bodyPr/>
                    <a:lstStyle/>
                    <a:p>
                      <a:pPr algn="ctr"/>
                      <a:r>
                        <a:rPr lang="mn-MN" sz="1200" dirty="0">
                          <a:latin typeface="Segoe UI" panose="020B0502040204020203" pitchFamily="34" charset="0"/>
                          <a:cs typeface="Segoe UI" panose="020B0502040204020203" pitchFamily="34" charset="0"/>
                        </a:rPr>
                        <a:t>ХОЛБОГДОХ НЭГЖҮҮДИЙН САНАЛ </a:t>
                      </a:r>
                      <a:endParaRPr lang="en-US" sz="1200" dirty="0">
                        <a:latin typeface="Segoe UI" panose="020B0502040204020203" pitchFamily="34" charset="0"/>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80FF"/>
                    </a:solidFill>
                  </a:tcPr>
                </a:tc>
                <a:extLst>
                  <a:ext uri="{0D108BD9-81ED-4DB2-BD59-A6C34878D82A}">
                    <a16:rowId xmlns:a16="http://schemas.microsoft.com/office/drawing/2014/main" val="2823412392"/>
                  </a:ext>
                </a:extLst>
              </a:tr>
              <a:tr h="510585">
                <a:tc>
                  <a:txBody>
                    <a:bodyPr/>
                    <a:lstStyle/>
                    <a:p>
                      <a:pPr algn="ctr"/>
                      <a:r>
                        <a:rPr lang="en-US" sz="1200" dirty="0">
                          <a:latin typeface="Segoe UI "/>
                          <a:cs typeface="Segoe UI" panose="020B0502040204020203" pitchFamily="34" charset="0"/>
                        </a:rPr>
                        <a:t>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mn-MN" sz="1200">
                          <a:latin typeface="Segoe UI "/>
                          <a:cs typeface="Segoe UI" panose="020B0502040204020203" pitchFamily="34" charset="0"/>
                        </a:rPr>
                        <a:t>ББГ</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i="1"/>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6166409"/>
                  </a:ext>
                </a:extLst>
              </a:tr>
              <a:tr h="510585">
                <a:tc>
                  <a:txBody>
                    <a:bodyPr/>
                    <a:lstStyle/>
                    <a:p>
                      <a:pPr algn="ctr"/>
                      <a:r>
                        <a:rPr lang="en-US" sz="1200" dirty="0">
                          <a:latin typeface="Segoe UI "/>
                          <a:cs typeface="Segoe UI" panose="020B0502040204020203" pitchFamily="34" charset="0"/>
                        </a:rPr>
                        <a:t>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mn-MN" sz="1200">
                          <a:latin typeface="Segoe UI "/>
                          <a:cs typeface="Segoe UI" panose="020B0502040204020203" pitchFamily="34" charset="0"/>
                        </a:rPr>
                        <a:t>ЖДББГ</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Arial" panose="020B0604020202020204" pitchFamily="34" charset="0"/>
                        <a:buChar char="•"/>
                      </a:pP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4226500"/>
                  </a:ext>
                </a:extLst>
              </a:tr>
              <a:tr h="510585">
                <a:tc>
                  <a:txBody>
                    <a:bodyPr/>
                    <a:lstStyle/>
                    <a:p>
                      <a:pPr algn="ctr"/>
                      <a:r>
                        <a:rPr lang="en-US" sz="1200" dirty="0">
                          <a:latin typeface="Segoe UI "/>
                          <a:cs typeface="Segoe UI" panose="020B0502040204020203" pitchFamily="34" charset="0"/>
                        </a:rPr>
                        <a:t>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mn-MN" sz="1200">
                          <a:latin typeface="Segoe UI "/>
                          <a:cs typeface="Segoe UI" panose="020B0502040204020203" pitchFamily="34" charset="0"/>
                        </a:rPr>
                        <a:t>ХЗГ</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2943659"/>
                  </a:ext>
                </a:extLst>
              </a:tr>
              <a:tr h="510585">
                <a:tc>
                  <a:txBody>
                    <a:bodyPr/>
                    <a:lstStyle/>
                    <a:p>
                      <a:pPr algn="ctr"/>
                      <a:r>
                        <a:rPr lang="en-US" sz="1200" dirty="0">
                          <a:latin typeface="Segoe UI "/>
                          <a:cs typeface="Segoe UI" panose="020B0502040204020203" pitchFamily="34" charset="0"/>
                        </a:rPr>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mn-MN" sz="1200">
                          <a:latin typeface="Segoe UI "/>
                          <a:cs typeface="Segoe UI" panose="020B0502040204020203" pitchFamily="34" charset="0"/>
                        </a:rPr>
                        <a:t>ЗЭГ</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dk1"/>
                        </a:solidFill>
                        <a:effectLst/>
                        <a:latin typeface="Segoe UI "/>
                        <a:ea typeface="+mn-ea"/>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7541033"/>
                  </a:ext>
                </a:extLst>
              </a:tr>
              <a:tr h="510585">
                <a:tc>
                  <a:txBody>
                    <a:bodyPr/>
                    <a:lstStyle/>
                    <a:p>
                      <a:pPr algn="ctr"/>
                      <a:r>
                        <a:rPr lang="mn-MN" sz="1200">
                          <a:latin typeface="Segoe UI "/>
                          <a:cs typeface="Segoe UI" panose="020B0502040204020203" pitchFamily="34" charset="0"/>
                        </a:rPr>
                        <a:t>5</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mn-MN" sz="1200">
                          <a:latin typeface="Segoe UI "/>
                          <a:cs typeface="Segoe UI" panose="020B0502040204020203" pitchFamily="34" charset="0"/>
                        </a:rPr>
                        <a:t>ЭУБЗГ</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dk1"/>
                        </a:solidFill>
                        <a:effectLst/>
                        <a:latin typeface="Segoe UI "/>
                        <a:ea typeface="+mn-ea"/>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2096410"/>
                  </a:ext>
                </a:extLst>
              </a:tr>
              <a:tr h="510585">
                <a:tc>
                  <a:txBody>
                    <a:bodyPr/>
                    <a:lstStyle/>
                    <a:p>
                      <a:pPr algn="ctr"/>
                      <a:r>
                        <a:rPr lang="mn-MN" sz="1200">
                          <a:latin typeface="Segoe UI "/>
                          <a:cs typeface="Segoe UI" panose="020B0502040204020203" pitchFamily="34" charset="0"/>
                        </a:rPr>
                        <a:t>6</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mn-MN" sz="1200">
                          <a:latin typeface="Segoe UI "/>
                          <a:cs typeface="Segoe UI" panose="020B0502040204020203" pitchFamily="34" charset="0"/>
                        </a:rPr>
                        <a:t>СУХГ</a:t>
                      </a:r>
                      <a:endParaRPr lang="en-US" sz="1200" dirty="0">
                        <a:latin typeface="Segoe UI "/>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dirty="0">
                        <a:solidFill>
                          <a:schemeClr val="dk1"/>
                        </a:solidFill>
                        <a:effectLst/>
                        <a:latin typeface="Segoe UI "/>
                        <a:ea typeface="+mn-ea"/>
                        <a:cs typeface="Segoe UI" panose="020B0502040204020203"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683071"/>
                  </a:ext>
                </a:extLst>
              </a:tr>
            </a:tbl>
          </a:graphicData>
        </a:graphic>
      </p:graphicFrame>
    </p:spTree>
    <p:extLst>
      <p:ext uri="{BB962C8B-B14F-4D97-AF65-F5344CB8AC3E}">
        <p14:creationId xmlns:p14="http://schemas.microsoft.com/office/powerpoint/2010/main" val="3913299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75293" y="5285401"/>
            <a:ext cx="11067288" cy="461665"/>
          </a:xfrm>
          <a:prstGeom prst="rect">
            <a:avLst/>
          </a:prstGeom>
          <a:noFill/>
        </p:spPr>
        <p:txBody>
          <a:bodyPr wrap="square" rtlCol="0">
            <a:spAutoFit/>
          </a:bodyPr>
          <a:lstStyle/>
          <a:p>
            <a:pPr algn="r"/>
            <a:r>
              <a:rPr lang="mn-MN" sz="2400" b="1">
                <a:solidFill>
                  <a:schemeClr val="accent1">
                    <a:lumMod val="75000"/>
                  </a:schemeClr>
                </a:solidFill>
                <a:latin typeface="Segoe UI" panose="020B0502040204020203" pitchFamily="34" charset="0"/>
                <a:cs typeface="Segoe UI" panose="020B0502040204020203" pitchFamily="34" charset="0"/>
              </a:rPr>
              <a:t>АНХААРАЛ ХАНДУУЛСАНД БАЯРЛАЛАА</a:t>
            </a:r>
            <a:endParaRPr lang="en-US" sz="2400" b="1" dirty="0">
              <a:solidFill>
                <a:schemeClr val="accent1">
                  <a:lumMod val="75000"/>
                </a:schemeClr>
              </a:solidFill>
              <a:latin typeface="Segoe UI" panose="020B0502040204020203" pitchFamily="34" charset="0"/>
              <a:cs typeface="Segoe UI" panose="020B0502040204020203" pitchFamily="34" charset="0"/>
            </a:endParaRPr>
          </a:p>
        </p:txBody>
      </p:sp>
      <p:sp>
        <p:nvSpPr>
          <p:cNvPr id="2" name="Slide Number Placeholder 1">
            <a:extLst>
              <a:ext uri="{FF2B5EF4-FFF2-40B4-BE49-F238E27FC236}">
                <a16:creationId xmlns:a16="http://schemas.microsoft.com/office/drawing/2014/main" id="{9F08B5CE-0120-DE15-8A20-0DC7D4BCBE0E}"/>
              </a:ext>
            </a:extLst>
          </p:cNvPr>
          <p:cNvSpPr txBox="1">
            <a:spLocks/>
          </p:cNvSpPr>
          <p:nvPr/>
        </p:nvSpPr>
        <p:spPr>
          <a:xfrm>
            <a:off x="11828237" y="6454298"/>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latin typeface="Segoe UI Light" panose="020B0502040204020203" pitchFamily="34" charset="0"/>
                <a:cs typeface="Segoe UI Light" panose="020B0502040204020203" pitchFamily="34" charset="0"/>
              </a:rPr>
              <a:pPr/>
              <a:t>16</a:t>
            </a:fld>
            <a:endParaRPr lang="en-US" sz="1200" dirty="0">
              <a:solidFill>
                <a:schemeClr val="bg1">
                  <a:lumMod val="65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9550480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426873C-D579-B249-1B39-1DB1A010F3CE}"/>
              </a:ext>
            </a:extLst>
          </p:cNvPr>
          <p:cNvGrpSpPr/>
          <p:nvPr/>
        </p:nvGrpSpPr>
        <p:grpSpPr>
          <a:xfrm>
            <a:off x="1983977" y="402273"/>
            <a:ext cx="8772686"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ХАВСРАЛТ</a:t>
              </a:r>
            </a:p>
          </p:txBody>
        </p:sp>
      </p:grpSp>
      <p:sp>
        <p:nvSpPr>
          <p:cNvPr id="30" name="Slide Number Placeholder 1">
            <a:extLst>
              <a:ext uri="{FF2B5EF4-FFF2-40B4-BE49-F238E27FC236}">
                <a16:creationId xmlns:a16="http://schemas.microsoft.com/office/drawing/2014/main" id="{115B47EC-3EB2-E41E-861B-248B787B88A4}"/>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17</a:t>
            </a:fld>
            <a:endParaRPr lang="en-US" sz="1200" dirty="0">
              <a:solidFill>
                <a:schemeClr val="bg1">
                  <a:lumMod val="65000"/>
                </a:schemeClr>
              </a:solidFill>
              <a:cs typeface="Segoe UI Light" panose="020B0502040204020203" pitchFamily="34" charset="0"/>
            </a:endParaRPr>
          </a:p>
        </p:txBody>
      </p:sp>
      <p:graphicFrame>
        <p:nvGraphicFramePr>
          <p:cNvPr id="5" name="Table 4">
            <a:extLst>
              <a:ext uri="{FF2B5EF4-FFF2-40B4-BE49-F238E27FC236}">
                <a16:creationId xmlns:a16="http://schemas.microsoft.com/office/drawing/2014/main" id="{DF8EC343-74F5-CD8F-E05B-A6F4DE9F4E70}"/>
              </a:ext>
            </a:extLst>
          </p:cNvPr>
          <p:cNvGraphicFramePr>
            <a:graphicFrameLocks noGrp="1"/>
          </p:cNvGraphicFramePr>
          <p:nvPr>
            <p:extLst>
              <p:ext uri="{D42A27DB-BD31-4B8C-83A1-F6EECF244321}">
                <p14:modId xmlns:p14="http://schemas.microsoft.com/office/powerpoint/2010/main" val="2726603375"/>
              </p:ext>
            </p:extLst>
          </p:nvPr>
        </p:nvGraphicFramePr>
        <p:xfrm>
          <a:off x="2728238" y="1428531"/>
          <a:ext cx="3131542" cy="247763"/>
        </p:xfrm>
        <a:graphic>
          <a:graphicData uri="http://schemas.openxmlformats.org/drawingml/2006/table">
            <a:tbl>
              <a:tblPr firstRow="1" firstCol="1" bandRow="1">
                <a:tableStyleId>{2D5ABB26-0587-4C30-8999-92F81FD0307C}</a:tableStyleId>
              </a:tblPr>
              <a:tblGrid>
                <a:gridCol w="1111697">
                  <a:extLst>
                    <a:ext uri="{9D8B030D-6E8A-4147-A177-3AD203B41FA5}">
                      <a16:colId xmlns:a16="http://schemas.microsoft.com/office/drawing/2014/main" val="3392279071"/>
                    </a:ext>
                  </a:extLst>
                </a:gridCol>
                <a:gridCol w="1111697">
                  <a:extLst>
                    <a:ext uri="{9D8B030D-6E8A-4147-A177-3AD203B41FA5}">
                      <a16:colId xmlns:a16="http://schemas.microsoft.com/office/drawing/2014/main" val="2188357168"/>
                    </a:ext>
                  </a:extLst>
                </a:gridCol>
                <a:gridCol w="908148">
                  <a:extLst>
                    <a:ext uri="{9D8B030D-6E8A-4147-A177-3AD203B41FA5}">
                      <a16:colId xmlns:a16="http://schemas.microsoft.com/office/drawing/2014/main" val="3042595635"/>
                    </a:ext>
                  </a:extLst>
                </a:gridCol>
              </a:tblGrid>
              <a:tr h="247763">
                <a:tc>
                  <a:txBody>
                    <a:bodyPr/>
                    <a:lstStyle/>
                    <a:p>
                      <a:pPr algn="ctr" rtl="0" fontAlgn="ctr"/>
                      <a:r>
                        <a:rPr lang="mn-MN" sz="1000" b="1" i="0" u="none" strike="noStrike">
                          <a:solidFill>
                            <a:srgbClr val="000000"/>
                          </a:solidFill>
                          <a:effectLst/>
                          <a:latin typeface="+mn-lt"/>
                        </a:rPr>
                        <a:t>АХО</a:t>
                      </a:r>
                      <a:endParaRPr lang="en-US" sz="1000" b="1" i="0" u="none" strike="noStrike">
                        <a:solidFill>
                          <a:srgbClr val="000000"/>
                        </a:solidFill>
                        <a:effectLst/>
                        <a:latin typeface="+mn-lt"/>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a:r>
                        <a:rPr lang="en-US" sz="1000" b="1">
                          <a:latin typeface="+mn-lt"/>
                          <a:cs typeface="Segoe UI" panose="020B0502040204020203" pitchFamily="34" charset="0"/>
                        </a:rPr>
                        <a:t>$1</a:t>
                      </a:r>
                      <a:r>
                        <a:rPr lang="mn-MN" sz="1000" b="1">
                          <a:latin typeface="+mn-lt"/>
                          <a:cs typeface="Segoe UI" panose="020B0502040204020203" pitchFamily="34" charset="0"/>
                        </a:rPr>
                        <a:t>38</a:t>
                      </a:r>
                      <a:r>
                        <a:rPr lang="en-US" sz="1000" b="1">
                          <a:latin typeface="+mn-lt"/>
                          <a:cs typeface="Segoe UI" panose="020B0502040204020203" pitchFamily="34" charset="0"/>
                        </a:rPr>
                        <a:t>,</a:t>
                      </a:r>
                      <a:r>
                        <a:rPr lang="mn-MN" sz="1000" b="1">
                          <a:latin typeface="+mn-lt"/>
                          <a:cs typeface="Segoe UI" panose="020B0502040204020203" pitchFamily="34" charset="0"/>
                        </a:rPr>
                        <a:t>971</a:t>
                      </a:r>
                      <a:r>
                        <a:rPr lang="en-US" sz="1000" b="1">
                          <a:latin typeface="+mn-lt"/>
                          <a:cs typeface="Segoe UI" panose="020B0502040204020203" pitchFamily="34" charset="0"/>
                        </a:rPr>
                        <a:t>.0</a:t>
                      </a:r>
                      <a:endParaRPr lang="en-US" sz="1000" b="1" dirty="0">
                        <a:latin typeface="+mn-lt"/>
                        <a:cs typeface="Segoe UI" panose="020B0502040204020203" pitchFamily="34" charset="0"/>
                      </a:endParaRPr>
                    </a:p>
                  </a:txBody>
                  <a:tcPr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a:r>
                        <a:rPr lang="en-US" sz="1000" b="1">
                          <a:latin typeface="+mn-lt"/>
                          <a:cs typeface="Segoe UI" panose="020B0502040204020203" pitchFamily="34" charset="0"/>
                        </a:rPr>
                        <a:t>499,600,745</a:t>
                      </a:r>
                      <a:endParaRPr lang="en-US" sz="1000" b="1" dirty="0">
                        <a:latin typeface="+mn-lt"/>
                        <a:cs typeface="Segoe UI" panose="020B0502040204020203" pitchFamily="34" charset="0"/>
                      </a:endParaRPr>
                    </a:p>
                  </a:txBody>
                  <a:tcPr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2472053"/>
                  </a:ext>
                </a:extLst>
              </a:tr>
            </a:tbl>
          </a:graphicData>
        </a:graphic>
      </p:graphicFrame>
      <p:sp>
        <p:nvSpPr>
          <p:cNvPr id="6" name="TextBox 5">
            <a:extLst>
              <a:ext uri="{FF2B5EF4-FFF2-40B4-BE49-F238E27FC236}">
                <a16:creationId xmlns:a16="http://schemas.microsoft.com/office/drawing/2014/main" id="{9DAE341D-5337-50C3-A32D-92629050028F}"/>
              </a:ext>
            </a:extLst>
          </p:cNvPr>
          <p:cNvSpPr txBox="1"/>
          <p:nvPr/>
        </p:nvSpPr>
        <p:spPr>
          <a:xfrm>
            <a:off x="4887663" y="1202093"/>
            <a:ext cx="816256" cy="230832"/>
          </a:xfrm>
          <a:prstGeom prst="rect">
            <a:avLst/>
          </a:prstGeom>
          <a:noFill/>
        </p:spPr>
        <p:txBody>
          <a:bodyPr wrap="square" rtlCol="0">
            <a:spAutoFit/>
          </a:bodyPr>
          <a:lstStyle/>
          <a:p>
            <a:pPr algn="ctr"/>
            <a:r>
              <a:rPr lang="en-US" sz="900" b="1" i="1">
                <a:cs typeface="Segoe UI" panose="020B0502040204020203" pitchFamily="34" charset="0"/>
              </a:rPr>
              <a:t>MNT</a:t>
            </a:r>
          </a:p>
        </p:txBody>
      </p:sp>
      <p:sp>
        <p:nvSpPr>
          <p:cNvPr id="8" name="TextBox 7">
            <a:extLst>
              <a:ext uri="{FF2B5EF4-FFF2-40B4-BE49-F238E27FC236}">
                <a16:creationId xmlns:a16="http://schemas.microsoft.com/office/drawing/2014/main" id="{E42E43CA-25B1-F9F8-D78B-BD68B062C75A}"/>
              </a:ext>
            </a:extLst>
          </p:cNvPr>
          <p:cNvSpPr txBox="1"/>
          <p:nvPr/>
        </p:nvSpPr>
        <p:spPr>
          <a:xfrm>
            <a:off x="4085594" y="1202093"/>
            <a:ext cx="578658" cy="230832"/>
          </a:xfrm>
          <a:prstGeom prst="rect">
            <a:avLst/>
          </a:prstGeom>
          <a:noFill/>
        </p:spPr>
        <p:txBody>
          <a:bodyPr wrap="square" rtlCol="0">
            <a:spAutoFit/>
          </a:bodyPr>
          <a:lstStyle/>
          <a:p>
            <a:pPr algn="ctr"/>
            <a:r>
              <a:rPr lang="en-US" sz="900" b="1" i="1">
                <a:cs typeface="Segoe UI" panose="020B0502040204020203" pitchFamily="34" charset="0"/>
              </a:rPr>
              <a:t>USD</a:t>
            </a:r>
          </a:p>
        </p:txBody>
      </p:sp>
      <p:sp>
        <p:nvSpPr>
          <p:cNvPr id="9" name="TextBox 8">
            <a:extLst>
              <a:ext uri="{FF2B5EF4-FFF2-40B4-BE49-F238E27FC236}">
                <a16:creationId xmlns:a16="http://schemas.microsoft.com/office/drawing/2014/main" id="{1779921B-1619-59BE-7129-871F32E3A339}"/>
              </a:ext>
            </a:extLst>
          </p:cNvPr>
          <p:cNvSpPr txBox="1"/>
          <p:nvPr/>
        </p:nvSpPr>
        <p:spPr>
          <a:xfrm>
            <a:off x="7371110" y="6521021"/>
            <a:ext cx="3911069" cy="246221"/>
          </a:xfrm>
          <a:prstGeom prst="rect">
            <a:avLst/>
          </a:prstGeom>
          <a:noFill/>
        </p:spPr>
        <p:txBody>
          <a:bodyPr wrap="square" rtlCol="0">
            <a:spAutoFit/>
          </a:bodyPr>
          <a:lstStyle/>
          <a:p>
            <a:pPr algn="r"/>
            <a:r>
              <a:rPr lang="mn-MN" sz="1000" i="1">
                <a:cs typeface="Segoe UI" panose="020B0502040204020203" pitchFamily="34" charset="0"/>
              </a:rPr>
              <a:t>Эх сурвалж</a:t>
            </a:r>
            <a:r>
              <a:rPr lang="en-US" sz="1000" i="1">
                <a:cs typeface="Segoe UI" panose="020B0502040204020203" pitchFamily="34" charset="0"/>
              </a:rPr>
              <a:t>: </a:t>
            </a:r>
            <a:r>
              <a:rPr lang="mn-MN" sz="1000" i="1">
                <a:cs typeface="Segoe UI" panose="020B0502040204020203" pitchFamily="34" charset="0"/>
              </a:rPr>
              <a:t>Франчайз эрхлэгч холбогдох байгууллага</a:t>
            </a:r>
            <a:endParaRPr lang="en-US" sz="1000" i="1" dirty="0">
              <a:cs typeface="Segoe UI" panose="020B0502040204020203" pitchFamily="34" charset="0"/>
            </a:endParaRPr>
          </a:p>
        </p:txBody>
      </p:sp>
      <p:graphicFrame>
        <p:nvGraphicFramePr>
          <p:cNvPr id="12" name="Table 11">
            <a:extLst>
              <a:ext uri="{FF2B5EF4-FFF2-40B4-BE49-F238E27FC236}">
                <a16:creationId xmlns:a16="http://schemas.microsoft.com/office/drawing/2014/main" id="{1F04628A-CD4B-DB30-F3C0-610BF8C26B0C}"/>
              </a:ext>
            </a:extLst>
          </p:cNvPr>
          <p:cNvGraphicFramePr>
            <a:graphicFrameLocks noGrp="1"/>
          </p:cNvGraphicFramePr>
          <p:nvPr>
            <p:extLst>
              <p:ext uri="{D42A27DB-BD31-4B8C-83A1-F6EECF244321}">
                <p14:modId xmlns:p14="http://schemas.microsoft.com/office/powerpoint/2010/main" val="3804361348"/>
              </p:ext>
            </p:extLst>
          </p:nvPr>
        </p:nvGraphicFramePr>
        <p:xfrm>
          <a:off x="617672" y="1788060"/>
          <a:ext cx="10664507" cy="4703377"/>
        </p:xfrm>
        <a:graphic>
          <a:graphicData uri="http://schemas.openxmlformats.org/drawingml/2006/table">
            <a:tbl>
              <a:tblPr>
                <a:tableStyleId>{5C22544A-7EE6-4342-B048-85BDC9FD1C3A}</a:tableStyleId>
              </a:tblPr>
              <a:tblGrid>
                <a:gridCol w="1807285">
                  <a:extLst>
                    <a:ext uri="{9D8B030D-6E8A-4147-A177-3AD203B41FA5}">
                      <a16:colId xmlns:a16="http://schemas.microsoft.com/office/drawing/2014/main" val="159147938"/>
                    </a:ext>
                  </a:extLst>
                </a:gridCol>
                <a:gridCol w="1350498">
                  <a:extLst>
                    <a:ext uri="{9D8B030D-6E8A-4147-A177-3AD203B41FA5}">
                      <a16:colId xmlns:a16="http://schemas.microsoft.com/office/drawing/2014/main" val="1423765141"/>
                    </a:ext>
                  </a:extLst>
                </a:gridCol>
                <a:gridCol w="1463040">
                  <a:extLst>
                    <a:ext uri="{9D8B030D-6E8A-4147-A177-3AD203B41FA5}">
                      <a16:colId xmlns:a16="http://schemas.microsoft.com/office/drawing/2014/main" val="1374492432"/>
                    </a:ext>
                  </a:extLst>
                </a:gridCol>
                <a:gridCol w="883782">
                  <a:extLst>
                    <a:ext uri="{9D8B030D-6E8A-4147-A177-3AD203B41FA5}">
                      <a16:colId xmlns:a16="http://schemas.microsoft.com/office/drawing/2014/main" val="330146086"/>
                    </a:ext>
                  </a:extLst>
                </a:gridCol>
                <a:gridCol w="734830">
                  <a:extLst>
                    <a:ext uri="{9D8B030D-6E8A-4147-A177-3AD203B41FA5}">
                      <a16:colId xmlns:a16="http://schemas.microsoft.com/office/drawing/2014/main" val="2738132035"/>
                    </a:ext>
                  </a:extLst>
                </a:gridCol>
                <a:gridCol w="734830">
                  <a:extLst>
                    <a:ext uri="{9D8B030D-6E8A-4147-A177-3AD203B41FA5}">
                      <a16:colId xmlns:a16="http://schemas.microsoft.com/office/drawing/2014/main" val="1312567126"/>
                    </a:ext>
                  </a:extLst>
                </a:gridCol>
                <a:gridCol w="824202">
                  <a:extLst>
                    <a:ext uri="{9D8B030D-6E8A-4147-A177-3AD203B41FA5}">
                      <a16:colId xmlns:a16="http://schemas.microsoft.com/office/drawing/2014/main" val="1673003368"/>
                    </a:ext>
                  </a:extLst>
                </a:gridCol>
                <a:gridCol w="824202">
                  <a:extLst>
                    <a:ext uri="{9D8B030D-6E8A-4147-A177-3AD203B41FA5}">
                      <a16:colId xmlns:a16="http://schemas.microsoft.com/office/drawing/2014/main" val="1868208696"/>
                    </a:ext>
                  </a:extLst>
                </a:gridCol>
                <a:gridCol w="761678">
                  <a:extLst>
                    <a:ext uri="{9D8B030D-6E8A-4147-A177-3AD203B41FA5}">
                      <a16:colId xmlns:a16="http://schemas.microsoft.com/office/drawing/2014/main" val="1721294323"/>
                    </a:ext>
                  </a:extLst>
                </a:gridCol>
                <a:gridCol w="1280160">
                  <a:extLst>
                    <a:ext uri="{9D8B030D-6E8A-4147-A177-3AD203B41FA5}">
                      <a16:colId xmlns:a16="http://schemas.microsoft.com/office/drawing/2014/main" val="3674266048"/>
                    </a:ext>
                  </a:extLst>
                </a:gridCol>
              </a:tblGrid>
              <a:tr h="158170">
                <a:tc>
                  <a:txBody>
                    <a:bodyPr/>
                    <a:lstStyle/>
                    <a:p>
                      <a:pPr algn="ctr" fontAlgn="ctr"/>
                      <a:r>
                        <a:rPr lang="mn-MN" sz="1050" b="1" u="none" strike="noStrike">
                          <a:solidFill>
                            <a:schemeClr val="bg1"/>
                          </a:solidFill>
                          <a:effectLst/>
                        </a:rPr>
                        <a:t> Өдрийн орлого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Он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Татварын өмнөх ашиг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Борлуулалт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Цалин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Түрээс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Цахилгаан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ББӨ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Бусад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050" b="1" u="none" strike="noStrike">
                          <a:solidFill>
                            <a:schemeClr val="bg1"/>
                          </a:solidFill>
                          <a:effectLst/>
                        </a:rPr>
                        <a:t> Роялти + маркетинг </a:t>
                      </a:r>
                      <a:endParaRPr lang="mn-MN" sz="1050" b="1" i="0" u="none" strike="noStrike">
                        <a:solidFill>
                          <a:schemeClr val="bg1"/>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4083933989"/>
                  </a:ext>
                </a:extLst>
              </a:tr>
              <a:tr h="312607">
                <a:tc rowSpan="6">
                  <a:txBody>
                    <a:bodyPr/>
                    <a:lstStyle/>
                    <a:p>
                      <a:pPr algn="ctr" fontAlgn="ctr"/>
                      <a:r>
                        <a:rPr lang="en-US" sz="1050" b="1" u="none" strike="noStrike">
                          <a:effectLst/>
                        </a:rPr>
                        <a:t>                                                 1,500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mn-MN" sz="1050" b="1" u="none" strike="noStrike">
                          <a:effectLst/>
                        </a:rPr>
                        <a:t> ӨҮЦ </a:t>
                      </a:r>
                      <a:endParaRPr lang="mn-MN"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522,902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3,342,542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549,459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732,612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33,425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1,337,017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33,425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133,702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194298386"/>
                  </a:ext>
                </a:extLst>
              </a:tr>
              <a:tr h="158170">
                <a:tc vMerge="1">
                  <a:txBody>
                    <a:bodyPr/>
                    <a:lstStyle/>
                    <a:p>
                      <a:endParaRPr lang="en-US"/>
                    </a:p>
                  </a:txBody>
                  <a:tcPr/>
                </a:tc>
                <a:tc>
                  <a:txBody>
                    <a:bodyPr/>
                    <a:lstStyle/>
                    <a:p>
                      <a:pPr algn="ctr" fontAlgn="ctr"/>
                      <a:r>
                        <a:rPr lang="mn-MN" sz="1050" u="none" strike="noStrike">
                          <a:effectLst/>
                        </a:rPr>
                        <a:t> Жил 1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85,650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547,500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120,000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5,475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219,000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5,475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21,900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581040878"/>
                  </a:ext>
                </a:extLst>
              </a:tr>
              <a:tr h="158170">
                <a:tc vMerge="1">
                  <a:txBody>
                    <a:bodyPr/>
                    <a:lstStyle/>
                    <a:p>
                      <a:endParaRPr lang="en-US"/>
                    </a:p>
                  </a:txBody>
                  <a:tcPr/>
                </a:tc>
                <a:tc>
                  <a:txBody>
                    <a:bodyPr/>
                    <a:lstStyle/>
                    <a:p>
                      <a:pPr algn="ctr" fontAlgn="ctr"/>
                      <a:r>
                        <a:rPr lang="mn-MN" sz="1050" u="none" strike="noStrike">
                          <a:effectLst/>
                        </a:rPr>
                        <a:t> Жил 2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94,215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602,250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99,000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132,000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6,023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240,900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6,023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24,090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382490548"/>
                  </a:ext>
                </a:extLst>
              </a:tr>
              <a:tr h="158170">
                <a:tc vMerge="1">
                  <a:txBody>
                    <a:bodyPr/>
                    <a:lstStyle/>
                    <a:p>
                      <a:endParaRPr lang="en-US"/>
                    </a:p>
                  </a:txBody>
                  <a:tcPr/>
                </a:tc>
                <a:tc>
                  <a:txBody>
                    <a:bodyPr/>
                    <a:lstStyle/>
                    <a:p>
                      <a:pPr algn="ctr" fontAlgn="ctr"/>
                      <a:r>
                        <a:rPr lang="mn-MN" sz="1050" u="none" strike="noStrike">
                          <a:effectLst/>
                        </a:rPr>
                        <a:t> Жил 3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103,637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662,475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108,900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145,200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6,625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264,990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6,625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26,499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845251011"/>
                  </a:ext>
                </a:extLst>
              </a:tr>
              <a:tr h="158170">
                <a:tc vMerge="1">
                  <a:txBody>
                    <a:bodyPr/>
                    <a:lstStyle/>
                    <a:p>
                      <a:endParaRPr lang="en-US"/>
                    </a:p>
                  </a:txBody>
                  <a:tcPr/>
                </a:tc>
                <a:tc>
                  <a:txBody>
                    <a:bodyPr/>
                    <a:lstStyle/>
                    <a:p>
                      <a:pPr algn="ctr" fontAlgn="ctr"/>
                      <a:r>
                        <a:rPr lang="mn-MN" sz="1050" u="none" strike="noStrike">
                          <a:effectLst/>
                        </a:rPr>
                        <a:t> Жил 4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114,000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728,723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119,790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159,720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7,287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291,489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7,287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29,149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22529670"/>
                  </a:ext>
                </a:extLst>
              </a:tr>
              <a:tr h="158170">
                <a:tc vMerge="1">
                  <a:txBody>
                    <a:bodyPr/>
                    <a:lstStyle/>
                    <a:p>
                      <a:endParaRPr lang="en-US"/>
                    </a:p>
                  </a:txBody>
                  <a:tcPr/>
                </a:tc>
                <a:tc>
                  <a:txBody>
                    <a:bodyPr/>
                    <a:lstStyle/>
                    <a:p>
                      <a:pPr algn="ctr" fontAlgn="ctr"/>
                      <a:r>
                        <a:rPr lang="mn-MN" sz="1050" u="none" strike="noStrike">
                          <a:effectLst/>
                        </a:rPr>
                        <a:t> Жил 5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125,400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801,595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131,769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175,692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8,016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320,638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8,016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32,064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749265345"/>
                  </a:ext>
                </a:extLst>
              </a:tr>
              <a:tr h="312607">
                <a:tc rowSpan="6">
                  <a:txBody>
                    <a:bodyPr/>
                    <a:lstStyle/>
                    <a:p>
                      <a:pPr algn="ctr" fontAlgn="ctr"/>
                      <a:r>
                        <a:rPr lang="en-US" sz="1050" b="1" u="none" strike="noStrike">
                          <a:effectLst/>
                        </a:rPr>
                        <a:t>                                                 2,000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mn-MN" sz="1050" b="1" u="none" strike="noStrike">
                          <a:effectLst/>
                        </a:rPr>
                        <a:t> ӨҮЦ </a:t>
                      </a:r>
                      <a:endParaRPr lang="mn-MN"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1,124,559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4,456,723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549,459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732,612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44,567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1,782,689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44,567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178,269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801121328"/>
                  </a:ext>
                </a:extLst>
              </a:tr>
              <a:tr h="158170">
                <a:tc vMerge="1">
                  <a:txBody>
                    <a:bodyPr/>
                    <a:lstStyle/>
                    <a:p>
                      <a:endParaRPr lang="en-US"/>
                    </a:p>
                  </a:txBody>
                  <a:tcPr/>
                </a:tc>
                <a:tc>
                  <a:txBody>
                    <a:bodyPr/>
                    <a:lstStyle/>
                    <a:p>
                      <a:pPr algn="ctr" fontAlgn="ctr"/>
                      <a:r>
                        <a:rPr lang="mn-MN" sz="1050" u="none" strike="noStrike">
                          <a:effectLst/>
                        </a:rPr>
                        <a:t> Жил 1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184,200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730,000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90,000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120,000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7,300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292,000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7,300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29,200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7602928"/>
                  </a:ext>
                </a:extLst>
              </a:tr>
              <a:tr h="158170">
                <a:tc vMerge="1">
                  <a:txBody>
                    <a:bodyPr/>
                    <a:lstStyle/>
                    <a:p>
                      <a:endParaRPr lang="en-US"/>
                    </a:p>
                  </a:txBody>
                  <a:tcPr/>
                </a:tc>
                <a:tc>
                  <a:txBody>
                    <a:bodyPr/>
                    <a:lstStyle/>
                    <a:p>
                      <a:pPr algn="ctr" fontAlgn="ctr"/>
                      <a:r>
                        <a:rPr lang="mn-MN" sz="1050" u="none" strike="noStrike">
                          <a:effectLst/>
                        </a:rPr>
                        <a:t> Жил 2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202,620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803,000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99,000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132,000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8,030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321,200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8,030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32,120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443146994"/>
                  </a:ext>
                </a:extLst>
              </a:tr>
              <a:tr h="158170">
                <a:tc vMerge="1">
                  <a:txBody>
                    <a:bodyPr/>
                    <a:lstStyle/>
                    <a:p>
                      <a:endParaRPr lang="en-US"/>
                    </a:p>
                  </a:txBody>
                  <a:tcPr/>
                </a:tc>
                <a:tc>
                  <a:txBody>
                    <a:bodyPr/>
                    <a:lstStyle/>
                    <a:p>
                      <a:pPr algn="ctr" fontAlgn="ctr"/>
                      <a:r>
                        <a:rPr lang="mn-MN" sz="1050" u="none" strike="noStrike">
                          <a:effectLst/>
                        </a:rPr>
                        <a:t> Жил 3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222,882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883,300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108,900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145,200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8,833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353,320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8,833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35,332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216436686"/>
                  </a:ext>
                </a:extLst>
              </a:tr>
              <a:tr h="158170">
                <a:tc vMerge="1">
                  <a:txBody>
                    <a:bodyPr/>
                    <a:lstStyle/>
                    <a:p>
                      <a:endParaRPr lang="en-US"/>
                    </a:p>
                  </a:txBody>
                  <a:tcPr/>
                </a:tc>
                <a:tc>
                  <a:txBody>
                    <a:bodyPr/>
                    <a:lstStyle/>
                    <a:p>
                      <a:pPr algn="ctr" fontAlgn="ctr"/>
                      <a:r>
                        <a:rPr lang="mn-MN" sz="1050" u="none" strike="noStrike">
                          <a:effectLst/>
                        </a:rPr>
                        <a:t> Жил 4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245,170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971,630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119,790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159,720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9,716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388,652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9,716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38,865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556177848"/>
                  </a:ext>
                </a:extLst>
              </a:tr>
              <a:tr h="158170">
                <a:tc vMerge="1">
                  <a:txBody>
                    <a:bodyPr/>
                    <a:lstStyle/>
                    <a:p>
                      <a:endParaRPr lang="en-US"/>
                    </a:p>
                  </a:txBody>
                  <a:tcPr/>
                </a:tc>
                <a:tc>
                  <a:txBody>
                    <a:bodyPr/>
                    <a:lstStyle/>
                    <a:p>
                      <a:pPr algn="ctr" fontAlgn="ctr"/>
                      <a:r>
                        <a:rPr lang="mn-MN" sz="1050" u="none" strike="noStrike">
                          <a:effectLst/>
                        </a:rPr>
                        <a:t> Жил 5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269,687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1,068,793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131,769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175,692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10,688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427,517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10,688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42,752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241967107"/>
                  </a:ext>
                </a:extLst>
              </a:tr>
              <a:tr h="312607">
                <a:tc rowSpan="6">
                  <a:txBody>
                    <a:bodyPr/>
                    <a:lstStyle/>
                    <a:p>
                      <a:pPr algn="ctr" fontAlgn="ctr"/>
                      <a:r>
                        <a:rPr lang="en-US" sz="1050" b="1" u="none" strike="noStrike">
                          <a:effectLst/>
                        </a:rPr>
                        <a:t>                                                 2,500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mn-MN" sz="1050" b="1" u="none" strike="noStrike">
                          <a:effectLst/>
                        </a:rPr>
                        <a:t> ӨҮЦ </a:t>
                      </a:r>
                      <a:endParaRPr lang="mn-MN"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1,726,217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5,570,904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549,459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732,612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55,709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2,228,362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55,709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b="1" u="none" strike="noStrike">
                          <a:effectLst/>
                        </a:rPr>
                        <a:t>                         222,836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338315290"/>
                  </a:ext>
                </a:extLst>
              </a:tr>
              <a:tr h="158170">
                <a:tc vMerge="1">
                  <a:txBody>
                    <a:bodyPr/>
                    <a:lstStyle/>
                    <a:p>
                      <a:endParaRPr lang="en-US"/>
                    </a:p>
                  </a:txBody>
                  <a:tcPr/>
                </a:tc>
                <a:tc>
                  <a:txBody>
                    <a:bodyPr/>
                    <a:lstStyle/>
                    <a:p>
                      <a:pPr algn="ctr" fontAlgn="ctr"/>
                      <a:r>
                        <a:rPr lang="mn-MN" sz="1050" u="none" strike="noStrike">
                          <a:effectLst/>
                        </a:rPr>
                        <a:t> Жил 1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282,750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912,500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120,000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9,125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365,000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9,125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36,500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555997279"/>
                  </a:ext>
                </a:extLst>
              </a:tr>
              <a:tr h="158170">
                <a:tc vMerge="1">
                  <a:txBody>
                    <a:bodyPr/>
                    <a:lstStyle/>
                    <a:p>
                      <a:endParaRPr lang="en-US"/>
                    </a:p>
                  </a:txBody>
                  <a:tcPr/>
                </a:tc>
                <a:tc>
                  <a:txBody>
                    <a:bodyPr/>
                    <a:lstStyle/>
                    <a:p>
                      <a:pPr algn="ctr" fontAlgn="ctr"/>
                      <a:r>
                        <a:rPr lang="mn-MN" sz="1050" u="none" strike="noStrike">
                          <a:effectLst/>
                        </a:rPr>
                        <a:t> Жил 2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311,025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1,003,750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99,000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132,000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10,038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401,500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10,038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40,150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009843064"/>
                  </a:ext>
                </a:extLst>
              </a:tr>
              <a:tr h="158170">
                <a:tc vMerge="1">
                  <a:txBody>
                    <a:bodyPr/>
                    <a:lstStyle/>
                    <a:p>
                      <a:endParaRPr lang="en-US"/>
                    </a:p>
                  </a:txBody>
                  <a:tcPr/>
                </a:tc>
                <a:tc>
                  <a:txBody>
                    <a:bodyPr/>
                    <a:lstStyle/>
                    <a:p>
                      <a:pPr algn="ctr" fontAlgn="ctr"/>
                      <a:r>
                        <a:rPr lang="mn-MN" sz="1050" u="none" strike="noStrike">
                          <a:effectLst/>
                        </a:rPr>
                        <a:t> Жил 3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342,128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1,104,125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108,900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145,200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11,041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441,650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11,041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44,165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411011256"/>
                  </a:ext>
                </a:extLst>
              </a:tr>
              <a:tr h="158170">
                <a:tc vMerge="1">
                  <a:txBody>
                    <a:bodyPr/>
                    <a:lstStyle/>
                    <a:p>
                      <a:endParaRPr lang="en-US"/>
                    </a:p>
                  </a:txBody>
                  <a:tcPr/>
                </a:tc>
                <a:tc>
                  <a:txBody>
                    <a:bodyPr/>
                    <a:lstStyle/>
                    <a:p>
                      <a:pPr algn="ctr" fontAlgn="ctr"/>
                      <a:r>
                        <a:rPr lang="mn-MN" sz="1050" u="none" strike="noStrike">
                          <a:effectLst/>
                        </a:rPr>
                        <a:t> Жил 4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376,340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1,214,538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119,790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159,720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12,145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485,815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12,145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48,582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168351205"/>
                  </a:ext>
                </a:extLst>
              </a:tr>
              <a:tr h="158170">
                <a:tc vMerge="1">
                  <a:txBody>
                    <a:bodyPr/>
                    <a:lstStyle/>
                    <a:p>
                      <a:endParaRPr lang="en-US"/>
                    </a:p>
                  </a:txBody>
                  <a:tcPr/>
                </a:tc>
                <a:tc>
                  <a:txBody>
                    <a:bodyPr/>
                    <a:lstStyle/>
                    <a:p>
                      <a:pPr algn="ctr" fontAlgn="ctr"/>
                      <a:r>
                        <a:rPr lang="mn-MN" sz="1050" u="none" strike="noStrike">
                          <a:effectLst/>
                        </a:rPr>
                        <a:t> Жил 5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413,974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1,335,991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131,769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175,692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13,360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534,397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13,360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050" u="none" strike="noStrike">
                          <a:effectLst/>
                        </a:rPr>
                        <a:t>                            53,440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464979466"/>
                  </a:ext>
                </a:extLst>
              </a:tr>
              <a:tr h="312607">
                <a:tc rowSpan="6">
                  <a:txBody>
                    <a:bodyPr/>
                    <a:lstStyle/>
                    <a:p>
                      <a:pPr algn="ctr" fontAlgn="ctr"/>
                      <a:r>
                        <a:rPr lang="en-US" sz="1050" b="1" u="none" strike="noStrike">
                          <a:effectLst/>
                        </a:rPr>
                        <a:t>                                                 3,000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mn-MN" sz="1050" b="1" u="none" strike="noStrike">
                          <a:effectLst/>
                        </a:rPr>
                        <a:t> ӨҮЦ </a:t>
                      </a:r>
                      <a:endParaRPr lang="mn-MN"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2,327,875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6,685,085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549,459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732,612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66,851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2,674,034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66,851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b="1" u="none" strike="noStrike">
                          <a:effectLst/>
                        </a:rPr>
                        <a:t>                         267,403 </a:t>
                      </a:r>
                      <a:endParaRPr lang="en-US" sz="1050" b="1"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364781276"/>
                  </a:ext>
                </a:extLst>
              </a:tr>
              <a:tr h="158170">
                <a:tc vMerge="1">
                  <a:txBody>
                    <a:bodyPr/>
                    <a:lstStyle/>
                    <a:p>
                      <a:endParaRPr lang="en-US"/>
                    </a:p>
                  </a:txBody>
                  <a:tcPr/>
                </a:tc>
                <a:tc>
                  <a:txBody>
                    <a:bodyPr/>
                    <a:lstStyle/>
                    <a:p>
                      <a:pPr algn="ctr" fontAlgn="ctr"/>
                      <a:r>
                        <a:rPr lang="mn-MN" sz="1050" u="none" strike="noStrike">
                          <a:effectLst/>
                        </a:rPr>
                        <a:t> Жил 1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381,300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1,095,000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90,000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120,000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10,950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438,000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10,950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43,800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63621952"/>
                  </a:ext>
                </a:extLst>
              </a:tr>
              <a:tr h="158170">
                <a:tc vMerge="1">
                  <a:txBody>
                    <a:bodyPr/>
                    <a:lstStyle/>
                    <a:p>
                      <a:endParaRPr lang="en-US"/>
                    </a:p>
                  </a:txBody>
                  <a:tcPr/>
                </a:tc>
                <a:tc>
                  <a:txBody>
                    <a:bodyPr/>
                    <a:lstStyle/>
                    <a:p>
                      <a:pPr algn="ctr" fontAlgn="ctr"/>
                      <a:r>
                        <a:rPr lang="mn-MN" sz="1050" u="none" strike="noStrike">
                          <a:effectLst/>
                        </a:rPr>
                        <a:t> Жил 2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419,430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1,204,500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99,000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132,000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12,045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481,800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12,045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48,180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687048607"/>
                  </a:ext>
                </a:extLst>
              </a:tr>
              <a:tr h="158170">
                <a:tc vMerge="1">
                  <a:txBody>
                    <a:bodyPr/>
                    <a:lstStyle/>
                    <a:p>
                      <a:endParaRPr lang="en-US"/>
                    </a:p>
                  </a:txBody>
                  <a:tcPr/>
                </a:tc>
                <a:tc>
                  <a:txBody>
                    <a:bodyPr/>
                    <a:lstStyle/>
                    <a:p>
                      <a:pPr algn="ctr" fontAlgn="ctr"/>
                      <a:r>
                        <a:rPr lang="mn-MN" sz="1050" u="none" strike="noStrike">
                          <a:effectLst/>
                        </a:rPr>
                        <a:t> Жил 3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461,373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1,324,950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108,900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145,200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13,250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529,980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13,250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52,998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09196854"/>
                  </a:ext>
                </a:extLst>
              </a:tr>
              <a:tr h="158170">
                <a:tc vMerge="1">
                  <a:txBody>
                    <a:bodyPr/>
                    <a:lstStyle/>
                    <a:p>
                      <a:endParaRPr lang="en-US"/>
                    </a:p>
                  </a:txBody>
                  <a:tcPr/>
                </a:tc>
                <a:tc>
                  <a:txBody>
                    <a:bodyPr/>
                    <a:lstStyle/>
                    <a:p>
                      <a:pPr algn="ctr" fontAlgn="ctr"/>
                      <a:r>
                        <a:rPr lang="mn-MN" sz="1050" u="none" strike="noStrike">
                          <a:effectLst/>
                        </a:rPr>
                        <a:t> Жил 4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507,510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1,457,445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119,790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159,720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14,574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582,978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14,574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58,298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182708622"/>
                  </a:ext>
                </a:extLst>
              </a:tr>
              <a:tr h="158170">
                <a:tc vMerge="1">
                  <a:txBody>
                    <a:bodyPr/>
                    <a:lstStyle/>
                    <a:p>
                      <a:endParaRPr lang="en-US"/>
                    </a:p>
                  </a:txBody>
                  <a:tcPr/>
                </a:tc>
                <a:tc>
                  <a:txBody>
                    <a:bodyPr/>
                    <a:lstStyle/>
                    <a:p>
                      <a:pPr algn="ctr" fontAlgn="ctr"/>
                      <a:r>
                        <a:rPr lang="mn-MN" sz="1050" u="none" strike="noStrike">
                          <a:effectLst/>
                        </a:rPr>
                        <a:t> Жил 5 </a:t>
                      </a:r>
                      <a:endParaRPr lang="mn-MN"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558,261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1,603,190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131,769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175,692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16,032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641,276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16,032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ctr" fontAlgn="ctr"/>
                      <a:r>
                        <a:rPr lang="en-US" sz="1050" u="none" strike="noStrike">
                          <a:effectLst/>
                        </a:rPr>
                        <a:t>                            64,128 </a:t>
                      </a:r>
                      <a:endParaRPr lang="en-US" sz="1050" b="0" i="0" u="none" strike="noStrike">
                        <a:solidFill>
                          <a:srgbClr val="000000"/>
                        </a:solidFill>
                        <a:effectLst/>
                        <a:latin typeface="Segoe UI" panose="020B0502040204020203" pitchFamily="34" charset="0"/>
                      </a:endParaRPr>
                    </a:p>
                  </a:txBody>
                  <a:tcPr marL="3868" marR="3868" marT="3868"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697259116"/>
                  </a:ext>
                </a:extLst>
              </a:tr>
            </a:tbl>
          </a:graphicData>
        </a:graphic>
      </p:graphicFrame>
      <p:pic>
        <p:nvPicPr>
          <p:cNvPr id="13" name="Picture 12">
            <a:extLst>
              <a:ext uri="{FF2B5EF4-FFF2-40B4-BE49-F238E27FC236}">
                <a16:creationId xmlns:a16="http://schemas.microsoft.com/office/drawing/2014/main" id="{08717462-AEE2-CFFD-D66F-236961B1C9DC}"/>
              </a:ext>
            </a:extLst>
          </p:cNvPr>
          <p:cNvPicPr>
            <a:picLocks noChangeAspect="1"/>
          </p:cNvPicPr>
          <p:nvPr/>
        </p:nvPicPr>
        <p:blipFill>
          <a:blip r:embed="rId3">
            <a:extLst>
              <a:ext uri="{28A0092B-C50C-407E-A947-70E740481C1C}">
                <a14:useLocalDpi xmlns:a14="http://schemas.microsoft.com/office/drawing/2010/main" val="0"/>
              </a:ext>
            </a:extLst>
          </a:blip>
          <a:srcRect t="17980" b="22534"/>
          <a:stretch/>
        </p:blipFill>
        <p:spPr>
          <a:xfrm>
            <a:off x="896162" y="1257929"/>
            <a:ext cx="1608665" cy="530131"/>
          </a:xfrm>
          <a:prstGeom prst="rect">
            <a:avLst/>
          </a:prstGeom>
        </p:spPr>
      </p:pic>
      <p:sp>
        <p:nvSpPr>
          <p:cNvPr id="15" name="TextBox 14">
            <a:extLst>
              <a:ext uri="{FF2B5EF4-FFF2-40B4-BE49-F238E27FC236}">
                <a16:creationId xmlns:a16="http://schemas.microsoft.com/office/drawing/2014/main" id="{298523DE-CBF8-2082-8E2D-D490AD4F3A4F}"/>
              </a:ext>
            </a:extLst>
          </p:cNvPr>
          <p:cNvSpPr txBox="1"/>
          <p:nvPr/>
        </p:nvSpPr>
        <p:spPr>
          <a:xfrm>
            <a:off x="313189" y="932575"/>
            <a:ext cx="2590774" cy="276999"/>
          </a:xfrm>
          <a:prstGeom prst="rect">
            <a:avLst/>
          </a:prstGeom>
          <a:noFill/>
        </p:spPr>
        <p:txBody>
          <a:bodyPr wrap="none" rtlCol="0">
            <a:spAutoFit/>
          </a:bodyPr>
          <a:lstStyle/>
          <a:p>
            <a:r>
              <a:rPr lang="mn-MN" sz="1200" b="1" i="1">
                <a:solidFill>
                  <a:srgbClr val="002060"/>
                </a:solidFill>
                <a:cs typeface="Segoe UI" panose="020B0502040204020203" pitchFamily="34" charset="0"/>
              </a:rPr>
              <a:t>Салбарын үр ашгийн тооцоолол</a:t>
            </a:r>
            <a:endParaRPr lang="en-US" sz="1200" i="1" dirty="0">
              <a:solidFill>
                <a:srgbClr val="002060"/>
              </a:solidFill>
              <a:cs typeface="Segoe UI" panose="020B0502040204020203" pitchFamily="34" charset="0"/>
            </a:endParaRPr>
          </a:p>
        </p:txBody>
      </p:sp>
    </p:spTree>
    <p:extLst>
      <p:ext uri="{BB962C8B-B14F-4D97-AF65-F5344CB8AC3E}">
        <p14:creationId xmlns:p14="http://schemas.microsoft.com/office/powerpoint/2010/main" val="1284082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426873C-D579-B249-1B39-1DB1A010F3CE}"/>
              </a:ext>
            </a:extLst>
          </p:cNvPr>
          <p:cNvGrpSpPr/>
          <p:nvPr/>
        </p:nvGrpSpPr>
        <p:grpSpPr>
          <a:xfrm>
            <a:off x="1983977" y="402273"/>
            <a:ext cx="8772686"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ХАВСРАЛТ</a:t>
              </a:r>
            </a:p>
          </p:txBody>
        </p:sp>
      </p:grpSp>
      <p:sp>
        <p:nvSpPr>
          <p:cNvPr id="30" name="Slide Number Placeholder 1">
            <a:extLst>
              <a:ext uri="{FF2B5EF4-FFF2-40B4-BE49-F238E27FC236}">
                <a16:creationId xmlns:a16="http://schemas.microsoft.com/office/drawing/2014/main" id="{115B47EC-3EB2-E41E-861B-248B787B88A4}"/>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18</a:t>
            </a:fld>
            <a:endParaRPr lang="en-US" sz="1200" dirty="0">
              <a:solidFill>
                <a:schemeClr val="bg1">
                  <a:lumMod val="65000"/>
                </a:schemeClr>
              </a:solidFill>
              <a:cs typeface="Segoe UI Light" panose="020B0502040204020203" pitchFamily="34" charset="0"/>
            </a:endParaRPr>
          </a:p>
        </p:txBody>
      </p:sp>
      <p:pic>
        <p:nvPicPr>
          <p:cNvPr id="4" name="Picture 3">
            <a:extLst>
              <a:ext uri="{FF2B5EF4-FFF2-40B4-BE49-F238E27FC236}">
                <a16:creationId xmlns:a16="http://schemas.microsoft.com/office/drawing/2014/main" id="{0DEF416A-A7C6-2320-F14E-B4C27DF4F805}"/>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rcRect l="-2789" t="-1" r="-341" b="69154"/>
          <a:stretch/>
        </p:blipFill>
        <p:spPr>
          <a:xfrm>
            <a:off x="838200" y="1440128"/>
            <a:ext cx="1608665" cy="241761"/>
          </a:xfrm>
          <a:prstGeom prst="rect">
            <a:avLst/>
          </a:prstGeom>
        </p:spPr>
      </p:pic>
      <p:graphicFrame>
        <p:nvGraphicFramePr>
          <p:cNvPr id="5" name="Table 4">
            <a:extLst>
              <a:ext uri="{FF2B5EF4-FFF2-40B4-BE49-F238E27FC236}">
                <a16:creationId xmlns:a16="http://schemas.microsoft.com/office/drawing/2014/main" id="{DF8EC343-74F5-CD8F-E05B-A6F4DE9F4E70}"/>
              </a:ext>
            </a:extLst>
          </p:cNvPr>
          <p:cNvGraphicFramePr>
            <a:graphicFrameLocks noGrp="1"/>
          </p:cNvGraphicFramePr>
          <p:nvPr>
            <p:extLst>
              <p:ext uri="{D42A27DB-BD31-4B8C-83A1-F6EECF244321}">
                <p14:modId xmlns:p14="http://schemas.microsoft.com/office/powerpoint/2010/main" val="3201081683"/>
              </p:ext>
            </p:extLst>
          </p:nvPr>
        </p:nvGraphicFramePr>
        <p:xfrm>
          <a:off x="2728238" y="1428531"/>
          <a:ext cx="3006161" cy="247763"/>
        </p:xfrm>
        <a:graphic>
          <a:graphicData uri="http://schemas.openxmlformats.org/drawingml/2006/table">
            <a:tbl>
              <a:tblPr firstRow="1" firstCol="1" bandRow="1">
                <a:tableStyleId>{2D5ABB26-0587-4C30-8999-92F81FD0307C}</a:tableStyleId>
              </a:tblPr>
              <a:tblGrid>
                <a:gridCol w="1067187">
                  <a:extLst>
                    <a:ext uri="{9D8B030D-6E8A-4147-A177-3AD203B41FA5}">
                      <a16:colId xmlns:a16="http://schemas.microsoft.com/office/drawing/2014/main" val="3392279071"/>
                    </a:ext>
                  </a:extLst>
                </a:gridCol>
                <a:gridCol w="1067187">
                  <a:extLst>
                    <a:ext uri="{9D8B030D-6E8A-4147-A177-3AD203B41FA5}">
                      <a16:colId xmlns:a16="http://schemas.microsoft.com/office/drawing/2014/main" val="2188357168"/>
                    </a:ext>
                  </a:extLst>
                </a:gridCol>
                <a:gridCol w="871787">
                  <a:extLst>
                    <a:ext uri="{9D8B030D-6E8A-4147-A177-3AD203B41FA5}">
                      <a16:colId xmlns:a16="http://schemas.microsoft.com/office/drawing/2014/main" val="3042595635"/>
                    </a:ext>
                  </a:extLst>
                </a:gridCol>
              </a:tblGrid>
              <a:tr h="247763">
                <a:tc>
                  <a:txBody>
                    <a:bodyPr/>
                    <a:lstStyle/>
                    <a:p>
                      <a:pPr algn="ctr" rtl="0" fontAlgn="ctr"/>
                      <a:r>
                        <a:rPr lang="mn-MN" sz="1000" b="1" i="0" u="none" strike="noStrike">
                          <a:solidFill>
                            <a:srgbClr val="000000"/>
                          </a:solidFill>
                          <a:effectLst/>
                          <a:latin typeface="+mn-lt"/>
                        </a:rPr>
                        <a:t>АХО</a:t>
                      </a:r>
                      <a:endParaRPr lang="en-US" sz="1000" b="1" i="0" u="none" strike="noStrike">
                        <a:solidFill>
                          <a:srgbClr val="000000"/>
                        </a:solidFill>
                        <a:effectLst/>
                        <a:latin typeface="+mn-lt"/>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1" i="0" u="none" strike="noStrike">
                          <a:solidFill>
                            <a:srgbClr val="000000"/>
                          </a:solidFill>
                          <a:effectLst/>
                          <a:latin typeface="+mn-lt"/>
                        </a:rPr>
                        <a:t>$125,762 </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tc>
                  <a:txBody>
                    <a:bodyPr/>
                    <a:lstStyle/>
                    <a:p>
                      <a:pPr algn="ctr" rtl="0" fontAlgn="ctr"/>
                      <a:r>
                        <a:rPr lang="en-US" sz="1000" b="1" i="0" u="none" strike="noStrike">
                          <a:solidFill>
                            <a:srgbClr val="000000"/>
                          </a:solidFill>
                          <a:effectLst/>
                          <a:latin typeface="+mn-lt"/>
                        </a:rPr>
                        <a:t>452,114,390</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2472053"/>
                  </a:ext>
                </a:extLst>
              </a:tr>
            </a:tbl>
          </a:graphicData>
        </a:graphic>
      </p:graphicFrame>
      <p:sp>
        <p:nvSpPr>
          <p:cNvPr id="6" name="TextBox 5">
            <a:extLst>
              <a:ext uri="{FF2B5EF4-FFF2-40B4-BE49-F238E27FC236}">
                <a16:creationId xmlns:a16="http://schemas.microsoft.com/office/drawing/2014/main" id="{9DAE341D-5337-50C3-A32D-92629050028F}"/>
              </a:ext>
            </a:extLst>
          </p:cNvPr>
          <p:cNvSpPr txBox="1"/>
          <p:nvPr/>
        </p:nvSpPr>
        <p:spPr>
          <a:xfrm>
            <a:off x="4887663" y="1202093"/>
            <a:ext cx="816256" cy="230832"/>
          </a:xfrm>
          <a:prstGeom prst="rect">
            <a:avLst/>
          </a:prstGeom>
          <a:noFill/>
        </p:spPr>
        <p:txBody>
          <a:bodyPr wrap="square" rtlCol="0">
            <a:spAutoFit/>
          </a:bodyPr>
          <a:lstStyle/>
          <a:p>
            <a:pPr algn="ctr"/>
            <a:r>
              <a:rPr lang="en-US" sz="900" b="1" i="1">
                <a:cs typeface="Segoe UI" panose="020B0502040204020203" pitchFamily="34" charset="0"/>
              </a:rPr>
              <a:t>MNT</a:t>
            </a:r>
          </a:p>
        </p:txBody>
      </p:sp>
      <p:sp>
        <p:nvSpPr>
          <p:cNvPr id="8" name="TextBox 7">
            <a:extLst>
              <a:ext uri="{FF2B5EF4-FFF2-40B4-BE49-F238E27FC236}">
                <a16:creationId xmlns:a16="http://schemas.microsoft.com/office/drawing/2014/main" id="{E42E43CA-25B1-F9F8-D78B-BD68B062C75A}"/>
              </a:ext>
            </a:extLst>
          </p:cNvPr>
          <p:cNvSpPr txBox="1"/>
          <p:nvPr/>
        </p:nvSpPr>
        <p:spPr>
          <a:xfrm>
            <a:off x="4085594" y="1202093"/>
            <a:ext cx="578658" cy="230832"/>
          </a:xfrm>
          <a:prstGeom prst="rect">
            <a:avLst/>
          </a:prstGeom>
          <a:noFill/>
        </p:spPr>
        <p:txBody>
          <a:bodyPr wrap="square" rtlCol="0">
            <a:spAutoFit/>
          </a:bodyPr>
          <a:lstStyle/>
          <a:p>
            <a:pPr algn="ctr"/>
            <a:r>
              <a:rPr lang="en-US" sz="900" b="1" i="1">
                <a:cs typeface="Segoe UI" panose="020B0502040204020203" pitchFamily="34" charset="0"/>
              </a:rPr>
              <a:t>USD</a:t>
            </a:r>
          </a:p>
        </p:txBody>
      </p:sp>
      <p:sp>
        <p:nvSpPr>
          <p:cNvPr id="9" name="TextBox 8">
            <a:extLst>
              <a:ext uri="{FF2B5EF4-FFF2-40B4-BE49-F238E27FC236}">
                <a16:creationId xmlns:a16="http://schemas.microsoft.com/office/drawing/2014/main" id="{1779921B-1619-59BE-7129-871F32E3A339}"/>
              </a:ext>
            </a:extLst>
          </p:cNvPr>
          <p:cNvSpPr txBox="1"/>
          <p:nvPr/>
        </p:nvSpPr>
        <p:spPr>
          <a:xfrm>
            <a:off x="7464324" y="5741717"/>
            <a:ext cx="3911069" cy="246221"/>
          </a:xfrm>
          <a:prstGeom prst="rect">
            <a:avLst/>
          </a:prstGeom>
          <a:noFill/>
        </p:spPr>
        <p:txBody>
          <a:bodyPr wrap="square" rtlCol="0">
            <a:spAutoFit/>
          </a:bodyPr>
          <a:lstStyle/>
          <a:p>
            <a:pPr algn="r"/>
            <a:r>
              <a:rPr lang="mn-MN" sz="1000" i="1">
                <a:cs typeface="Segoe UI" panose="020B0502040204020203" pitchFamily="34" charset="0"/>
              </a:rPr>
              <a:t>Эх сурвалж</a:t>
            </a:r>
            <a:r>
              <a:rPr lang="en-US" sz="1000" i="1">
                <a:cs typeface="Segoe UI" panose="020B0502040204020203" pitchFamily="34" charset="0"/>
              </a:rPr>
              <a:t>: </a:t>
            </a:r>
            <a:r>
              <a:rPr lang="mn-MN" sz="1000" i="1">
                <a:cs typeface="Segoe UI" panose="020B0502040204020203" pitchFamily="34" charset="0"/>
              </a:rPr>
              <a:t>Франчайз эрхлэгч холбогдох байгууллага</a:t>
            </a:r>
            <a:endParaRPr lang="en-US" sz="1000" i="1" dirty="0">
              <a:cs typeface="Segoe UI" panose="020B0502040204020203" pitchFamily="34" charset="0"/>
            </a:endParaRPr>
          </a:p>
        </p:txBody>
      </p:sp>
      <p:graphicFrame>
        <p:nvGraphicFramePr>
          <p:cNvPr id="10" name="Table 9">
            <a:extLst>
              <a:ext uri="{FF2B5EF4-FFF2-40B4-BE49-F238E27FC236}">
                <a16:creationId xmlns:a16="http://schemas.microsoft.com/office/drawing/2014/main" id="{5514F0A9-B157-8754-4707-207338C735F1}"/>
              </a:ext>
            </a:extLst>
          </p:cNvPr>
          <p:cNvGraphicFramePr>
            <a:graphicFrameLocks noGrp="1"/>
          </p:cNvGraphicFramePr>
          <p:nvPr>
            <p:extLst>
              <p:ext uri="{D42A27DB-BD31-4B8C-83A1-F6EECF244321}">
                <p14:modId xmlns:p14="http://schemas.microsoft.com/office/powerpoint/2010/main" val="3311639395"/>
              </p:ext>
            </p:extLst>
          </p:nvPr>
        </p:nvGraphicFramePr>
        <p:xfrm>
          <a:off x="816607" y="1756317"/>
          <a:ext cx="10515599" cy="3958232"/>
        </p:xfrm>
        <a:graphic>
          <a:graphicData uri="http://schemas.openxmlformats.org/drawingml/2006/table">
            <a:tbl>
              <a:tblPr>
                <a:tableStyleId>{5C22544A-7EE6-4342-B048-85BDC9FD1C3A}</a:tableStyleId>
              </a:tblPr>
              <a:tblGrid>
                <a:gridCol w="2256886">
                  <a:extLst>
                    <a:ext uri="{9D8B030D-6E8A-4147-A177-3AD203B41FA5}">
                      <a16:colId xmlns:a16="http://schemas.microsoft.com/office/drawing/2014/main" val="3834158885"/>
                    </a:ext>
                  </a:extLst>
                </a:gridCol>
                <a:gridCol w="508419">
                  <a:extLst>
                    <a:ext uri="{9D8B030D-6E8A-4147-A177-3AD203B41FA5}">
                      <a16:colId xmlns:a16="http://schemas.microsoft.com/office/drawing/2014/main" val="921478514"/>
                    </a:ext>
                  </a:extLst>
                </a:gridCol>
                <a:gridCol w="1661663">
                  <a:extLst>
                    <a:ext uri="{9D8B030D-6E8A-4147-A177-3AD203B41FA5}">
                      <a16:colId xmlns:a16="http://schemas.microsoft.com/office/drawing/2014/main" val="1375197524"/>
                    </a:ext>
                  </a:extLst>
                </a:gridCol>
                <a:gridCol w="954836">
                  <a:extLst>
                    <a:ext uri="{9D8B030D-6E8A-4147-A177-3AD203B41FA5}">
                      <a16:colId xmlns:a16="http://schemas.microsoft.com/office/drawing/2014/main" val="2749762755"/>
                    </a:ext>
                  </a:extLst>
                </a:gridCol>
                <a:gridCol w="657225">
                  <a:extLst>
                    <a:ext uri="{9D8B030D-6E8A-4147-A177-3AD203B41FA5}">
                      <a16:colId xmlns:a16="http://schemas.microsoft.com/office/drawing/2014/main" val="3642074207"/>
                    </a:ext>
                  </a:extLst>
                </a:gridCol>
                <a:gridCol w="657225">
                  <a:extLst>
                    <a:ext uri="{9D8B030D-6E8A-4147-A177-3AD203B41FA5}">
                      <a16:colId xmlns:a16="http://schemas.microsoft.com/office/drawing/2014/main" val="4040723750"/>
                    </a:ext>
                  </a:extLst>
                </a:gridCol>
                <a:gridCol w="880433">
                  <a:extLst>
                    <a:ext uri="{9D8B030D-6E8A-4147-A177-3AD203B41FA5}">
                      <a16:colId xmlns:a16="http://schemas.microsoft.com/office/drawing/2014/main" val="738028657"/>
                    </a:ext>
                  </a:extLst>
                </a:gridCol>
                <a:gridCol w="768829">
                  <a:extLst>
                    <a:ext uri="{9D8B030D-6E8A-4147-A177-3AD203B41FA5}">
                      <a16:colId xmlns:a16="http://schemas.microsoft.com/office/drawing/2014/main" val="408240216"/>
                    </a:ext>
                  </a:extLst>
                </a:gridCol>
                <a:gridCol w="657225">
                  <a:extLst>
                    <a:ext uri="{9D8B030D-6E8A-4147-A177-3AD203B41FA5}">
                      <a16:colId xmlns:a16="http://schemas.microsoft.com/office/drawing/2014/main" val="2345929938"/>
                    </a:ext>
                  </a:extLst>
                </a:gridCol>
                <a:gridCol w="1512858">
                  <a:extLst>
                    <a:ext uri="{9D8B030D-6E8A-4147-A177-3AD203B41FA5}">
                      <a16:colId xmlns:a16="http://schemas.microsoft.com/office/drawing/2014/main" val="2352858886"/>
                    </a:ext>
                  </a:extLst>
                </a:gridCol>
              </a:tblGrid>
              <a:tr h="208328">
                <a:tc>
                  <a:txBody>
                    <a:bodyPr/>
                    <a:lstStyle/>
                    <a:p>
                      <a:pPr algn="ctr" fontAlgn="ctr"/>
                      <a:r>
                        <a:rPr lang="mn-MN" sz="1100" b="1" u="none" strike="noStrike">
                          <a:solidFill>
                            <a:schemeClr val="bg1"/>
                          </a:solidFill>
                          <a:effectLst/>
                        </a:rPr>
                        <a:t> Өдрийн орлого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Он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Татварын өмнөх ашиг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Борлуулалт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Цалин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Түрээс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Цахилгаан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ББӨ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Бусад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 Роялти + маркетинг </a:t>
                      </a:r>
                      <a:endParaRPr lang="mn-MN" sz="1100" b="1" i="0" u="none" strike="noStrike">
                        <a:solidFill>
                          <a:schemeClr val="bg1"/>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2907561081"/>
                  </a:ext>
                </a:extLst>
              </a:tr>
              <a:tr h="208328">
                <a:tc rowSpan="6">
                  <a:txBody>
                    <a:bodyPr/>
                    <a:lstStyle/>
                    <a:p>
                      <a:pPr algn="ctr" fontAlgn="ctr"/>
                      <a:r>
                        <a:rPr lang="en-US" sz="1100" b="1" u="none" strike="noStrike">
                          <a:effectLst/>
                        </a:rPr>
                        <a:t>                                                 3,000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mn-MN" sz="1100" b="1" u="none" strike="noStrike">
                          <a:effectLst/>
                        </a:rPr>
                        <a:t> ӨҮЦ </a:t>
                      </a:r>
                      <a:endParaRPr lang="mn-MN"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1,075,108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6,685,085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732,612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732,612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66,851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3,676,796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66,851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334,254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558017761"/>
                  </a:ext>
                </a:extLst>
              </a:tr>
              <a:tr h="208328">
                <a:tc vMerge="1">
                  <a:txBody>
                    <a:bodyPr/>
                    <a:lstStyle/>
                    <a:p>
                      <a:endParaRPr lang="en-US"/>
                    </a:p>
                  </a:txBody>
                  <a:tcPr/>
                </a:tc>
                <a:tc>
                  <a:txBody>
                    <a:bodyPr/>
                    <a:lstStyle/>
                    <a:p>
                      <a:pPr algn="l" fontAlgn="ctr"/>
                      <a:r>
                        <a:rPr lang="mn-MN" sz="1100" u="none" strike="noStrike">
                          <a:effectLst/>
                        </a:rPr>
                        <a:t> Жил 1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176,100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1,095,000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120,000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120,000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10,950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602,250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10,950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54,750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049484893"/>
                  </a:ext>
                </a:extLst>
              </a:tr>
              <a:tr h="208328">
                <a:tc vMerge="1">
                  <a:txBody>
                    <a:bodyPr/>
                    <a:lstStyle/>
                    <a:p>
                      <a:endParaRPr lang="en-US"/>
                    </a:p>
                  </a:txBody>
                  <a:tcPr/>
                </a:tc>
                <a:tc>
                  <a:txBody>
                    <a:bodyPr/>
                    <a:lstStyle/>
                    <a:p>
                      <a:pPr algn="l" fontAlgn="ctr"/>
                      <a:r>
                        <a:rPr lang="mn-MN" sz="1100" u="none" strike="noStrike">
                          <a:effectLst/>
                        </a:rPr>
                        <a:t> Жил 2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193,710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1,204,500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132,000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132,000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12,045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662,475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12,045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60,225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663685712"/>
                  </a:ext>
                </a:extLst>
              </a:tr>
              <a:tr h="208328">
                <a:tc vMerge="1">
                  <a:txBody>
                    <a:bodyPr/>
                    <a:lstStyle/>
                    <a:p>
                      <a:endParaRPr lang="en-US"/>
                    </a:p>
                  </a:txBody>
                  <a:tcPr/>
                </a:tc>
                <a:tc>
                  <a:txBody>
                    <a:bodyPr/>
                    <a:lstStyle/>
                    <a:p>
                      <a:pPr algn="l" fontAlgn="ctr"/>
                      <a:r>
                        <a:rPr lang="mn-MN" sz="1100" u="none" strike="noStrike">
                          <a:effectLst/>
                        </a:rPr>
                        <a:t> Жил 3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213,081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1,324,950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145,200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145,200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13,250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728,723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13,250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66,248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675271066"/>
                  </a:ext>
                </a:extLst>
              </a:tr>
              <a:tr h="208328">
                <a:tc vMerge="1">
                  <a:txBody>
                    <a:bodyPr/>
                    <a:lstStyle/>
                    <a:p>
                      <a:endParaRPr lang="en-US"/>
                    </a:p>
                  </a:txBody>
                  <a:tcPr/>
                </a:tc>
                <a:tc>
                  <a:txBody>
                    <a:bodyPr/>
                    <a:lstStyle/>
                    <a:p>
                      <a:pPr algn="l" fontAlgn="ctr"/>
                      <a:r>
                        <a:rPr lang="mn-MN" sz="1100" u="none" strike="noStrike">
                          <a:effectLst/>
                        </a:rPr>
                        <a:t> Жил 4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234,389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1,457,445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159,720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159,720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14,574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801,595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14,574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72,872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910676993"/>
                  </a:ext>
                </a:extLst>
              </a:tr>
              <a:tr h="208328">
                <a:tc vMerge="1">
                  <a:txBody>
                    <a:bodyPr/>
                    <a:lstStyle/>
                    <a:p>
                      <a:endParaRPr lang="en-US"/>
                    </a:p>
                  </a:txBody>
                  <a:tcPr/>
                </a:tc>
                <a:tc>
                  <a:txBody>
                    <a:bodyPr/>
                    <a:lstStyle/>
                    <a:p>
                      <a:pPr algn="l" fontAlgn="ctr"/>
                      <a:r>
                        <a:rPr lang="mn-MN" sz="1100" u="none" strike="noStrike">
                          <a:effectLst/>
                        </a:rPr>
                        <a:t> Жил 5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257,828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1,603,190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175,692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175,692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16,032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881,754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16,032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80,159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248563116"/>
                  </a:ext>
                </a:extLst>
              </a:tr>
              <a:tr h="208328">
                <a:tc rowSpan="6">
                  <a:txBody>
                    <a:bodyPr/>
                    <a:lstStyle/>
                    <a:p>
                      <a:pPr algn="ctr" fontAlgn="ctr"/>
                      <a:r>
                        <a:rPr lang="en-US" sz="1100" b="1" u="none" strike="noStrike">
                          <a:effectLst/>
                        </a:rPr>
                        <a:t>                                                 4,000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mn-MN" sz="1100" b="1" u="none" strike="noStrike">
                          <a:effectLst/>
                        </a:rPr>
                        <a:t> ӨҮЦ </a:t>
                      </a:r>
                      <a:endParaRPr lang="mn-MN"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1,921,885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8,913,446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732,612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732,612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89,134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4,902,395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89,134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b="1" u="none" strike="noStrike">
                          <a:effectLst/>
                        </a:rPr>
                        <a:t>                         445,672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765091285"/>
                  </a:ext>
                </a:extLst>
              </a:tr>
              <a:tr h="208328">
                <a:tc vMerge="1">
                  <a:txBody>
                    <a:bodyPr/>
                    <a:lstStyle/>
                    <a:p>
                      <a:endParaRPr lang="en-US"/>
                    </a:p>
                  </a:txBody>
                  <a:tcPr/>
                </a:tc>
                <a:tc>
                  <a:txBody>
                    <a:bodyPr/>
                    <a:lstStyle/>
                    <a:p>
                      <a:pPr algn="l" fontAlgn="ctr"/>
                      <a:r>
                        <a:rPr lang="mn-MN" sz="1100" u="none" strike="noStrike">
                          <a:effectLst/>
                        </a:rPr>
                        <a:t> Жил 1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314,800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1,460,000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120,000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120,000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14,600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803,000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14,600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73,000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933259466"/>
                  </a:ext>
                </a:extLst>
              </a:tr>
              <a:tr h="208328">
                <a:tc vMerge="1">
                  <a:txBody>
                    <a:bodyPr/>
                    <a:lstStyle/>
                    <a:p>
                      <a:endParaRPr lang="en-US"/>
                    </a:p>
                  </a:txBody>
                  <a:tcPr/>
                </a:tc>
                <a:tc>
                  <a:txBody>
                    <a:bodyPr/>
                    <a:lstStyle/>
                    <a:p>
                      <a:pPr algn="l" fontAlgn="ctr"/>
                      <a:r>
                        <a:rPr lang="mn-MN" sz="1100" u="none" strike="noStrike">
                          <a:effectLst/>
                        </a:rPr>
                        <a:t> Жил 2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346,280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1,606,000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132,000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132,000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16,060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883,300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16,060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80,300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1364173289"/>
                  </a:ext>
                </a:extLst>
              </a:tr>
              <a:tr h="208328">
                <a:tc vMerge="1">
                  <a:txBody>
                    <a:bodyPr/>
                    <a:lstStyle/>
                    <a:p>
                      <a:endParaRPr lang="en-US"/>
                    </a:p>
                  </a:txBody>
                  <a:tcPr/>
                </a:tc>
                <a:tc>
                  <a:txBody>
                    <a:bodyPr/>
                    <a:lstStyle/>
                    <a:p>
                      <a:pPr algn="l" fontAlgn="ctr"/>
                      <a:r>
                        <a:rPr lang="mn-MN" sz="1100" u="none" strike="noStrike">
                          <a:effectLst/>
                        </a:rPr>
                        <a:t> Жил 3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380,908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1,766,600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145,200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145,200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17,666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971,630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17,666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88,330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791796162"/>
                  </a:ext>
                </a:extLst>
              </a:tr>
              <a:tr h="208328">
                <a:tc vMerge="1">
                  <a:txBody>
                    <a:bodyPr/>
                    <a:lstStyle/>
                    <a:p>
                      <a:endParaRPr lang="en-US"/>
                    </a:p>
                  </a:txBody>
                  <a:tcPr/>
                </a:tc>
                <a:tc>
                  <a:txBody>
                    <a:bodyPr/>
                    <a:lstStyle/>
                    <a:p>
                      <a:pPr algn="l" fontAlgn="ctr"/>
                      <a:r>
                        <a:rPr lang="mn-MN" sz="1100" u="none" strike="noStrike">
                          <a:effectLst/>
                        </a:rPr>
                        <a:t> Жил 4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418,999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1,943,260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159,720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159,720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19,433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1,068,793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19,433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97,163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551156965"/>
                  </a:ext>
                </a:extLst>
              </a:tr>
              <a:tr h="208328">
                <a:tc vMerge="1">
                  <a:txBody>
                    <a:bodyPr/>
                    <a:lstStyle/>
                    <a:p>
                      <a:endParaRPr lang="en-US"/>
                    </a:p>
                  </a:txBody>
                  <a:tcPr/>
                </a:tc>
                <a:tc>
                  <a:txBody>
                    <a:bodyPr/>
                    <a:lstStyle/>
                    <a:p>
                      <a:pPr algn="l" fontAlgn="ctr"/>
                      <a:r>
                        <a:rPr lang="mn-MN" sz="1100" u="none" strike="noStrike">
                          <a:effectLst/>
                        </a:rPr>
                        <a:t> Жил 5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460,899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2,137,586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175,692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175,692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21,376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1,175,672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21,376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tc>
                  <a:txBody>
                    <a:bodyPr/>
                    <a:lstStyle/>
                    <a:p>
                      <a:pPr algn="l" fontAlgn="ctr"/>
                      <a:r>
                        <a:rPr lang="en-US" sz="1100" u="none" strike="noStrike">
                          <a:effectLst/>
                        </a:rPr>
                        <a:t>                         106,879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lumMod val="95000"/>
                      </a:schemeClr>
                    </a:solidFill>
                  </a:tcPr>
                </a:tc>
                <a:extLst>
                  <a:ext uri="{0D108BD9-81ED-4DB2-BD59-A6C34878D82A}">
                    <a16:rowId xmlns:a16="http://schemas.microsoft.com/office/drawing/2014/main" val="3972661934"/>
                  </a:ext>
                </a:extLst>
              </a:tr>
              <a:tr h="208328">
                <a:tc rowSpan="6">
                  <a:txBody>
                    <a:bodyPr/>
                    <a:lstStyle/>
                    <a:p>
                      <a:pPr algn="ctr" fontAlgn="ctr"/>
                      <a:r>
                        <a:rPr lang="en-US" sz="1100" b="1" u="none" strike="noStrike">
                          <a:effectLst/>
                        </a:rPr>
                        <a:t>                                                 5,000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mn-MN" sz="1100" b="1" u="none" strike="noStrike">
                          <a:effectLst/>
                        </a:rPr>
                        <a:t> ӨҮЦ </a:t>
                      </a:r>
                      <a:endParaRPr lang="mn-MN"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2,768,663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11,141,808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732,612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732,612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111,418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6,127,994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111,418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b="1" u="none" strike="noStrike">
                          <a:effectLst/>
                        </a:rPr>
                        <a:t>                         557,090 </a:t>
                      </a:r>
                      <a:endParaRPr lang="en-US" sz="1100" b="1"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155129337"/>
                  </a:ext>
                </a:extLst>
              </a:tr>
              <a:tr h="208328">
                <a:tc vMerge="1">
                  <a:txBody>
                    <a:bodyPr/>
                    <a:lstStyle/>
                    <a:p>
                      <a:endParaRPr lang="en-US"/>
                    </a:p>
                  </a:txBody>
                  <a:tcPr/>
                </a:tc>
                <a:tc>
                  <a:txBody>
                    <a:bodyPr/>
                    <a:lstStyle/>
                    <a:p>
                      <a:pPr algn="l" fontAlgn="ctr"/>
                      <a:r>
                        <a:rPr lang="mn-MN" sz="1100" u="none" strike="noStrike">
                          <a:effectLst/>
                        </a:rPr>
                        <a:t> Жил 1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453,500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1,825,000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120,000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120,000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18,250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1,003,750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18,250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91,250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309209806"/>
                  </a:ext>
                </a:extLst>
              </a:tr>
              <a:tr h="208328">
                <a:tc vMerge="1">
                  <a:txBody>
                    <a:bodyPr/>
                    <a:lstStyle/>
                    <a:p>
                      <a:endParaRPr lang="en-US"/>
                    </a:p>
                  </a:txBody>
                  <a:tcPr/>
                </a:tc>
                <a:tc>
                  <a:txBody>
                    <a:bodyPr/>
                    <a:lstStyle/>
                    <a:p>
                      <a:pPr algn="l" fontAlgn="ctr"/>
                      <a:r>
                        <a:rPr lang="mn-MN" sz="1100" u="none" strike="noStrike">
                          <a:effectLst/>
                        </a:rPr>
                        <a:t> Жил 2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498,850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2,007,500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132,000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132,000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20,075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1,104,125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20,075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100,375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854911180"/>
                  </a:ext>
                </a:extLst>
              </a:tr>
              <a:tr h="208328">
                <a:tc vMerge="1">
                  <a:txBody>
                    <a:bodyPr/>
                    <a:lstStyle/>
                    <a:p>
                      <a:endParaRPr lang="en-US"/>
                    </a:p>
                  </a:txBody>
                  <a:tcPr/>
                </a:tc>
                <a:tc>
                  <a:txBody>
                    <a:bodyPr/>
                    <a:lstStyle/>
                    <a:p>
                      <a:pPr algn="l" fontAlgn="ctr"/>
                      <a:r>
                        <a:rPr lang="mn-MN" sz="1100" u="none" strike="noStrike">
                          <a:effectLst/>
                        </a:rPr>
                        <a:t> Жил 3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548,735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2,208,250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145,200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145,200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22,083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1,214,538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22,083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110,413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631989500"/>
                  </a:ext>
                </a:extLst>
              </a:tr>
              <a:tr h="208328">
                <a:tc vMerge="1">
                  <a:txBody>
                    <a:bodyPr/>
                    <a:lstStyle/>
                    <a:p>
                      <a:endParaRPr lang="en-US"/>
                    </a:p>
                  </a:txBody>
                  <a:tcPr/>
                </a:tc>
                <a:tc>
                  <a:txBody>
                    <a:bodyPr/>
                    <a:lstStyle/>
                    <a:p>
                      <a:pPr algn="l" fontAlgn="ctr"/>
                      <a:r>
                        <a:rPr lang="mn-MN" sz="1100" u="none" strike="noStrike">
                          <a:effectLst/>
                        </a:rPr>
                        <a:t> Жил 4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603,609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2,429,075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159,720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159,720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24,291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1,335,991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24,291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121,454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984658641"/>
                  </a:ext>
                </a:extLst>
              </a:tr>
              <a:tr h="208328">
                <a:tc vMerge="1">
                  <a:txBody>
                    <a:bodyPr/>
                    <a:lstStyle/>
                    <a:p>
                      <a:endParaRPr lang="en-US"/>
                    </a:p>
                  </a:txBody>
                  <a:tcPr/>
                </a:tc>
                <a:tc>
                  <a:txBody>
                    <a:bodyPr/>
                    <a:lstStyle/>
                    <a:p>
                      <a:pPr algn="l" fontAlgn="ctr"/>
                      <a:r>
                        <a:rPr lang="mn-MN" sz="1100" u="none" strike="noStrike">
                          <a:effectLst/>
                        </a:rPr>
                        <a:t> Жил 5 </a:t>
                      </a:r>
                      <a:endParaRPr lang="mn-MN"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663,969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2,671,983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175,692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175,692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26,720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1,469,590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26,720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l" fontAlgn="ctr"/>
                      <a:r>
                        <a:rPr lang="en-US" sz="1100" u="none" strike="noStrike">
                          <a:effectLst/>
                        </a:rPr>
                        <a:t>                         133,599 </a:t>
                      </a:r>
                      <a:endParaRPr lang="en-US" sz="1100" b="0" i="0" u="none" strike="noStrike">
                        <a:solidFill>
                          <a:srgbClr val="000000"/>
                        </a:solidFill>
                        <a:effectLst/>
                        <a:latin typeface="Segoe UI" panose="020B0502040204020203" pitchFamily="34" charset="0"/>
                      </a:endParaRPr>
                    </a:p>
                  </a:txBody>
                  <a:tcPr marL="7440" marR="7440" marT="744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480520479"/>
                  </a:ext>
                </a:extLst>
              </a:tr>
            </a:tbl>
          </a:graphicData>
        </a:graphic>
      </p:graphicFrame>
      <p:sp>
        <p:nvSpPr>
          <p:cNvPr id="11" name="TextBox 10">
            <a:extLst>
              <a:ext uri="{FF2B5EF4-FFF2-40B4-BE49-F238E27FC236}">
                <a16:creationId xmlns:a16="http://schemas.microsoft.com/office/drawing/2014/main" id="{04EAEFB6-2B34-CBF6-6E5B-023853225DF1}"/>
              </a:ext>
            </a:extLst>
          </p:cNvPr>
          <p:cNvSpPr txBox="1"/>
          <p:nvPr/>
        </p:nvSpPr>
        <p:spPr>
          <a:xfrm>
            <a:off x="313189" y="932575"/>
            <a:ext cx="2590774" cy="276999"/>
          </a:xfrm>
          <a:prstGeom prst="rect">
            <a:avLst/>
          </a:prstGeom>
          <a:noFill/>
        </p:spPr>
        <p:txBody>
          <a:bodyPr wrap="none" rtlCol="0">
            <a:spAutoFit/>
          </a:bodyPr>
          <a:lstStyle/>
          <a:p>
            <a:r>
              <a:rPr lang="mn-MN" sz="1200" b="1" i="1">
                <a:solidFill>
                  <a:srgbClr val="002060"/>
                </a:solidFill>
                <a:cs typeface="Segoe UI" panose="020B0502040204020203" pitchFamily="34" charset="0"/>
              </a:rPr>
              <a:t>Салбарын үр ашгийн тооцоолол</a:t>
            </a:r>
            <a:endParaRPr lang="en-US" sz="1200" i="1" dirty="0">
              <a:solidFill>
                <a:srgbClr val="002060"/>
              </a:solidFill>
              <a:cs typeface="Segoe UI" panose="020B0502040204020203" pitchFamily="34" charset="0"/>
            </a:endParaRPr>
          </a:p>
        </p:txBody>
      </p:sp>
    </p:spTree>
    <p:extLst>
      <p:ext uri="{BB962C8B-B14F-4D97-AF65-F5344CB8AC3E}">
        <p14:creationId xmlns:p14="http://schemas.microsoft.com/office/powerpoint/2010/main" val="4041213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011C9CC5-2F93-FD89-DCD9-88BBA679EE5A}"/>
              </a:ext>
            </a:extLst>
          </p:cNvPr>
          <p:cNvGrpSpPr/>
          <p:nvPr/>
        </p:nvGrpSpPr>
        <p:grpSpPr>
          <a:xfrm>
            <a:off x="3903126" y="313414"/>
            <a:ext cx="4385748" cy="461665"/>
            <a:chOff x="4033374" y="197560"/>
            <a:chExt cx="4065373" cy="366945"/>
          </a:xfrm>
        </p:grpSpPr>
        <p:sp>
          <p:nvSpPr>
            <p:cNvPr id="24" name="Rounded Rectangle 40">
              <a:extLst>
                <a:ext uri="{FF2B5EF4-FFF2-40B4-BE49-F238E27FC236}">
                  <a16:creationId xmlns:a16="http://schemas.microsoft.com/office/drawing/2014/main" id="{CAA87672-A3B9-F7F2-83A4-4B73A6ACB85E}"/>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25" name="Rectangle 24">
              <a:extLst>
                <a:ext uri="{FF2B5EF4-FFF2-40B4-BE49-F238E27FC236}">
                  <a16:creationId xmlns:a16="http://schemas.microsoft.com/office/drawing/2014/main" id="{E7076B1A-7615-B58F-B4E2-0427198337D4}"/>
                </a:ext>
              </a:extLst>
            </p:cNvPr>
            <p:cNvSpPr/>
            <p:nvPr/>
          </p:nvSpPr>
          <p:spPr>
            <a:xfrm>
              <a:off x="4244477" y="197560"/>
              <a:ext cx="3643166" cy="366945"/>
            </a:xfrm>
            <a:prstGeom prst="rect">
              <a:avLst/>
            </a:prstGeom>
          </p:spPr>
          <p:txBody>
            <a:bodyPr wrap="square" anchor="ctr">
              <a:spAutoFit/>
            </a:bodyPr>
            <a:lstStyle/>
            <a:p>
              <a:pPr algn="ctr"/>
              <a:r>
                <a:rPr lang="mn-MN" sz="1200" b="1">
                  <a:solidFill>
                    <a:schemeClr val="bg1"/>
                  </a:solidFill>
                  <a:cs typeface="Segoe UI" panose="020B0502040204020203" pitchFamily="34" charset="0"/>
                </a:rPr>
                <a:t>Одоогоор мөрдөгдөж байгаа ЗБДСантай зээлүүдийн нөхцөл</a:t>
              </a:r>
              <a:endParaRPr lang="en-US" sz="1200" b="1" dirty="0">
                <a:solidFill>
                  <a:schemeClr val="bg1"/>
                </a:solidFill>
                <a:cs typeface="Segoe UI" panose="020B0502040204020203" pitchFamily="34" charset="0"/>
              </a:endParaRPr>
            </a:p>
          </p:txBody>
        </p:sp>
      </p:grp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19</a:t>
            </a:fld>
            <a:endParaRPr lang="en-US" sz="1200" dirty="0">
              <a:solidFill>
                <a:schemeClr val="bg1">
                  <a:lumMod val="65000"/>
                </a:schemeClr>
              </a:solidFill>
              <a:cs typeface="Segoe UI Light" panose="020B0502040204020203" pitchFamily="34" charset="0"/>
            </a:endParaRPr>
          </a:p>
        </p:txBody>
      </p:sp>
      <p:grpSp>
        <p:nvGrpSpPr>
          <p:cNvPr id="3" name="object 2">
            <a:extLst>
              <a:ext uri="{FF2B5EF4-FFF2-40B4-BE49-F238E27FC236}">
                <a16:creationId xmlns:a16="http://schemas.microsoft.com/office/drawing/2014/main" id="{A32A6A10-2A45-750B-56AF-1856A32B1130}"/>
              </a:ext>
            </a:extLst>
          </p:cNvPr>
          <p:cNvGrpSpPr/>
          <p:nvPr/>
        </p:nvGrpSpPr>
        <p:grpSpPr>
          <a:xfrm>
            <a:off x="464711" y="1316736"/>
            <a:ext cx="3345179" cy="1430020"/>
            <a:chOff x="143002" y="1310386"/>
            <a:chExt cx="3353435" cy="1430020"/>
          </a:xfrm>
        </p:grpSpPr>
        <p:sp>
          <p:nvSpPr>
            <p:cNvPr id="4" name="object 3">
              <a:extLst>
                <a:ext uri="{FF2B5EF4-FFF2-40B4-BE49-F238E27FC236}">
                  <a16:creationId xmlns:a16="http://schemas.microsoft.com/office/drawing/2014/main" id="{03641E59-6B47-3829-294F-4D738E547142}"/>
                </a:ext>
              </a:extLst>
            </p:cNvPr>
            <p:cNvSpPr/>
            <p:nvPr/>
          </p:nvSpPr>
          <p:spPr>
            <a:xfrm>
              <a:off x="149352" y="1316736"/>
              <a:ext cx="3340735" cy="1417320"/>
            </a:xfrm>
            <a:custGeom>
              <a:avLst/>
              <a:gdLst/>
              <a:ahLst/>
              <a:cxnLst/>
              <a:rect l="l" t="t" r="r" b="b"/>
              <a:pathLst>
                <a:path w="3340735" h="1417320">
                  <a:moveTo>
                    <a:pt x="3104388" y="0"/>
                  </a:moveTo>
                  <a:lnTo>
                    <a:pt x="236220" y="0"/>
                  </a:lnTo>
                  <a:lnTo>
                    <a:pt x="188615" y="4800"/>
                  </a:lnTo>
                  <a:lnTo>
                    <a:pt x="144275" y="18567"/>
                  </a:lnTo>
                  <a:lnTo>
                    <a:pt x="104149" y="40351"/>
                  </a:lnTo>
                  <a:lnTo>
                    <a:pt x="69189" y="69199"/>
                  </a:lnTo>
                  <a:lnTo>
                    <a:pt x="40344" y="104161"/>
                  </a:lnTo>
                  <a:lnTo>
                    <a:pt x="18564" y="144285"/>
                  </a:lnTo>
                  <a:lnTo>
                    <a:pt x="4799" y="188622"/>
                  </a:lnTo>
                  <a:lnTo>
                    <a:pt x="0" y="236219"/>
                  </a:lnTo>
                  <a:lnTo>
                    <a:pt x="0" y="1417319"/>
                  </a:lnTo>
                  <a:lnTo>
                    <a:pt x="3340608" y="1417319"/>
                  </a:lnTo>
                  <a:lnTo>
                    <a:pt x="3340608" y="236219"/>
                  </a:lnTo>
                  <a:lnTo>
                    <a:pt x="3335807" y="188622"/>
                  </a:lnTo>
                  <a:lnTo>
                    <a:pt x="3322040" y="144285"/>
                  </a:lnTo>
                  <a:lnTo>
                    <a:pt x="3300256" y="104161"/>
                  </a:lnTo>
                  <a:lnTo>
                    <a:pt x="3271408" y="69199"/>
                  </a:lnTo>
                  <a:lnTo>
                    <a:pt x="3236446" y="40351"/>
                  </a:lnTo>
                  <a:lnTo>
                    <a:pt x="3196322" y="18567"/>
                  </a:lnTo>
                  <a:lnTo>
                    <a:pt x="3151985" y="4800"/>
                  </a:lnTo>
                  <a:lnTo>
                    <a:pt x="3104388" y="0"/>
                  </a:lnTo>
                  <a:close/>
                </a:path>
              </a:pathLst>
            </a:custGeom>
            <a:solidFill>
              <a:srgbClr val="1F3863"/>
            </a:solidFill>
          </p:spPr>
          <p:txBody>
            <a:bodyPr wrap="square" lIns="0" tIns="0" rIns="0" bIns="0" rtlCol="0"/>
            <a:lstStyle/>
            <a:p>
              <a:endParaRPr/>
            </a:p>
          </p:txBody>
        </p:sp>
        <p:sp>
          <p:nvSpPr>
            <p:cNvPr id="5" name="object 4">
              <a:extLst>
                <a:ext uri="{FF2B5EF4-FFF2-40B4-BE49-F238E27FC236}">
                  <a16:creationId xmlns:a16="http://schemas.microsoft.com/office/drawing/2014/main" id="{3FA0C0DF-001F-5D3A-57B0-CE5C544C13CB}"/>
                </a:ext>
              </a:extLst>
            </p:cNvPr>
            <p:cNvSpPr/>
            <p:nvPr/>
          </p:nvSpPr>
          <p:spPr>
            <a:xfrm>
              <a:off x="149352" y="1316736"/>
              <a:ext cx="3340735" cy="1417320"/>
            </a:xfrm>
            <a:custGeom>
              <a:avLst/>
              <a:gdLst/>
              <a:ahLst/>
              <a:cxnLst/>
              <a:rect l="l" t="t" r="r" b="b"/>
              <a:pathLst>
                <a:path w="3340735" h="1417320">
                  <a:moveTo>
                    <a:pt x="236220" y="0"/>
                  </a:moveTo>
                  <a:lnTo>
                    <a:pt x="3104388" y="0"/>
                  </a:lnTo>
                  <a:lnTo>
                    <a:pt x="3151985" y="4800"/>
                  </a:lnTo>
                  <a:lnTo>
                    <a:pt x="3196322" y="18567"/>
                  </a:lnTo>
                  <a:lnTo>
                    <a:pt x="3236446" y="40351"/>
                  </a:lnTo>
                  <a:lnTo>
                    <a:pt x="3271408" y="69199"/>
                  </a:lnTo>
                  <a:lnTo>
                    <a:pt x="3300256" y="104161"/>
                  </a:lnTo>
                  <a:lnTo>
                    <a:pt x="3322040" y="144285"/>
                  </a:lnTo>
                  <a:lnTo>
                    <a:pt x="3335807" y="188622"/>
                  </a:lnTo>
                  <a:lnTo>
                    <a:pt x="3340608" y="236219"/>
                  </a:lnTo>
                  <a:lnTo>
                    <a:pt x="3340608" y="1417319"/>
                  </a:lnTo>
                  <a:lnTo>
                    <a:pt x="0" y="1417319"/>
                  </a:lnTo>
                  <a:lnTo>
                    <a:pt x="0" y="236219"/>
                  </a:lnTo>
                  <a:lnTo>
                    <a:pt x="4799" y="188622"/>
                  </a:lnTo>
                  <a:lnTo>
                    <a:pt x="18564" y="144285"/>
                  </a:lnTo>
                  <a:lnTo>
                    <a:pt x="40344" y="104161"/>
                  </a:lnTo>
                  <a:lnTo>
                    <a:pt x="69189" y="69199"/>
                  </a:lnTo>
                  <a:lnTo>
                    <a:pt x="104149" y="40351"/>
                  </a:lnTo>
                  <a:lnTo>
                    <a:pt x="144275" y="18567"/>
                  </a:lnTo>
                  <a:lnTo>
                    <a:pt x="188615" y="4800"/>
                  </a:lnTo>
                  <a:lnTo>
                    <a:pt x="236220" y="0"/>
                  </a:lnTo>
                  <a:close/>
                </a:path>
              </a:pathLst>
            </a:custGeom>
            <a:ln w="12192">
              <a:solidFill>
                <a:srgbClr val="000000"/>
              </a:solidFill>
            </a:ln>
          </p:spPr>
          <p:txBody>
            <a:bodyPr wrap="square" lIns="0" tIns="0" rIns="0" bIns="0" rtlCol="0"/>
            <a:lstStyle/>
            <a:p>
              <a:endParaRPr/>
            </a:p>
          </p:txBody>
        </p:sp>
      </p:grpSp>
      <p:sp>
        <p:nvSpPr>
          <p:cNvPr id="6" name="object 5">
            <a:extLst>
              <a:ext uri="{FF2B5EF4-FFF2-40B4-BE49-F238E27FC236}">
                <a16:creationId xmlns:a16="http://schemas.microsoft.com/office/drawing/2014/main" id="{11661D41-F1B0-7A00-1963-534029D209F6}"/>
              </a:ext>
            </a:extLst>
          </p:cNvPr>
          <p:cNvSpPr txBox="1"/>
          <p:nvPr/>
        </p:nvSpPr>
        <p:spPr>
          <a:xfrm>
            <a:off x="1573822" y="1487423"/>
            <a:ext cx="2131060" cy="438784"/>
          </a:xfrm>
          <a:prstGeom prst="rect">
            <a:avLst/>
          </a:prstGeom>
        </p:spPr>
        <p:txBody>
          <a:bodyPr vert="horz" wrap="square" lIns="0" tIns="13970" rIns="0" bIns="0" rtlCol="0">
            <a:spAutoFit/>
          </a:bodyPr>
          <a:lstStyle/>
          <a:p>
            <a:pPr marL="12700" marR="5080" indent="-5715" algn="ctr">
              <a:lnSpc>
                <a:spcPct val="100000"/>
              </a:lnSpc>
              <a:spcBef>
                <a:spcPts val="110"/>
              </a:spcBef>
            </a:pPr>
            <a:r>
              <a:rPr sz="900" b="1" dirty="0">
                <a:solidFill>
                  <a:srgbClr val="FFFFFF"/>
                </a:solidFill>
                <a:latin typeface="Times New Roman"/>
                <a:cs typeface="Times New Roman"/>
              </a:rPr>
              <a:t>Азийн</a:t>
            </a:r>
            <a:r>
              <a:rPr sz="900" b="1" spc="-30" dirty="0">
                <a:solidFill>
                  <a:srgbClr val="FFFFFF"/>
                </a:solidFill>
                <a:latin typeface="Times New Roman"/>
                <a:cs typeface="Times New Roman"/>
              </a:rPr>
              <a:t> </a:t>
            </a:r>
            <a:r>
              <a:rPr sz="900" b="1" dirty="0">
                <a:solidFill>
                  <a:srgbClr val="FFFFFF"/>
                </a:solidFill>
                <a:latin typeface="Times New Roman"/>
                <a:cs typeface="Times New Roman"/>
              </a:rPr>
              <a:t>хөгжлийн</a:t>
            </a:r>
            <a:r>
              <a:rPr sz="900" b="1" spc="-30" dirty="0">
                <a:solidFill>
                  <a:srgbClr val="FFFFFF"/>
                </a:solidFill>
                <a:latin typeface="Times New Roman"/>
                <a:cs typeface="Times New Roman"/>
              </a:rPr>
              <a:t> </a:t>
            </a:r>
            <a:r>
              <a:rPr sz="900" b="1" dirty="0">
                <a:solidFill>
                  <a:srgbClr val="FFFFFF"/>
                </a:solidFill>
                <a:latin typeface="Times New Roman"/>
                <a:cs typeface="Times New Roman"/>
              </a:rPr>
              <a:t>банктай</a:t>
            </a:r>
            <a:r>
              <a:rPr sz="900" b="1" spc="-50" dirty="0">
                <a:solidFill>
                  <a:srgbClr val="FFFFFF"/>
                </a:solidFill>
                <a:latin typeface="Times New Roman"/>
                <a:cs typeface="Times New Roman"/>
              </a:rPr>
              <a:t> </a:t>
            </a:r>
            <a:r>
              <a:rPr sz="900" b="1" spc="-10" dirty="0">
                <a:solidFill>
                  <a:srgbClr val="FFFFFF"/>
                </a:solidFill>
                <a:latin typeface="Times New Roman"/>
                <a:cs typeface="Times New Roman"/>
              </a:rPr>
              <a:t>хамтран </a:t>
            </a:r>
            <a:r>
              <a:rPr sz="900" b="1" dirty="0">
                <a:solidFill>
                  <a:srgbClr val="FFFFFF"/>
                </a:solidFill>
                <a:latin typeface="Times New Roman"/>
                <a:cs typeface="Times New Roman"/>
              </a:rPr>
              <a:t>хэрэгжүүлж</a:t>
            </a:r>
            <a:r>
              <a:rPr sz="900" b="1" spc="-20" dirty="0">
                <a:solidFill>
                  <a:srgbClr val="FFFFFF"/>
                </a:solidFill>
                <a:latin typeface="Times New Roman"/>
                <a:cs typeface="Times New Roman"/>
              </a:rPr>
              <a:t> </a:t>
            </a:r>
            <a:r>
              <a:rPr sz="900" b="1" dirty="0">
                <a:solidFill>
                  <a:srgbClr val="FFFFFF"/>
                </a:solidFill>
                <a:latin typeface="Times New Roman"/>
                <a:cs typeface="Times New Roman"/>
              </a:rPr>
              <a:t>буй</a:t>
            </a:r>
            <a:r>
              <a:rPr sz="900" b="1" spc="15" dirty="0">
                <a:solidFill>
                  <a:srgbClr val="FFFFFF"/>
                </a:solidFill>
                <a:latin typeface="Times New Roman"/>
                <a:cs typeface="Times New Roman"/>
              </a:rPr>
              <a:t> </a:t>
            </a:r>
            <a:r>
              <a:rPr sz="900" b="1" dirty="0">
                <a:solidFill>
                  <a:srgbClr val="FFFFFF"/>
                </a:solidFill>
                <a:latin typeface="Times New Roman"/>
                <a:cs typeface="Times New Roman"/>
              </a:rPr>
              <a:t>төслийн</a:t>
            </a:r>
            <a:r>
              <a:rPr sz="900" b="1" spc="-55" dirty="0">
                <a:solidFill>
                  <a:srgbClr val="FFFFFF"/>
                </a:solidFill>
                <a:latin typeface="Times New Roman"/>
                <a:cs typeface="Times New Roman"/>
              </a:rPr>
              <a:t> </a:t>
            </a:r>
            <a:r>
              <a:rPr sz="900" b="1" dirty="0">
                <a:solidFill>
                  <a:srgbClr val="FFFFFF"/>
                </a:solidFill>
                <a:latin typeface="Times New Roman"/>
                <a:cs typeface="Times New Roman"/>
              </a:rPr>
              <a:t>“Эх</a:t>
            </a:r>
            <a:r>
              <a:rPr sz="900" b="1" spc="-35" dirty="0">
                <a:solidFill>
                  <a:srgbClr val="FFFFFF"/>
                </a:solidFill>
                <a:latin typeface="Times New Roman"/>
                <a:cs typeface="Times New Roman"/>
              </a:rPr>
              <a:t> </a:t>
            </a:r>
            <a:r>
              <a:rPr sz="900" b="1" spc="-10" dirty="0">
                <a:solidFill>
                  <a:srgbClr val="FFFFFF"/>
                </a:solidFill>
                <a:latin typeface="Times New Roman"/>
                <a:cs typeface="Times New Roman"/>
              </a:rPr>
              <a:t>үүсвэртэй” </a:t>
            </a:r>
            <a:r>
              <a:rPr sz="900" b="1" dirty="0">
                <a:solidFill>
                  <a:srgbClr val="FFFFFF"/>
                </a:solidFill>
                <a:latin typeface="Times New Roman"/>
                <a:cs typeface="Times New Roman"/>
              </a:rPr>
              <a:t>батлан</a:t>
            </a:r>
            <a:r>
              <a:rPr sz="900" b="1" spc="-20" dirty="0">
                <a:solidFill>
                  <a:srgbClr val="FFFFFF"/>
                </a:solidFill>
                <a:latin typeface="Times New Roman"/>
                <a:cs typeface="Times New Roman"/>
              </a:rPr>
              <a:t> </a:t>
            </a:r>
            <a:r>
              <a:rPr sz="900" b="1" dirty="0">
                <a:solidFill>
                  <a:srgbClr val="FFFFFF"/>
                </a:solidFill>
                <a:latin typeface="Times New Roman"/>
                <a:cs typeface="Times New Roman"/>
              </a:rPr>
              <a:t>даалттай</a:t>
            </a:r>
            <a:r>
              <a:rPr sz="900" b="1" spc="-70" dirty="0">
                <a:solidFill>
                  <a:srgbClr val="FFFFFF"/>
                </a:solidFill>
                <a:latin typeface="Times New Roman"/>
                <a:cs typeface="Times New Roman"/>
              </a:rPr>
              <a:t> </a:t>
            </a:r>
            <a:r>
              <a:rPr sz="900" b="1" spc="-20" dirty="0">
                <a:solidFill>
                  <a:srgbClr val="FFFFFF"/>
                </a:solidFill>
                <a:latin typeface="Times New Roman"/>
                <a:cs typeface="Times New Roman"/>
              </a:rPr>
              <a:t>зээл</a:t>
            </a:r>
            <a:endParaRPr sz="900" dirty="0">
              <a:latin typeface="Times New Roman"/>
              <a:cs typeface="Times New Roman"/>
            </a:endParaRPr>
          </a:p>
        </p:txBody>
      </p:sp>
      <p:graphicFrame>
        <p:nvGraphicFramePr>
          <p:cNvPr id="8" name="object 6">
            <a:extLst>
              <a:ext uri="{FF2B5EF4-FFF2-40B4-BE49-F238E27FC236}">
                <a16:creationId xmlns:a16="http://schemas.microsoft.com/office/drawing/2014/main" id="{49BA50A0-CDF3-247F-94E7-3DA633D66E23}"/>
              </a:ext>
            </a:extLst>
          </p:cNvPr>
          <p:cNvGraphicFramePr>
            <a:graphicFrameLocks noGrp="1"/>
          </p:cNvGraphicFramePr>
          <p:nvPr>
            <p:extLst>
              <p:ext uri="{D42A27DB-BD31-4B8C-83A1-F6EECF244321}">
                <p14:modId xmlns:p14="http://schemas.microsoft.com/office/powerpoint/2010/main" val="1748960728"/>
              </p:ext>
            </p:extLst>
          </p:nvPr>
        </p:nvGraphicFramePr>
        <p:xfrm>
          <a:off x="476711" y="2111884"/>
          <a:ext cx="3321177" cy="4142267"/>
        </p:xfrm>
        <a:graphic>
          <a:graphicData uri="http://schemas.openxmlformats.org/drawingml/2006/table">
            <a:tbl>
              <a:tblPr firstRow="1" bandRow="1">
                <a:tableStyleId>{2D5ABB26-0587-4C30-8999-92F81FD0307C}</a:tableStyleId>
              </a:tblPr>
              <a:tblGrid>
                <a:gridCol w="1323030">
                  <a:extLst>
                    <a:ext uri="{9D8B030D-6E8A-4147-A177-3AD203B41FA5}">
                      <a16:colId xmlns:a16="http://schemas.microsoft.com/office/drawing/2014/main" val="20000"/>
                    </a:ext>
                  </a:extLst>
                </a:gridCol>
                <a:gridCol w="1998147">
                  <a:extLst>
                    <a:ext uri="{9D8B030D-6E8A-4147-A177-3AD203B41FA5}">
                      <a16:colId xmlns:a16="http://schemas.microsoft.com/office/drawing/2014/main" val="20001"/>
                    </a:ext>
                  </a:extLst>
                </a:gridCol>
              </a:tblGrid>
              <a:tr h="282813">
                <a:tc>
                  <a:txBody>
                    <a:bodyPr/>
                    <a:lstStyle/>
                    <a:p>
                      <a:pPr marL="69850">
                        <a:lnSpc>
                          <a:spcPct val="100000"/>
                        </a:lnSpc>
                        <a:spcBef>
                          <a:spcPts val="710"/>
                        </a:spcBef>
                      </a:pPr>
                      <a:r>
                        <a:rPr sz="800" b="1" spc="-10" dirty="0">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хэмжээ</a:t>
                      </a:r>
                      <a:endParaRPr sz="800" dirty="0">
                        <a:latin typeface="Times New Roman"/>
                        <a:cs typeface="Times New Roman"/>
                      </a:endParaRPr>
                    </a:p>
                  </a:txBody>
                  <a:tcPr marL="0" marR="0" marT="90170" marB="0">
                    <a:lnL w="12700">
                      <a:solidFill>
                        <a:srgbClr val="000000"/>
                      </a:solidFill>
                      <a:prstDash val="solid"/>
                    </a:lnL>
                    <a:lnR w="9525">
                      <a:solidFill>
                        <a:srgbClr val="AEABAB"/>
                      </a:solidFill>
                      <a:prstDash val="sysDash"/>
                    </a:lnR>
                    <a:lnT w="12700">
                      <a:solidFill>
                        <a:srgbClr val="000000"/>
                      </a:solidFill>
                      <a:prstDash val="solid"/>
                    </a:lnT>
                    <a:lnB w="9525">
                      <a:solidFill>
                        <a:srgbClr val="AEABAB"/>
                      </a:solidFill>
                      <a:prstDash val="sysDash"/>
                    </a:lnB>
                    <a:solidFill>
                      <a:srgbClr val="FFFFFF"/>
                    </a:solidFill>
                  </a:tcPr>
                </a:tc>
                <a:tc>
                  <a:txBody>
                    <a:bodyPr/>
                    <a:lstStyle/>
                    <a:p>
                      <a:pPr marL="59055">
                        <a:lnSpc>
                          <a:spcPct val="100000"/>
                        </a:lnSpc>
                        <a:spcBef>
                          <a:spcPts val="710"/>
                        </a:spcBef>
                      </a:pPr>
                      <a:r>
                        <a:rPr sz="800" dirty="0">
                          <a:latin typeface="Times New Roman"/>
                          <a:cs typeface="Times New Roman"/>
                        </a:rPr>
                        <a:t>2.0</a:t>
                      </a:r>
                      <a:r>
                        <a:rPr sz="800" spc="-35" dirty="0">
                          <a:latin typeface="Times New Roman"/>
                          <a:cs typeface="Times New Roman"/>
                        </a:rPr>
                        <a:t> </a:t>
                      </a:r>
                      <a:r>
                        <a:rPr sz="800" spc="-10" dirty="0">
                          <a:latin typeface="Times New Roman"/>
                          <a:cs typeface="Times New Roman"/>
                        </a:rPr>
                        <a:t>тэрбум</a:t>
                      </a:r>
                      <a:r>
                        <a:rPr sz="800" spc="15" dirty="0">
                          <a:latin typeface="Times New Roman"/>
                          <a:cs typeface="Times New Roman"/>
                        </a:rPr>
                        <a:t> </a:t>
                      </a:r>
                      <a:r>
                        <a:rPr sz="800" dirty="0">
                          <a:latin typeface="Times New Roman"/>
                          <a:cs typeface="Times New Roman"/>
                        </a:rPr>
                        <a:t>төгрөг</a:t>
                      </a:r>
                      <a:r>
                        <a:rPr sz="800" spc="5" dirty="0">
                          <a:latin typeface="Times New Roman"/>
                          <a:cs typeface="Times New Roman"/>
                        </a:rPr>
                        <a:t> </a:t>
                      </a:r>
                      <a:r>
                        <a:rPr sz="800" spc="-10" dirty="0">
                          <a:latin typeface="Times New Roman"/>
                          <a:cs typeface="Times New Roman"/>
                        </a:rPr>
                        <a:t>хүртэл</a:t>
                      </a:r>
                      <a:endParaRPr sz="800" dirty="0">
                        <a:latin typeface="Times New Roman"/>
                        <a:cs typeface="Times New Roman"/>
                      </a:endParaRPr>
                    </a:p>
                  </a:txBody>
                  <a:tcPr marL="0" marR="0" marT="90170" marB="0">
                    <a:lnL w="9525">
                      <a:solidFill>
                        <a:srgbClr val="AEABAB"/>
                      </a:solidFill>
                      <a:prstDash val="sysDash"/>
                    </a:lnL>
                    <a:lnR w="12700">
                      <a:solidFill>
                        <a:srgbClr val="000000"/>
                      </a:solidFill>
                      <a:prstDash val="solid"/>
                    </a:lnR>
                    <a:lnT w="12700">
                      <a:solidFill>
                        <a:srgbClr val="000000"/>
                      </a:solidFill>
                      <a:prstDash val="solid"/>
                    </a:lnT>
                    <a:lnB w="9525">
                      <a:solidFill>
                        <a:srgbClr val="AEABAB"/>
                      </a:solidFill>
                      <a:prstDash val="sysDash"/>
                    </a:lnB>
                    <a:solidFill>
                      <a:srgbClr val="FFFFFF"/>
                    </a:solidFill>
                  </a:tcPr>
                </a:tc>
                <a:extLst>
                  <a:ext uri="{0D108BD9-81ED-4DB2-BD59-A6C34878D82A}">
                    <a16:rowId xmlns:a16="http://schemas.microsoft.com/office/drawing/2014/main" val="10000"/>
                  </a:ext>
                </a:extLst>
              </a:tr>
              <a:tr h="183494">
                <a:tc>
                  <a:txBody>
                    <a:bodyPr/>
                    <a:lstStyle/>
                    <a:p>
                      <a:pPr marL="69850">
                        <a:lnSpc>
                          <a:spcPct val="100000"/>
                        </a:lnSpc>
                        <a:spcBef>
                          <a:spcPts val="275"/>
                        </a:spcBef>
                      </a:pPr>
                      <a:r>
                        <a:rPr sz="800" b="1" spc="-10" dirty="0">
                          <a:latin typeface="Times New Roman"/>
                          <a:cs typeface="Times New Roman"/>
                        </a:rPr>
                        <a:t>Зээлийн</a:t>
                      </a:r>
                      <a:r>
                        <a:rPr sz="800" b="1" spc="25" dirty="0">
                          <a:latin typeface="Times New Roman"/>
                          <a:cs typeface="Times New Roman"/>
                        </a:rPr>
                        <a:t> </a:t>
                      </a:r>
                      <a:r>
                        <a:rPr sz="800" b="1" spc="-25" dirty="0">
                          <a:latin typeface="Times New Roman"/>
                          <a:cs typeface="Times New Roman"/>
                        </a:rPr>
                        <a:t>хүү</a:t>
                      </a:r>
                      <a:endParaRPr sz="800">
                        <a:latin typeface="Times New Roman"/>
                        <a:cs typeface="Times New Roman"/>
                      </a:endParaRPr>
                    </a:p>
                  </a:txBody>
                  <a:tcPr marL="0" marR="0" marT="3492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a:lnSpc>
                          <a:spcPct val="100000"/>
                        </a:lnSpc>
                        <a:spcBef>
                          <a:spcPts val="275"/>
                        </a:spcBef>
                      </a:pPr>
                      <a:r>
                        <a:rPr lang="mn-MN" sz="800" spc="-10">
                          <a:latin typeface="Times New Roman"/>
                          <a:cs typeface="Times New Roman"/>
                        </a:rPr>
                        <a:t>8.88%-</a:t>
                      </a:r>
                      <a:r>
                        <a:rPr lang="mn-MN" sz="800">
                          <a:latin typeface="Times New Roman"/>
                          <a:cs typeface="Times New Roman"/>
                        </a:rPr>
                        <a:t>12.34%</a:t>
                      </a:r>
                      <a:r>
                        <a:rPr lang="mn-MN" sz="800" spc="25">
                          <a:latin typeface="Times New Roman"/>
                          <a:cs typeface="Times New Roman"/>
                        </a:rPr>
                        <a:t> </a:t>
                      </a:r>
                      <a:r>
                        <a:rPr lang="mn-MN" sz="800" spc="-10">
                          <a:latin typeface="Times New Roman"/>
                          <a:cs typeface="Times New Roman"/>
                        </a:rPr>
                        <a:t>/жилийн/</a:t>
                      </a:r>
                      <a:endParaRPr lang="mn-MN" sz="800">
                        <a:latin typeface="Times New Roman"/>
                        <a:cs typeface="Times New Roman"/>
                      </a:endParaRPr>
                    </a:p>
                  </a:txBody>
                  <a:tcPr marL="0" marR="0" marT="3492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1"/>
                  </a:ext>
                </a:extLst>
              </a:tr>
              <a:tr h="656715">
                <a:tc>
                  <a:txBody>
                    <a:bodyPr/>
                    <a:lstStyle/>
                    <a:p>
                      <a:pPr marL="69850">
                        <a:lnSpc>
                          <a:spcPct val="100000"/>
                        </a:lnSpc>
                      </a:pPr>
                      <a:r>
                        <a:rPr sz="800" b="1" spc="-10" dirty="0" err="1">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хугацаа</a:t>
                      </a:r>
                      <a:endParaRPr sz="800" dirty="0">
                        <a:latin typeface="Times New Roman"/>
                        <a:cs typeface="Times New Roman"/>
                      </a:endParaRPr>
                    </a:p>
                  </a:txBody>
                  <a:tcPr marL="0" marR="0" marT="0" marB="0" anchor="ctr">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marR="46355" algn="just">
                        <a:lnSpc>
                          <a:spcPct val="107200"/>
                        </a:lnSpc>
                        <a:spcBef>
                          <a:spcPts val="459"/>
                        </a:spcBef>
                      </a:pPr>
                      <a:r>
                        <a:rPr lang="mn-MN" sz="800" dirty="0">
                          <a:solidFill>
                            <a:schemeClr val="tx1"/>
                          </a:solidFill>
                          <a:latin typeface="Times New Roman"/>
                          <a:ea typeface="+mn-ea"/>
                          <a:cs typeface="Times New Roman"/>
                        </a:rPr>
                        <a:t>Хөрөнгө оруулалтын зээл </a:t>
                      </a:r>
                      <a:r>
                        <a:rPr lang="mn-MN" sz="800" spc="270" dirty="0">
                          <a:solidFill>
                            <a:schemeClr val="tx1"/>
                          </a:solidFill>
                          <a:latin typeface="Times New Roman"/>
                          <a:cs typeface="Times New Roman"/>
                        </a:rPr>
                        <a:t>60</a:t>
                      </a:r>
                      <a:r>
                        <a:rPr sz="800" dirty="0" err="1">
                          <a:solidFill>
                            <a:schemeClr val="tx1"/>
                          </a:solidFill>
                          <a:latin typeface="Times New Roman"/>
                          <a:cs typeface="Times New Roman"/>
                        </a:rPr>
                        <a:t>сар</a:t>
                      </a:r>
                      <a:r>
                        <a:rPr sz="800" spc="250" dirty="0">
                          <a:solidFill>
                            <a:schemeClr val="tx1"/>
                          </a:solidFill>
                          <a:latin typeface="Times New Roman"/>
                          <a:cs typeface="Times New Roman"/>
                        </a:rPr>
                        <a:t> </a:t>
                      </a:r>
                      <a:r>
                        <a:rPr sz="800" dirty="0" err="1">
                          <a:latin typeface="Times New Roman"/>
                          <a:cs typeface="Times New Roman"/>
                        </a:rPr>
                        <a:t>буюу</a:t>
                      </a:r>
                      <a:r>
                        <a:rPr sz="800" spc="275" dirty="0">
                          <a:latin typeface="Times New Roman"/>
                          <a:cs typeface="Times New Roman"/>
                        </a:rPr>
                        <a:t> </a:t>
                      </a:r>
                      <a:r>
                        <a:rPr lang="en-US" sz="800" spc="275" dirty="0">
                          <a:latin typeface="Times New Roman"/>
                          <a:cs typeface="Times New Roman"/>
                        </a:rPr>
                        <a:t>5</a:t>
                      </a:r>
                      <a:r>
                        <a:rPr sz="800" dirty="0">
                          <a:latin typeface="Times New Roman"/>
                          <a:cs typeface="Times New Roman"/>
                        </a:rPr>
                        <a:t>хүртэл</a:t>
                      </a:r>
                      <a:r>
                        <a:rPr sz="800" spc="254" dirty="0">
                          <a:latin typeface="Times New Roman"/>
                          <a:cs typeface="Times New Roman"/>
                        </a:rPr>
                        <a:t> </a:t>
                      </a:r>
                      <a:r>
                        <a:rPr sz="800" dirty="0">
                          <a:latin typeface="Times New Roman"/>
                          <a:cs typeface="Times New Roman"/>
                        </a:rPr>
                        <a:t>жил</a:t>
                      </a:r>
                      <a:r>
                        <a:rPr sz="800" spc="254" dirty="0">
                          <a:latin typeface="Times New Roman"/>
                          <a:cs typeface="Times New Roman"/>
                        </a:rPr>
                        <a:t> </a:t>
                      </a:r>
                      <a:r>
                        <a:rPr sz="800" spc="-10" dirty="0">
                          <a:latin typeface="Times New Roman"/>
                          <a:cs typeface="Times New Roman"/>
                        </a:rPr>
                        <a:t>/</a:t>
                      </a:r>
                      <a:r>
                        <a:rPr sz="800" spc="-10" dirty="0" err="1">
                          <a:latin typeface="Times New Roman"/>
                          <a:cs typeface="Times New Roman"/>
                        </a:rPr>
                        <a:t>Эргэлтийн</a:t>
                      </a:r>
                      <a:r>
                        <a:rPr lang="en-US" sz="800" spc="500" dirty="0">
                          <a:latin typeface="Times New Roman"/>
                          <a:cs typeface="Times New Roman"/>
                        </a:rPr>
                        <a:t> </a:t>
                      </a:r>
                      <a:r>
                        <a:rPr sz="800" dirty="0" err="1">
                          <a:latin typeface="Times New Roman"/>
                          <a:cs typeface="Times New Roman"/>
                        </a:rPr>
                        <a:t>хөрөнгийн</a:t>
                      </a:r>
                      <a:r>
                        <a:rPr sz="800" spc="240" dirty="0">
                          <a:latin typeface="Times New Roman"/>
                          <a:cs typeface="Times New Roman"/>
                        </a:rPr>
                        <a:t>  </a:t>
                      </a:r>
                      <a:r>
                        <a:rPr sz="800" dirty="0" err="1">
                          <a:latin typeface="Times New Roman"/>
                          <a:cs typeface="Times New Roman"/>
                        </a:rPr>
                        <a:t>зээл</a:t>
                      </a:r>
                      <a:r>
                        <a:rPr sz="800" spc="229" dirty="0">
                          <a:latin typeface="Times New Roman"/>
                          <a:cs typeface="Times New Roman"/>
                        </a:rPr>
                        <a:t> </a:t>
                      </a:r>
                      <a:r>
                        <a:rPr lang="en-US" sz="800" spc="229" dirty="0">
                          <a:latin typeface="Times New Roman"/>
                          <a:cs typeface="Times New Roman"/>
                        </a:rPr>
                        <a:t>36</a:t>
                      </a:r>
                      <a:r>
                        <a:rPr sz="800" spc="240" dirty="0">
                          <a:latin typeface="Times New Roman"/>
                          <a:cs typeface="Times New Roman"/>
                        </a:rPr>
                        <a:t> </a:t>
                      </a:r>
                      <a:r>
                        <a:rPr sz="800" dirty="0" err="1">
                          <a:latin typeface="Times New Roman"/>
                          <a:cs typeface="Times New Roman"/>
                        </a:rPr>
                        <a:t>сар</a:t>
                      </a:r>
                      <a:r>
                        <a:rPr lang="en-US" sz="800" dirty="0">
                          <a:latin typeface="Times New Roman"/>
                          <a:cs typeface="Times New Roman"/>
                        </a:rPr>
                        <a:t> </a:t>
                      </a:r>
                      <a:r>
                        <a:rPr lang="mn-MN" sz="800" dirty="0">
                          <a:latin typeface="Times New Roman"/>
                          <a:cs typeface="Times New Roman"/>
                        </a:rPr>
                        <a:t>буюу 3 жилээс</a:t>
                      </a:r>
                      <a:r>
                        <a:rPr sz="800" spc="225" dirty="0">
                          <a:latin typeface="Times New Roman"/>
                          <a:cs typeface="Times New Roman"/>
                        </a:rPr>
                        <a:t> </a:t>
                      </a:r>
                      <a:r>
                        <a:rPr sz="800" spc="-10" dirty="0" err="1">
                          <a:latin typeface="Times New Roman"/>
                          <a:cs typeface="Times New Roman"/>
                        </a:rPr>
                        <a:t>хэтрэхгүй</a:t>
                      </a:r>
                      <a:r>
                        <a:rPr sz="800" spc="500" dirty="0">
                          <a:latin typeface="Times New Roman"/>
                          <a:cs typeface="Times New Roman"/>
                        </a:rPr>
                        <a:t> </a:t>
                      </a:r>
                      <a:r>
                        <a:rPr sz="800" dirty="0" err="1">
                          <a:latin typeface="Times New Roman"/>
                          <a:cs typeface="Times New Roman"/>
                        </a:rPr>
                        <a:t>хугацаатай</a:t>
                      </a:r>
                      <a:r>
                        <a:rPr lang="en-US" sz="800" spc="315" dirty="0">
                          <a:latin typeface="Times New Roman"/>
                          <a:cs typeface="Times New Roman"/>
                        </a:rPr>
                        <a:t> </a:t>
                      </a:r>
                      <a:r>
                        <a:rPr sz="800" dirty="0" err="1">
                          <a:latin typeface="Times New Roman"/>
                          <a:cs typeface="Times New Roman"/>
                        </a:rPr>
                        <a:t>байна</a:t>
                      </a:r>
                      <a:r>
                        <a:rPr sz="800" dirty="0">
                          <a:latin typeface="Times New Roman"/>
                          <a:cs typeface="Times New Roman"/>
                        </a:rPr>
                        <a:t>.</a:t>
                      </a:r>
                      <a:r>
                        <a:rPr lang="mn-MN" sz="800" spc="315" dirty="0">
                          <a:latin typeface="Times New Roman"/>
                          <a:cs typeface="Times New Roman"/>
                        </a:rPr>
                        <a:t> </a:t>
                      </a:r>
                      <a:endParaRPr sz="800" dirty="0">
                        <a:latin typeface="Times New Roman"/>
                        <a:cs typeface="Times New Roman"/>
                      </a:endParaRPr>
                    </a:p>
                  </a:txBody>
                  <a:tcPr marL="0" marR="0" marT="58419"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2"/>
                  </a:ext>
                </a:extLst>
              </a:tr>
              <a:tr h="479092">
                <a:tc>
                  <a:txBody>
                    <a:bodyPr/>
                    <a:lstStyle/>
                    <a:p>
                      <a:pPr marL="69850" marR="240029">
                        <a:lnSpc>
                          <a:spcPct val="107500"/>
                        </a:lnSpc>
                        <a:spcBef>
                          <a:spcPts val="185"/>
                        </a:spcBef>
                      </a:pPr>
                      <a:r>
                        <a:rPr sz="800" b="1" dirty="0">
                          <a:latin typeface="Times New Roman"/>
                          <a:cs typeface="Times New Roman"/>
                        </a:rPr>
                        <a:t>Нэг</a:t>
                      </a:r>
                      <a:r>
                        <a:rPr sz="800" b="1" spc="5" dirty="0">
                          <a:latin typeface="Times New Roman"/>
                          <a:cs typeface="Times New Roman"/>
                        </a:rPr>
                        <a:t> </a:t>
                      </a:r>
                      <a:r>
                        <a:rPr sz="800" b="1" spc="-10" dirty="0">
                          <a:latin typeface="Times New Roman"/>
                          <a:cs typeface="Times New Roman"/>
                        </a:rPr>
                        <a:t>зээлдэгчид</a:t>
                      </a:r>
                      <a:r>
                        <a:rPr sz="800" b="1" spc="35" dirty="0">
                          <a:latin typeface="Times New Roman"/>
                          <a:cs typeface="Times New Roman"/>
                        </a:rPr>
                        <a:t> </a:t>
                      </a:r>
                      <a:r>
                        <a:rPr sz="800" b="1" spc="-10" dirty="0">
                          <a:latin typeface="Times New Roman"/>
                          <a:cs typeface="Times New Roman"/>
                        </a:rPr>
                        <a:t>гаргах</a:t>
                      </a:r>
                      <a:r>
                        <a:rPr sz="800" b="1" spc="500" dirty="0">
                          <a:latin typeface="Times New Roman"/>
                          <a:cs typeface="Times New Roman"/>
                        </a:rPr>
                        <a:t> </a:t>
                      </a:r>
                      <a:r>
                        <a:rPr sz="800" b="1" dirty="0">
                          <a:latin typeface="Times New Roman"/>
                          <a:cs typeface="Times New Roman"/>
                        </a:rPr>
                        <a:t>батлан</a:t>
                      </a:r>
                      <a:r>
                        <a:rPr sz="800" b="1" spc="-25" dirty="0">
                          <a:latin typeface="Times New Roman"/>
                          <a:cs typeface="Times New Roman"/>
                        </a:rPr>
                        <a:t> </a:t>
                      </a:r>
                      <a:r>
                        <a:rPr sz="800" b="1" dirty="0">
                          <a:latin typeface="Times New Roman"/>
                          <a:cs typeface="Times New Roman"/>
                        </a:rPr>
                        <a:t>даалтын</a:t>
                      </a:r>
                      <a:r>
                        <a:rPr sz="800" b="1" spc="-40" dirty="0">
                          <a:latin typeface="Times New Roman"/>
                          <a:cs typeface="Times New Roman"/>
                        </a:rPr>
                        <a:t> </a:t>
                      </a:r>
                      <a:r>
                        <a:rPr sz="800" b="1" spc="-20" dirty="0">
                          <a:latin typeface="Times New Roman"/>
                          <a:cs typeface="Times New Roman"/>
                        </a:rPr>
                        <a:t>дээд</a:t>
                      </a:r>
                      <a:r>
                        <a:rPr sz="800" b="1" spc="500" dirty="0">
                          <a:latin typeface="Times New Roman"/>
                          <a:cs typeface="Times New Roman"/>
                        </a:rPr>
                        <a:t> </a:t>
                      </a:r>
                      <a:r>
                        <a:rPr sz="800" b="1" spc="-10" dirty="0">
                          <a:latin typeface="Times New Roman"/>
                          <a:cs typeface="Times New Roman"/>
                        </a:rPr>
                        <a:t>хэмжээ</a:t>
                      </a:r>
                      <a:endParaRPr sz="800">
                        <a:latin typeface="Times New Roman"/>
                        <a:cs typeface="Times New Roman"/>
                      </a:endParaRPr>
                    </a:p>
                  </a:txBody>
                  <a:tcPr marL="0" marR="0" marT="2349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marR="264795">
                        <a:lnSpc>
                          <a:spcPct val="107500"/>
                        </a:lnSpc>
                        <a:spcBef>
                          <a:spcPts val="695"/>
                        </a:spcBef>
                      </a:pPr>
                      <a:r>
                        <a:rPr sz="800" dirty="0">
                          <a:latin typeface="Times New Roman"/>
                          <a:cs typeface="Times New Roman"/>
                        </a:rPr>
                        <a:t>Зээлийн</a:t>
                      </a:r>
                      <a:r>
                        <a:rPr sz="800" spc="5" dirty="0">
                          <a:latin typeface="Times New Roman"/>
                          <a:cs typeface="Times New Roman"/>
                        </a:rPr>
                        <a:t> </a:t>
                      </a:r>
                      <a:r>
                        <a:rPr sz="800" spc="-10" dirty="0">
                          <a:latin typeface="Times New Roman"/>
                          <a:cs typeface="Times New Roman"/>
                        </a:rPr>
                        <a:t>дүнгийн</a:t>
                      </a:r>
                      <a:r>
                        <a:rPr sz="800" spc="-40" dirty="0">
                          <a:latin typeface="Times New Roman"/>
                          <a:cs typeface="Times New Roman"/>
                        </a:rPr>
                        <a:t> </a:t>
                      </a:r>
                      <a:r>
                        <a:rPr sz="800" spc="-10" dirty="0">
                          <a:latin typeface="Times New Roman"/>
                          <a:cs typeface="Times New Roman"/>
                        </a:rPr>
                        <a:t>30%-</a:t>
                      </a:r>
                      <a:r>
                        <a:rPr sz="800" dirty="0">
                          <a:latin typeface="Times New Roman"/>
                          <a:cs typeface="Times New Roman"/>
                        </a:rPr>
                        <a:t>60%</a:t>
                      </a:r>
                      <a:r>
                        <a:rPr sz="800" spc="40" dirty="0">
                          <a:latin typeface="Times New Roman"/>
                          <a:cs typeface="Times New Roman"/>
                        </a:rPr>
                        <a:t> </a:t>
                      </a:r>
                      <a:r>
                        <a:rPr sz="800" dirty="0">
                          <a:latin typeface="Times New Roman"/>
                          <a:cs typeface="Times New Roman"/>
                        </a:rPr>
                        <a:t>(1.2</a:t>
                      </a:r>
                      <a:r>
                        <a:rPr sz="800" spc="15" dirty="0">
                          <a:latin typeface="Times New Roman"/>
                          <a:cs typeface="Times New Roman"/>
                        </a:rPr>
                        <a:t> </a:t>
                      </a:r>
                      <a:r>
                        <a:rPr sz="800" spc="-10" dirty="0">
                          <a:latin typeface="Times New Roman"/>
                          <a:cs typeface="Times New Roman"/>
                        </a:rPr>
                        <a:t>тэрбум</a:t>
                      </a:r>
                      <a:r>
                        <a:rPr sz="800" spc="500" dirty="0">
                          <a:latin typeface="Times New Roman"/>
                          <a:cs typeface="Times New Roman"/>
                        </a:rPr>
                        <a:t> </a:t>
                      </a:r>
                      <a:r>
                        <a:rPr sz="800" dirty="0">
                          <a:latin typeface="Times New Roman"/>
                          <a:cs typeface="Times New Roman"/>
                        </a:rPr>
                        <a:t>төгрөг</a:t>
                      </a:r>
                      <a:r>
                        <a:rPr sz="800" spc="-35" dirty="0">
                          <a:latin typeface="Times New Roman"/>
                          <a:cs typeface="Times New Roman"/>
                        </a:rPr>
                        <a:t> </a:t>
                      </a:r>
                      <a:r>
                        <a:rPr sz="800" spc="-10" dirty="0">
                          <a:latin typeface="Times New Roman"/>
                          <a:cs typeface="Times New Roman"/>
                        </a:rPr>
                        <a:t>хүртэл)/</a:t>
                      </a:r>
                      <a:endParaRPr sz="800" dirty="0">
                        <a:latin typeface="Times New Roman"/>
                        <a:cs typeface="Times New Roman"/>
                      </a:endParaRPr>
                    </a:p>
                  </a:txBody>
                  <a:tcPr marL="0" marR="0" marT="8826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3"/>
                  </a:ext>
                </a:extLst>
              </a:tr>
              <a:tr h="389596">
                <a:tc>
                  <a:txBody>
                    <a:bodyPr/>
                    <a:lstStyle/>
                    <a:p>
                      <a:pPr marL="69850" marR="372110">
                        <a:lnSpc>
                          <a:spcPct val="107500"/>
                        </a:lnSpc>
                        <a:spcBef>
                          <a:spcPts val="185"/>
                        </a:spcBef>
                      </a:pPr>
                      <a:r>
                        <a:rPr sz="800" b="1" dirty="0">
                          <a:latin typeface="Times New Roman"/>
                          <a:cs typeface="Times New Roman"/>
                        </a:rPr>
                        <a:t>Нэмэлт</a:t>
                      </a:r>
                      <a:r>
                        <a:rPr sz="800" b="1" spc="-20" dirty="0">
                          <a:latin typeface="Times New Roman"/>
                          <a:cs typeface="Times New Roman"/>
                        </a:rPr>
                        <a:t> </a:t>
                      </a:r>
                      <a:r>
                        <a:rPr sz="800" b="1" dirty="0">
                          <a:latin typeface="Times New Roman"/>
                          <a:cs typeface="Times New Roman"/>
                        </a:rPr>
                        <a:t>эх</a:t>
                      </a:r>
                      <a:r>
                        <a:rPr sz="800" b="1" spc="-25" dirty="0">
                          <a:latin typeface="Times New Roman"/>
                          <a:cs typeface="Times New Roman"/>
                        </a:rPr>
                        <a:t> </a:t>
                      </a:r>
                      <a:r>
                        <a:rPr sz="800" b="1" spc="-10" dirty="0">
                          <a:latin typeface="Times New Roman"/>
                          <a:cs typeface="Times New Roman"/>
                        </a:rPr>
                        <a:t>үүсвэр</a:t>
                      </a:r>
                      <a:r>
                        <a:rPr sz="800" b="1" spc="500" dirty="0">
                          <a:latin typeface="Times New Roman"/>
                          <a:cs typeface="Times New Roman"/>
                        </a:rPr>
                        <a:t> </a:t>
                      </a:r>
                      <a:r>
                        <a:rPr sz="800" b="1" dirty="0">
                          <a:latin typeface="Times New Roman"/>
                          <a:cs typeface="Times New Roman"/>
                        </a:rPr>
                        <a:t>(Банкны</a:t>
                      </a:r>
                      <a:r>
                        <a:rPr sz="800" b="1" spc="-35" dirty="0">
                          <a:latin typeface="Times New Roman"/>
                          <a:cs typeface="Times New Roman"/>
                        </a:rPr>
                        <a:t> </a:t>
                      </a:r>
                      <a:r>
                        <a:rPr sz="800" b="1" spc="-10" dirty="0">
                          <a:latin typeface="Times New Roman"/>
                          <a:cs typeface="Times New Roman"/>
                        </a:rPr>
                        <a:t>саналаар)</a:t>
                      </a:r>
                      <a:endParaRPr sz="800">
                        <a:latin typeface="Times New Roman"/>
                        <a:cs typeface="Times New Roman"/>
                      </a:endParaRPr>
                    </a:p>
                  </a:txBody>
                  <a:tcPr marL="0" marR="0" marT="2349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a:lnSpc>
                          <a:spcPct val="100000"/>
                        </a:lnSpc>
                        <a:spcBef>
                          <a:spcPts val="770"/>
                        </a:spcBef>
                      </a:pPr>
                      <a:r>
                        <a:rPr sz="800" dirty="0">
                          <a:latin typeface="Times New Roman"/>
                          <a:cs typeface="Times New Roman"/>
                        </a:rPr>
                        <a:t>20%</a:t>
                      </a:r>
                      <a:r>
                        <a:rPr sz="800" spc="-15" dirty="0">
                          <a:latin typeface="Times New Roman"/>
                          <a:cs typeface="Times New Roman"/>
                        </a:rPr>
                        <a:t> </a:t>
                      </a:r>
                      <a:r>
                        <a:rPr sz="800" spc="-10" dirty="0" err="1">
                          <a:latin typeface="Times New Roman"/>
                          <a:cs typeface="Times New Roman"/>
                        </a:rPr>
                        <a:t>хүртэл</a:t>
                      </a:r>
                      <a:endParaRPr sz="800" dirty="0">
                        <a:latin typeface="Times New Roman"/>
                        <a:cs typeface="Times New Roman"/>
                      </a:endParaRPr>
                    </a:p>
                  </a:txBody>
                  <a:tcPr marL="0" marR="0" marT="9779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4"/>
                  </a:ext>
                </a:extLst>
              </a:tr>
              <a:tr h="482137">
                <a:tc>
                  <a:txBody>
                    <a:bodyPr/>
                    <a:lstStyle/>
                    <a:p>
                      <a:pPr marL="69850" marR="332105">
                        <a:lnSpc>
                          <a:spcPct val="107600"/>
                        </a:lnSpc>
                        <a:spcBef>
                          <a:spcPts val="185"/>
                        </a:spcBef>
                      </a:pPr>
                      <a:r>
                        <a:rPr sz="800" b="1" dirty="0">
                          <a:latin typeface="Times New Roman"/>
                          <a:cs typeface="Times New Roman"/>
                        </a:rPr>
                        <a:t>Үндсэн</a:t>
                      </a:r>
                      <a:r>
                        <a:rPr sz="800" b="1" spc="-30" dirty="0">
                          <a:latin typeface="Times New Roman"/>
                          <a:cs typeface="Times New Roman"/>
                        </a:rPr>
                        <a:t> </a:t>
                      </a:r>
                      <a:r>
                        <a:rPr sz="800" b="1" spc="-10" dirty="0">
                          <a:latin typeface="Times New Roman"/>
                          <a:cs typeface="Times New Roman"/>
                        </a:rPr>
                        <a:t>зээлийн</a:t>
                      </a:r>
                      <a:r>
                        <a:rPr sz="800" b="1" spc="500" dirty="0">
                          <a:latin typeface="Times New Roman"/>
                          <a:cs typeface="Times New Roman"/>
                        </a:rPr>
                        <a:t> </a:t>
                      </a:r>
                      <a:r>
                        <a:rPr sz="800" b="1" dirty="0">
                          <a:latin typeface="Times New Roman"/>
                          <a:cs typeface="Times New Roman"/>
                        </a:rPr>
                        <a:t>төлбөрөөс</a:t>
                      </a:r>
                      <a:r>
                        <a:rPr sz="800" b="1" spc="-30" dirty="0">
                          <a:latin typeface="Times New Roman"/>
                          <a:cs typeface="Times New Roman"/>
                        </a:rPr>
                        <a:t> </a:t>
                      </a:r>
                      <a:r>
                        <a:rPr sz="800" b="1" spc="-10" dirty="0">
                          <a:latin typeface="Times New Roman"/>
                          <a:cs typeface="Times New Roman"/>
                        </a:rPr>
                        <a:t>чөлөөлөх</a:t>
                      </a:r>
                      <a:r>
                        <a:rPr sz="800" b="1" spc="500" dirty="0">
                          <a:latin typeface="Times New Roman"/>
                          <a:cs typeface="Times New Roman"/>
                        </a:rPr>
                        <a:t> </a:t>
                      </a:r>
                      <a:r>
                        <a:rPr sz="800" b="1" spc="-10" dirty="0">
                          <a:latin typeface="Times New Roman"/>
                          <a:cs typeface="Times New Roman"/>
                        </a:rPr>
                        <a:t>хугацаа</a:t>
                      </a:r>
                      <a:endParaRPr sz="800">
                        <a:latin typeface="Times New Roman"/>
                        <a:cs typeface="Times New Roman"/>
                      </a:endParaRPr>
                    </a:p>
                  </a:txBody>
                  <a:tcPr marL="0" marR="0" marT="2349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a:lnSpc>
                          <a:spcPct val="100000"/>
                        </a:lnSpc>
                      </a:pPr>
                      <a:r>
                        <a:rPr lang="en-US" sz="800" dirty="0">
                          <a:latin typeface="Times New Roman"/>
                          <a:cs typeface="Times New Roman"/>
                        </a:rPr>
                        <a:t>3-6 </a:t>
                      </a:r>
                      <a:r>
                        <a:rPr sz="800" dirty="0" err="1">
                          <a:latin typeface="Times New Roman"/>
                          <a:cs typeface="Times New Roman"/>
                        </a:rPr>
                        <a:t>сар</a:t>
                      </a:r>
                      <a:r>
                        <a:rPr sz="800" spc="-10" dirty="0">
                          <a:latin typeface="Times New Roman"/>
                          <a:cs typeface="Times New Roman"/>
                        </a:rPr>
                        <a:t> </a:t>
                      </a:r>
                      <a:r>
                        <a:rPr sz="800" spc="-10" dirty="0" err="1">
                          <a:latin typeface="Times New Roman"/>
                          <a:cs typeface="Times New Roman"/>
                        </a:rPr>
                        <a:t>хүртэл</a:t>
                      </a:r>
                      <a:endParaRPr lang="en-US" sz="800" spc="-10" dirty="0">
                        <a:latin typeface="Times New Roman"/>
                        <a:cs typeface="Times New Roman"/>
                      </a:endParaRPr>
                    </a:p>
                    <a:p>
                      <a:pPr marL="56515">
                        <a:lnSpc>
                          <a:spcPct val="100000"/>
                        </a:lnSpc>
                      </a:pPr>
                      <a:r>
                        <a:rPr lang="en-US" sz="800" spc="-10" dirty="0">
                          <a:latin typeface="Times New Roman"/>
                          <a:cs typeface="Times New Roman"/>
                        </a:rPr>
                        <a:t>(</a:t>
                      </a:r>
                      <a:r>
                        <a:rPr lang="mn-MN" sz="800" spc="-10" dirty="0">
                          <a:latin typeface="Times New Roman"/>
                          <a:cs typeface="Times New Roman"/>
                        </a:rPr>
                        <a:t>эргэлтийн хөрөнгө - 3 сар,   </a:t>
                      </a:r>
                    </a:p>
                    <a:p>
                      <a:pPr marL="56515">
                        <a:lnSpc>
                          <a:spcPct val="100000"/>
                        </a:lnSpc>
                      </a:pPr>
                      <a:r>
                        <a:rPr lang="mn-MN" sz="800" spc="-10" dirty="0">
                          <a:latin typeface="Times New Roman"/>
                          <a:cs typeface="Times New Roman"/>
                        </a:rPr>
                        <a:t>хөрөнгө оруулалт -</a:t>
                      </a:r>
                      <a:r>
                        <a:rPr lang="en-US" sz="800" spc="-10" dirty="0">
                          <a:latin typeface="Times New Roman"/>
                          <a:cs typeface="Times New Roman"/>
                        </a:rPr>
                        <a:t> </a:t>
                      </a:r>
                      <a:r>
                        <a:rPr lang="mn-MN" sz="800" spc="-10" dirty="0">
                          <a:latin typeface="Times New Roman"/>
                          <a:cs typeface="Times New Roman"/>
                        </a:rPr>
                        <a:t>6 сар </a:t>
                      </a:r>
                      <a:r>
                        <a:rPr lang="en-US" sz="800" spc="-10" dirty="0">
                          <a:latin typeface="Times New Roman"/>
                          <a:cs typeface="Times New Roman"/>
                        </a:rPr>
                        <a:t>)</a:t>
                      </a:r>
                      <a:endParaRPr sz="800" dirty="0">
                        <a:latin typeface="Times New Roman"/>
                        <a:cs typeface="Times New Roman"/>
                      </a:endParaRPr>
                    </a:p>
                  </a:txBody>
                  <a:tcPr marL="0" marR="0" marT="4635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5"/>
                  </a:ext>
                </a:extLst>
              </a:tr>
              <a:tr h="414329">
                <a:tc>
                  <a:txBody>
                    <a:bodyPr/>
                    <a:lstStyle/>
                    <a:p>
                      <a:pPr marL="69850" marR="210820">
                        <a:lnSpc>
                          <a:spcPct val="107500"/>
                        </a:lnSpc>
                        <a:spcBef>
                          <a:spcPts val="185"/>
                        </a:spcBef>
                      </a:pPr>
                      <a:r>
                        <a:rPr sz="800" b="1" spc="-10" dirty="0">
                          <a:latin typeface="Times New Roman"/>
                          <a:cs typeface="Times New Roman"/>
                        </a:rPr>
                        <a:t>ЗБДС-</a:t>
                      </a:r>
                      <a:r>
                        <a:rPr sz="800" b="1" dirty="0">
                          <a:latin typeface="Times New Roman"/>
                          <a:cs typeface="Times New Roman"/>
                        </a:rPr>
                        <a:t>ийн</a:t>
                      </a:r>
                      <a:r>
                        <a:rPr sz="800" b="1" spc="204" dirty="0">
                          <a:latin typeface="Times New Roman"/>
                          <a:cs typeface="Times New Roman"/>
                        </a:rPr>
                        <a:t> </a:t>
                      </a:r>
                      <a:r>
                        <a:rPr sz="800" b="1" spc="-10" dirty="0">
                          <a:latin typeface="Times New Roman"/>
                          <a:cs typeface="Times New Roman"/>
                        </a:rPr>
                        <a:t>Өргөдлийн</a:t>
                      </a:r>
                      <a:r>
                        <a:rPr sz="800" b="1" spc="500" dirty="0">
                          <a:latin typeface="Times New Roman"/>
                          <a:cs typeface="Times New Roman"/>
                        </a:rPr>
                        <a:t> </a:t>
                      </a:r>
                      <a:r>
                        <a:rPr sz="800" b="1" spc="-10" dirty="0">
                          <a:latin typeface="Times New Roman"/>
                          <a:cs typeface="Times New Roman"/>
                        </a:rPr>
                        <a:t>хураамж</a:t>
                      </a:r>
                      <a:endParaRPr sz="800" dirty="0">
                        <a:latin typeface="Times New Roman"/>
                        <a:cs typeface="Times New Roman"/>
                      </a:endParaRPr>
                    </a:p>
                  </a:txBody>
                  <a:tcPr marL="0" marR="0" marT="2349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a:lnSpc>
                          <a:spcPct val="100000"/>
                        </a:lnSpc>
                        <a:spcBef>
                          <a:spcPts val="770"/>
                        </a:spcBef>
                      </a:pPr>
                      <a:r>
                        <a:rPr sz="800" dirty="0">
                          <a:latin typeface="Times New Roman"/>
                          <a:cs typeface="Times New Roman"/>
                        </a:rPr>
                        <a:t>50,000</a:t>
                      </a:r>
                      <a:r>
                        <a:rPr sz="800" spc="-50" dirty="0">
                          <a:latin typeface="Times New Roman"/>
                          <a:cs typeface="Times New Roman"/>
                        </a:rPr>
                        <a:t> </a:t>
                      </a:r>
                      <a:r>
                        <a:rPr sz="800" dirty="0">
                          <a:latin typeface="Times New Roman"/>
                          <a:cs typeface="Times New Roman"/>
                        </a:rPr>
                        <a:t>төгрөг</a:t>
                      </a:r>
                      <a:r>
                        <a:rPr sz="800" spc="10" dirty="0">
                          <a:latin typeface="Times New Roman"/>
                          <a:cs typeface="Times New Roman"/>
                        </a:rPr>
                        <a:t> </a:t>
                      </a:r>
                      <a:r>
                        <a:rPr sz="800" dirty="0">
                          <a:latin typeface="Times New Roman"/>
                          <a:cs typeface="Times New Roman"/>
                        </a:rPr>
                        <a:t>/нэг</a:t>
                      </a:r>
                      <a:r>
                        <a:rPr sz="800" spc="-30" dirty="0">
                          <a:latin typeface="Times New Roman"/>
                          <a:cs typeface="Times New Roman"/>
                        </a:rPr>
                        <a:t> </a:t>
                      </a:r>
                      <a:r>
                        <a:rPr sz="800" spc="-20" dirty="0">
                          <a:latin typeface="Times New Roman"/>
                          <a:cs typeface="Times New Roman"/>
                        </a:rPr>
                        <a:t>удаа</a:t>
                      </a:r>
                      <a:endParaRPr sz="800" dirty="0">
                        <a:latin typeface="Times New Roman"/>
                        <a:cs typeface="Times New Roman"/>
                      </a:endParaRPr>
                    </a:p>
                  </a:txBody>
                  <a:tcPr marL="0" marR="0" marT="9779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6"/>
                  </a:ext>
                </a:extLst>
              </a:tr>
              <a:tr h="401527">
                <a:tc>
                  <a:txBody>
                    <a:bodyPr/>
                    <a:lstStyle/>
                    <a:p>
                      <a:pPr marL="69850">
                        <a:lnSpc>
                          <a:spcPct val="100000"/>
                        </a:lnSpc>
                        <a:spcBef>
                          <a:spcPts val="720"/>
                        </a:spcBef>
                      </a:pPr>
                      <a:r>
                        <a:rPr sz="800" b="1" spc="-10" dirty="0">
                          <a:latin typeface="Times New Roman"/>
                          <a:cs typeface="Times New Roman"/>
                        </a:rPr>
                        <a:t>ЗБДС-</a:t>
                      </a:r>
                      <a:r>
                        <a:rPr sz="800" b="1" dirty="0">
                          <a:latin typeface="Times New Roman"/>
                          <a:cs typeface="Times New Roman"/>
                        </a:rPr>
                        <a:t>ийн</a:t>
                      </a:r>
                      <a:r>
                        <a:rPr sz="800" b="1" spc="15" dirty="0">
                          <a:latin typeface="Times New Roman"/>
                          <a:cs typeface="Times New Roman"/>
                        </a:rPr>
                        <a:t> </a:t>
                      </a:r>
                      <a:r>
                        <a:rPr sz="800" b="1" spc="-10" dirty="0">
                          <a:latin typeface="Times New Roman"/>
                          <a:cs typeface="Times New Roman"/>
                        </a:rPr>
                        <a:t>шимтгэл</a:t>
                      </a:r>
                      <a:endParaRPr sz="800" dirty="0">
                        <a:latin typeface="Times New Roman"/>
                        <a:cs typeface="Times New Roman"/>
                      </a:endParaRPr>
                    </a:p>
                  </a:txBody>
                  <a:tcPr marL="0" marR="0" marT="9144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marR="219075">
                        <a:lnSpc>
                          <a:spcPct val="107500"/>
                        </a:lnSpc>
                        <a:spcBef>
                          <a:spcPts val="135"/>
                        </a:spcBef>
                      </a:pPr>
                      <a:r>
                        <a:rPr sz="800" dirty="0">
                          <a:latin typeface="Times New Roman"/>
                          <a:cs typeface="Times New Roman"/>
                        </a:rPr>
                        <a:t>Батлан</a:t>
                      </a:r>
                      <a:r>
                        <a:rPr sz="800" spc="-25" dirty="0">
                          <a:latin typeface="Times New Roman"/>
                          <a:cs typeface="Times New Roman"/>
                        </a:rPr>
                        <a:t> </a:t>
                      </a:r>
                      <a:r>
                        <a:rPr sz="800" dirty="0">
                          <a:latin typeface="Times New Roman"/>
                          <a:cs typeface="Times New Roman"/>
                        </a:rPr>
                        <a:t>даалтын</a:t>
                      </a:r>
                      <a:r>
                        <a:rPr sz="800" spc="-20" dirty="0">
                          <a:latin typeface="Times New Roman"/>
                          <a:cs typeface="Times New Roman"/>
                        </a:rPr>
                        <a:t> </a:t>
                      </a:r>
                      <a:r>
                        <a:rPr sz="800" spc="-10" dirty="0">
                          <a:latin typeface="Times New Roman"/>
                          <a:cs typeface="Times New Roman"/>
                        </a:rPr>
                        <a:t>үлдэгдлээс</a:t>
                      </a:r>
                      <a:r>
                        <a:rPr sz="800" spc="-20" dirty="0">
                          <a:latin typeface="Times New Roman"/>
                          <a:cs typeface="Times New Roman"/>
                        </a:rPr>
                        <a:t> </a:t>
                      </a:r>
                      <a:r>
                        <a:rPr sz="800" dirty="0">
                          <a:latin typeface="Times New Roman"/>
                          <a:cs typeface="Times New Roman"/>
                        </a:rPr>
                        <a:t>тооцож</a:t>
                      </a:r>
                      <a:r>
                        <a:rPr sz="800" spc="-5" dirty="0">
                          <a:latin typeface="Times New Roman"/>
                          <a:cs typeface="Times New Roman"/>
                        </a:rPr>
                        <a:t> </a:t>
                      </a:r>
                      <a:r>
                        <a:rPr sz="800" spc="-25" dirty="0">
                          <a:latin typeface="Times New Roman"/>
                          <a:cs typeface="Times New Roman"/>
                        </a:rPr>
                        <a:t>жил</a:t>
                      </a:r>
                      <a:r>
                        <a:rPr sz="800" spc="500" dirty="0">
                          <a:latin typeface="Times New Roman"/>
                          <a:cs typeface="Times New Roman"/>
                        </a:rPr>
                        <a:t> </a:t>
                      </a:r>
                      <a:r>
                        <a:rPr sz="800" dirty="0">
                          <a:latin typeface="Times New Roman"/>
                          <a:cs typeface="Times New Roman"/>
                        </a:rPr>
                        <a:t>бүр</a:t>
                      </a:r>
                      <a:r>
                        <a:rPr sz="800" spc="-40" dirty="0">
                          <a:latin typeface="Times New Roman"/>
                          <a:cs typeface="Times New Roman"/>
                        </a:rPr>
                        <a:t> </a:t>
                      </a:r>
                      <a:r>
                        <a:rPr sz="800" dirty="0">
                          <a:latin typeface="Times New Roman"/>
                          <a:cs typeface="Times New Roman"/>
                        </a:rPr>
                        <a:t>төлнө</a:t>
                      </a:r>
                      <a:r>
                        <a:rPr sz="800" spc="-10" dirty="0">
                          <a:latin typeface="Times New Roman"/>
                          <a:cs typeface="Times New Roman"/>
                        </a:rPr>
                        <a:t> </a:t>
                      </a:r>
                      <a:r>
                        <a:rPr sz="800" spc="-25" dirty="0">
                          <a:latin typeface="Times New Roman"/>
                          <a:cs typeface="Times New Roman"/>
                        </a:rPr>
                        <a:t>-1%</a:t>
                      </a:r>
                      <a:endParaRPr sz="800" dirty="0">
                        <a:latin typeface="Times New Roman"/>
                        <a:cs typeface="Times New Roman"/>
                      </a:endParaRPr>
                    </a:p>
                  </a:txBody>
                  <a:tcPr marL="0" marR="0" marT="1714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7"/>
                  </a:ext>
                </a:extLst>
              </a:tr>
              <a:tr h="414329">
                <a:tc>
                  <a:txBody>
                    <a:bodyPr/>
                    <a:lstStyle/>
                    <a:p>
                      <a:pPr marL="69850" marR="201295">
                        <a:lnSpc>
                          <a:spcPct val="107500"/>
                        </a:lnSpc>
                        <a:spcBef>
                          <a:spcPts val="190"/>
                        </a:spcBef>
                      </a:pPr>
                      <a:r>
                        <a:rPr sz="800" b="1" spc="-10" dirty="0">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үйлчилгээний</a:t>
                      </a:r>
                      <a:r>
                        <a:rPr sz="800" b="1" spc="500" dirty="0">
                          <a:latin typeface="Times New Roman"/>
                          <a:cs typeface="Times New Roman"/>
                        </a:rPr>
                        <a:t> </a:t>
                      </a:r>
                      <a:r>
                        <a:rPr sz="800" b="1" spc="-10" dirty="0">
                          <a:latin typeface="Times New Roman"/>
                          <a:cs typeface="Times New Roman"/>
                        </a:rPr>
                        <a:t>шимтгэл</a:t>
                      </a:r>
                      <a:endParaRPr sz="800" dirty="0">
                        <a:latin typeface="Times New Roman"/>
                        <a:cs typeface="Times New Roman"/>
                      </a:endParaRPr>
                    </a:p>
                  </a:txBody>
                  <a:tcPr marL="0" marR="0" marT="2413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370"/>
                        </a:spcBef>
                      </a:pPr>
                      <a:endParaRPr sz="800" dirty="0">
                        <a:latin typeface="Times New Roman"/>
                        <a:cs typeface="Times New Roman"/>
                      </a:endParaRPr>
                    </a:p>
                    <a:p>
                      <a:pPr marL="56515">
                        <a:lnSpc>
                          <a:spcPct val="100000"/>
                        </a:lnSpc>
                      </a:pPr>
                      <a:r>
                        <a:rPr sz="800" spc="-25" dirty="0">
                          <a:latin typeface="Times New Roman"/>
                          <a:cs typeface="Times New Roman"/>
                        </a:rPr>
                        <a:t>ХШЕН-</a:t>
                      </a:r>
                      <a:r>
                        <a:rPr sz="800" dirty="0">
                          <a:latin typeface="Times New Roman"/>
                          <a:cs typeface="Times New Roman"/>
                        </a:rPr>
                        <a:t>ийн</a:t>
                      </a:r>
                      <a:r>
                        <a:rPr sz="800" spc="70" dirty="0">
                          <a:latin typeface="Times New Roman"/>
                          <a:cs typeface="Times New Roman"/>
                        </a:rPr>
                        <a:t> </a:t>
                      </a:r>
                      <a:r>
                        <a:rPr sz="800" spc="-10" dirty="0">
                          <a:latin typeface="Times New Roman"/>
                          <a:cs typeface="Times New Roman"/>
                        </a:rPr>
                        <a:t>дагуу</a:t>
                      </a:r>
                      <a:endParaRPr sz="800" dirty="0">
                        <a:latin typeface="Times New Roman"/>
                        <a:cs typeface="Times New Roman"/>
                      </a:endParaRPr>
                    </a:p>
                  </a:txBody>
                  <a:tcPr marL="0" marR="0" marT="4699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8"/>
                  </a:ext>
                </a:extLst>
              </a:tr>
              <a:tr h="438235">
                <a:tc>
                  <a:txBody>
                    <a:bodyPr/>
                    <a:lstStyle/>
                    <a:p>
                      <a:pPr marL="69850" marR="219710">
                        <a:lnSpc>
                          <a:spcPct val="107500"/>
                        </a:lnSpc>
                        <a:spcBef>
                          <a:spcPts val="190"/>
                        </a:spcBef>
                      </a:pPr>
                      <a:r>
                        <a:rPr sz="800" b="1" dirty="0">
                          <a:latin typeface="Times New Roman"/>
                          <a:cs typeface="Times New Roman"/>
                        </a:rPr>
                        <a:t>Дахин</a:t>
                      </a:r>
                      <a:r>
                        <a:rPr sz="800" b="1" spc="-30" dirty="0">
                          <a:latin typeface="Times New Roman"/>
                          <a:cs typeface="Times New Roman"/>
                        </a:rPr>
                        <a:t> </a:t>
                      </a:r>
                      <a:r>
                        <a:rPr sz="800" b="1" spc="-10" dirty="0">
                          <a:latin typeface="Times New Roman"/>
                          <a:cs typeface="Times New Roman"/>
                        </a:rPr>
                        <a:t>санхүүжилтийн</a:t>
                      </a:r>
                      <a:r>
                        <a:rPr sz="800" b="1" spc="500" dirty="0">
                          <a:latin typeface="Times New Roman"/>
                          <a:cs typeface="Times New Roman"/>
                        </a:rPr>
                        <a:t> </a:t>
                      </a:r>
                      <a:r>
                        <a:rPr sz="800" b="1" spc="-10" dirty="0">
                          <a:latin typeface="Times New Roman"/>
                          <a:cs typeface="Times New Roman"/>
                        </a:rPr>
                        <a:t>хэмжээ</a:t>
                      </a:r>
                      <a:endParaRPr sz="800">
                        <a:latin typeface="Times New Roman"/>
                        <a:cs typeface="Times New Roman"/>
                      </a:endParaRPr>
                    </a:p>
                  </a:txBody>
                  <a:tcPr marL="0" marR="0" marT="24130" marB="0">
                    <a:lnL w="12700">
                      <a:solidFill>
                        <a:srgbClr val="000000"/>
                      </a:solidFill>
                      <a:prstDash val="solid"/>
                    </a:lnL>
                    <a:lnR w="9525">
                      <a:solidFill>
                        <a:srgbClr val="AEABAB"/>
                      </a:solidFill>
                      <a:prstDash val="sysDash"/>
                    </a:lnR>
                    <a:lnT w="9525">
                      <a:solidFill>
                        <a:srgbClr val="AEABAB"/>
                      </a:solidFill>
                      <a:prstDash val="sysDash"/>
                    </a:lnT>
                    <a:lnB w="12700">
                      <a:solidFill>
                        <a:srgbClr val="000000"/>
                      </a:solidFill>
                      <a:prstDash val="solid"/>
                    </a:lnB>
                    <a:solidFill>
                      <a:srgbClr val="FFFFFF"/>
                    </a:solidFill>
                  </a:tcPr>
                </a:tc>
                <a:tc>
                  <a:txBody>
                    <a:bodyPr/>
                    <a:lstStyle/>
                    <a:p>
                      <a:pPr marL="56515">
                        <a:lnSpc>
                          <a:spcPct val="100000"/>
                        </a:lnSpc>
                        <a:spcBef>
                          <a:spcPts val="780"/>
                        </a:spcBef>
                      </a:pPr>
                      <a:r>
                        <a:rPr sz="800" dirty="0">
                          <a:latin typeface="Times New Roman"/>
                          <a:cs typeface="Times New Roman"/>
                        </a:rPr>
                        <a:t>50%</a:t>
                      </a:r>
                      <a:r>
                        <a:rPr sz="800" spc="-50" dirty="0">
                          <a:latin typeface="Times New Roman"/>
                          <a:cs typeface="Times New Roman"/>
                        </a:rPr>
                        <a:t> </a:t>
                      </a:r>
                      <a:r>
                        <a:rPr sz="800" dirty="0">
                          <a:latin typeface="Times New Roman"/>
                          <a:cs typeface="Times New Roman"/>
                        </a:rPr>
                        <a:t>хүртэл</a:t>
                      </a:r>
                      <a:r>
                        <a:rPr sz="800" spc="10" dirty="0">
                          <a:latin typeface="Times New Roman"/>
                          <a:cs typeface="Times New Roman"/>
                        </a:rPr>
                        <a:t> </a:t>
                      </a:r>
                      <a:r>
                        <a:rPr sz="800" spc="-10" dirty="0">
                          <a:latin typeface="Times New Roman"/>
                          <a:cs typeface="Times New Roman"/>
                        </a:rPr>
                        <a:t>байна</a:t>
                      </a:r>
                      <a:endParaRPr sz="800" dirty="0">
                        <a:latin typeface="Times New Roman"/>
                        <a:cs typeface="Times New Roman"/>
                      </a:endParaRPr>
                    </a:p>
                  </a:txBody>
                  <a:tcPr marL="0" marR="0" marT="99060" marB="0">
                    <a:lnL w="9525">
                      <a:solidFill>
                        <a:srgbClr val="AEABAB"/>
                      </a:solidFill>
                      <a:prstDash val="sysDash"/>
                    </a:lnL>
                    <a:lnR w="12700">
                      <a:solidFill>
                        <a:srgbClr val="000000"/>
                      </a:solidFill>
                      <a:prstDash val="solid"/>
                    </a:lnR>
                    <a:lnT w="9525">
                      <a:solidFill>
                        <a:srgbClr val="AEABAB"/>
                      </a:solidFill>
                      <a:prstDash val="sysDash"/>
                    </a:lnT>
                    <a:lnB w="12700">
                      <a:solidFill>
                        <a:srgbClr val="000000"/>
                      </a:solidFill>
                      <a:prstDash val="solid"/>
                    </a:lnB>
                    <a:solidFill>
                      <a:srgbClr val="FFFFFF"/>
                    </a:solidFill>
                  </a:tcPr>
                </a:tc>
                <a:extLst>
                  <a:ext uri="{0D108BD9-81ED-4DB2-BD59-A6C34878D82A}">
                    <a16:rowId xmlns:a16="http://schemas.microsoft.com/office/drawing/2014/main" val="10009"/>
                  </a:ext>
                </a:extLst>
              </a:tr>
            </a:tbl>
          </a:graphicData>
        </a:graphic>
      </p:graphicFrame>
      <p:grpSp>
        <p:nvGrpSpPr>
          <p:cNvPr id="9" name="object 12">
            <a:extLst>
              <a:ext uri="{FF2B5EF4-FFF2-40B4-BE49-F238E27FC236}">
                <a16:creationId xmlns:a16="http://schemas.microsoft.com/office/drawing/2014/main" id="{F167BE67-2ECE-7210-DA1A-CDF68AE6D885}"/>
              </a:ext>
            </a:extLst>
          </p:cNvPr>
          <p:cNvGrpSpPr/>
          <p:nvPr/>
        </p:nvGrpSpPr>
        <p:grpSpPr>
          <a:xfrm>
            <a:off x="4561176" y="1316736"/>
            <a:ext cx="3352800" cy="1430020"/>
            <a:chOff x="4419346" y="1310386"/>
            <a:chExt cx="3353435" cy="1430020"/>
          </a:xfrm>
        </p:grpSpPr>
        <p:sp>
          <p:nvSpPr>
            <p:cNvPr id="10" name="object 13">
              <a:extLst>
                <a:ext uri="{FF2B5EF4-FFF2-40B4-BE49-F238E27FC236}">
                  <a16:creationId xmlns:a16="http://schemas.microsoft.com/office/drawing/2014/main" id="{24F93ECA-5526-3BFD-8A95-FAA3D6A93CD0}"/>
                </a:ext>
              </a:extLst>
            </p:cNvPr>
            <p:cNvSpPr/>
            <p:nvPr/>
          </p:nvSpPr>
          <p:spPr>
            <a:xfrm>
              <a:off x="4425696" y="1316736"/>
              <a:ext cx="3340735" cy="1417320"/>
            </a:xfrm>
            <a:custGeom>
              <a:avLst/>
              <a:gdLst/>
              <a:ahLst/>
              <a:cxnLst/>
              <a:rect l="l" t="t" r="r" b="b"/>
              <a:pathLst>
                <a:path w="3340734" h="1417320">
                  <a:moveTo>
                    <a:pt x="3104387" y="0"/>
                  </a:moveTo>
                  <a:lnTo>
                    <a:pt x="236219" y="0"/>
                  </a:lnTo>
                  <a:lnTo>
                    <a:pt x="188622" y="4800"/>
                  </a:lnTo>
                  <a:lnTo>
                    <a:pt x="144285" y="18567"/>
                  </a:lnTo>
                  <a:lnTo>
                    <a:pt x="104161" y="40351"/>
                  </a:lnTo>
                  <a:lnTo>
                    <a:pt x="69199" y="69199"/>
                  </a:lnTo>
                  <a:lnTo>
                    <a:pt x="40351" y="104161"/>
                  </a:lnTo>
                  <a:lnTo>
                    <a:pt x="18567" y="144285"/>
                  </a:lnTo>
                  <a:lnTo>
                    <a:pt x="4800" y="188622"/>
                  </a:lnTo>
                  <a:lnTo>
                    <a:pt x="0" y="236219"/>
                  </a:lnTo>
                  <a:lnTo>
                    <a:pt x="0" y="1417319"/>
                  </a:lnTo>
                  <a:lnTo>
                    <a:pt x="3340607" y="1417319"/>
                  </a:lnTo>
                  <a:lnTo>
                    <a:pt x="3340607" y="236219"/>
                  </a:lnTo>
                  <a:lnTo>
                    <a:pt x="3335807" y="188622"/>
                  </a:lnTo>
                  <a:lnTo>
                    <a:pt x="3322040" y="144285"/>
                  </a:lnTo>
                  <a:lnTo>
                    <a:pt x="3300256" y="104161"/>
                  </a:lnTo>
                  <a:lnTo>
                    <a:pt x="3271408" y="69199"/>
                  </a:lnTo>
                  <a:lnTo>
                    <a:pt x="3236446" y="40351"/>
                  </a:lnTo>
                  <a:lnTo>
                    <a:pt x="3196322" y="18567"/>
                  </a:lnTo>
                  <a:lnTo>
                    <a:pt x="3151985" y="4800"/>
                  </a:lnTo>
                  <a:lnTo>
                    <a:pt x="3104387" y="0"/>
                  </a:lnTo>
                  <a:close/>
                </a:path>
              </a:pathLst>
            </a:custGeom>
            <a:solidFill>
              <a:srgbClr val="2D75B6"/>
            </a:solidFill>
          </p:spPr>
          <p:txBody>
            <a:bodyPr wrap="square" lIns="0" tIns="0" rIns="0" bIns="0" rtlCol="0"/>
            <a:lstStyle/>
            <a:p>
              <a:endParaRPr/>
            </a:p>
          </p:txBody>
        </p:sp>
        <p:sp>
          <p:nvSpPr>
            <p:cNvPr id="11" name="object 14">
              <a:extLst>
                <a:ext uri="{FF2B5EF4-FFF2-40B4-BE49-F238E27FC236}">
                  <a16:creationId xmlns:a16="http://schemas.microsoft.com/office/drawing/2014/main" id="{B5463D58-8834-E5C5-0B60-A15B4CC94DA8}"/>
                </a:ext>
              </a:extLst>
            </p:cNvPr>
            <p:cNvSpPr/>
            <p:nvPr/>
          </p:nvSpPr>
          <p:spPr>
            <a:xfrm>
              <a:off x="4425696" y="1316736"/>
              <a:ext cx="3340735" cy="1417320"/>
            </a:xfrm>
            <a:custGeom>
              <a:avLst/>
              <a:gdLst/>
              <a:ahLst/>
              <a:cxnLst/>
              <a:rect l="l" t="t" r="r" b="b"/>
              <a:pathLst>
                <a:path w="3340734" h="1417320">
                  <a:moveTo>
                    <a:pt x="236219" y="0"/>
                  </a:moveTo>
                  <a:lnTo>
                    <a:pt x="3104387" y="0"/>
                  </a:lnTo>
                  <a:lnTo>
                    <a:pt x="3151985" y="4800"/>
                  </a:lnTo>
                  <a:lnTo>
                    <a:pt x="3196322" y="18567"/>
                  </a:lnTo>
                  <a:lnTo>
                    <a:pt x="3236446" y="40351"/>
                  </a:lnTo>
                  <a:lnTo>
                    <a:pt x="3271408" y="69199"/>
                  </a:lnTo>
                  <a:lnTo>
                    <a:pt x="3300256" y="104161"/>
                  </a:lnTo>
                  <a:lnTo>
                    <a:pt x="3322040" y="144285"/>
                  </a:lnTo>
                  <a:lnTo>
                    <a:pt x="3335807" y="188622"/>
                  </a:lnTo>
                  <a:lnTo>
                    <a:pt x="3340607" y="236219"/>
                  </a:lnTo>
                  <a:lnTo>
                    <a:pt x="3340607" y="1417319"/>
                  </a:lnTo>
                  <a:lnTo>
                    <a:pt x="0" y="1417319"/>
                  </a:lnTo>
                  <a:lnTo>
                    <a:pt x="0" y="236219"/>
                  </a:lnTo>
                  <a:lnTo>
                    <a:pt x="4800" y="188622"/>
                  </a:lnTo>
                  <a:lnTo>
                    <a:pt x="18567" y="144285"/>
                  </a:lnTo>
                  <a:lnTo>
                    <a:pt x="40351" y="104161"/>
                  </a:lnTo>
                  <a:lnTo>
                    <a:pt x="69199" y="69199"/>
                  </a:lnTo>
                  <a:lnTo>
                    <a:pt x="104161" y="40351"/>
                  </a:lnTo>
                  <a:lnTo>
                    <a:pt x="144285" y="18567"/>
                  </a:lnTo>
                  <a:lnTo>
                    <a:pt x="188622" y="4800"/>
                  </a:lnTo>
                  <a:lnTo>
                    <a:pt x="236219" y="0"/>
                  </a:lnTo>
                  <a:close/>
                </a:path>
              </a:pathLst>
            </a:custGeom>
            <a:ln w="12191">
              <a:solidFill>
                <a:srgbClr val="000000"/>
              </a:solidFill>
            </a:ln>
          </p:spPr>
          <p:txBody>
            <a:bodyPr wrap="square" lIns="0" tIns="0" rIns="0" bIns="0" rtlCol="0"/>
            <a:lstStyle/>
            <a:p>
              <a:endParaRPr/>
            </a:p>
          </p:txBody>
        </p:sp>
      </p:grpSp>
      <p:graphicFrame>
        <p:nvGraphicFramePr>
          <p:cNvPr id="12" name="object 15">
            <a:extLst>
              <a:ext uri="{FF2B5EF4-FFF2-40B4-BE49-F238E27FC236}">
                <a16:creationId xmlns:a16="http://schemas.microsoft.com/office/drawing/2014/main" id="{A13CC5D0-7058-6050-BF85-45922FCF68B1}"/>
              </a:ext>
            </a:extLst>
          </p:cNvPr>
          <p:cNvGraphicFramePr>
            <a:graphicFrameLocks noGrp="1"/>
          </p:cNvGraphicFramePr>
          <p:nvPr>
            <p:extLst>
              <p:ext uri="{D42A27DB-BD31-4B8C-83A1-F6EECF244321}">
                <p14:modId xmlns:p14="http://schemas.microsoft.com/office/powerpoint/2010/main" val="2132035369"/>
              </p:ext>
            </p:extLst>
          </p:nvPr>
        </p:nvGraphicFramePr>
        <p:xfrm>
          <a:off x="4568798" y="2111883"/>
          <a:ext cx="3345178" cy="4131945"/>
        </p:xfrm>
        <a:graphic>
          <a:graphicData uri="http://schemas.openxmlformats.org/drawingml/2006/table">
            <a:tbl>
              <a:tblPr firstRow="1" bandRow="1">
                <a:tableStyleId>{2D5ABB26-0587-4C30-8999-92F81FD0307C}</a:tableStyleId>
              </a:tblPr>
              <a:tblGrid>
                <a:gridCol w="1347470">
                  <a:extLst>
                    <a:ext uri="{9D8B030D-6E8A-4147-A177-3AD203B41FA5}">
                      <a16:colId xmlns:a16="http://schemas.microsoft.com/office/drawing/2014/main" val="20000"/>
                    </a:ext>
                  </a:extLst>
                </a:gridCol>
                <a:gridCol w="1997708">
                  <a:extLst>
                    <a:ext uri="{9D8B030D-6E8A-4147-A177-3AD203B41FA5}">
                      <a16:colId xmlns:a16="http://schemas.microsoft.com/office/drawing/2014/main" val="20001"/>
                    </a:ext>
                  </a:extLst>
                </a:gridCol>
              </a:tblGrid>
              <a:tr h="647090">
                <a:tc>
                  <a:txBody>
                    <a:bodyPr/>
                    <a:lstStyle/>
                    <a:p>
                      <a:pPr>
                        <a:lnSpc>
                          <a:spcPct val="100000"/>
                        </a:lnSpc>
                      </a:pPr>
                      <a:endParaRPr sz="800" dirty="0">
                        <a:latin typeface="Times New Roman"/>
                        <a:cs typeface="Times New Roman"/>
                      </a:endParaRPr>
                    </a:p>
                    <a:p>
                      <a:pPr>
                        <a:lnSpc>
                          <a:spcPct val="100000"/>
                        </a:lnSpc>
                        <a:spcBef>
                          <a:spcPts val="470"/>
                        </a:spcBef>
                      </a:pPr>
                      <a:endParaRPr sz="800" dirty="0">
                        <a:latin typeface="Times New Roman"/>
                        <a:cs typeface="Times New Roman"/>
                      </a:endParaRPr>
                    </a:p>
                    <a:p>
                      <a:pPr marL="70485">
                        <a:lnSpc>
                          <a:spcPct val="100000"/>
                        </a:lnSpc>
                      </a:pPr>
                      <a:r>
                        <a:rPr sz="800" b="1" spc="-10" dirty="0">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хэмжээ</a:t>
                      </a:r>
                      <a:endParaRPr sz="800" dirty="0">
                        <a:latin typeface="Times New Roman"/>
                        <a:cs typeface="Times New Roman"/>
                      </a:endParaRPr>
                    </a:p>
                  </a:txBody>
                  <a:tcPr marL="0" marR="0" marT="0" marB="0">
                    <a:lnL w="12700">
                      <a:solidFill>
                        <a:srgbClr val="000000"/>
                      </a:solidFill>
                      <a:prstDash val="solid"/>
                    </a:lnL>
                    <a:lnR w="9525">
                      <a:solidFill>
                        <a:srgbClr val="AEABAB"/>
                      </a:solidFill>
                      <a:prstDash val="sysDash"/>
                    </a:lnR>
                    <a:lnT w="12700">
                      <a:solidFill>
                        <a:srgbClr val="000000"/>
                      </a:solidFill>
                      <a:prstDash val="solid"/>
                    </a:lnT>
                    <a:lnB w="9525">
                      <a:solidFill>
                        <a:srgbClr val="AEABAB"/>
                      </a:solidFill>
                      <a:prstDash val="sysDash"/>
                    </a:lnB>
                    <a:solidFill>
                      <a:srgbClr val="FFFFFF"/>
                    </a:solidFill>
                  </a:tcPr>
                </a:tc>
                <a:tc>
                  <a:txBody>
                    <a:bodyPr/>
                    <a:lstStyle/>
                    <a:p>
                      <a:pPr>
                        <a:lnSpc>
                          <a:spcPct val="100000"/>
                        </a:lnSpc>
                      </a:pPr>
                      <a:endParaRPr sz="800" dirty="0">
                        <a:latin typeface="Times New Roman"/>
                        <a:cs typeface="Times New Roman"/>
                      </a:endParaRPr>
                    </a:p>
                    <a:p>
                      <a:pPr>
                        <a:lnSpc>
                          <a:spcPct val="100000"/>
                        </a:lnSpc>
                        <a:spcBef>
                          <a:spcPts val="470"/>
                        </a:spcBef>
                      </a:pPr>
                      <a:endParaRPr sz="800" dirty="0">
                        <a:latin typeface="Times New Roman"/>
                        <a:cs typeface="Times New Roman"/>
                      </a:endParaRPr>
                    </a:p>
                    <a:p>
                      <a:pPr marL="60325">
                        <a:lnSpc>
                          <a:spcPct val="100000"/>
                        </a:lnSpc>
                      </a:pPr>
                      <a:r>
                        <a:rPr sz="800" dirty="0">
                          <a:latin typeface="Times New Roman"/>
                          <a:cs typeface="Times New Roman"/>
                        </a:rPr>
                        <a:t>Банкны</a:t>
                      </a:r>
                      <a:r>
                        <a:rPr sz="800" spc="-45" dirty="0">
                          <a:latin typeface="Times New Roman"/>
                          <a:cs typeface="Times New Roman"/>
                        </a:rPr>
                        <a:t> </a:t>
                      </a:r>
                      <a:r>
                        <a:rPr sz="800" dirty="0">
                          <a:latin typeface="Times New Roman"/>
                          <a:cs typeface="Times New Roman"/>
                        </a:rPr>
                        <a:t>зээлийн</a:t>
                      </a:r>
                      <a:r>
                        <a:rPr sz="800" spc="-35" dirty="0">
                          <a:latin typeface="Times New Roman"/>
                          <a:cs typeface="Times New Roman"/>
                        </a:rPr>
                        <a:t> </a:t>
                      </a:r>
                      <a:r>
                        <a:rPr sz="800" spc="-10" dirty="0">
                          <a:latin typeface="Times New Roman"/>
                          <a:cs typeface="Times New Roman"/>
                        </a:rPr>
                        <a:t>хэмжээ</a:t>
                      </a:r>
                      <a:endParaRPr sz="800" dirty="0">
                        <a:latin typeface="Times New Roman"/>
                        <a:cs typeface="Times New Roman"/>
                      </a:endParaRPr>
                    </a:p>
                  </a:txBody>
                  <a:tcPr marL="0" marR="0" marT="0" marB="0">
                    <a:lnL w="9525">
                      <a:solidFill>
                        <a:srgbClr val="AEABAB"/>
                      </a:solidFill>
                      <a:prstDash val="sysDash"/>
                    </a:lnL>
                    <a:lnR w="12700">
                      <a:solidFill>
                        <a:srgbClr val="000000"/>
                      </a:solidFill>
                      <a:prstDash val="solid"/>
                    </a:lnR>
                    <a:lnT w="12700">
                      <a:solidFill>
                        <a:srgbClr val="000000"/>
                      </a:solidFill>
                      <a:prstDash val="solid"/>
                    </a:lnT>
                    <a:lnB w="9525">
                      <a:solidFill>
                        <a:srgbClr val="AEABAB"/>
                      </a:solidFill>
                      <a:prstDash val="sysDash"/>
                    </a:lnB>
                    <a:solidFill>
                      <a:srgbClr val="FFFFFF"/>
                    </a:solidFill>
                  </a:tcPr>
                </a:tc>
                <a:extLst>
                  <a:ext uri="{0D108BD9-81ED-4DB2-BD59-A6C34878D82A}">
                    <a16:rowId xmlns:a16="http://schemas.microsoft.com/office/drawing/2014/main" val="10000"/>
                  </a:ext>
                </a:extLst>
              </a:tr>
              <a:tr h="185047">
                <a:tc>
                  <a:txBody>
                    <a:bodyPr/>
                    <a:lstStyle/>
                    <a:p>
                      <a:pPr marL="70485">
                        <a:lnSpc>
                          <a:spcPct val="100000"/>
                        </a:lnSpc>
                        <a:spcBef>
                          <a:spcPts val="305"/>
                        </a:spcBef>
                      </a:pPr>
                      <a:r>
                        <a:rPr sz="800" b="1" spc="-10" dirty="0">
                          <a:latin typeface="Times New Roman"/>
                          <a:cs typeface="Times New Roman"/>
                        </a:rPr>
                        <a:t>Зээлийн</a:t>
                      </a:r>
                      <a:r>
                        <a:rPr sz="800" b="1" spc="35" dirty="0">
                          <a:latin typeface="Times New Roman"/>
                          <a:cs typeface="Times New Roman"/>
                        </a:rPr>
                        <a:t> </a:t>
                      </a:r>
                      <a:r>
                        <a:rPr sz="800" b="1" spc="-25" dirty="0">
                          <a:latin typeface="Times New Roman"/>
                          <a:cs typeface="Times New Roman"/>
                        </a:rPr>
                        <a:t>хүү</a:t>
                      </a:r>
                      <a:endParaRPr sz="800" dirty="0">
                        <a:latin typeface="Times New Roman"/>
                        <a:cs typeface="Times New Roman"/>
                      </a:endParaRPr>
                    </a:p>
                  </a:txBody>
                  <a:tcPr marL="0" marR="0" marT="3873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7785">
                        <a:lnSpc>
                          <a:spcPct val="100000"/>
                        </a:lnSpc>
                        <a:spcBef>
                          <a:spcPts val="305"/>
                        </a:spcBef>
                      </a:pPr>
                      <a:r>
                        <a:rPr sz="800" dirty="0">
                          <a:latin typeface="Times New Roman"/>
                          <a:cs typeface="Times New Roman"/>
                        </a:rPr>
                        <a:t>Банкны</a:t>
                      </a:r>
                      <a:r>
                        <a:rPr sz="800" spc="-40" dirty="0">
                          <a:latin typeface="Times New Roman"/>
                          <a:cs typeface="Times New Roman"/>
                        </a:rPr>
                        <a:t> </a:t>
                      </a:r>
                      <a:r>
                        <a:rPr sz="800" dirty="0">
                          <a:latin typeface="Times New Roman"/>
                          <a:cs typeface="Times New Roman"/>
                        </a:rPr>
                        <a:t>зээлийн</a:t>
                      </a:r>
                      <a:r>
                        <a:rPr sz="800" spc="-25" dirty="0">
                          <a:latin typeface="Times New Roman"/>
                          <a:cs typeface="Times New Roman"/>
                        </a:rPr>
                        <a:t> хүү</a:t>
                      </a:r>
                      <a:endParaRPr sz="800" dirty="0">
                        <a:latin typeface="Times New Roman"/>
                        <a:cs typeface="Times New Roman"/>
                      </a:endParaRPr>
                    </a:p>
                  </a:txBody>
                  <a:tcPr marL="0" marR="0" marT="3873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1"/>
                  </a:ext>
                </a:extLst>
              </a:tr>
              <a:tr h="191943">
                <a:tc>
                  <a:txBody>
                    <a:bodyPr/>
                    <a:lstStyle/>
                    <a:p>
                      <a:pPr marL="70485">
                        <a:lnSpc>
                          <a:spcPct val="100000"/>
                        </a:lnSpc>
                        <a:spcBef>
                          <a:spcPts val="335"/>
                        </a:spcBef>
                      </a:pPr>
                      <a:r>
                        <a:rPr sz="800" b="1" spc="-10" dirty="0">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хугацаа</a:t>
                      </a:r>
                      <a:endParaRPr sz="800">
                        <a:latin typeface="Times New Roman"/>
                        <a:cs typeface="Times New Roman"/>
                      </a:endParaRPr>
                    </a:p>
                  </a:txBody>
                  <a:tcPr marL="0" marR="0" marT="4254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7785">
                        <a:lnSpc>
                          <a:spcPct val="100000"/>
                        </a:lnSpc>
                        <a:spcBef>
                          <a:spcPts val="335"/>
                        </a:spcBef>
                      </a:pPr>
                      <a:r>
                        <a:rPr sz="800" dirty="0">
                          <a:latin typeface="Times New Roman"/>
                          <a:cs typeface="Times New Roman"/>
                        </a:rPr>
                        <a:t>Банкны</a:t>
                      </a:r>
                      <a:r>
                        <a:rPr sz="800" spc="-45" dirty="0">
                          <a:latin typeface="Times New Roman"/>
                          <a:cs typeface="Times New Roman"/>
                        </a:rPr>
                        <a:t> </a:t>
                      </a:r>
                      <a:r>
                        <a:rPr sz="800" dirty="0">
                          <a:latin typeface="Times New Roman"/>
                          <a:cs typeface="Times New Roman"/>
                        </a:rPr>
                        <a:t>зээлийн</a:t>
                      </a:r>
                      <a:r>
                        <a:rPr sz="800" spc="-35" dirty="0">
                          <a:latin typeface="Times New Roman"/>
                          <a:cs typeface="Times New Roman"/>
                        </a:rPr>
                        <a:t> </a:t>
                      </a:r>
                      <a:r>
                        <a:rPr sz="800" spc="-10" dirty="0">
                          <a:latin typeface="Times New Roman"/>
                          <a:cs typeface="Times New Roman"/>
                        </a:rPr>
                        <a:t>хугацаа</a:t>
                      </a:r>
                      <a:endParaRPr sz="800">
                        <a:latin typeface="Times New Roman"/>
                        <a:cs typeface="Times New Roman"/>
                      </a:endParaRPr>
                    </a:p>
                  </a:txBody>
                  <a:tcPr marL="0" marR="0" marT="4254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2"/>
                  </a:ext>
                </a:extLst>
              </a:tr>
              <a:tr h="454571">
                <a:tc>
                  <a:txBody>
                    <a:bodyPr/>
                    <a:lstStyle/>
                    <a:p>
                      <a:pPr marL="70485" marR="259079">
                        <a:lnSpc>
                          <a:spcPct val="107700"/>
                        </a:lnSpc>
                        <a:spcBef>
                          <a:spcPts val="375"/>
                        </a:spcBef>
                      </a:pPr>
                      <a:r>
                        <a:rPr sz="800" b="1" dirty="0">
                          <a:latin typeface="Times New Roman"/>
                          <a:cs typeface="Times New Roman"/>
                        </a:rPr>
                        <a:t>Нэг</a:t>
                      </a:r>
                      <a:r>
                        <a:rPr sz="800" b="1" spc="5" dirty="0">
                          <a:latin typeface="Times New Roman"/>
                          <a:cs typeface="Times New Roman"/>
                        </a:rPr>
                        <a:t> </a:t>
                      </a:r>
                      <a:r>
                        <a:rPr sz="800" b="1" spc="-10" dirty="0">
                          <a:latin typeface="Times New Roman"/>
                          <a:cs typeface="Times New Roman"/>
                        </a:rPr>
                        <a:t>зээлдэгчид</a:t>
                      </a:r>
                      <a:r>
                        <a:rPr sz="800" b="1" spc="35" dirty="0">
                          <a:latin typeface="Times New Roman"/>
                          <a:cs typeface="Times New Roman"/>
                        </a:rPr>
                        <a:t> </a:t>
                      </a:r>
                      <a:r>
                        <a:rPr sz="800" b="1" spc="-10" dirty="0">
                          <a:latin typeface="Times New Roman"/>
                          <a:cs typeface="Times New Roman"/>
                        </a:rPr>
                        <a:t>гаргах</a:t>
                      </a:r>
                      <a:r>
                        <a:rPr sz="800" b="1" spc="500" dirty="0">
                          <a:latin typeface="Times New Roman"/>
                          <a:cs typeface="Times New Roman"/>
                        </a:rPr>
                        <a:t> </a:t>
                      </a:r>
                      <a:r>
                        <a:rPr sz="800" b="1" dirty="0">
                          <a:latin typeface="Times New Roman"/>
                          <a:cs typeface="Times New Roman"/>
                        </a:rPr>
                        <a:t>батлан</a:t>
                      </a:r>
                      <a:r>
                        <a:rPr sz="800" b="1" spc="-25" dirty="0">
                          <a:latin typeface="Times New Roman"/>
                          <a:cs typeface="Times New Roman"/>
                        </a:rPr>
                        <a:t> </a:t>
                      </a:r>
                      <a:r>
                        <a:rPr sz="800" b="1" dirty="0">
                          <a:latin typeface="Times New Roman"/>
                          <a:cs typeface="Times New Roman"/>
                        </a:rPr>
                        <a:t>даалтын</a:t>
                      </a:r>
                      <a:r>
                        <a:rPr sz="800" b="1" spc="-35" dirty="0">
                          <a:latin typeface="Times New Roman"/>
                          <a:cs typeface="Times New Roman"/>
                        </a:rPr>
                        <a:t> </a:t>
                      </a:r>
                      <a:r>
                        <a:rPr sz="800" b="1" spc="-20" dirty="0">
                          <a:latin typeface="Times New Roman"/>
                          <a:cs typeface="Times New Roman"/>
                        </a:rPr>
                        <a:t>дээд</a:t>
                      </a:r>
                      <a:r>
                        <a:rPr sz="800" b="1" spc="500" dirty="0">
                          <a:latin typeface="Times New Roman"/>
                          <a:cs typeface="Times New Roman"/>
                        </a:rPr>
                        <a:t> </a:t>
                      </a:r>
                      <a:r>
                        <a:rPr sz="800" b="1" spc="-10" dirty="0">
                          <a:latin typeface="Times New Roman"/>
                          <a:cs typeface="Times New Roman"/>
                        </a:rPr>
                        <a:t>хэмжээ</a:t>
                      </a:r>
                      <a:endParaRPr sz="800">
                        <a:latin typeface="Times New Roman"/>
                        <a:cs typeface="Times New Roman"/>
                      </a:endParaRPr>
                    </a:p>
                  </a:txBody>
                  <a:tcPr marL="0" marR="0" marT="4762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555"/>
                        </a:spcBef>
                      </a:pPr>
                      <a:endParaRPr sz="800">
                        <a:latin typeface="Times New Roman"/>
                        <a:cs typeface="Times New Roman"/>
                      </a:endParaRPr>
                    </a:p>
                    <a:p>
                      <a:pPr marL="57785">
                        <a:lnSpc>
                          <a:spcPct val="100000"/>
                        </a:lnSpc>
                        <a:spcBef>
                          <a:spcPts val="5"/>
                        </a:spcBef>
                      </a:pPr>
                      <a:r>
                        <a:rPr sz="800" dirty="0">
                          <a:latin typeface="Times New Roman"/>
                          <a:cs typeface="Times New Roman"/>
                        </a:rPr>
                        <a:t>60%</a:t>
                      </a:r>
                      <a:r>
                        <a:rPr sz="800" spc="-50" dirty="0">
                          <a:latin typeface="Times New Roman"/>
                          <a:cs typeface="Times New Roman"/>
                        </a:rPr>
                        <a:t> </a:t>
                      </a:r>
                      <a:r>
                        <a:rPr sz="800" dirty="0">
                          <a:latin typeface="Times New Roman"/>
                          <a:cs typeface="Times New Roman"/>
                        </a:rPr>
                        <a:t>хүртэл</a:t>
                      </a:r>
                      <a:r>
                        <a:rPr sz="800" spc="10" dirty="0">
                          <a:latin typeface="Times New Roman"/>
                          <a:cs typeface="Times New Roman"/>
                        </a:rPr>
                        <a:t> </a:t>
                      </a:r>
                      <a:r>
                        <a:rPr sz="800" dirty="0">
                          <a:latin typeface="Times New Roman"/>
                          <a:cs typeface="Times New Roman"/>
                        </a:rPr>
                        <a:t>/1.2</a:t>
                      </a:r>
                      <a:r>
                        <a:rPr sz="800" spc="-30" dirty="0">
                          <a:latin typeface="Times New Roman"/>
                          <a:cs typeface="Times New Roman"/>
                        </a:rPr>
                        <a:t> </a:t>
                      </a:r>
                      <a:r>
                        <a:rPr sz="800" dirty="0">
                          <a:latin typeface="Times New Roman"/>
                          <a:cs typeface="Times New Roman"/>
                        </a:rPr>
                        <a:t>тэрбум</a:t>
                      </a:r>
                      <a:r>
                        <a:rPr sz="800" spc="180" dirty="0">
                          <a:latin typeface="Times New Roman"/>
                          <a:cs typeface="Times New Roman"/>
                        </a:rPr>
                        <a:t> </a:t>
                      </a:r>
                      <a:r>
                        <a:rPr sz="800" spc="-10" dirty="0">
                          <a:latin typeface="Times New Roman"/>
                          <a:cs typeface="Times New Roman"/>
                        </a:rPr>
                        <a:t>төгрөг/</a:t>
                      </a:r>
                      <a:endParaRPr sz="800">
                        <a:latin typeface="Times New Roman"/>
                        <a:cs typeface="Times New Roman"/>
                      </a:endParaRPr>
                    </a:p>
                  </a:txBody>
                  <a:tcPr marL="0" marR="0" marT="7048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3"/>
                  </a:ext>
                </a:extLst>
              </a:tr>
              <a:tr h="454571">
                <a:tc>
                  <a:txBody>
                    <a:bodyPr/>
                    <a:lstStyle/>
                    <a:p>
                      <a:pPr marL="70485" marR="64135">
                        <a:lnSpc>
                          <a:spcPct val="107500"/>
                        </a:lnSpc>
                        <a:spcBef>
                          <a:spcPts val="894"/>
                        </a:spcBef>
                      </a:pPr>
                      <a:r>
                        <a:rPr sz="800" b="1" dirty="0">
                          <a:latin typeface="Times New Roman"/>
                          <a:cs typeface="Times New Roman"/>
                        </a:rPr>
                        <a:t>Үндсэн</a:t>
                      </a:r>
                      <a:r>
                        <a:rPr sz="800" b="1" spc="-20" dirty="0">
                          <a:latin typeface="Times New Roman"/>
                          <a:cs typeface="Times New Roman"/>
                        </a:rPr>
                        <a:t> </a:t>
                      </a:r>
                      <a:r>
                        <a:rPr sz="800" b="1" spc="-10" dirty="0">
                          <a:latin typeface="Times New Roman"/>
                          <a:cs typeface="Times New Roman"/>
                        </a:rPr>
                        <a:t>зээлийн</a:t>
                      </a:r>
                      <a:r>
                        <a:rPr sz="800" b="1" dirty="0">
                          <a:latin typeface="Times New Roman"/>
                          <a:cs typeface="Times New Roman"/>
                        </a:rPr>
                        <a:t> </a:t>
                      </a:r>
                      <a:r>
                        <a:rPr sz="800" b="1" spc="-10" dirty="0">
                          <a:latin typeface="Times New Roman"/>
                          <a:cs typeface="Times New Roman"/>
                        </a:rPr>
                        <a:t>төлбөрөөс</a:t>
                      </a:r>
                      <a:r>
                        <a:rPr sz="800" b="1" spc="500" dirty="0">
                          <a:latin typeface="Times New Roman"/>
                          <a:cs typeface="Times New Roman"/>
                        </a:rPr>
                        <a:t> </a:t>
                      </a:r>
                      <a:r>
                        <a:rPr sz="800" b="1" dirty="0">
                          <a:latin typeface="Times New Roman"/>
                          <a:cs typeface="Times New Roman"/>
                        </a:rPr>
                        <a:t>чөлөөлөх</a:t>
                      </a:r>
                      <a:r>
                        <a:rPr sz="800" b="1" spc="-25" dirty="0">
                          <a:latin typeface="Times New Roman"/>
                          <a:cs typeface="Times New Roman"/>
                        </a:rPr>
                        <a:t> </a:t>
                      </a:r>
                      <a:r>
                        <a:rPr sz="800" b="1" spc="-10" dirty="0">
                          <a:latin typeface="Times New Roman"/>
                          <a:cs typeface="Times New Roman"/>
                        </a:rPr>
                        <a:t>хугацаа</a:t>
                      </a:r>
                      <a:endParaRPr sz="800">
                        <a:latin typeface="Times New Roman"/>
                        <a:cs typeface="Times New Roman"/>
                      </a:endParaRPr>
                    </a:p>
                  </a:txBody>
                  <a:tcPr marL="0" marR="0" marT="113664"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560"/>
                        </a:spcBef>
                      </a:pPr>
                      <a:endParaRPr sz="800" dirty="0">
                        <a:latin typeface="Times New Roman"/>
                        <a:cs typeface="Times New Roman"/>
                      </a:endParaRPr>
                    </a:p>
                    <a:p>
                      <a:pPr marL="57785">
                        <a:lnSpc>
                          <a:spcPct val="100000"/>
                        </a:lnSpc>
                      </a:pPr>
                      <a:r>
                        <a:rPr sz="800" dirty="0">
                          <a:latin typeface="Times New Roman"/>
                          <a:cs typeface="Times New Roman"/>
                        </a:rPr>
                        <a:t>24</a:t>
                      </a:r>
                      <a:r>
                        <a:rPr sz="800" spc="-10" dirty="0">
                          <a:latin typeface="Times New Roman"/>
                          <a:cs typeface="Times New Roman"/>
                        </a:rPr>
                        <a:t> </a:t>
                      </a:r>
                      <a:r>
                        <a:rPr sz="800" dirty="0">
                          <a:latin typeface="Times New Roman"/>
                          <a:cs typeface="Times New Roman"/>
                        </a:rPr>
                        <a:t>сар</a:t>
                      </a:r>
                      <a:r>
                        <a:rPr sz="800" spc="-10" dirty="0">
                          <a:latin typeface="Times New Roman"/>
                          <a:cs typeface="Times New Roman"/>
                        </a:rPr>
                        <a:t> хүртэл</a:t>
                      </a:r>
                      <a:endParaRPr sz="800" dirty="0">
                        <a:latin typeface="Times New Roman"/>
                        <a:cs typeface="Times New Roman"/>
                      </a:endParaRPr>
                    </a:p>
                  </a:txBody>
                  <a:tcPr marL="0" marR="0" marT="7112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4"/>
                  </a:ext>
                </a:extLst>
              </a:tr>
              <a:tr h="454571">
                <a:tc>
                  <a:txBody>
                    <a:bodyPr/>
                    <a:lstStyle/>
                    <a:p>
                      <a:pPr marL="70485" marR="229870">
                        <a:lnSpc>
                          <a:spcPct val="107500"/>
                        </a:lnSpc>
                        <a:spcBef>
                          <a:spcPts val="380"/>
                        </a:spcBef>
                      </a:pPr>
                      <a:r>
                        <a:rPr sz="800" b="1" spc="-10" dirty="0">
                          <a:latin typeface="Times New Roman"/>
                          <a:cs typeface="Times New Roman"/>
                        </a:rPr>
                        <a:t>ЗБДС-</a:t>
                      </a:r>
                      <a:r>
                        <a:rPr sz="800" b="1" dirty="0">
                          <a:latin typeface="Times New Roman"/>
                          <a:cs typeface="Times New Roman"/>
                        </a:rPr>
                        <a:t>ийн</a:t>
                      </a:r>
                      <a:r>
                        <a:rPr sz="800" b="1" spc="204" dirty="0">
                          <a:latin typeface="Times New Roman"/>
                          <a:cs typeface="Times New Roman"/>
                        </a:rPr>
                        <a:t> </a:t>
                      </a:r>
                      <a:r>
                        <a:rPr sz="800" b="1" spc="-10" dirty="0">
                          <a:latin typeface="Times New Roman"/>
                          <a:cs typeface="Times New Roman"/>
                        </a:rPr>
                        <a:t>Өргөдлийн</a:t>
                      </a:r>
                      <a:r>
                        <a:rPr sz="800" b="1" spc="500" dirty="0">
                          <a:latin typeface="Times New Roman"/>
                          <a:cs typeface="Times New Roman"/>
                        </a:rPr>
                        <a:t> </a:t>
                      </a:r>
                      <a:r>
                        <a:rPr sz="800" b="1" spc="-10" dirty="0">
                          <a:latin typeface="Times New Roman"/>
                          <a:cs typeface="Times New Roman"/>
                        </a:rPr>
                        <a:t>хураамж</a:t>
                      </a:r>
                      <a:endParaRPr sz="800">
                        <a:latin typeface="Times New Roman"/>
                        <a:cs typeface="Times New Roman"/>
                      </a:endParaRPr>
                    </a:p>
                  </a:txBody>
                  <a:tcPr marL="0" marR="0" marT="4826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45"/>
                        </a:spcBef>
                      </a:pPr>
                      <a:endParaRPr sz="800" dirty="0">
                        <a:latin typeface="Times New Roman"/>
                        <a:cs typeface="Times New Roman"/>
                      </a:endParaRPr>
                    </a:p>
                    <a:p>
                      <a:pPr marL="57785">
                        <a:lnSpc>
                          <a:spcPct val="100000"/>
                        </a:lnSpc>
                        <a:spcBef>
                          <a:spcPts val="5"/>
                        </a:spcBef>
                      </a:pPr>
                      <a:r>
                        <a:rPr sz="800" dirty="0">
                          <a:latin typeface="Times New Roman"/>
                          <a:cs typeface="Times New Roman"/>
                        </a:rPr>
                        <a:t>10,000</a:t>
                      </a:r>
                      <a:r>
                        <a:rPr sz="800" spc="-50" dirty="0">
                          <a:latin typeface="Times New Roman"/>
                          <a:cs typeface="Times New Roman"/>
                        </a:rPr>
                        <a:t> </a:t>
                      </a:r>
                      <a:r>
                        <a:rPr sz="800" dirty="0">
                          <a:latin typeface="Times New Roman"/>
                          <a:cs typeface="Times New Roman"/>
                        </a:rPr>
                        <a:t>төгрөг</a:t>
                      </a:r>
                      <a:r>
                        <a:rPr sz="800" spc="10" dirty="0">
                          <a:latin typeface="Times New Roman"/>
                          <a:cs typeface="Times New Roman"/>
                        </a:rPr>
                        <a:t> </a:t>
                      </a:r>
                      <a:r>
                        <a:rPr sz="800" dirty="0">
                          <a:latin typeface="Times New Roman"/>
                          <a:cs typeface="Times New Roman"/>
                        </a:rPr>
                        <a:t>/нэг</a:t>
                      </a:r>
                      <a:r>
                        <a:rPr sz="800" spc="-30" dirty="0">
                          <a:latin typeface="Times New Roman"/>
                          <a:cs typeface="Times New Roman"/>
                        </a:rPr>
                        <a:t> </a:t>
                      </a:r>
                      <a:r>
                        <a:rPr sz="800" spc="-10" dirty="0">
                          <a:latin typeface="Times New Roman"/>
                          <a:cs typeface="Times New Roman"/>
                        </a:rPr>
                        <a:t>удаа/</a:t>
                      </a:r>
                      <a:endParaRPr sz="800" dirty="0">
                        <a:latin typeface="Times New Roman"/>
                        <a:cs typeface="Times New Roman"/>
                      </a:endParaRPr>
                    </a:p>
                  </a:txBody>
                  <a:tcPr marL="0" marR="0" marT="571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5"/>
                  </a:ext>
                </a:extLst>
              </a:tr>
              <a:tr h="835010">
                <a:tc>
                  <a:txBody>
                    <a:bodyPr/>
                    <a:lstStyle/>
                    <a:p>
                      <a:pPr>
                        <a:lnSpc>
                          <a:spcPct val="100000"/>
                        </a:lnSpc>
                      </a:pPr>
                      <a:endParaRPr sz="800" dirty="0">
                        <a:latin typeface="Times New Roman"/>
                        <a:cs typeface="Times New Roman"/>
                      </a:endParaRPr>
                    </a:p>
                    <a:p>
                      <a:pPr>
                        <a:lnSpc>
                          <a:spcPct val="100000"/>
                        </a:lnSpc>
                        <a:spcBef>
                          <a:spcPts val="785"/>
                        </a:spcBef>
                      </a:pPr>
                      <a:endParaRPr sz="800" dirty="0">
                        <a:latin typeface="Times New Roman"/>
                        <a:cs typeface="Times New Roman"/>
                      </a:endParaRPr>
                    </a:p>
                    <a:p>
                      <a:pPr marL="70485">
                        <a:lnSpc>
                          <a:spcPct val="100000"/>
                        </a:lnSpc>
                      </a:pPr>
                      <a:r>
                        <a:rPr sz="800" b="1" spc="-10" dirty="0">
                          <a:latin typeface="Times New Roman"/>
                          <a:cs typeface="Times New Roman"/>
                        </a:rPr>
                        <a:t>ЗБДС-</a:t>
                      </a:r>
                      <a:r>
                        <a:rPr sz="800" b="1" dirty="0">
                          <a:latin typeface="Times New Roman"/>
                          <a:cs typeface="Times New Roman"/>
                        </a:rPr>
                        <a:t>ийн</a:t>
                      </a:r>
                      <a:r>
                        <a:rPr sz="800" b="1" spc="15" dirty="0">
                          <a:latin typeface="Times New Roman"/>
                          <a:cs typeface="Times New Roman"/>
                        </a:rPr>
                        <a:t> </a:t>
                      </a:r>
                      <a:r>
                        <a:rPr sz="800" b="1" spc="-10" dirty="0">
                          <a:latin typeface="Times New Roman"/>
                          <a:cs typeface="Times New Roman"/>
                        </a:rPr>
                        <a:t>шимтгэл</a:t>
                      </a:r>
                      <a:endParaRPr sz="800" dirty="0">
                        <a:latin typeface="Times New Roman"/>
                        <a:cs typeface="Times New Roman"/>
                      </a:endParaRPr>
                    </a:p>
                  </a:txBody>
                  <a:tcPr marL="0" marR="0" marT="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7785" marR="285750">
                        <a:lnSpc>
                          <a:spcPct val="107500"/>
                        </a:lnSpc>
                        <a:spcBef>
                          <a:spcPts val="500"/>
                        </a:spcBef>
                      </a:pPr>
                      <a:r>
                        <a:rPr sz="800" dirty="0">
                          <a:latin typeface="Times New Roman"/>
                          <a:cs typeface="Times New Roman"/>
                        </a:rPr>
                        <a:t>Зээлийн </a:t>
                      </a:r>
                      <a:r>
                        <a:rPr sz="800" spc="-10" dirty="0">
                          <a:latin typeface="Times New Roman"/>
                          <a:cs typeface="Times New Roman"/>
                        </a:rPr>
                        <a:t>хугацаанаас</a:t>
                      </a:r>
                      <a:r>
                        <a:rPr sz="800" spc="-45" dirty="0">
                          <a:latin typeface="Times New Roman"/>
                          <a:cs typeface="Times New Roman"/>
                        </a:rPr>
                        <a:t> </a:t>
                      </a:r>
                      <a:r>
                        <a:rPr sz="800" dirty="0">
                          <a:latin typeface="Times New Roman"/>
                          <a:cs typeface="Times New Roman"/>
                        </a:rPr>
                        <a:t>хамаарч</a:t>
                      </a:r>
                      <a:r>
                        <a:rPr sz="800" spc="5" dirty="0">
                          <a:latin typeface="Times New Roman"/>
                          <a:cs typeface="Times New Roman"/>
                        </a:rPr>
                        <a:t> </a:t>
                      </a:r>
                      <a:r>
                        <a:rPr sz="800" dirty="0">
                          <a:latin typeface="Times New Roman"/>
                          <a:cs typeface="Times New Roman"/>
                        </a:rPr>
                        <a:t>нэг</a:t>
                      </a:r>
                      <a:r>
                        <a:rPr sz="800" spc="10" dirty="0">
                          <a:latin typeface="Times New Roman"/>
                          <a:cs typeface="Times New Roman"/>
                        </a:rPr>
                        <a:t> </a:t>
                      </a:r>
                      <a:r>
                        <a:rPr sz="800" spc="-20" dirty="0">
                          <a:latin typeface="Times New Roman"/>
                          <a:cs typeface="Times New Roman"/>
                        </a:rPr>
                        <a:t>удаа</a:t>
                      </a:r>
                      <a:r>
                        <a:rPr sz="800" spc="500" dirty="0">
                          <a:latin typeface="Times New Roman"/>
                          <a:cs typeface="Times New Roman"/>
                        </a:rPr>
                        <a:t> </a:t>
                      </a:r>
                      <a:r>
                        <a:rPr sz="800" spc="-10" dirty="0">
                          <a:latin typeface="Times New Roman"/>
                          <a:cs typeface="Times New Roman"/>
                        </a:rPr>
                        <a:t>төлнө</a:t>
                      </a:r>
                      <a:endParaRPr sz="800" dirty="0">
                        <a:latin typeface="Times New Roman"/>
                        <a:cs typeface="Times New Roman"/>
                      </a:endParaRPr>
                    </a:p>
                    <a:p>
                      <a:pPr marL="57785">
                        <a:lnSpc>
                          <a:spcPct val="100000"/>
                        </a:lnSpc>
                        <a:spcBef>
                          <a:spcPts val="70"/>
                        </a:spcBef>
                      </a:pPr>
                      <a:r>
                        <a:rPr sz="800" dirty="0">
                          <a:latin typeface="Times New Roman"/>
                          <a:cs typeface="Times New Roman"/>
                        </a:rPr>
                        <a:t>1</a:t>
                      </a:r>
                      <a:r>
                        <a:rPr sz="800" spc="-30" dirty="0">
                          <a:latin typeface="Times New Roman"/>
                          <a:cs typeface="Times New Roman"/>
                        </a:rPr>
                        <a:t> </a:t>
                      </a:r>
                      <a:r>
                        <a:rPr sz="800" dirty="0">
                          <a:latin typeface="Times New Roman"/>
                          <a:cs typeface="Times New Roman"/>
                        </a:rPr>
                        <a:t>жил</a:t>
                      </a:r>
                      <a:r>
                        <a:rPr sz="800" spc="-25" dirty="0">
                          <a:latin typeface="Times New Roman"/>
                          <a:cs typeface="Times New Roman"/>
                        </a:rPr>
                        <a:t> </a:t>
                      </a:r>
                      <a:r>
                        <a:rPr sz="800" dirty="0">
                          <a:latin typeface="Times New Roman"/>
                          <a:cs typeface="Times New Roman"/>
                        </a:rPr>
                        <a:t>хүртэл</a:t>
                      </a:r>
                      <a:r>
                        <a:rPr sz="800" spc="-5" dirty="0">
                          <a:latin typeface="Times New Roman"/>
                          <a:cs typeface="Times New Roman"/>
                        </a:rPr>
                        <a:t> </a:t>
                      </a:r>
                      <a:r>
                        <a:rPr sz="800" dirty="0">
                          <a:latin typeface="Times New Roman"/>
                          <a:cs typeface="Times New Roman"/>
                        </a:rPr>
                        <a:t>хугацаанд</a:t>
                      </a:r>
                      <a:r>
                        <a:rPr sz="800" spc="-25" dirty="0">
                          <a:latin typeface="Times New Roman"/>
                          <a:cs typeface="Times New Roman"/>
                        </a:rPr>
                        <a:t> -1%</a:t>
                      </a:r>
                      <a:endParaRPr sz="800" dirty="0">
                        <a:latin typeface="Times New Roman"/>
                        <a:cs typeface="Times New Roman"/>
                      </a:endParaRPr>
                    </a:p>
                    <a:p>
                      <a:pPr marL="57785">
                        <a:lnSpc>
                          <a:spcPct val="100000"/>
                        </a:lnSpc>
                        <a:spcBef>
                          <a:spcPts val="50"/>
                        </a:spcBef>
                      </a:pPr>
                      <a:r>
                        <a:rPr sz="800" spc="-10" dirty="0">
                          <a:latin typeface="Times New Roman"/>
                          <a:cs typeface="Times New Roman"/>
                        </a:rPr>
                        <a:t>1-</a:t>
                      </a:r>
                      <a:r>
                        <a:rPr sz="800" dirty="0">
                          <a:latin typeface="Times New Roman"/>
                          <a:cs typeface="Times New Roman"/>
                        </a:rPr>
                        <a:t>2</a:t>
                      </a:r>
                      <a:r>
                        <a:rPr sz="800" spc="-5" dirty="0">
                          <a:latin typeface="Times New Roman"/>
                          <a:cs typeface="Times New Roman"/>
                        </a:rPr>
                        <a:t> </a:t>
                      </a:r>
                      <a:r>
                        <a:rPr sz="800" dirty="0">
                          <a:latin typeface="Times New Roman"/>
                          <a:cs typeface="Times New Roman"/>
                        </a:rPr>
                        <a:t>жил</a:t>
                      </a:r>
                      <a:r>
                        <a:rPr sz="800" spc="-45" dirty="0">
                          <a:latin typeface="Times New Roman"/>
                          <a:cs typeface="Times New Roman"/>
                        </a:rPr>
                        <a:t> </a:t>
                      </a:r>
                      <a:r>
                        <a:rPr sz="800" dirty="0">
                          <a:latin typeface="Times New Roman"/>
                          <a:cs typeface="Times New Roman"/>
                        </a:rPr>
                        <a:t>хүртэл</a:t>
                      </a:r>
                      <a:r>
                        <a:rPr sz="800" spc="15" dirty="0">
                          <a:latin typeface="Times New Roman"/>
                          <a:cs typeface="Times New Roman"/>
                        </a:rPr>
                        <a:t> </a:t>
                      </a:r>
                      <a:r>
                        <a:rPr sz="800" dirty="0">
                          <a:latin typeface="Times New Roman"/>
                          <a:cs typeface="Times New Roman"/>
                        </a:rPr>
                        <a:t>хугацаанд</a:t>
                      </a:r>
                      <a:r>
                        <a:rPr sz="800" spc="-35" dirty="0">
                          <a:latin typeface="Times New Roman"/>
                          <a:cs typeface="Times New Roman"/>
                        </a:rPr>
                        <a:t> </a:t>
                      </a:r>
                      <a:r>
                        <a:rPr sz="800" spc="-25" dirty="0">
                          <a:latin typeface="Times New Roman"/>
                          <a:cs typeface="Times New Roman"/>
                        </a:rPr>
                        <a:t>-2%</a:t>
                      </a:r>
                      <a:endParaRPr sz="800" dirty="0">
                        <a:latin typeface="Times New Roman"/>
                        <a:cs typeface="Times New Roman"/>
                      </a:endParaRPr>
                    </a:p>
                    <a:p>
                      <a:pPr marL="57785">
                        <a:lnSpc>
                          <a:spcPct val="100000"/>
                        </a:lnSpc>
                        <a:spcBef>
                          <a:spcPts val="75"/>
                        </a:spcBef>
                      </a:pPr>
                      <a:r>
                        <a:rPr sz="800" spc="-10" dirty="0">
                          <a:latin typeface="Times New Roman"/>
                          <a:cs typeface="Times New Roman"/>
                        </a:rPr>
                        <a:t>2-</a:t>
                      </a:r>
                      <a:r>
                        <a:rPr sz="800" dirty="0">
                          <a:latin typeface="Times New Roman"/>
                          <a:cs typeface="Times New Roman"/>
                        </a:rPr>
                        <a:t>оос</a:t>
                      </a:r>
                      <a:r>
                        <a:rPr sz="800" spc="5" dirty="0">
                          <a:latin typeface="Times New Roman"/>
                          <a:cs typeface="Times New Roman"/>
                        </a:rPr>
                        <a:t> </a:t>
                      </a:r>
                      <a:r>
                        <a:rPr sz="800" dirty="0">
                          <a:latin typeface="Times New Roman"/>
                          <a:cs typeface="Times New Roman"/>
                        </a:rPr>
                        <a:t>дээш</a:t>
                      </a:r>
                      <a:r>
                        <a:rPr sz="800" spc="-25" dirty="0">
                          <a:latin typeface="Times New Roman"/>
                          <a:cs typeface="Times New Roman"/>
                        </a:rPr>
                        <a:t> </a:t>
                      </a:r>
                      <a:r>
                        <a:rPr sz="800" dirty="0">
                          <a:latin typeface="Times New Roman"/>
                          <a:cs typeface="Times New Roman"/>
                        </a:rPr>
                        <a:t>жилийн</a:t>
                      </a:r>
                      <a:r>
                        <a:rPr sz="800" spc="-35" dirty="0">
                          <a:latin typeface="Times New Roman"/>
                          <a:cs typeface="Times New Roman"/>
                        </a:rPr>
                        <a:t> </a:t>
                      </a:r>
                      <a:r>
                        <a:rPr sz="800" dirty="0">
                          <a:latin typeface="Times New Roman"/>
                          <a:cs typeface="Times New Roman"/>
                        </a:rPr>
                        <a:t>хугацаанд</a:t>
                      </a:r>
                      <a:r>
                        <a:rPr sz="800" spc="-40" dirty="0">
                          <a:latin typeface="Times New Roman"/>
                          <a:cs typeface="Times New Roman"/>
                        </a:rPr>
                        <a:t> </a:t>
                      </a:r>
                      <a:r>
                        <a:rPr sz="800" spc="-25" dirty="0">
                          <a:latin typeface="Times New Roman"/>
                          <a:cs typeface="Times New Roman"/>
                        </a:rPr>
                        <a:t>-3%</a:t>
                      </a:r>
                      <a:endParaRPr sz="800" dirty="0">
                        <a:latin typeface="Times New Roman"/>
                        <a:cs typeface="Times New Roman"/>
                      </a:endParaRPr>
                    </a:p>
                  </a:txBody>
                  <a:tcPr marL="0" marR="0" marT="6350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6"/>
                  </a:ext>
                </a:extLst>
              </a:tr>
              <a:tr h="454571">
                <a:tc>
                  <a:txBody>
                    <a:bodyPr/>
                    <a:lstStyle/>
                    <a:p>
                      <a:pPr marL="70485" marR="220345">
                        <a:lnSpc>
                          <a:spcPct val="107500"/>
                        </a:lnSpc>
                        <a:spcBef>
                          <a:spcPts val="385"/>
                        </a:spcBef>
                      </a:pPr>
                      <a:r>
                        <a:rPr sz="800" b="1" spc="-10" dirty="0">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үйлчилгээний</a:t>
                      </a:r>
                      <a:r>
                        <a:rPr sz="800" b="1" spc="500" dirty="0">
                          <a:latin typeface="Times New Roman"/>
                          <a:cs typeface="Times New Roman"/>
                        </a:rPr>
                        <a:t> </a:t>
                      </a:r>
                      <a:r>
                        <a:rPr sz="800" b="1" spc="-10" dirty="0">
                          <a:latin typeface="Times New Roman"/>
                          <a:cs typeface="Times New Roman"/>
                        </a:rPr>
                        <a:t>шимтгэл</a:t>
                      </a:r>
                      <a:endParaRPr sz="800" dirty="0">
                        <a:latin typeface="Times New Roman"/>
                        <a:cs typeface="Times New Roman"/>
                      </a:endParaRPr>
                    </a:p>
                  </a:txBody>
                  <a:tcPr marL="0" marR="0" marT="4889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565"/>
                        </a:spcBef>
                      </a:pPr>
                      <a:endParaRPr sz="800">
                        <a:latin typeface="Times New Roman"/>
                        <a:cs typeface="Times New Roman"/>
                      </a:endParaRPr>
                    </a:p>
                    <a:p>
                      <a:pPr marL="57785">
                        <a:lnSpc>
                          <a:spcPct val="100000"/>
                        </a:lnSpc>
                      </a:pPr>
                      <a:r>
                        <a:rPr sz="800" spc="-25" dirty="0">
                          <a:latin typeface="Times New Roman"/>
                          <a:cs typeface="Times New Roman"/>
                        </a:rPr>
                        <a:t>ХШЕН-</a:t>
                      </a:r>
                      <a:r>
                        <a:rPr sz="800" dirty="0">
                          <a:latin typeface="Times New Roman"/>
                          <a:cs typeface="Times New Roman"/>
                        </a:rPr>
                        <a:t>ийн</a:t>
                      </a:r>
                      <a:r>
                        <a:rPr sz="800" spc="70" dirty="0">
                          <a:latin typeface="Times New Roman"/>
                          <a:cs typeface="Times New Roman"/>
                        </a:rPr>
                        <a:t> </a:t>
                      </a:r>
                      <a:r>
                        <a:rPr sz="800" spc="-10" dirty="0">
                          <a:latin typeface="Times New Roman"/>
                          <a:cs typeface="Times New Roman"/>
                        </a:rPr>
                        <a:t>дагуу</a:t>
                      </a:r>
                      <a:endParaRPr sz="800">
                        <a:latin typeface="Times New Roman"/>
                        <a:cs typeface="Times New Roman"/>
                      </a:endParaRPr>
                    </a:p>
                  </a:txBody>
                  <a:tcPr marL="0" marR="0" marT="7175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7"/>
                  </a:ext>
                </a:extLst>
              </a:tr>
              <a:tr h="454571">
                <a:tc>
                  <a:txBody>
                    <a:bodyPr/>
                    <a:lstStyle/>
                    <a:p>
                      <a:pPr marL="70485" marR="238760">
                        <a:lnSpc>
                          <a:spcPct val="107500"/>
                        </a:lnSpc>
                        <a:spcBef>
                          <a:spcPts val="390"/>
                        </a:spcBef>
                      </a:pPr>
                      <a:r>
                        <a:rPr sz="800" b="1" dirty="0">
                          <a:latin typeface="Times New Roman"/>
                          <a:cs typeface="Times New Roman"/>
                        </a:rPr>
                        <a:t>Дахин</a:t>
                      </a:r>
                      <a:r>
                        <a:rPr sz="800" b="1" spc="-30" dirty="0">
                          <a:latin typeface="Times New Roman"/>
                          <a:cs typeface="Times New Roman"/>
                        </a:rPr>
                        <a:t> </a:t>
                      </a:r>
                      <a:r>
                        <a:rPr sz="800" b="1" spc="-10" dirty="0">
                          <a:latin typeface="Times New Roman"/>
                          <a:cs typeface="Times New Roman"/>
                        </a:rPr>
                        <a:t>санхүүжилтийн</a:t>
                      </a:r>
                      <a:r>
                        <a:rPr sz="800" b="1" spc="500" dirty="0">
                          <a:latin typeface="Times New Roman"/>
                          <a:cs typeface="Times New Roman"/>
                        </a:rPr>
                        <a:t> </a:t>
                      </a:r>
                      <a:r>
                        <a:rPr sz="800" b="1" spc="-10" dirty="0">
                          <a:latin typeface="Times New Roman"/>
                          <a:cs typeface="Times New Roman"/>
                        </a:rPr>
                        <a:t>хэмжээ</a:t>
                      </a:r>
                      <a:endParaRPr sz="800">
                        <a:latin typeface="Times New Roman"/>
                        <a:cs typeface="Times New Roman"/>
                      </a:endParaRPr>
                    </a:p>
                  </a:txBody>
                  <a:tcPr marL="0" marR="0" marT="49530" marB="0">
                    <a:lnL w="12700">
                      <a:solidFill>
                        <a:srgbClr val="000000"/>
                      </a:solidFill>
                      <a:prstDash val="solid"/>
                    </a:lnL>
                    <a:lnR w="9525">
                      <a:solidFill>
                        <a:srgbClr val="AEABAB"/>
                      </a:solidFill>
                      <a:prstDash val="sysDash"/>
                    </a:lnR>
                    <a:lnT w="9525">
                      <a:solidFill>
                        <a:srgbClr val="AEABAB"/>
                      </a:solidFill>
                      <a:prstDash val="sysDash"/>
                    </a:lnT>
                    <a:lnB w="12700">
                      <a:solidFill>
                        <a:srgbClr val="000000"/>
                      </a:solidFill>
                      <a:prstDash val="solid"/>
                    </a:lnB>
                    <a:solidFill>
                      <a:srgbClr val="FFFFFF"/>
                    </a:solidFill>
                  </a:tcPr>
                </a:tc>
                <a:tc>
                  <a:txBody>
                    <a:bodyPr/>
                    <a:lstStyle/>
                    <a:p>
                      <a:pPr>
                        <a:lnSpc>
                          <a:spcPct val="100000"/>
                        </a:lnSpc>
                        <a:spcBef>
                          <a:spcPts val="55"/>
                        </a:spcBef>
                      </a:pPr>
                      <a:endParaRPr sz="800" dirty="0">
                        <a:latin typeface="Times New Roman"/>
                        <a:cs typeface="Times New Roman"/>
                      </a:endParaRPr>
                    </a:p>
                    <a:p>
                      <a:pPr marL="57785">
                        <a:lnSpc>
                          <a:spcPct val="100000"/>
                        </a:lnSpc>
                      </a:pPr>
                      <a:r>
                        <a:rPr sz="800" dirty="0">
                          <a:latin typeface="Times New Roman"/>
                          <a:cs typeface="Times New Roman"/>
                        </a:rPr>
                        <a:t>Банкны</a:t>
                      </a:r>
                      <a:r>
                        <a:rPr sz="800" spc="-50" dirty="0">
                          <a:latin typeface="Times New Roman"/>
                          <a:cs typeface="Times New Roman"/>
                        </a:rPr>
                        <a:t> </a:t>
                      </a:r>
                      <a:r>
                        <a:rPr sz="800" dirty="0">
                          <a:latin typeface="Times New Roman"/>
                          <a:cs typeface="Times New Roman"/>
                        </a:rPr>
                        <a:t>зээлийн</a:t>
                      </a:r>
                      <a:r>
                        <a:rPr sz="800" spc="-50" dirty="0">
                          <a:latin typeface="Times New Roman"/>
                          <a:cs typeface="Times New Roman"/>
                        </a:rPr>
                        <a:t> </a:t>
                      </a:r>
                      <a:r>
                        <a:rPr sz="800" dirty="0">
                          <a:latin typeface="Times New Roman"/>
                          <a:cs typeface="Times New Roman"/>
                        </a:rPr>
                        <a:t>нөхцөлийн</a:t>
                      </a:r>
                      <a:r>
                        <a:rPr sz="800" spc="-15" dirty="0">
                          <a:latin typeface="Times New Roman"/>
                          <a:cs typeface="Times New Roman"/>
                        </a:rPr>
                        <a:t> </a:t>
                      </a:r>
                      <a:r>
                        <a:rPr sz="800" spc="-20" dirty="0">
                          <a:latin typeface="Times New Roman"/>
                          <a:cs typeface="Times New Roman"/>
                        </a:rPr>
                        <a:t>дагуу</a:t>
                      </a:r>
                      <a:endParaRPr sz="800" dirty="0">
                        <a:latin typeface="Times New Roman"/>
                        <a:cs typeface="Times New Roman"/>
                      </a:endParaRPr>
                    </a:p>
                  </a:txBody>
                  <a:tcPr marL="0" marR="0" marT="6985" marB="0">
                    <a:lnL w="9525">
                      <a:solidFill>
                        <a:srgbClr val="AEABAB"/>
                      </a:solidFill>
                      <a:prstDash val="sysDash"/>
                    </a:lnL>
                    <a:lnR w="12700">
                      <a:solidFill>
                        <a:srgbClr val="000000"/>
                      </a:solidFill>
                      <a:prstDash val="solid"/>
                    </a:lnR>
                    <a:lnT w="9525">
                      <a:solidFill>
                        <a:srgbClr val="AEABAB"/>
                      </a:solidFill>
                      <a:prstDash val="sysDash"/>
                    </a:lnT>
                    <a:lnB w="12700">
                      <a:solidFill>
                        <a:srgbClr val="000000"/>
                      </a:solidFill>
                      <a:prstDash val="solid"/>
                    </a:lnB>
                    <a:solidFill>
                      <a:srgbClr val="FFFFFF"/>
                    </a:solidFill>
                  </a:tcPr>
                </a:tc>
                <a:extLst>
                  <a:ext uri="{0D108BD9-81ED-4DB2-BD59-A6C34878D82A}">
                    <a16:rowId xmlns:a16="http://schemas.microsoft.com/office/drawing/2014/main" val="10008"/>
                  </a:ext>
                </a:extLst>
              </a:tr>
            </a:tbl>
          </a:graphicData>
        </a:graphic>
      </p:graphicFrame>
      <p:grpSp>
        <p:nvGrpSpPr>
          <p:cNvPr id="13" name="object 16">
            <a:extLst>
              <a:ext uri="{FF2B5EF4-FFF2-40B4-BE49-F238E27FC236}">
                <a16:creationId xmlns:a16="http://schemas.microsoft.com/office/drawing/2014/main" id="{BC526051-E18C-EB62-A79E-2FC4B61C76C7}"/>
              </a:ext>
            </a:extLst>
          </p:cNvPr>
          <p:cNvGrpSpPr/>
          <p:nvPr/>
        </p:nvGrpSpPr>
        <p:grpSpPr>
          <a:xfrm>
            <a:off x="8598154" y="1310386"/>
            <a:ext cx="3340735" cy="1430020"/>
            <a:chOff x="8598154" y="1310386"/>
            <a:chExt cx="3350260" cy="1430020"/>
          </a:xfrm>
        </p:grpSpPr>
        <p:sp>
          <p:nvSpPr>
            <p:cNvPr id="15" name="object 17">
              <a:extLst>
                <a:ext uri="{FF2B5EF4-FFF2-40B4-BE49-F238E27FC236}">
                  <a16:creationId xmlns:a16="http://schemas.microsoft.com/office/drawing/2014/main" id="{9FAA4CDC-5DCE-783D-1C08-E22C25573AE8}"/>
                </a:ext>
              </a:extLst>
            </p:cNvPr>
            <p:cNvSpPr/>
            <p:nvPr/>
          </p:nvSpPr>
          <p:spPr>
            <a:xfrm>
              <a:off x="8604504" y="1316736"/>
              <a:ext cx="3337560" cy="1417320"/>
            </a:xfrm>
            <a:custGeom>
              <a:avLst/>
              <a:gdLst/>
              <a:ahLst/>
              <a:cxnLst/>
              <a:rect l="l" t="t" r="r" b="b"/>
              <a:pathLst>
                <a:path w="3337559" h="1417320">
                  <a:moveTo>
                    <a:pt x="3101340" y="0"/>
                  </a:moveTo>
                  <a:lnTo>
                    <a:pt x="236220" y="0"/>
                  </a:lnTo>
                  <a:lnTo>
                    <a:pt x="188622" y="4800"/>
                  </a:lnTo>
                  <a:lnTo>
                    <a:pt x="144285" y="18567"/>
                  </a:lnTo>
                  <a:lnTo>
                    <a:pt x="104161" y="40351"/>
                  </a:lnTo>
                  <a:lnTo>
                    <a:pt x="69199" y="69199"/>
                  </a:lnTo>
                  <a:lnTo>
                    <a:pt x="40351" y="104161"/>
                  </a:lnTo>
                  <a:lnTo>
                    <a:pt x="18567" y="144285"/>
                  </a:lnTo>
                  <a:lnTo>
                    <a:pt x="4800" y="188622"/>
                  </a:lnTo>
                  <a:lnTo>
                    <a:pt x="0" y="236219"/>
                  </a:lnTo>
                  <a:lnTo>
                    <a:pt x="0" y="1417319"/>
                  </a:lnTo>
                  <a:lnTo>
                    <a:pt x="3337560" y="1417319"/>
                  </a:lnTo>
                  <a:lnTo>
                    <a:pt x="3337560" y="236219"/>
                  </a:lnTo>
                  <a:lnTo>
                    <a:pt x="3332759" y="188622"/>
                  </a:lnTo>
                  <a:lnTo>
                    <a:pt x="3318992" y="144285"/>
                  </a:lnTo>
                  <a:lnTo>
                    <a:pt x="3297208" y="104161"/>
                  </a:lnTo>
                  <a:lnTo>
                    <a:pt x="3268360" y="69199"/>
                  </a:lnTo>
                  <a:lnTo>
                    <a:pt x="3233398" y="40351"/>
                  </a:lnTo>
                  <a:lnTo>
                    <a:pt x="3193274" y="18567"/>
                  </a:lnTo>
                  <a:lnTo>
                    <a:pt x="3148937" y="4800"/>
                  </a:lnTo>
                  <a:lnTo>
                    <a:pt x="3101340" y="0"/>
                  </a:lnTo>
                  <a:close/>
                </a:path>
              </a:pathLst>
            </a:custGeom>
            <a:solidFill>
              <a:srgbClr val="00AF50"/>
            </a:solidFill>
          </p:spPr>
          <p:txBody>
            <a:bodyPr wrap="square" lIns="0" tIns="0" rIns="0" bIns="0" rtlCol="0"/>
            <a:lstStyle/>
            <a:p>
              <a:endParaRPr/>
            </a:p>
          </p:txBody>
        </p:sp>
        <p:sp>
          <p:nvSpPr>
            <p:cNvPr id="16" name="object 18">
              <a:extLst>
                <a:ext uri="{FF2B5EF4-FFF2-40B4-BE49-F238E27FC236}">
                  <a16:creationId xmlns:a16="http://schemas.microsoft.com/office/drawing/2014/main" id="{E5764C48-064D-2B28-FF9B-888A12CBDDAF}"/>
                </a:ext>
              </a:extLst>
            </p:cNvPr>
            <p:cNvSpPr/>
            <p:nvPr/>
          </p:nvSpPr>
          <p:spPr>
            <a:xfrm>
              <a:off x="8604504" y="1316736"/>
              <a:ext cx="3337560" cy="1417320"/>
            </a:xfrm>
            <a:custGeom>
              <a:avLst/>
              <a:gdLst/>
              <a:ahLst/>
              <a:cxnLst/>
              <a:rect l="l" t="t" r="r" b="b"/>
              <a:pathLst>
                <a:path w="3337559" h="1417320">
                  <a:moveTo>
                    <a:pt x="236220" y="0"/>
                  </a:moveTo>
                  <a:lnTo>
                    <a:pt x="3101340" y="0"/>
                  </a:lnTo>
                  <a:lnTo>
                    <a:pt x="3148937" y="4800"/>
                  </a:lnTo>
                  <a:lnTo>
                    <a:pt x="3193274" y="18567"/>
                  </a:lnTo>
                  <a:lnTo>
                    <a:pt x="3233398" y="40351"/>
                  </a:lnTo>
                  <a:lnTo>
                    <a:pt x="3268360" y="69199"/>
                  </a:lnTo>
                  <a:lnTo>
                    <a:pt x="3297208" y="104161"/>
                  </a:lnTo>
                  <a:lnTo>
                    <a:pt x="3318992" y="144285"/>
                  </a:lnTo>
                  <a:lnTo>
                    <a:pt x="3332759" y="188622"/>
                  </a:lnTo>
                  <a:lnTo>
                    <a:pt x="3337560" y="236219"/>
                  </a:lnTo>
                  <a:lnTo>
                    <a:pt x="3337560" y="1417319"/>
                  </a:lnTo>
                  <a:lnTo>
                    <a:pt x="0" y="1417319"/>
                  </a:lnTo>
                  <a:lnTo>
                    <a:pt x="0" y="236219"/>
                  </a:lnTo>
                  <a:lnTo>
                    <a:pt x="4800" y="188622"/>
                  </a:lnTo>
                  <a:lnTo>
                    <a:pt x="18567" y="144285"/>
                  </a:lnTo>
                  <a:lnTo>
                    <a:pt x="40351" y="104161"/>
                  </a:lnTo>
                  <a:lnTo>
                    <a:pt x="69199" y="69199"/>
                  </a:lnTo>
                  <a:lnTo>
                    <a:pt x="104161" y="40351"/>
                  </a:lnTo>
                  <a:lnTo>
                    <a:pt x="144285" y="18567"/>
                  </a:lnTo>
                  <a:lnTo>
                    <a:pt x="188622" y="4800"/>
                  </a:lnTo>
                  <a:lnTo>
                    <a:pt x="236220" y="0"/>
                  </a:lnTo>
                  <a:close/>
                </a:path>
              </a:pathLst>
            </a:custGeom>
            <a:ln w="12192">
              <a:solidFill>
                <a:srgbClr val="000000"/>
              </a:solidFill>
            </a:ln>
          </p:spPr>
          <p:txBody>
            <a:bodyPr wrap="square" lIns="0" tIns="0" rIns="0" bIns="0" rtlCol="0"/>
            <a:lstStyle/>
            <a:p>
              <a:endParaRPr/>
            </a:p>
          </p:txBody>
        </p:sp>
      </p:grpSp>
      <p:graphicFrame>
        <p:nvGraphicFramePr>
          <p:cNvPr id="18" name="object 19">
            <a:extLst>
              <a:ext uri="{FF2B5EF4-FFF2-40B4-BE49-F238E27FC236}">
                <a16:creationId xmlns:a16="http://schemas.microsoft.com/office/drawing/2014/main" id="{AE19E8D9-5610-AEE5-A56A-3F9A27785771}"/>
              </a:ext>
            </a:extLst>
          </p:cNvPr>
          <p:cNvGraphicFramePr>
            <a:graphicFrameLocks noGrp="1"/>
          </p:cNvGraphicFramePr>
          <p:nvPr>
            <p:extLst>
              <p:ext uri="{D42A27DB-BD31-4B8C-83A1-F6EECF244321}">
                <p14:modId xmlns:p14="http://schemas.microsoft.com/office/powerpoint/2010/main" val="2591487936"/>
              </p:ext>
            </p:extLst>
          </p:nvPr>
        </p:nvGraphicFramePr>
        <p:xfrm>
          <a:off x="8610473" y="2105533"/>
          <a:ext cx="3328670" cy="4138295"/>
        </p:xfrm>
        <a:graphic>
          <a:graphicData uri="http://schemas.openxmlformats.org/drawingml/2006/table">
            <a:tbl>
              <a:tblPr firstRow="1" bandRow="1">
                <a:tableStyleId>{2D5ABB26-0587-4C30-8999-92F81FD0307C}</a:tableStyleId>
              </a:tblPr>
              <a:tblGrid>
                <a:gridCol w="1329055">
                  <a:extLst>
                    <a:ext uri="{9D8B030D-6E8A-4147-A177-3AD203B41FA5}">
                      <a16:colId xmlns:a16="http://schemas.microsoft.com/office/drawing/2014/main" val="20000"/>
                    </a:ext>
                  </a:extLst>
                </a:gridCol>
                <a:gridCol w="1999615">
                  <a:extLst>
                    <a:ext uri="{9D8B030D-6E8A-4147-A177-3AD203B41FA5}">
                      <a16:colId xmlns:a16="http://schemas.microsoft.com/office/drawing/2014/main" val="20001"/>
                    </a:ext>
                  </a:extLst>
                </a:gridCol>
              </a:tblGrid>
              <a:tr h="558948">
                <a:tc>
                  <a:txBody>
                    <a:bodyPr/>
                    <a:lstStyle/>
                    <a:p>
                      <a:pPr>
                        <a:lnSpc>
                          <a:spcPct val="100000"/>
                        </a:lnSpc>
                      </a:pPr>
                      <a:endParaRPr lang="en-US" sz="800" dirty="0">
                        <a:latin typeface="Times New Roman"/>
                        <a:cs typeface="Times New Roman"/>
                      </a:endParaRPr>
                    </a:p>
                    <a:p>
                      <a:pPr>
                        <a:lnSpc>
                          <a:spcPct val="100000"/>
                        </a:lnSpc>
                        <a:spcBef>
                          <a:spcPts val="70"/>
                        </a:spcBef>
                      </a:pPr>
                      <a:endParaRPr lang="en-US" sz="800" dirty="0">
                        <a:latin typeface="Times New Roman"/>
                        <a:cs typeface="Times New Roman"/>
                      </a:endParaRPr>
                    </a:p>
                    <a:p>
                      <a:pPr marL="71755">
                        <a:lnSpc>
                          <a:spcPct val="100000"/>
                        </a:lnSpc>
                      </a:pPr>
                      <a:r>
                        <a:rPr sz="800" b="1" spc="-10" dirty="0" err="1">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хэмжээ</a:t>
                      </a:r>
                      <a:endParaRPr sz="800" dirty="0">
                        <a:latin typeface="Times New Roman"/>
                        <a:cs typeface="Times New Roman"/>
                      </a:endParaRPr>
                    </a:p>
                  </a:txBody>
                  <a:tcPr marL="0" marR="0" marT="0" marB="0">
                    <a:lnL w="12700">
                      <a:solidFill>
                        <a:srgbClr val="000000"/>
                      </a:solidFill>
                      <a:prstDash val="solid"/>
                    </a:lnL>
                    <a:lnR w="9525">
                      <a:solidFill>
                        <a:srgbClr val="AEABAB"/>
                      </a:solidFill>
                      <a:prstDash val="sysDash"/>
                    </a:lnR>
                    <a:lnT w="12700">
                      <a:solidFill>
                        <a:srgbClr val="000000"/>
                      </a:solidFill>
                      <a:prstDash val="solid"/>
                    </a:lnT>
                    <a:lnB w="9525">
                      <a:solidFill>
                        <a:srgbClr val="AEABAB"/>
                      </a:solidFill>
                      <a:prstDash val="sysDash"/>
                    </a:lnB>
                    <a:solidFill>
                      <a:srgbClr val="FFFFFF"/>
                    </a:solidFill>
                  </a:tcPr>
                </a:tc>
                <a:tc>
                  <a:txBody>
                    <a:bodyPr/>
                    <a:lstStyle/>
                    <a:p>
                      <a:pPr>
                        <a:lnSpc>
                          <a:spcPct val="100000"/>
                        </a:lnSpc>
                      </a:pPr>
                      <a:endParaRPr lang="en-US" sz="800" dirty="0">
                        <a:latin typeface="Times New Roman"/>
                        <a:cs typeface="Times New Roman"/>
                      </a:endParaRPr>
                    </a:p>
                    <a:p>
                      <a:pPr>
                        <a:lnSpc>
                          <a:spcPct val="100000"/>
                        </a:lnSpc>
                        <a:spcBef>
                          <a:spcPts val="70"/>
                        </a:spcBef>
                      </a:pPr>
                      <a:endParaRPr lang="en-US" sz="800" dirty="0">
                        <a:latin typeface="Times New Roman"/>
                        <a:cs typeface="Times New Roman"/>
                      </a:endParaRPr>
                    </a:p>
                    <a:p>
                      <a:pPr marL="61594">
                        <a:lnSpc>
                          <a:spcPct val="100000"/>
                        </a:lnSpc>
                      </a:pPr>
                      <a:r>
                        <a:rPr sz="800" b="1" dirty="0">
                          <a:solidFill>
                            <a:srgbClr val="385622"/>
                          </a:solidFill>
                          <a:latin typeface="Times New Roman"/>
                          <a:cs typeface="Times New Roman"/>
                        </a:rPr>
                        <a:t>2.0</a:t>
                      </a:r>
                      <a:r>
                        <a:rPr sz="800" b="1" spc="-25" dirty="0">
                          <a:solidFill>
                            <a:srgbClr val="385622"/>
                          </a:solidFill>
                          <a:latin typeface="Times New Roman"/>
                          <a:cs typeface="Times New Roman"/>
                        </a:rPr>
                        <a:t> </a:t>
                      </a:r>
                      <a:r>
                        <a:rPr sz="800" b="1" dirty="0">
                          <a:solidFill>
                            <a:srgbClr val="385622"/>
                          </a:solidFill>
                          <a:latin typeface="Times New Roman"/>
                          <a:cs typeface="Times New Roman"/>
                        </a:rPr>
                        <a:t>тэрбум төгрөг</a:t>
                      </a:r>
                      <a:r>
                        <a:rPr sz="800" b="1" spc="-35" dirty="0">
                          <a:solidFill>
                            <a:srgbClr val="385622"/>
                          </a:solidFill>
                          <a:latin typeface="Times New Roman"/>
                          <a:cs typeface="Times New Roman"/>
                        </a:rPr>
                        <a:t> </a:t>
                      </a:r>
                      <a:r>
                        <a:rPr sz="800" b="1" spc="-10" dirty="0">
                          <a:solidFill>
                            <a:srgbClr val="385622"/>
                          </a:solidFill>
                          <a:latin typeface="Times New Roman"/>
                          <a:cs typeface="Times New Roman"/>
                        </a:rPr>
                        <a:t>хүртэл</a:t>
                      </a:r>
                      <a:endParaRPr sz="800" dirty="0">
                        <a:latin typeface="Times New Roman"/>
                        <a:cs typeface="Times New Roman"/>
                      </a:endParaRPr>
                    </a:p>
                  </a:txBody>
                  <a:tcPr marL="0" marR="0" marT="0" marB="0">
                    <a:lnL w="9525">
                      <a:solidFill>
                        <a:srgbClr val="AEABAB"/>
                      </a:solidFill>
                      <a:prstDash val="sysDash"/>
                    </a:lnL>
                    <a:lnR w="12700">
                      <a:solidFill>
                        <a:srgbClr val="000000"/>
                      </a:solidFill>
                      <a:prstDash val="solid"/>
                    </a:lnR>
                    <a:lnT w="12700">
                      <a:solidFill>
                        <a:srgbClr val="000000"/>
                      </a:solidFill>
                      <a:prstDash val="solid"/>
                    </a:lnT>
                    <a:lnB w="9525">
                      <a:solidFill>
                        <a:srgbClr val="AEABAB"/>
                      </a:solidFill>
                      <a:prstDash val="sysDash"/>
                    </a:lnB>
                    <a:solidFill>
                      <a:srgbClr val="FFFFFF"/>
                    </a:solidFill>
                  </a:tcPr>
                </a:tc>
                <a:extLst>
                  <a:ext uri="{0D108BD9-81ED-4DB2-BD59-A6C34878D82A}">
                    <a16:rowId xmlns:a16="http://schemas.microsoft.com/office/drawing/2014/main" val="10000"/>
                  </a:ext>
                </a:extLst>
              </a:tr>
              <a:tr h="175901">
                <a:tc>
                  <a:txBody>
                    <a:bodyPr/>
                    <a:lstStyle/>
                    <a:p>
                      <a:pPr marL="71755">
                        <a:lnSpc>
                          <a:spcPct val="100000"/>
                        </a:lnSpc>
                        <a:spcBef>
                          <a:spcPts val="260"/>
                        </a:spcBef>
                      </a:pPr>
                      <a:r>
                        <a:rPr sz="800" b="1" spc="-10" dirty="0">
                          <a:latin typeface="Times New Roman"/>
                          <a:cs typeface="Times New Roman"/>
                        </a:rPr>
                        <a:t>Зээлийн</a:t>
                      </a:r>
                      <a:r>
                        <a:rPr sz="800" b="1" spc="25" dirty="0">
                          <a:latin typeface="Times New Roman"/>
                          <a:cs typeface="Times New Roman"/>
                        </a:rPr>
                        <a:t> </a:t>
                      </a:r>
                      <a:r>
                        <a:rPr sz="800" b="1" spc="-25" dirty="0">
                          <a:latin typeface="Times New Roman"/>
                          <a:cs typeface="Times New Roman"/>
                        </a:rPr>
                        <a:t>хүү</a:t>
                      </a:r>
                      <a:endParaRPr sz="800" dirty="0">
                        <a:latin typeface="Times New Roman"/>
                        <a:cs typeface="Times New Roman"/>
                      </a:endParaRPr>
                    </a:p>
                  </a:txBody>
                  <a:tcPr marL="0" marR="0" marT="3302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8419">
                        <a:lnSpc>
                          <a:spcPct val="100000"/>
                        </a:lnSpc>
                        <a:spcBef>
                          <a:spcPts val="260"/>
                        </a:spcBef>
                      </a:pPr>
                      <a:r>
                        <a:rPr sz="800" dirty="0">
                          <a:latin typeface="Times New Roman"/>
                          <a:cs typeface="Times New Roman"/>
                        </a:rPr>
                        <a:t>10.0%</a:t>
                      </a:r>
                      <a:r>
                        <a:rPr sz="800" spc="-30" dirty="0">
                          <a:latin typeface="Times New Roman"/>
                          <a:cs typeface="Times New Roman"/>
                        </a:rPr>
                        <a:t> </a:t>
                      </a:r>
                      <a:r>
                        <a:rPr sz="800" spc="-10" dirty="0">
                          <a:latin typeface="Times New Roman"/>
                          <a:cs typeface="Times New Roman"/>
                        </a:rPr>
                        <a:t>/жилийн</a:t>
                      </a:r>
                      <a:endParaRPr sz="800" dirty="0">
                        <a:latin typeface="Times New Roman"/>
                        <a:cs typeface="Times New Roman"/>
                      </a:endParaRPr>
                    </a:p>
                  </a:txBody>
                  <a:tcPr marL="0" marR="0" marT="3302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1"/>
                  </a:ext>
                </a:extLst>
              </a:tr>
              <a:tr h="517866">
                <a:tc>
                  <a:txBody>
                    <a:bodyPr/>
                    <a:lstStyle/>
                    <a:p>
                      <a:pPr>
                        <a:lnSpc>
                          <a:spcPct val="100000"/>
                        </a:lnSpc>
                        <a:spcBef>
                          <a:spcPts val="815"/>
                        </a:spcBef>
                      </a:pPr>
                      <a:endParaRPr lang="en-US" sz="800" dirty="0">
                        <a:latin typeface="Times New Roman"/>
                        <a:cs typeface="Times New Roman"/>
                      </a:endParaRPr>
                    </a:p>
                    <a:p>
                      <a:pPr marL="71755">
                        <a:lnSpc>
                          <a:spcPct val="100000"/>
                        </a:lnSpc>
                        <a:spcBef>
                          <a:spcPts val="5"/>
                        </a:spcBef>
                      </a:pPr>
                      <a:r>
                        <a:rPr sz="800" b="1" spc="-10" dirty="0" err="1">
                          <a:latin typeface="Times New Roman"/>
                          <a:cs typeface="Times New Roman"/>
                        </a:rPr>
                        <a:t>Зээлийн</a:t>
                      </a:r>
                      <a:r>
                        <a:rPr sz="800" b="1" spc="25" dirty="0">
                          <a:latin typeface="Times New Roman"/>
                          <a:cs typeface="Times New Roman"/>
                        </a:rPr>
                        <a:t> </a:t>
                      </a:r>
                      <a:r>
                        <a:rPr sz="800" b="1" spc="-10" dirty="0">
                          <a:latin typeface="Times New Roman"/>
                          <a:cs typeface="Times New Roman"/>
                        </a:rPr>
                        <a:t>хугацаа</a:t>
                      </a:r>
                      <a:endParaRPr sz="800" dirty="0">
                        <a:latin typeface="Times New Roman"/>
                        <a:cs typeface="Times New Roman"/>
                      </a:endParaRPr>
                    </a:p>
                  </a:txBody>
                  <a:tcPr marL="0" marR="0" marT="10350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815"/>
                        </a:spcBef>
                      </a:pPr>
                      <a:endParaRPr lang="en-US" sz="800" dirty="0">
                        <a:latin typeface="Times New Roman"/>
                        <a:cs typeface="Times New Roman"/>
                      </a:endParaRPr>
                    </a:p>
                    <a:p>
                      <a:pPr marL="58419">
                        <a:lnSpc>
                          <a:spcPct val="100000"/>
                        </a:lnSpc>
                        <a:spcBef>
                          <a:spcPts val="5"/>
                        </a:spcBef>
                      </a:pPr>
                      <a:r>
                        <a:rPr lang="en-US" sz="800" spc="-50" dirty="0">
                          <a:solidFill>
                            <a:srgbClr val="385622"/>
                          </a:solidFill>
                          <a:latin typeface="Times New Roman"/>
                          <a:cs typeface="Times New Roman"/>
                        </a:rPr>
                        <a:t>6</a:t>
                      </a:r>
                      <a:r>
                        <a:rPr lang="mn-MN" sz="800" spc="-50" dirty="0">
                          <a:solidFill>
                            <a:srgbClr val="385622"/>
                          </a:solidFill>
                          <a:latin typeface="Times New Roman"/>
                          <a:cs typeface="Times New Roman"/>
                        </a:rPr>
                        <a:t>0</a:t>
                      </a:r>
                      <a:r>
                        <a:rPr sz="800" spc="-50" dirty="0">
                          <a:solidFill>
                            <a:srgbClr val="385622"/>
                          </a:solidFill>
                          <a:latin typeface="Times New Roman"/>
                          <a:cs typeface="Times New Roman"/>
                        </a:rPr>
                        <a:t> </a:t>
                      </a:r>
                      <a:r>
                        <a:rPr sz="800" dirty="0">
                          <a:solidFill>
                            <a:srgbClr val="385622"/>
                          </a:solidFill>
                          <a:latin typeface="Times New Roman"/>
                          <a:cs typeface="Times New Roman"/>
                        </a:rPr>
                        <a:t>сар </a:t>
                      </a:r>
                      <a:r>
                        <a:rPr sz="800" dirty="0" err="1">
                          <a:solidFill>
                            <a:srgbClr val="385622"/>
                          </a:solidFill>
                          <a:latin typeface="Times New Roman"/>
                          <a:cs typeface="Times New Roman"/>
                        </a:rPr>
                        <a:t>буюу</a:t>
                      </a:r>
                      <a:r>
                        <a:rPr sz="800" spc="-25" dirty="0">
                          <a:solidFill>
                            <a:srgbClr val="385622"/>
                          </a:solidFill>
                          <a:latin typeface="Times New Roman"/>
                          <a:cs typeface="Times New Roman"/>
                        </a:rPr>
                        <a:t> </a:t>
                      </a:r>
                      <a:r>
                        <a:rPr lang="en-US" sz="800" spc="-25" dirty="0">
                          <a:solidFill>
                            <a:srgbClr val="385622"/>
                          </a:solidFill>
                          <a:latin typeface="Times New Roman"/>
                          <a:cs typeface="Times New Roman"/>
                        </a:rPr>
                        <a:t>5</a:t>
                      </a:r>
                      <a:r>
                        <a:rPr sz="800" spc="-20" dirty="0">
                          <a:solidFill>
                            <a:srgbClr val="385622"/>
                          </a:solidFill>
                          <a:latin typeface="Times New Roman"/>
                          <a:cs typeface="Times New Roman"/>
                        </a:rPr>
                        <a:t> </a:t>
                      </a:r>
                      <a:r>
                        <a:rPr sz="800" dirty="0">
                          <a:solidFill>
                            <a:srgbClr val="385622"/>
                          </a:solidFill>
                          <a:latin typeface="Times New Roman"/>
                          <a:cs typeface="Times New Roman"/>
                        </a:rPr>
                        <a:t>хүртэл</a:t>
                      </a:r>
                      <a:r>
                        <a:rPr sz="800" spc="20" dirty="0">
                          <a:solidFill>
                            <a:srgbClr val="385622"/>
                          </a:solidFill>
                          <a:latin typeface="Times New Roman"/>
                          <a:cs typeface="Times New Roman"/>
                        </a:rPr>
                        <a:t> </a:t>
                      </a:r>
                      <a:r>
                        <a:rPr sz="800" spc="-25" dirty="0">
                          <a:solidFill>
                            <a:srgbClr val="385622"/>
                          </a:solidFill>
                          <a:latin typeface="Times New Roman"/>
                          <a:cs typeface="Times New Roman"/>
                        </a:rPr>
                        <a:t>жил</a:t>
                      </a:r>
                      <a:endParaRPr sz="800" dirty="0">
                        <a:latin typeface="Times New Roman"/>
                        <a:cs typeface="Times New Roman"/>
                      </a:endParaRPr>
                    </a:p>
                  </a:txBody>
                  <a:tcPr marL="0" marR="0" marT="10350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2"/>
                  </a:ext>
                </a:extLst>
              </a:tr>
              <a:tr h="416607">
                <a:tc>
                  <a:txBody>
                    <a:bodyPr/>
                    <a:lstStyle/>
                    <a:p>
                      <a:pPr marL="71755" marR="239395">
                        <a:lnSpc>
                          <a:spcPct val="107500"/>
                        </a:lnSpc>
                        <a:spcBef>
                          <a:spcPts val="200"/>
                        </a:spcBef>
                      </a:pPr>
                      <a:r>
                        <a:rPr sz="800" b="1" dirty="0">
                          <a:latin typeface="Times New Roman"/>
                          <a:cs typeface="Times New Roman"/>
                        </a:rPr>
                        <a:t>Нэг</a:t>
                      </a:r>
                      <a:r>
                        <a:rPr sz="800" b="1" spc="5" dirty="0">
                          <a:latin typeface="Times New Roman"/>
                          <a:cs typeface="Times New Roman"/>
                        </a:rPr>
                        <a:t> </a:t>
                      </a:r>
                      <a:r>
                        <a:rPr sz="800" b="1" spc="-10" dirty="0">
                          <a:latin typeface="Times New Roman"/>
                          <a:cs typeface="Times New Roman"/>
                        </a:rPr>
                        <a:t>зээлдэгчид</a:t>
                      </a:r>
                      <a:r>
                        <a:rPr sz="800" b="1" spc="35" dirty="0">
                          <a:latin typeface="Times New Roman"/>
                          <a:cs typeface="Times New Roman"/>
                        </a:rPr>
                        <a:t> </a:t>
                      </a:r>
                      <a:r>
                        <a:rPr sz="800" b="1" spc="-10" dirty="0">
                          <a:latin typeface="Times New Roman"/>
                          <a:cs typeface="Times New Roman"/>
                        </a:rPr>
                        <a:t>гаргах</a:t>
                      </a:r>
                      <a:r>
                        <a:rPr sz="800" b="1" spc="500" dirty="0">
                          <a:latin typeface="Times New Roman"/>
                          <a:cs typeface="Times New Roman"/>
                        </a:rPr>
                        <a:t> </a:t>
                      </a:r>
                      <a:r>
                        <a:rPr sz="800" b="1" dirty="0">
                          <a:latin typeface="Times New Roman"/>
                          <a:cs typeface="Times New Roman"/>
                        </a:rPr>
                        <a:t>батлан</a:t>
                      </a:r>
                      <a:r>
                        <a:rPr sz="800" b="1" spc="-25" dirty="0">
                          <a:latin typeface="Times New Roman"/>
                          <a:cs typeface="Times New Roman"/>
                        </a:rPr>
                        <a:t> </a:t>
                      </a:r>
                      <a:r>
                        <a:rPr sz="800" b="1" dirty="0">
                          <a:latin typeface="Times New Roman"/>
                          <a:cs typeface="Times New Roman"/>
                        </a:rPr>
                        <a:t>даалтын</a:t>
                      </a:r>
                      <a:r>
                        <a:rPr sz="800" b="1" spc="-40" dirty="0">
                          <a:latin typeface="Times New Roman"/>
                          <a:cs typeface="Times New Roman"/>
                        </a:rPr>
                        <a:t> </a:t>
                      </a:r>
                      <a:r>
                        <a:rPr sz="800" b="1" spc="-20" dirty="0">
                          <a:latin typeface="Times New Roman"/>
                          <a:cs typeface="Times New Roman"/>
                        </a:rPr>
                        <a:t>дээд</a:t>
                      </a:r>
                      <a:r>
                        <a:rPr sz="800" b="1" spc="500" dirty="0">
                          <a:latin typeface="Times New Roman"/>
                          <a:cs typeface="Times New Roman"/>
                        </a:rPr>
                        <a:t> </a:t>
                      </a:r>
                      <a:r>
                        <a:rPr sz="800" b="1" spc="-10" dirty="0">
                          <a:latin typeface="Times New Roman"/>
                          <a:cs typeface="Times New Roman"/>
                        </a:rPr>
                        <a:t>хэмжээ</a:t>
                      </a:r>
                      <a:endParaRPr sz="800" dirty="0">
                        <a:latin typeface="Times New Roman"/>
                        <a:cs typeface="Times New Roman"/>
                      </a:endParaRPr>
                    </a:p>
                  </a:txBody>
                  <a:tcPr marL="0" marR="0" marT="2540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380"/>
                        </a:spcBef>
                      </a:pPr>
                      <a:endParaRPr sz="800" dirty="0">
                        <a:latin typeface="Times New Roman"/>
                        <a:cs typeface="Times New Roman"/>
                      </a:endParaRPr>
                    </a:p>
                    <a:p>
                      <a:pPr marL="58419">
                        <a:lnSpc>
                          <a:spcPct val="100000"/>
                        </a:lnSpc>
                      </a:pPr>
                      <a:r>
                        <a:rPr sz="800" dirty="0">
                          <a:solidFill>
                            <a:srgbClr val="404040"/>
                          </a:solidFill>
                          <a:latin typeface="Times New Roman"/>
                          <a:cs typeface="Times New Roman"/>
                        </a:rPr>
                        <a:t>6</a:t>
                      </a:r>
                      <a:r>
                        <a:rPr sz="800" dirty="0">
                          <a:latin typeface="Times New Roman"/>
                          <a:cs typeface="Times New Roman"/>
                        </a:rPr>
                        <a:t>0</a:t>
                      </a:r>
                      <a:r>
                        <a:rPr sz="800" dirty="0">
                          <a:solidFill>
                            <a:srgbClr val="385622"/>
                          </a:solidFill>
                          <a:latin typeface="Times New Roman"/>
                          <a:cs typeface="Times New Roman"/>
                        </a:rPr>
                        <a:t>%</a:t>
                      </a:r>
                      <a:r>
                        <a:rPr sz="800" spc="150" dirty="0">
                          <a:solidFill>
                            <a:srgbClr val="385622"/>
                          </a:solidFill>
                          <a:latin typeface="Times New Roman"/>
                          <a:cs typeface="Times New Roman"/>
                        </a:rPr>
                        <a:t> </a:t>
                      </a:r>
                      <a:r>
                        <a:rPr sz="800" dirty="0">
                          <a:solidFill>
                            <a:srgbClr val="385622"/>
                          </a:solidFill>
                          <a:latin typeface="Times New Roman"/>
                          <a:cs typeface="Times New Roman"/>
                        </a:rPr>
                        <a:t>/1.2</a:t>
                      </a:r>
                      <a:r>
                        <a:rPr sz="800" spc="-20" dirty="0">
                          <a:solidFill>
                            <a:srgbClr val="385622"/>
                          </a:solidFill>
                          <a:latin typeface="Times New Roman"/>
                          <a:cs typeface="Times New Roman"/>
                        </a:rPr>
                        <a:t> </a:t>
                      </a:r>
                      <a:r>
                        <a:rPr sz="800" dirty="0">
                          <a:solidFill>
                            <a:srgbClr val="385622"/>
                          </a:solidFill>
                          <a:latin typeface="Times New Roman"/>
                          <a:cs typeface="Times New Roman"/>
                        </a:rPr>
                        <a:t>тэрбум</a:t>
                      </a:r>
                      <a:r>
                        <a:rPr sz="800" spc="210" dirty="0">
                          <a:solidFill>
                            <a:srgbClr val="385622"/>
                          </a:solidFill>
                          <a:latin typeface="Times New Roman"/>
                          <a:cs typeface="Times New Roman"/>
                        </a:rPr>
                        <a:t> </a:t>
                      </a:r>
                      <a:r>
                        <a:rPr sz="800" spc="-10" dirty="0">
                          <a:solidFill>
                            <a:srgbClr val="385622"/>
                          </a:solidFill>
                          <a:latin typeface="Times New Roman"/>
                          <a:cs typeface="Times New Roman"/>
                        </a:rPr>
                        <a:t>төгрөг</a:t>
                      </a:r>
                      <a:r>
                        <a:rPr sz="800" spc="-10" dirty="0">
                          <a:solidFill>
                            <a:srgbClr val="404040"/>
                          </a:solidFill>
                          <a:latin typeface="Times New Roman"/>
                          <a:cs typeface="Times New Roman"/>
                        </a:rPr>
                        <a:t>/</a:t>
                      </a:r>
                      <a:endParaRPr sz="800" dirty="0">
                        <a:latin typeface="Times New Roman"/>
                        <a:cs typeface="Times New Roman"/>
                      </a:endParaRPr>
                    </a:p>
                  </a:txBody>
                  <a:tcPr marL="0" marR="0" marT="4826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3"/>
                  </a:ext>
                </a:extLst>
              </a:tr>
              <a:tr h="411398">
                <a:tc>
                  <a:txBody>
                    <a:bodyPr/>
                    <a:lstStyle/>
                    <a:p>
                      <a:pPr>
                        <a:lnSpc>
                          <a:spcPct val="100000"/>
                        </a:lnSpc>
                        <a:spcBef>
                          <a:spcPts val="360"/>
                        </a:spcBef>
                      </a:pPr>
                      <a:endParaRPr sz="800" dirty="0">
                        <a:latin typeface="Times New Roman"/>
                        <a:cs typeface="Times New Roman"/>
                      </a:endParaRPr>
                    </a:p>
                    <a:p>
                      <a:pPr marL="71755">
                        <a:lnSpc>
                          <a:spcPct val="100000"/>
                        </a:lnSpc>
                      </a:pPr>
                      <a:r>
                        <a:rPr sz="800" b="1" dirty="0">
                          <a:latin typeface="Times New Roman"/>
                          <a:cs typeface="Times New Roman"/>
                        </a:rPr>
                        <a:t>Нэмэлт</a:t>
                      </a:r>
                      <a:r>
                        <a:rPr sz="800" b="1" spc="-20" dirty="0">
                          <a:latin typeface="Times New Roman"/>
                          <a:cs typeface="Times New Roman"/>
                        </a:rPr>
                        <a:t> </a:t>
                      </a:r>
                      <a:r>
                        <a:rPr sz="800" b="1" dirty="0">
                          <a:latin typeface="Times New Roman"/>
                          <a:cs typeface="Times New Roman"/>
                        </a:rPr>
                        <a:t>эх</a:t>
                      </a:r>
                      <a:r>
                        <a:rPr sz="800" b="1" spc="-25" dirty="0">
                          <a:latin typeface="Times New Roman"/>
                          <a:cs typeface="Times New Roman"/>
                        </a:rPr>
                        <a:t> </a:t>
                      </a:r>
                      <a:r>
                        <a:rPr sz="800" b="1" spc="-10" dirty="0">
                          <a:latin typeface="Times New Roman"/>
                          <a:cs typeface="Times New Roman"/>
                        </a:rPr>
                        <a:t>үүсвэр</a:t>
                      </a:r>
                      <a:endParaRPr sz="800" dirty="0">
                        <a:latin typeface="Times New Roman"/>
                        <a:cs typeface="Times New Roman"/>
                      </a:endParaRPr>
                    </a:p>
                  </a:txBody>
                  <a:tcPr marL="0" marR="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360"/>
                        </a:spcBef>
                      </a:pPr>
                      <a:endParaRPr sz="800" dirty="0">
                        <a:latin typeface="Times New Roman"/>
                        <a:cs typeface="Times New Roman"/>
                      </a:endParaRPr>
                    </a:p>
                    <a:p>
                      <a:pPr marL="58419">
                        <a:lnSpc>
                          <a:spcPct val="100000"/>
                        </a:lnSpc>
                      </a:pPr>
                      <a:r>
                        <a:rPr sz="800" spc="-25" dirty="0">
                          <a:latin typeface="Times New Roman"/>
                          <a:cs typeface="Times New Roman"/>
                        </a:rPr>
                        <a:t>20%</a:t>
                      </a:r>
                      <a:endParaRPr sz="800" dirty="0">
                        <a:latin typeface="Times New Roman"/>
                        <a:cs typeface="Times New Roman"/>
                      </a:endParaRPr>
                    </a:p>
                  </a:txBody>
                  <a:tcPr marL="0" marR="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4"/>
                  </a:ext>
                </a:extLst>
              </a:tr>
              <a:tr h="416607">
                <a:tc>
                  <a:txBody>
                    <a:bodyPr/>
                    <a:lstStyle/>
                    <a:p>
                      <a:pPr marL="71755" marR="331470">
                        <a:lnSpc>
                          <a:spcPct val="107500"/>
                        </a:lnSpc>
                        <a:spcBef>
                          <a:spcPts val="204"/>
                        </a:spcBef>
                      </a:pPr>
                      <a:r>
                        <a:rPr sz="800" b="1" dirty="0">
                          <a:latin typeface="Times New Roman"/>
                          <a:cs typeface="Times New Roman"/>
                        </a:rPr>
                        <a:t>Үндсэн</a:t>
                      </a:r>
                      <a:r>
                        <a:rPr sz="800" b="1" spc="-25" dirty="0">
                          <a:latin typeface="Times New Roman"/>
                          <a:cs typeface="Times New Roman"/>
                        </a:rPr>
                        <a:t> </a:t>
                      </a:r>
                      <a:r>
                        <a:rPr sz="800" b="1" spc="-10" dirty="0">
                          <a:latin typeface="Times New Roman"/>
                          <a:cs typeface="Times New Roman"/>
                        </a:rPr>
                        <a:t>зээлийн</a:t>
                      </a:r>
                      <a:r>
                        <a:rPr sz="800" b="1" spc="500" dirty="0">
                          <a:latin typeface="Times New Roman"/>
                          <a:cs typeface="Times New Roman"/>
                        </a:rPr>
                        <a:t> </a:t>
                      </a:r>
                      <a:r>
                        <a:rPr sz="800" b="1" dirty="0">
                          <a:latin typeface="Times New Roman"/>
                          <a:cs typeface="Times New Roman"/>
                        </a:rPr>
                        <a:t>төлбөрөөс</a:t>
                      </a:r>
                      <a:r>
                        <a:rPr sz="800" b="1" spc="-30" dirty="0">
                          <a:latin typeface="Times New Roman"/>
                          <a:cs typeface="Times New Roman"/>
                        </a:rPr>
                        <a:t> </a:t>
                      </a:r>
                      <a:r>
                        <a:rPr sz="800" b="1" spc="-10" dirty="0">
                          <a:latin typeface="Times New Roman"/>
                          <a:cs typeface="Times New Roman"/>
                        </a:rPr>
                        <a:t>чөлөөлөх</a:t>
                      </a:r>
                      <a:r>
                        <a:rPr sz="800" b="1" spc="500" dirty="0">
                          <a:latin typeface="Times New Roman"/>
                          <a:cs typeface="Times New Roman"/>
                        </a:rPr>
                        <a:t> </a:t>
                      </a:r>
                      <a:r>
                        <a:rPr sz="800" b="1" spc="-10" dirty="0">
                          <a:latin typeface="Times New Roman"/>
                          <a:cs typeface="Times New Roman"/>
                        </a:rPr>
                        <a:t>хугацаа</a:t>
                      </a:r>
                      <a:endParaRPr sz="800" dirty="0">
                        <a:latin typeface="Times New Roman"/>
                        <a:cs typeface="Times New Roman"/>
                      </a:endParaRPr>
                    </a:p>
                  </a:txBody>
                  <a:tcPr marL="0" marR="0" marT="26034"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6515">
                        <a:lnSpc>
                          <a:spcPct val="100000"/>
                        </a:lnSpc>
                      </a:pPr>
                      <a:r>
                        <a:rPr lang="mn-MN" sz="800" dirty="0">
                          <a:latin typeface="Times New Roman"/>
                          <a:cs typeface="Times New Roman"/>
                        </a:rPr>
                        <a:t>3-6 сар</a:t>
                      </a:r>
                      <a:r>
                        <a:rPr lang="mn-MN" sz="800" spc="-10" dirty="0">
                          <a:latin typeface="Times New Roman"/>
                          <a:cs typeface="Times New Roman"/>
                        </a:rPr>
                        <a:t> хүртэл</a:t>
                      </a:r>
                    </a:p>
                    <a:p>
                      <a:pPr marL="56515">
                        <a:lnSpc>
                          <a:spcPct val="100000"/>
                        </a:lnSpc>
                      </a:pPr>
                      <a:r>
                        <a:rPr lang="mn-MN" sz="800" spc="-10" dirty="0">
                          <a:latin typeface="Times New Roman"/>
                          <a:cs typeface="Times New Roman"/>
                        </a:rPr>
                        <a:t>(эргэлтийн хөрөнгө - 3 сар,   </a:t>
                      </a:r>
                    </a:p>
                    <a:p>
                      <a:pPr marL="56515">
                        <a:lnSpc>
                          <a:spcPct val="100000"/>
                        </a:lnSpc>
                      </a:pPr>
                      <a:r>
                        <a:rPr lang="mn-MN" sz="800" spc="-10" dirty="0">
                          <a:latin typeface="Times New Roman"/>
                          <a:cs typeface="Times New Roman"/>
                        </a:rPr>
                        <a:t>хөрөнгө оруулалт -6 сар )</a:t>
                      </a:r>
                      <a:endParaRPr lang="mn-MN" sz="800" dirty="0">
                        <a:latin typeface="Times New Roman"/>
                        <a:cs typeface="Times New Roman"/>
                      </a:endParaRPr>
                    </a:p>
                  </a:txBody>
                  <a:tcPr marL="0" marR="0" marT="4889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5"/>
                  </a:ext>
                </a:extLst>
              </a:tr>
              <a:tr h="416607">
                <a:tc>
                  <a:txBody>
                    <a:bodyPr/>
                    <a:lstStyle/>
                    <a:p>
                      <a:pPr marL="71755">
                        <a:lnSpc>
                          <a:spcPct val="100000"/>
                        </a:lnSpc>
                        <a:spcBef>
                          <a:spcPts val="280"/>
                        </a:spcBef>
                      </a:pPr>
                      <a:r>
                        <a:rPr sz="800" b="1" spc="-10" dirty="0">
                          <a:latin typeface="Times New Roman"/>
                          <a:cs typeface="Times New Roman"/>
                        </a:rPr>
                        <a:t>ЗБДС-</a:t>
                      </a:r>
                      <a:r>
                        <a:rPr sz="800" b="1" dirty="0">
                          <a:latin typeface="Times New Roman"/>
                          <a:cs typeface="Times New Roman"/>
                        </a:rPr>
                        <a:t>ийн</a:t>
                      </a:r>
                      <a:r>
                        <a:rPr sz="800" b="1" spc="204" dirty="0">
                          <a:latin typeface="Times New Roman"/>
                          <a:cs typeface="Times New Roman"/>
                        </a:rPr>
                        <a:t> </a:t>
                      </a:r>
                      <a:r>
                        <a:rPr sz="800" b="1" spc="-10" dirty="0">
                          <a:latin typeface="Times New Roman"/>
                          <a:cs typeface="Times New Roman"/>
                        </a:rPr>
                        <a:t>Өргөдлийн</a:t>
                      </a:r>
                      <a:endParaRPr sz="800" dirty="0">
                        <a:latin typeface="Times New Roman"/>
                        <a:cs typeface="Times New Roman"/>
                      </a:endParaRPr>
                    </a:p>
                    <a:p>
                      <a:pPr marL="71755">
                        <a:lnSpc>
                          <a:spcPct val="100000"/>
                        </a:lnSpc>
                        <a:spcBef>
                          <a:spcPts val="70"/>
                        </a:spcBef>
                      </a:pPr>
                      <a:r>
                        <a:rPr sz="800" b="1" spc="-10" dirty="0">
                          <a:latin typeface="Times New Roman"/>
                          <a:cs typeface="Times New Roman"/>
                        </a:rPr>
                        <a:t>хураамж</a:t>
                      </a:r>
                      <a:endParaRPr sz="800" dirty="0">
                        <a:latin typeface="Times New Roman"/>
                        <a:cs typeface="Times New Roman"/>
                      </a:endParaRPr>
                    </a:p>
                  </a:txBody>
                  <a:tcPr marL="0" marR="0" marT="3556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8419">
                        <a:lnSpc>
                          <a:spcPct val="100000"/>
                        </a:lnSpc>
                        <a:spcBef>
                          <a:spcPts val="790"/>
                        </a:spcBef>
                      </a:pPr>
                      <a:r>
                        <a:rPr sz="800" dirty="0">
                          <a:solidFill>
                            <a:srgbClr val="385622"/>
                          </a:solidFill>
                          <a:latin typeface="Times New Roman"/>
                          <a:cs typeface="Times New Roman"/>
                        </a:rPr>
                        <a:t>50,000</a:t>
                      </a:r>
                      <a:r>
                        <a:rPr sz="800" spc="-50" dirty="0">
                          <a:solidFill>
                            <a:srgbClr val="385622"/>
                          </a:solidFill>
                          <a:latin typeface="Times New Roman"/>
                          <a:cs typeface="Times New Roman"/>
                        </a:rPr>
                        <a:t> </a:t>
                      </a:r>
                      <a:r>
                        <a:rPr sz="800" dirty="0">
                          <a:solidFill>
                            <a:srgbClr val="385622"/>
                          </a:solidFill>
                          <a:latin typeface="Times New Roman"/>
                          <a:cs typeface="Times New Roman"/>
                        </a:rPr>
                        <a:t>төгрөг</a:t>
                      </a:r>
                      <a:r>
                        <a:rPr sz="800" spc="10" dirty="0">
                          <a:solidFill>
                            <a:srgbClr val="385622"/>
                          </a:solidFill>
                          <a:latin typeface="Times New Roman"/>
                          <a:cs typeface="Times New Roman"/>
                        </a:rPr>
                        <a:t> </a:t>
                      </a:r>
                      <a:r>
                        <a:rPr sz="800" dirty="0">
                          <a:solidFill>
                            <a:srgbClr val="385622"/>
                          </a:solidFill>
                          <a:latin typeface="Times New Roman"/>
                          <a:cs typeface="Times New Roman"/>
                        </a:rPr>
                        <a:t>/нэг</a:t>
                      </a:r>
                      <a:r>
                        <a:rPr sz="800" spc="-30" dirty="0">
                          <a:solidFill>
                            <a:srgbClr val="385622"/>
                          </a:solidFill>
                          <a:latin typeface="Times New Roman"/>
                          <a:cs typeface="Times New Roman"/>
                        </a:rPr>
                        <a:t> </a:t>
                      </a:r>
                      <a:r>
                        <a:rPr sz="800" spc="-10" dirty="0">
                          <a:solidFill>
                            <a:srgbClr val="385622"/>
                          </a:solidFill>
                          <a:latin typeface="Times New Roman"/>
                          <a:cs typeface="Times New Roman"/>
                        </a:rPr>
                        <a:t>удаа/</a:t>
                      </a:r>
                      <a:endParaRPr sz="800">
                        <a:latin typeface="Times New Roman"/>
                        <a:cs typeface="Times New Roman"/>
                      </a:endParaRPr>
                    </a:p>
                  </a:txBody>
                  <a:tcPr marL="0" marR="0" marT="100330"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6"/>
                  </a:ext>
                </a:extLst>
              </a:tr>
              <a:tr h="403877">
                <a:tc>
                  <a:txBody>
                    <a:bodyPr/>
                    <a:lstStyle/>
                    <a:p>
                      <a:pPr marL="71755">
                        <a:lnSpc>
                          <a:spcPct val="100000"/>
                        </a:lnSpc>
                        <a:spcBef>
                          <a:spcPts val="740"/>
                        </a:spcBef>
                      </a:pPr>
                      <a:r>
                        <a:rPr sz="800" b="1" spc="-10" dirty="0">
                          <a:latin typeface="Times New Roman"/>
                          <a:cs typeface="Times New Roman"/>
                        </a:rPr>
                        <a:t>ЗБДС-</a:t>
                      </a:r>
                      <a:r>
                        <a:rPr sz="800" b="1" dirty="0">
                          <a:latin typeface="Times New Roman"/>
                          <a:cs typeface="Times New Roman"/>
                        </a:rPr>
                        <a:t>ийн</a:t>
                      </a:r>
                      <a:r>
                        <a:rPr sz="800" b="1" spc="15" dirty="0">
                          <a:latin typeface="Times New Roman"/>
                          <a:cs typeface="Times New Roman"/>
                        </a:rPr>
                        <a:t> </a:t>
                      </a:r>
                      <a:r>
                        <a:rPr sz="800" b="1" spc="-10" dirty="0">
                          <a:latin typeface="Times New Roman"/>
                          <a:cs typeface="Times New Roman"/>
                        </a:rPr>
                        <a:t>шимтгэл</a:t>
                      </a:r>
                      <a:endParaRPr sz="800" dirty="0">
                        <a:latin typeface="Times New Roman"/>
                        <a:cs typeface="Times New Roman"/>
                      </a:endParaRPr>
                    </a:p>
                  </a:txBody>
                  <a:tcPr marL="0" marR="0" marT="93980"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marL="58419" marR="211454">
                        <a:lnSpc>
                          <a:spcPct val="107500"/>
                        </a:lnSpc>
                        <a:spcBef>
                          <a:spcPts val="155"/>
                        </a:spcBef>
                      </a:pPr>
                      <a:r>
                        <a:rPr sz="800" dirty="0">
                          <a:solidFill>
                            <a:srgbClr val="385622"/>
                          </a:solidFill>
                          <a:latin typeface="Times New Roman"/>
                          <a:cs typeface="Times New Roman"/>
                        </a:rPr>
                        <a:t>Батлан</a:t>
                      </a:r>
                      <a:r>
                        <a:rPr sz="800" spc="-25" dirty="0">
                          <a:solidFill>
                            <a:srgbClr val="385622"/>
                          </a:solidFill>
                          <a:latin typeface="Times New Roman"/>
                          <a:cs typeface="Times New Roman"/>
                        </a:rPr>
                        <a:t> </a:t>
                      </a:r>
                      <a:r>
                        <a:rPr sz="800" dirty="0">
                          <a:solidFill>
                            <a:srgbClr val="385622"/>
                          </a:solidFill>
                          <a:latin typeface="Times New Roman"/>
                          <a:cs typeface="Times New Roman"/>
                        </a:rPr>
                        <a:t>даалтын</a:t>
                      </a:r>
                      <a:r>
                        <a:rPr sz="800" spc="-20" dirty="0">
                          <a:solidFill>
                            <a:srgbClr val="385622"/>
                          </a:solidFill>
                          <a:latin typeface="Times New Roman"/>
                          <a:cs typeface="Times New Roman"/>
                        </a:rPr>
                        <a:t> </a:t>
                      </a:r>
                      <a:r>
                        <a:rPr sz="800" spc="-10" dirty="0">
                          <a:solidFill>
                            <a:srgbClr val="385622"/>
                          </a:solidFill>
                          <a:latin typeface="Times New Roman"/>
                          <a:cs typeface="Times New Roman"/>
                        </a:rPr>
                        <a:t>үлдэгдлээс</a:t>
                      </a:r>
                      <a:r>
                        <a:rPr sz="800" spc="-20" dirty="0">
                          <a:solidFill>
                            <a:srgbClr val="385622"/>
                          </a:solidFill>
                          <a:latin typeface="Times New Roman"/>
                          <a:cs typeface="Times New Roman"/>
                        </a:rPr>
                        <a:t> </a:t>
                      </a:r>
                      <a:r>
                        <a:rPr sz="800" dirty="0">
                          <a:solidFill>
                            <a:srgbClr val="385622"/>
                          </a:solidFill>
                          <a:latin typeface="Times New Roman"/>
                          <a:cs typeface="Times New Roman"/>
                        </a:rPr>
                        <a:t>тооцож</a:t>
                      </a:r>
                      <a:r>
                        <a:rPr sz="800" spc="-5" dirty="0">
                          <a:solidFill>
                            <a:srgbClr val="385622"/>
                          </a:solidFill>
                          <a:latin typeface="Times New Roman"/>
                          <a:cs typeface="Times New Roman"/>
                        </a:rPr>
                        <a:t> </a:t>
                      </a:r>
                      <a:r>
                        <a:rPr sz="800" spc="-25" dirty="0">
                          <a:solidFill>
                            <a:srgbClr val="385622"/>
                          </a:solidFill>
                          <a:latin typeface="Times New Roman"/>
                          <a:cs typeface="Times New Roman"/>
                        </a:rPr>
                        <a:t>жил</a:t>
                      </a:r>
                      <a:r>
                        <a:rPr sz="800" spc="500" dirty="0">
                          <a:solidFill>
                            <a:srgbClr val="385622"/>
                          </a:solidFill>
                          <a:latin typeface="Times New Roman"/>
                          <a:cs typeface="Times New Roman"/>
                        </a:rPr>
                        <a:t> </a:t>
                      </a:r>
                      <a:r>
                        <a:rPr sz="800" dirty="0">
                          <a:solidFill>
                            <a:srgbClr val="385622"/>
                          </a:solidFill>
                          <a:latin typeface="Times New Roman"/>
                          <a:cs typeface="Times New Roman"/>
                        </a:rPr>
                        <a:t>бүр</a:t>
                      </a:r>
                      <a:r>
                        <a:rPr sz="800" spc="-40" dirty="0">
                          <a:solidFill>
                            <a:srgbClr val="385622"/>
                          </a:solidFill>
                          <a:latin typeface="Times New Roman"/>
                          <a:cs typeface="Times New Roman"/>
                        </a:rPr>
                        <a:t> </a:t>
                      </a:r>
                      <a:r>
                        <a:rPr sz="800" dirty="0">
                          <a:solidFill>
                            <a:srgbClr val="385622"/>
                          </a:solidFill>
                          <a:latin typeface="Times New Roman"/>
                          <a:cs typeface="Times New Roman"/>
                        </a:rPr>
                        <a:t>төлнө</a:t>
                      </a:r>
                      <a:r>
                        <a:rPr sz="800" spc="-10" dirty="0">
                          <a:solidFill>
                            <a:srgbClr val="385622"/>
                          </a:solidFill>
                          <a:latin typeface="Times New Roman"/>
                          <a:cs typeface="Times New Roman"/>
                        </a:rPr>
                        <a:t> </a:t>
                      </a:r>
                      <a:r>
                        <a:rPr sz="800" spc="-25" dirty="0">
                          <a:solidFill>
                            <a:srgbClr val="385622"/>
                          </a:solidFill>
                          <a:latin typeface="Times New Roman"/>
                          <a:cs typeface="Times New Roman"/>
                        </a:rPr>
                        <a:t>-1%</a:t>
                      </a:r>
                      <a:endParaRPr sz="800" dirty="0">
                        <a:latin typeface="Times New Roman"/>
                        <a:cs typeface="Times New Roman"/>
                      </a:endParaRPr>
                    </a:p>
                  </a:txBody>
                  <a:tcPr marL="0" marR="0" marT="1968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7"/>
                  </a:ext>
                </a:extLst>
              </a:tr>
              <a:tr h="524230">
                <a:tc>
                  <a:txBody>
                    <a:bodyPr/>
                    <a:lstStyle/>
                    <a:p>
                      <a:pPr marL="71755">
                        <a:lnSpc>
                          <a:spcPct val="100000"/>
                        </a:lnSpc>
                        <a:spcBef>
                          <a:spcPts val="745"/>
                        </a:spcBef>
                      </a:pPr>
                      <a:r>
                        <a:rPr sz="800" b="1" spc="-10" dirty="0">
                          <a:latin typeface="Times New Roman"/>
                          <a:cs typeface="Times New Roman"/>
                        </a:rPr>
                        <a:t>Зээлийн</a:t>
                      </a:r>
                      <a:r>
                        <a:rPr sz="800" b="1" spc="35" dirty="0">
                          <a:latin typeface="Times New Roman"/>
                          <a:cs typeface="Times New Roman"/>
                        </a:rPr>
                        <a:t> </a:t>
                      </a:r>
                      <a:r>
                        <a:rPr sz="800" b="1" spc="-10" dirty="0">
                          <a:latin typeface="Times New Roman"/>
                          <a:cs typeface="Times New Roman"/>
                        </a:rPr>
                        <a:t>үйлчилгээний</a:t>
                      </a:r>
                      <a:endParaRPr sz="800" dirty="0">
                        <a:latin typeface="Times New Roman"/>
                        <a:cs typeface="Times New Roman"/>
                      </a:endParaRPr>
                    </a:p>
                    <a:p>
                      <a:pPr marL="71755">
                        <a:lnSpc>
                          <a:spcPct val="100000"/>
                        </a:lnSpc>
                        <a:spcBef>
                          <a:spcPts val="75"/>
                        </a:spcBef>
                      </a:pPr>
                      <a:r>
                        <a:rPr sz="800" b="1" spc="-10" dirty="0">
                          <a:latin typeface="Times New Roman"/>
                          <a:cs typeface="Times New Roman"/>
                        </a:rPr>
                        <a:t>шимтгэл</a:t>
                      </a:r>
                      <a:endParaRPr sz="800" dirty="0">
                        <a:latin typeface="Times New Roman"/>
                        <a:cs typeface="Times New Roman"/>
                      </a:endParaRPr>
                    </a:p>
                  </a:txBody>
                  <a:tcPr marL="0" marR="0" marT="94615" marB="0">
                    <a:lnL w="12700">
                      <a:solidFill>
                        <a:srgbClr val="000000"/>
                      </a:solidFill>
                      <a:prstDash val="solid"/>
                    </a:lnL>
                    <a:lnR w="9525">
                      <a:solidFill>
                        <a:srgbClr val="AEABAB"/>
                      </a:solidFill>
                      <a:prstDash val="sysDash"/>
                    </a:lnR>
                    <a:lnT w="9525">
                      <a:solidFill>
                        <a:srgbClr val="AEABAB"/>
                      </a:solidFill>
                      <a:prstDash val="sysDash"/>
                    </a:lnT>
                    <a:lnB w="9525">
                      <a:solidFill>
                        <a:srgbClr val="AEABAB"/>
                      </a:solidFill>
                      <a:prstDash val="sysDash"/>
                    </a:lnB>
                    <a:solidFill>
                      <a:srgbClr val="FFFFFF"/>
                    </a:solidFill>
                  </a:tcPr>
                </a:tc>
                <a:tc>
                  <a:txBody>
                    <a:bodyPr/>
                    <a:lstStyle/>
                    <a:p>
                      <a:pPr>
                        <a:lnSpc>
                          <a:spcPct val="100000"/>
                        </a:lnSpc>
                        <a:spcBef>
                          <a:spcPts val="855"/>
                        </a:spcBef>
                      </a:pPr>
                      <a:endParaRPr sz="800" dirty="0">
                        <a:latin typeface="Times New Roman"/>
                        <a:cs typeface="Times New Roman"/>
                      </a:endParaRPr>
                    </a:p>
                    <a:p>
                      <a:pPr marL="58419">
                        <a:lnSpc>
                          <a:spcPct val="100000"/>
                        </a:lnSpc>
                      </a:pPr>
                      <a:r>
                        <a:rPr sz="800" spc="-25" dirty="0">
                          <a:solidFill>
                            <a:srgbClr val="385622"/>
                          </a:solidFill>
                          <a:latin typeface="Times New Roman"/>
                          <a:cs typeface="Times New Roman"/>
                        </a:rPr>
                        <a:t>ХШЕН-</a:t>
                      </a:r>
                      <a:r>
                        <a:rPr sz="800" dirty="0">
                          <a:solidFill>
                            <a:srgbClr val="385622"/>
                          </a:solidFill>
                          <a:latin typeface="Times New Roman"/>
                          <a:cs typeface="Times New Roman"/>
                        </a:rPr>
                        <a:t>ийн</a:t>
                      </a:r>
                      <a:r>
                        <a:rPr sz="800" spc="75" dirty="0">
                          <a:solidFill>
                            <a:srgbClr val="385622"/>
                          </a:solidFill>
                          <a:latin typeface="Times New Roman"/>
                          <a:cs typeface="Times New Roman"/>
                        </a:rPr>
                        <a:t> </a:t>
                      </a:r>
                      <a:r>
                        <a:rPr sz="800" spc="-10" dirty="0">
                          <a:solidFill>
                            <a:srgbClr val="385622"/>
                          </a:solidFill>
                          <a:latin typeface="Times New Roman"/>
                          <a:cs typeface="Times New Roman"/>
                        </a:rPr>
                        <a:t>дагуу</a:t>
                      </a:r>
                      <a:endParaRPr sz="800" dirty="0">
                        <a:latin typeface="Times New Roman"/>
                        <a:cs typeface="Times New Roman"/>
                      </a:endParaRPr>
                    </a:p>
                  </a:txBody>
                  <a:tcPr marL="0" marR="0" marT="108585" marB="0">
                    <a:lnL w="9525">
                      <a:solidFill>
                        <a:srgbClr val="AEABAB"/>
                      </a:solidFill>
                      <a:prstDash val="sysDash"/>
                    </a:lnL>
                    <a:lnR w="12700">
                      <a:solidFill>
                        <a:srgbClr val="000000"/>
                      </a:solidFill>
                      <a:prstDash val="solid"/>
                    </a:lnR>
                    <a:lnT w="9525">
                      <a:solidFill>
                        <a:srgbClr val="AEABAB"/>
                      </a:solidFill>
                      <a:prstDash val="sysDash"/>
                    </a:lnT>
                    <a:lnB w="9525">
                      <a:solidFill>
                        <a:srgbClr val="AEABAB"/>
                      </a:solidFill>
                      <a:prstDash val="sysDash"/>
                    </a:lnB>
                    <a:solidFill>
                      <a:srgbClr val="FFFFFF"/>
                    </a:solidFill>
                  </a:tcPr>
                </a:tc>
                <a:extLst>
                  <a:ext uri="{0D108BD9-81ED-4DB2-BD59-A6C34878D82A}">
                    <a16:rowId xmlns:a16="http://schemas.microsoft.com/office/drawing/2014/main" val="10008"/>
                  </a:ext>
                </a:extLst>
              </a:tr>
              <a:tr h="296254">
                <a:tc>
                  <a:txBody>
                    <a:bodyPr/>
                    <a:lstStyle/>
                    <a:p>
                      <a:pPr marL="71755" marR="219075">
                        <a:lnSpc>
                          <a:spcPct val="107500"/>
                        </a:lnSpc>
                        <a:spcBef>
                          <a:spcPts val="204"/>
                        </a:spcBef>
                      </a:pPr>
                      <a:r>
                        <a:rPr sz="800" b="1" dirty="0">
                          <a:latin typeface="Times New Roman"/>
                          <a:cs typeface="Times New Roman"/>
                        </a:rPr>
                        <a:t>Дахин</a:t>
                      </a:r>
                      <a:r>
                        <a:rPr sz="800" b="1" spc="-30" dirty="0">
                          <a:latin typeface="Times New Roman"/>
                          <a:cs typeface="Times New Roman"/>
                        </a:rPr>
                        <a:t> </a:t>
                      </a:r>
                      <a:r>
                        <a:rPr sz="800" b="1" spc="-10" dirty="0">
                          <a:latin typeface="Times New Roman"/>
                          <a:cs typeface="Times New Roman"/>
                        </a:rPr>
                        <a:t>санхүүжилтийн</a:t>
                      </a:r>
                      <a:r>
                        <a:rPr sz="800" b="1" spc="500" dirty="0">
                          <a:latin typeface="Times New Roman"/>
                          <a:cs typeface="Times New Roman"/>
                        </a:rPr>
                        <a:t> </a:t>
                      </a:r>
                      <a:r>
                        <a:rPr sz="800" b="1" spc="-10" dirty="0">
                          <a:latin typeface="Times New Roman"/>
                          <a:cs typeface="Times New Roman"/>
                        </a:rPr>
                        <a:t>хэмжээ</a:t>
                      </a:r>
                      <a:endParaRPr sz="800">
                        <a:latin typeface="Times New Roman"/>
                        <a:cs typeface="Times New Roman"/>
                      </a:endParaRPr>
                    </a:p>
                  </a:txBody>
                  <a:tcPr marL="0" marR="0" marT="26034" marB="0">
                    <a:lnL w="12700">
                      <a:solidFill>
                        <a:srgbClr val="000000"/>
                      </a:solidFill>
                      <a:prstDash val="solid"/>
                    </a:lnL>
                    <a:lnR w="9525">
                      <a:solidFill>
                        <a:srgbClr val="AEABAB"/>
                      </a:solidFill>
                      <a:prstDash val="sysDash"/>
                    </a:lnR>
                    <a:lnT w="9525">
                      <a:solidFill>
                        <a:srgbClr val="AEABAB"/>
                      </a:solidFill>
                      <a:prstDash val="sysDash"/>
                    </a:lnT>
                    <a:lnB w="12700">
                      <a:solidFill>
                        <a:srgbClr val="000000"/>
                      </a:solidFill>
                      <a:prstDash val="solid"/>
                    </a:lnB>
                    <a:solidFill>
                      <a:srgbClr val="FFFFFF"/>
                    </a:solidFill>
                  </a:tcPr>
                </a:tc>
                <a:tc>
                  <a:txBody>
                    <a:bodyPr/>
                    <a:lstStyle/>
                    <a:p>
                      <a:pPr marL="58419">
                        <a:lnSpc>
                          <a:spcPct val="100000"/>
                        </a:lnSpc>
                        <a:spcBef>
                          <a:spcPts val="275"/>
                        </a:spcBef>
                      </a:pPr>
                      <a:r>
                        <a:rPr sz="800" dirty="0">
                          <a:latin typeface="Times New Roman"/>
                          <a:cs typeface="Times New Roman"/>
                        </a:rPr>
                        <a:t>50%</a:t>
                      </a:r>
                      <a:r>
                        <a:rPr sz="800" spc="-50" dirty="0">
                          <a:latin typeface="Times New Roman"/>
                          <a:cs typeface="Times New Roman"/>
                        </a:rPr>
                        <a:t> </a:t>
                      </a:r>
                      <a:r>
                        <a:rPr sz="800" dirty="0">
                          <a:latin typeface="Times New Roman"/>
                          <a:cs typeface="Times New Roman"/>
                        </a:rPr>
                        <a:t>хүртэл</a:t>
                      </a:r>
                      <a:r>
                        <a:rPr sz="800" spc="10" dirty="0">
                          <a:latin typeface="Times New Roman"/>
                          <a:cs typeface="Times New Roman"/>
                        </a:rPr>
                        <a:t> </a:t>
                      </a:r>
                      <a:r>
                        <a:rPr sz="800" spc="-10" dirty="0">
                          <a:latin typeface="Times New Roman"/>
                          <a:cs typeface="Times New Roman"/>
                        </a:rPr>
                        <a:t>байна</a:t>
                      </a:r>
                      <a:endParaRPr sz="800" dirty="0">
                        <a:latin typeface="Times New Roman"/>
                        <a:cs typeface="Times New Roman"/>
                      </a:endParaRPr>
                    </a:p>
                  </a:txBody>
                  <a:tcPr marL="0" marR="0" marT="34925" marB="0">
                    <a:lnL w="9525">
                      <a:solidFill>
                        <a:srgbClr val="AEABAB"/>
                      </a:solidFill>
                      <a:prstDash val="sysDash"/>
                    </a:lnL>
                    <a:lnR w="12700">
                      <a:solidFill>
                        <a:srgbClr val="000000"/>
                      </a:solidFill>
                      <a:prstDash val="solid"/>
                    </a:lnR>
                    <a:lnT w="9525">
                      <a:solidFill>
                        <a:srgbClr val="AEABAB"/>
                      </a:solidFill>
                      <a:prstDash val="sysDash"/>
                    </a:lnT>
                    <a:lnB w="12700">
                      <a:solidFill>
                        <a:srgbClr val="000000"/>
                      </a:solidFill>
                      <a:prstDash val="solid"/>
                    </a:lnB>
                    <a:solidFill>
                      <a:srgbClr val="FFFFFF"/>
                    </a:solidFill>
                  </a:tcPr>
                </a:tc>
                <a:extLst>
                  <a:ext uri="{0D108BD9-81ED-4DB2-BD59-A6C34878D82A}">
                    <a16:rowId xmlns:a16="http://schemas.microsoft.com/office/drawing/2014/main" val="10009"/>
                  </a:ext>
                </a:extLst>
              </a:tr>
            </a:tbl>
          </a:graphicData>
        </a:graphic>
      </p:graphicFrame>
      <p:pic>
        <p:nvPicPr>
          <p:cNvPr id="19" name="object 20">
            <a:extLst>
              <a:ext uri="{FF2B5EF4-FFF2-40B4-BE49-F238E27FC236}">
                <a16:creationId xmlns:a16="http://schemas.microsoft.com/office/drawing/2014/main" id="{DC20F614-D106-B08B-47BD-AD3D3F810663}"/>
              </a:ext>
            </a:extLst>
          </p:cNvPr>
          <p:cNvPicPr/>
          <p:nvPr/>
        </p:nvPicPr>
        <p:blipFill rotWithShape="1">
          <a:blip r:embed="rId3" cstate="print"/>
          <a:srcRect b="-2826"/>
          <a:stretch/>
        </p:blipFill>
        <p:spPr>
          <a:xfrm>
            <a:off x="609727" y="1435354"/>
            <a:ext cx="761998" cy="515112"/>
          </a:xfrm>
          <a:prstGeom prst="rect">
            <a:avLst/>
          </a:prstGeom>
        </p:spPr>
      </p:pic>
      <p:pic>
        <p:nvPicPr>
          <p:cNvPr id="21" name="object 21">
            <a:extLst>
              <a:ext uri="{FF2B5EF4-FFF2-40B4-BE49-F238E27FC236}">
                <a16:creationId xmlns:a16="http://schemas.microsoft.com/office/drawing/2014/main" id="{C836DA90-7812-8098-29A1-3D557F1049A9}"/>
              </a:ext>
            </a:extLst>
          </p:cNvPr>
          <p:cNvPicPr/>
          <p:nvPr/>
        </p:nvPicPr>
        <p:blipFill>
          <a:blip r:embed="rId4" cstate="print"/>
          <a:stretch>
            <a:fillRect/>
          </a:stretch>
        </p:blipFill>
        <p:spPr>
          <a:xfrm>
            <a:off x="4640423" y="1441958"/>
            <a:ext cx="1063752" cy="566927"/>
          </a:xfrm>
          <a:prstGeom prst="rect">
            <a:avLst/>
          </a:prstGeom>
        </p:spPr>
      </p:pic>
      <p:sp>
        <p:nvSpPr>
          <p:cNvPr id="26" name="object 42">
            <a:extLst>
              <a:ext uri="{FF2B5EF4-FFF2-40B4-BE49-F238E27FC236}">
                <a16:creationId xmlns:a16="http://schemas.microsoft.com/office/drawing/2014/main" id="{CA07EDE5-2498-E8EC-EA10-8983C1EA24FA}"/>
              </a:ext>
            </a:extLst>
          </p:cNvPr>
          <p:cNvSpPr txBox="1"/>
          <p:nvPr/>
        </p:nvSpPr>
        <p:spPr>
          <a:xfrm>
            <a:off x="6043773" y="1571955"/>
            <a:ext cx="1513840" cy="302260"/>
          </a:xfrm>
          <a:prstGeom prst="rect">
            <a:avLst/>
          </a:prstGeom>
        </p:spPr>
        <p:txBody>
          <a:bodyPr vert="horz" wrap="square" lIns="0" tIns="14605" rIns="0" bIns="0" rtlCol="0">
            <a:spAutoFit/>
          </a:bodyPr>
          <a:lstStyle/>
          <a:p>
            <a:pPr algn="ctr">
              <a:lnSpc>
                <a:spcPct val="100000"/>
              </a:lnSpc>
              <a:spcBef>
                <a:spcPts val="115"/>
              </a:spcBef>
            </a:pPr>
            <a:r>
              <a:rPr sz="900" b="1" dirty="0">
                <a:solidFill>
                  <a:srgbClr val="FFFFFF"/>
                </a:solidFill>
                <a:latin typeface="Times New Roman"/>
                <a:cs typeface="Times New Roman"/>
              </a:rPr>
              <a:t>Үндсэн</a:t>
            </a:r>
            <a:r>
              <a:rPr sz="900" b="1" spc="-40" dirty="0">
                <a:solidFill>
                  <a:srgbClr val="FFFFFF"/>
                </a:solidFill>
                <a:latin typeface="Times New Roman"/>
                <a:cs typeface="Times New Roman"/>
              </a:rPr>
              <a:t> </a:t>
            </a:r>
            <a:r>
              <a:rPr sz="900" b="1" dirty="0">
                <a:solidFill>
                  <a:srgbClr val="FFFFFF"/>
                </a:solidFill>
                <a:latin typeface="Times New Roman"/>
                <a:cs typeface="Times New Roman"/>
              </a:rPr>
              <a:t>батлан</a:t>
            </a:r>
            <a:r>
              <a:rPr sz="900" b="1" spc="-5" dirty="0">
                <a:solidFill>
                  <a:srgbClr val="FFFFFF"/>
                </a:solidFill>
                <a:latin typeface="Times New Roman"/>
                <a:cs typeface="Times New Roman"/>
              </a:rPr>
              <a:t> </a:t>
            </a:r>
            <a:r>
              <a:rPr sz="900" b="1" dirty="0">
                <a:solidFill>
                  <a:srgbClr val="FFFFFF"/>
                </a:solidFill>
                <a:latin typeface="Times New Roman"/>
                <a:cs typeface="Times New Roman"/>
              </a:rPr>
              <a:t>даалттай</a:t>
            </a:r>
            <a:r>
              <a:rPr sz="900" b="1" spc="-65" dirty="0">
                <a:solidFill>
                  <a:srgbClr val="FFFFFF"/>
                </a:solidFill>
                <a:latin typeface="Times New Roman"/>
                <a:cs typeface="Times New Roman"/>
              </a:rPr>
              <a:t> </a:t>
            </a:r>
            <a:r>
              <a:rPr sz="900" b="1" spc="-20" dirty="0">
                <a:solidFill>
                  <a:srgbClr val="FFFFFF"/>
                </a:solidFill>
                <a:latin typeface="Times New Roman"/>
                <a:cs typeface="Times New Roman"/>
              </a:rPr>
              <a:t>зээл</a:t>
            </a:r>
            <a:endParaRPr sz="900" dirty="0">
              <a:latin typeface="Times New Roman"/>
              <a:cs typeface="Times New Roman"/>
            </a:endParaRPr>
          </a:p>
          <a:p>
            <a:pPr marL="27940" algn="ctr">
              <a:lnSpc>
                <a:spcPct val="100000"/>
              </a:lnSpc>
            </a:pPr>
            <a:r>
              <a:rPr sz="900" b="1" dirty="0">
                <a:solidFill>
                  <a:srgbClr val="FFFFFF"/>
                </a:solidFill>
                <a:latin typeface="Times New Roman"/>
                <a:cs typeface="Times New Roman"/>
              </a:rPr>
              <a:t>(ХХБ-ны</a:t>
            </a:r>
            <a:r>
              <a:rPr sz="900" b="1" spc="-75" dirty="0">
                <a:solidFill>
                  <a:srgbClr val="FFFFFF"/>
                </a:solidFill>
                <a:latin typeface="Times New Roman"/>
                <a:cs typeface="Times New Roman"/>
              </a:rPr>
              <a:t> </a:t>
            </a:r>
            <a:r>
              <a:rPr sz="900" b="1" dirty="0">
                <a:solidFill>
                  <a:srgbClr val="FFFFFF"/>
                </a:solidFill>
                <a:latin typeface="Times New Roman"/>
                <a:cs typeface="Times New Roman"/>
              </a:rPr>
              <a:t>эх</a:t>
            </a:r>
            <a:r>
              <a:rPr sz="900" b="1" spc="55" dirty="0">
                <a:solidFill>
                  <a:srgbClr val="FFFFFF"/>
                </a:solidFill>
                <a:latin typeface="Times New Roman"/>
                <a:cs typeface="Times New Roman"/>
              </a:rPr>
              <a:t> </a:t>
            </a:r>
            <a:r>
              <a:rPr sz="900" b="1" spc="-10" dirty="0">
                <a:solidFill>
                  <a:srgbClr val="FFFFFF"/>
                </a:solidFill>
                <a:latin typeface="Times New Roman"/>
                <a:cs typeface="Times New Roman"/>
              </a:rPr>
              <a:t>үүсвэртэй)</a:t>
            </a:r>
            <a:endParaRPr sz="900" dirty="0">
              <a:latin typeface="Times New Roman"/>
              <a:cs typeface="Times New Roman"/>
            </a:endParaRPr>
          </a:p>
        </p:txBody>
      </p:sp>
      <p:pic>
        <p:nvPicPr>
          <p:cNvPr id="28" name="object 43">
            <a:extLst>
              <a:ext uri="{FF2B5EF4-FFF2-40B4-BE49-F238E27FC236}">
                <a16:creationId xmlns:a16="http://schemas.microsoft.com/office/drawing/2014/main" id="{C0EABB8C-5A98-E903-AD66-250C8CCD0C9B}"/>
              </a:ext>
            </a:extLst>
          </p:cNvPr>
          <p:cNvPicPr/>
          <p:nvPr/>
        </p:nvPicPr>
        <p:blipFill>
          <a:blip r:embed="rId5" cstate="print"/>
          <a:stretch>
            <a:fillRect/>
          </a:stretch>
        </p:blipFill>
        <p:spPr>
          <a:xfrm>
            <a:off x="8702040" y="1383791"/>
            <a:ext cx="1158240" cy="670560"/>
          </a:xfrm>
          <a:prstGeom prst="rect">
            <a:avLst/>
          </a:prstGeom>
        </p:spPr>
      </p:pic>
      <p:sp>
        <p:nvSpPr>
          <p:cNvPr id="29" name="object 44">
            <a:extLst>
              <a:ext uri="{FF2B5EF4-FFF2-40B4-BE49-F238E27FC236}">
                <a16:creationId xmlns:a16="http://schemas.microsoft.com/office/drawing/2014/main" id="{AAB823E4-0DAF-5B38-C320-3AF0C4014553}"/>
              </a:ext>
            </a:extLst>
          </p:cNvPr>
          <p:cNvSpPr txBox="1"/>
          <p:nvPr/>
        </p:nvSpPr>
        <p:spPr>
          <a:xfrm>
            <a:off x="10133838" y="1435354"/>
            <a:ext cx="1448435" cy="439420"/>
          </a:xfrm>
          <a:prstGeom prst="rect">
            <a:avLst/>
          </a:prstGeom>
        </p:spPr>
        <p:txBody>
          <a:bodyPr vert="horz" wrap="square" lIns="0" tIns="13970" rIns="0" bIns="0" rtlCol="0">
            <a:spAutoFit/>
          </a:bodyPr>
          <a:lstStyle/>
          <a:p>
            <a:pPr marL="12065" marR="5080" algn="ctr">
              <a:lnSpc>
                <a:spcPct val="100000"/>
              </a:lnSpc>
              <a:spcBef>
                <a:spcPts val="110"/>
              </a:spcBef>
            </a:pPr>
            <a:r>
              <a:rPr sz="900" b="1" dirty="0">
                <a:solidFill>
                  <a:srgbClr val="FFFFFF"/>
                </a:solidFill>
                <a:latin typeface="Times New Roman"/>
                <a:cs typeface="Times New Roman"/>
              </a:rPr>
              <a:t>Азийн</a:t>
            </a:r>
            <a:r>
              <a:rPr sz="900" b="1" spc="-30" dirty="0">
                <a:solidFill>
                  <a:srgbClr val="FFFFFF"/>
                </a:solidFill>
                <a:latin typeface="Times New Roman"/>
                <a:cs typeface="Times New Roman"/>
              </a:rPr>
              <a:t> </a:t>
            </a:r>
            <a:r>
              <a:rPr sz="900" b="1" dirty="0">
                <a:solidFill>
                  <a:srgbClr val="FFFFFF"/>
                </a:solidFill>
                <a:latin typeface="Times New Roman"/>
                <a:cs typeface="Times New Roman"/>
              </a:rPr>
              <a:t>хөгжлийн</a:t>
            </a:r>
            <a:r>
              <a:rPr sz="900" b="1" spc="-25" dirty="0">
                <a:solidFill>
                  <a:srgbClr val="FFFFFF"/>
                </a:solidFill>
                <a:latin typeface="Times New Roman"/>
                <a:cs typeface="Times New Roman"/>
              </a:rPr>
              <a:t> </a:t>
            </a:r>
            <a:r>
              <a:rPr sz="900" b="1" dirty="0">
                <a:solidFill>
                  <a:srgbClr val="FFFFFF"/>
                </a:solidFill>
                <a:latin typeface="Times New Roman"/>
                <a:cs typeface="Times New Roman"/>
              </a:rPr>
              <a:t>банкны</a:t>
            </a:r>
            <a:r>
              <a:rPr sz="900" b="1" spc="-40" dirty="0">
                <a:solidFill>
                  <a:srgbClr val="FFFFFF"/>
                </a:solidFill>
                <a:latin typeface="Times New Roman"/>
                <a:cs typeface="Times New Roman"/>
              </a:rPr>
              <a:t> </a:t>
            </a:r>
            <a:r>
              <a:rPr sz="900" b="1" spc="-25" dirty="0">
                <a:solidFill>
                  <a:srgbClr val="FFFFFF"/>
                </a:solidFill>
                <a:latin typeface="Times New Roman"/>
                <a:cs typeface="Times New Roman"/>
              </a:rPr>
              <a:t>эх</a:t>
            </a:r>
            <a:r>
              <a:rPr sz="900" b="1" dirty="0">
                <a:solidFill>
                  <a:srgbClr val="FFFFFF"/>
                </a:solidFill>
                <a:latin typeface="Times New Roman"/>
                <a:cs typeface="Times New Roman"/>
              </a:rPr>
              <a:t> үүсвэртэй</a:t>
            </a:r>
            <a:r>
              <a:rPr sz="900" b="1" spc="-50" dirty="0">
                <a:solidFill>
                  <a:srgbClr val="FFFFFF"/>
                </a:solidFill>
                <a:latin typeface="Times New Roman"/>
                <a:cs typeface="Times New Roman"/>
              </a:rPr>
              <a:t> </a:t>
            </a:r>
            <a:r>
              <a:rPr sz="900" b="1" dirty="0">
                <a:solidFill>
                  <a:srgbClr val="FFFFFF"/>
                </a:solidFill>
                <a:latin typeface="Times New Roman"/>
                <a:cs typeface="Times New Roman"/>
              </a:rPr>
              <a:t>батлан</a:t>
            </a:r>
            <a:r>
              <a:rPr sz="900" b="1" spc="-20" dirty="0">
                <a:solidFill>
                  <a:srgbClr val="FFFFFF"/>
                </a:solidFill>
                <a:latin typeface="Times New Roman"/>
                <a:cs typeface="Times New Roman"/>
              </a:rPr>
              <a:t> </a:t>
            </a:r>
            <a:r>
              <a:rPr sz="900" b="1" spc="-10" dirty="0">
                <a:solidFill>
                  <a:srgbClr val="FFFFFF"/>
                </a:solidFill>
                <a:latin typeface="Times New Roman"/>
                <a:cs typeface="Times New Roman"/>
              </a:rPr>
              <a:t>даалттай </a:t>
            </a:r>
            <a:r>
              <a:rPr sz="900" b="1" dirty="0">
                <a:solidFill>
                  <a:srgbClr val="FFFFFF"/>
                </a:solidFill>
                <a:latin typeface="Times New Roman"/>
                <a:cs typeface="Times New Roman"/>
              </a:rPr>
              <a:t>бизнесийн</a:t>
            </a:r>
            <a:r>
              <a:rPr sz="900" b="1" spc="-80" dirty="0">
                <a:solidFill>
                  <a:srgbClr val="FFFFFF"/>
                </a:solidFill>
                <a:latin typeface="Times New Roman"/>
                <a:cs typeface="Times New Roman"/>
              </a:rPr>
              <a:t> </a:t>
            </a:r>
            <a:r>
              <a:rPr sz="900" b="1" dirty="0">
                <a:solidFill>
                  <a:srgbClr val="FFFFFF"/>
                </a:solidFill>
                <a:latin typeface="Times New Roman"/>
                <a:cs typeface="Times New Roman"/>
              </a:rPr>
              <a:t>ногоон</a:t>
            </a:r>
            <a:r>
              <a:rPr sz="900" b="1" spc="5" dirty="0">
                <a:solidFill>
                  <a:srgbClr val="FFFFFF"/>
                </a:solidFill>
                <a:latin typeface="Times New Roman"/>
                <a:cs typeface="Times New Roman"/>
              </a:rPr>
              <a:t> </a:t>
            </a:r>
            <a:r>
              <a:rPr sz="900" b="1" spc="-20" dirty="0">
                <a:solidFill>
                  <a:srgbClr val="FFFFFF"/>
                </a:solidFill>
                <a:latin typeface="Times New Roman"/>
                <a:cs typeface="Times New Roman"/>
              </a:rPr>
              <a:t>зээл</a:t>
            </a:r>
            <a:endParaRPr sz="900">
              <a:latin typeface="Times New Roman"/>
              <a:cs typeface="Times New Roman"/>
            </a:endParaRPr>
          </a:p>
        </p:txBody>
      </p:sp>
      <p:sp>
        <p:nvSpPr>
          <p:cNvPr id="33" name="TextBox 32">
            <a:extLst>
              <a:ext uri="{FF2B5EF4-FFF2-40B4-BE49-F238E27FC236}">
                <a16:creationId xmlns:a16="http://schemas.microsoft.com/office/drawing/2014/main" id="{845B9EA3-7F50-5CE3-6171-3411B2782639}"/>
              </a:ext>
            </a:extLst>
          </p:cNvPr>
          <p:cNvSpPr txBox="1"/>
          <p:nvPr/>
        </p:nvSpPr>
        <p:spPr>
          <a:xfrm>
            <a:off x="10133839" y="6295010"/>
            <a:ext cx="1981962" cy="276999"/>
          </a:xfrm>
          <a:prstGeom prst="rect">
            <a:avLst/>
          </a:prstGeom>
          <a:noFill/>
        </p:spPr>
        <p:txBody>
          <a:bodyPr wrap="square" rtlCol="0">
            <a:spAutoFit/>
          </a:bodyPr>
          <a:lstStyle/>
          <a:p>
            <a:r>
              <a:rPr lang="mn-MN" sz="1200" i="1">
                <a:uFill>
                  <a:solidFill>
                    <a:srgbClr val="074386"/>
                  </a:solidFill>
                </a:uFill>
                <a:cs typeface="Times New Roman"/>
              </a:rPr>
              <a:t>2026/09/04</a:t>
            </a:r>
            <a:r>
              <a:rPr lang="en-US" sz="1200" i="1">
                <a:uFill>
                  <a:solidFill>
                    <a:srgbClr val="074386"/>
                  </a:solidFill>
                </a:uFill>
                <a:cs typeface="Times New Roman"/>
              </a:rPr>
              <a:t>-</a:t>
            </a:r>
            <a:r>
              <a:rPr lang="mn-MN" sz="1200" i="1">
                <a:uFill>
                  <a:solidFill>
                    <a:srgbClr val="074386"/>
                  </a:solidFill>
                </a:uFill>
                <a:cs typeface="Times New Roman"/>
              </a:rPr>
              <a:t>ны байдлаар</a:t>
            </a:r>
            <a:endParaRPr lang="mn-MN" sz="1200" i="1" dirty="0">
              <a:uFill>
                <a:solidFill>
                  <a:srgbClr val="074386"/>
                </a:solidFill>
              </a:uFill>
              <a:cs typeface="Times New Roman"/>
            </a:endParaRPr>
          </a:p>
        </p:txBody>
      </p:sp>
    </p:spTree>
    <p:extLst>
      <p:ext uri="{BB962C8B-B14F-4D97-AF65-F5344CB8AC3E}">
        <p14:creationId xmlns:p14="http://schemas.microsoft.com/office/powerpoint/2010/main" val="128032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14BE9A-26D2-F38B-F9D0-186E67A0A283}"/>
              </a:ext>
            </a:extLst>
          </p:cNvPr>
          <p:cNvSpPr txBox="1"/>
          <p:nvPr/>
        </p:nvSpPr>
        <p:spPr>
          <a:xfrm>
            <a:off x="419323" y="1371038"/>
            <a:ext cx="11353354" cy="1569660"/>
          </a:xfrm>
          <a:prstGeom prst="rect">
            <a:avLst/>
          </a:prstGeom>
          <a:noFill/>
        </p:spPr>
        <p:txBody>
          <a:bodyPr wrap="square" rtlCol="0">
            <a:spAutoFit/>
          </a:bodyPr>
          <a:lstStyle/>
          <a:p>
            <a:pPr algn="just"/>
            <a:r>
              <a:rPr lang="mn-MN" sz="1200" dirty="0">
                <a:latin typeface="+mj-lt"/>
                <a:cs typeface="Segoe UI Light" panose="020B0502040204020203" pitchFamily="34" charset="0"/>
              </a:rPr>
              <a:t>•</a:t>
            </a:r>
            <a:r>
              <a:rPr lang="en-US" sz="1200" dirty="0">
                <a:latin typeface="+mj-lt"/>
                <a:cs typeface="Segoe UI Light" panose="020B0502040204020203" pitchFamily="34" charset="0"/>
              </a:rPr>
              <a:t> </a:t>
            </a:r>
            <a:r>
              <a:rPr lang="mn-MN" sz="1200" dirty="0">
                <a:latin typeface="+mj-lt"/>
                <a:cs typeface="Segoe UI Light" panose="020B0502040204020203" pitchFamily="34" charset="0"/>
              </a:rPr>
              <a:t>ЗБДС болон ХХБ-ны хооронд 2022.01.20-ний өдөр байгуулсан ерөнхий гэрээний нэмэлт гэрээнд зээлийн хүүг 8.88-12.34 хувь хүртэл тогтоох, Банкны эх үүсвэрийн бодит өртөг жилийн 14.42 хувиас хэтрэхгүй байх тус тус заалтуудыг тусгаж өгсөн тул бид хүүг өсгөх шийдвэр гарсан тохиолдолд ЗБДСантай байгуулсан ерөнхий гэрээнд өөрчлөлт оруулах шаардлага үүсэх ба ингэснээр одоо хэвийн мөрдөгдөж байгаа ЗБДС </a:t>
            </a:r>
            <a:r>
              <a:rPr lang="en-US" sz="1200" dirty="0">
                <a:latin typeface="+mj-lt"/>
                <a:cs typeface="Segoe UI Light" panose="020B0502040204020203" pitchFamily="34" charset="0"/>
              </a:rPr>
              <a:t>-</a:t>
            </a:r>
            <a:r>
              <a:rPr lang="mn-MN" sz="1200" dirty="0">
                <a:latin typeface="+mj-lt"/>
                <a:cs typeface="Segoe UI Light" panose="020B0502040204020203" pitchFamily="34" charset="0"/>
              </a:rPr>
              <a:t>тай зээлийн хүү өсөх, </a:t>
            </a:r>
            <a:r>
              <a:rPr lang="mn-MN" sz="1200" b="1" dirty="0">
                <a:latin typeface="+mj-lt"/>
                <a:cs typeface="Segoe UI Light" panose="020B0502040204020203" pitchFamily="34" charset="0"/>
              </a:rPr>
              <a:t>цаашлаад бусад банк</a:t>
            </a:r>
            <a:r>
              <a:rPr lang="en-US" sz="1200" b="1" dirty="0">
                <a:latin typeface="+mj-lt"/>
                <a:cs typeface="Segoe UI Light" panose="020B0502040204020203" pitchFamily="34" charset="0"/>
              </a:rPr>
              <a:t>y</a:t>
            </a:r>
            <a:r>
              <a:rPr lang="mn-MN" sz="1200" b="1" dirty="0">
                <a:latin typeface="+mj-lt"/>
                <a:cs typeface="Segoe UI Light" panose="020B0502040204020203" pitchFamily="34" charset="0"/>
              </a:rPr>
              <a:t>удаас өндөр хүүтэй болох тул ЗБДСантай зээлээр бусад банкнуудтай өрсөлдөх чадваргүй болно</a:t>
            </a:r>
            <a:r>
              <a:rPr lang="mn-MN" sz="1200" dirty="0">
                <a:latin typeface="+mj-lt"/>
                <a:cs typeface="Segoe UI Light" panose="020B0502040204020203" pitchFamily="34" charset="0"/>
              </a:rPr>
              <a:t>. </a:t>
            </a:r>
          </a:p>
          <a:p>
            <a:pPr algn="just"/>
            <a:endParaRPr lang="mn-MN" sz="1200" dirty="0">
              <a:latin typeface="+mj-lt"/>
              <a:cs typeface="Segoe UI Light" panose="020B0502040204020203" pitchFamily="34" charset="0"/>
            </a:endParaRPr>
          </a:p>
          <a:p>
            <a:pPr algn="just"/>
            <a:r>
              <a:rPr lang="mn-MN" sz="1200" dirty="0">
                <a:latin typeface="+mj-lt"/>
                <a:cs typeface="Segoe UI Light" panose="020B0502040204020203" pitchFamily="34" charset="0"/>
              </a:rPr>
              <a:t>•</a:t>
            </a:r>
            <a:r>
              <a:rPr lang="en-US" sz="1200" dirty="0">
                <a:latin typeface="+mj-lt"/>
                <a:cs typeface="Segoe UI Light" panose="020B0502040204020203" pitchFamily="34" charset="0"/>
              </a:rPr>
              <a:t> </a:t>
            </a:r>
            <a:r>
              <a:rPr lang="mn-MN" sz="1200" dirty="0">
                <a:latin typeface="+mj-lt"/>
                <a:cs typeface="Segoe UI Light" panose="020B0502040204020203" pitchFamily="34" charset="0"/>
              </a:rPr>
              <a:t>Хүү өсгөхөөр шийдвэрлэгдсэн тохиолдолд хэрхэх тухай процессыг ЗБДС-с тодруулахад: ЗБДСан Азийн хөгжлийн банкнаас зөвшөөрөл авах шаардлага үүсэх бөгөөд Хаан банк сүүлийн  2 жил орчмын хугацаанд хүүгээ өсгөх талаар санал өгч АХБ-с хүссэн ч АХБ-с зөвшөөрөхгүй байгаа тухай аман мэдээлэл өгсөн. </a:t>
            </a:r>
          </a:p>
          <a:p>
            <a:endParaRPr lang="mn-MN" sz="1200" dirty="0">
              <a:latin typeface="+mj-lt"/>
              <a:cs typeface="Segoe UI Light" panose="020B0502040204020203" pitchFamily="34" charset="0"/>
            </a:endParaRPr>
          </a:p>
        </p:txBody>
      </p:sp>
      <p:sp>
        <p:nvSpPr>
          <p:cNvPr id="6" name="TextBox 5">
            <a:extLst>
              <a:ext uri="{FF2B5EF4-FFF2-40B4-BE49-F238E27FC236}">
                <a16:creationId xmlns:a16="http://schemas.microsoft.com/office/drawing/2014/main" id="{D224101D-BBC1-90A4-DD01-35F5B3D2CFB4}"/>
              </a:ext>
            </a:extLst>
          </p:cNvPr>
          <p:cNvSpPr txBox="1"/>
          <p:nvPr/>
        </p:nvSpPr>
        <p:spPr>
          <a:xfrm>
            <a:off x="3512744" y="586209"/>
            <a:ext cx="5758004" cy="369332"/>
          </a:xfrm>
          <a:prstGeom prst="rect">
            <a:avLst/>
          </a:prstGeom>
          <a:noFill/>
        </p:spPr>
        <p:txBody>
          <a:bodyPr wrap="square" rtlCol="0">
            <a:spAutoFit/>
          </a:bodyPr>
          <a:lstStyle/>
          <a:p>
            <a:r>
              <a:rPr lang="mn-MN" b="1" dirty="0">
                <a:solidFill>
                  <a:srgbClr val="023B80"/>
                </a:solidFill>
                <a:latin typeface="+mj-lt"/>
                <a:cs typeface="Segoe UI Light" panose="020B0502040204020203" pitchFamily="34" charset="0"/>
              </a:rPr>
              <a:t>ЖДББГ-н хүүгийн саналын үндэслэл, тайлбар</a:t>
            </a:r>
          </a:p>
        </p:txBody>
      </p:sp>
      <p:graphicFrame>
        <p:nvGraphicFramePr>
          <p:cNvPr id="3" name="Table 2">
            <a:extLst>
              <a:ext uri="{FF2B5EF4-FFF2-40B4-BE49-F238E27FC236}">
                <a16:creationId xmlns:a16="http://schemas.microsoft.com/office/drawing/2014/main" id="{CD8FF674-7FC4-BB6C-9563-14BFCD208BF2}"/>
              </a:ext>
            </a:extLst>
          </p:cNvPr>
          <p:cNvGraphicFramePr>
            <a:graphicFrameLocks noGrp="1"/>
          </p:cNvGraphicFramePr>
          <p:nvPr/>
        </p:nvGraphicFramePr>
        <p:xfrm>
          <a:off x="1268994" y="3364937"/>
          <a:ext cx="5140356" cy="2110173"/>
        </p:xfrm>
        <a:graphic>
          <a:graphicData uri="http://schemas.openxmlformats.org/drawingml/2006/table">
            <a:tbl>
              <a:tblPr firstRow="1" bandRow="1">
                <a:tableStyleId>{5C22544A-7EE6-4342-B048-85BDC9FD1C3A}</a:tableStyleId>
              </a:tblPr>
              <a:tblGrid>
                <a:gridCol w="2287663">
                  <a:extLst>
                    <a:ext uri="{9D8B030D-6E8A-4147-A177-3AD203B41FA5}">
                      <a16:colId xmlns:a16="http://schemas.microsoft.com/office/drawing/2014/main" val="1583376153"/>
                    </a:ext>
                  </a:extLst>
                </a:gridCol>
                <a:gridCol w="1620570">
                  <a:extLst>
                    <a:ext uri="{9D8B030D-6E8A-4147-A177-3AD203B41FA5}">
                      <a16:colId xmlns:a16="http://schemas.microsoft.com/office/drawing/2014/main" val="3172766421"/>
                    </a:ext>
                  </a:extLst>
                </a:gridCol>
                <a:gridCol w="1232123">
                  <a:extLst>
                    <a:ext uri="{9D8B030D-6E8A-4147-A177-3AD203B41FA5}">
                      <a16:colId xmlns:a16="http://schemas.microsoft.com/office/drawing/2014/main" val="3182216383"/>
                    </a:ext>
                  </a:extLst>
                </a:gridCol>
              </a:tblGrid>
              <a:tr h="323764">
                <a:tc>
                  <a:txBody>
                    <a:bodyPr/>
                    <a:lstStyle/>
                    <a:p>
                      <a:pPr algn="ctr"/>
                      <a:r>
                        <a:rPr lang="mn-MN" sz="1100" dirty="0">
                          <a:latin typeface="+mj-lt"/>
                        </a:rPr>
                        <a:t>Үзүүлэлт</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0055A7"/>
                    </a:solidFill>
                  </a:tcPr>
                </a:tc>
                <a:tc>
                  <a:txBody>
                    <a:bodyPr/>
                    <a:lstStyle/>
                    <a:p>
                      <a:pPr marL="0" marR="0" algn="ctr" defTabSz="914400" rtl="0" eaLnBrk="1" latinLnBrk="0" hangingPunct="1">
                        <a:spcBef>
                          <a:spcPts val="0"/>
                        </a:spcBef>
                        <a:spcAft>
                          <a:spcPts val="0"/>
                        </a:spcAft>
                      </a:pPr>
                      <a:r>
                        <a:rPr lang="en-US" sz="1100" b="1" kern="1200" dirty="0">
                          <a:solidFill>
                            <a:schemeClr val="lt1"/>
                          </a:solidFill>
                          <a:latin typeface="+mj-lt"/>
                          <a:ea typeface="+mn-ea"/>
                          <a:cs typeface="+mn-cs"/>
                        </a:rPr>
                        <a:t>КАППЭ БЭНЭ МОНГОЛИА ХХК</a:t>
                      </a: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0055A7"/>
                    </a:solidFill>
                  </a:tcPr>
                </a:tc>
                <a:tc>
                  <a:txBody>
                    <a:bodyPr/>
                    <a:lstStyle/>
                    <a:p>
                      <a:pPr marL="0" marR="0" algn="ctr" defTabSz="914400" rtl="0" eaLnBrk="1" latinLnBrk="0" hangingPunct="1">
                        <a:spcBef>
                          <a:spcPts val="0"/>
                        </a:spcBef>
                        <a:spcAft>
                          <a:spcPts val="0"/>
                        </a:spcAft>
                      </a:pPr>
                      <a:r>
                        <a:rPr lang="en-US" sz="1100" b="1" kern="1200" dirty="0">
                          <a:solidFill>
                            <a:schemeClr val="lt1"/>
                          </a:solidFill>
                          <a:latin typeface="+mj-lt"/>
                          <a:ea typeface="+mn-ea"/>
                          <a:cs typeface="+mn-cs"/>
                        </a:rPr>
                        <a:t>ГАСТРОНОМИ ХХК</a:t>
                      </a: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0055A7"/>
                    </a:solidFill>
                  </a:tcPr>
                </a:tc>
                <a:extLst>
                  <a:ext uri="{0D108BD9-81ED-4DB2-BD59-A6C34878D82A}">
                    <a16:rowId xmlns:a16="http://schemas.microsoft.com/office/drawing/2014/main" val="3723526438"/>
                  </a:ext>
                </a:extLst>
              </a:tr>
              <a:tr h="176599">
                <a:tc>
                  <a:txBody>
                    <a:bodyPr/>
                    <a:lstStyle/>
                    <a:p>
                      <a:pPr marL="0" marR="0">
                        <a:spcBef>
                          <a:spcPts val="0"/>
                        </a:spcBef>
                        <a:spcAft>
                          <a:spcPts val="0"/>
                        </a:spcAft>
                      </a:pPr>
                      <a:r>
                        <a:rPr lang="en-US" sz="1100" dirty="0" err="1">
                          <a:effectLst/>
                          <a:latin typeface="Times New Roman" panose="02020603050405020304" pitchFamily="18" charset="0"/>
                          <a:ea typeface="Aptos" panose="020B0004020202020204" pitchFamily="34" charset="0"/>
                        </a:rPr>
                        <a:t>Зээлийн</a:t>
                      </a:r>
                      <a:r>
                        <a:rPr lang="en-US" sz="1100" dirty="0">
                          <a:effectLst/>
                          <a:latin typeface="Times New Roman" panose="02020603050405020304" pitchFamily="18" charset="0"/>
                          <a:ea typeface="Aptos" panose="020B0004020202020204" pitchFamily="34" charset="0"/>
                        </a:rPr>
                        <a:t> </a:t>
                      </a:r>
                      <a:r>
                        <a:rPr lang="en-US" sz="1100" dirty="0" err="1">
                          <a:effectLst/>
                          <a:latin typeface="Times New Roman" panose="02020603050405020304" pitchFamily="18" charset="0"/>
                          <a:ea typeface="Aptos" panose="020B0004020202020204" pitchFamily="34" charset="0"/>
                        </a:rPr>
                        <a:t>багцын</a:t>
                      </a:r>
                      <a:r>
                        <a:rPr lang="en-US" sz="1100" dirty="0">
                          <a:effectLst/>
                          <a:latin typeface="Times New Roman" panose="02020603050405020304" pitchFamily="18" charset="0"/>
                          <a:ea typeface="Aptos" panose="020B0004020202020204" pitchFamily="34" charset="0"/>
                        </a:rPr>
                        <a:t> </a:t>
                      </a:r>
                      <a:r>
                        <a:rPr lang="en-US" sz="1100" dirty="0" err="1">
                          <a:effectLst/>
                          <a:latin typeface="Times New Roman" panose="02020603050405020304" pitchFamily="18" charset="0"/>
                          <a:ea typeface="Aptos" panose="020B0004020202020204" pitchFamily="34" charset="0"/>
                        </a:rPr>
                        <a:t>дүн</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3,574.6</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5,791.9</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extLst>
                  <a:ext uri="{0D108BD9-81ED-4DB2-BD59-A6C34878D82A}">
                    <a16:rowId xmlns:a16="http://schemas.microsoft.com/office/drawing/2014/main" val="343438319"/>
                  </a:ext>
                </a:extLst>
              </a:tr>
              <a:tr h="175392">
                <a:tc>
                  <a:txBody>
                    <a:bodyPr/>
                    <a:lstStyle/>
                    <a:p>
                      <a:pPr marL="0" marR="0">
                        <a:spcBef>
                          <a:spcPts val="0"/>
                        </a:spcBef>
                        <a:spcAft>
                          <a:spcPts val="0"/>
                        </a:spcAft>
                      </a:pPr>
                      <a:r>
                        <a:rPr lang="en-US" sz="1100" dirty="0" err="1">
                          <a:effectLst/>
                          <a:latin typeface="Times New Roman" panose="02020603050405020304" pitchFamily="18" charset="0"/>
                          <a:ea typeface="Aptos" panose="020B0004020202020204" pitchFamily="34" charset="0"/>
                        </a:rPr>
                        <a:t>Борлуулалтын</a:t>
                      </a:r>
                      <a:r>
                        <a:rPr lang="en-US" sz="1100" dirty="0">
                          <a:effectLst/>
                          <a:latin typeface="Times New Roman" panose="02020603050405020304" pitchFamily="18" charset="0"/>
                          <a:ea typeface="Aptos" panose="020B0004020202020204" pitchFamily="34" charset="0"/>
                        </a:rPr>
                        <a:t> </a:t>
                      </a:r>
                      <a:r>
                        <a:rPr lang="en-US" sz="1100" dirty="0" err="1">
                          <a:effectLst/>
                          <a:latin typeface="Times New Roman" panose="02020603050405020304" pitchFamily="18" charset="0"/>
                          <a:ea typeface="Aptos" panose="020B0004020202020204" pitchFamily="34" charset="0"/>
                        </a:rPr>
                        <a:t>орлого</a:t>
                      </a:r>
                      <a:r>
                        <a:rPr lang="en-US" sz="1100" dirty="0">
                          <a:effectLst/>
                          <a:latin typeface="Times New Roman" panose="02020603050405020304" pitchFamily="18" charset="0"/>
                          <a:ea typeface="Aptos" panose="020B0004020202020204" pitchFamily="34" charset="0"/>
                        </a:rPr>
                        <a:t> </a:t>
                      </a:r>
                      <a:r>
                        <a:rPr lang="mn-MN" sz="1100" dirty="0">
                          <a:effectLst/>
                          <a:latin typeface="Times New Roman" panose="02020603050405020304" pitchFamily="18" charset="0"/>
                          <a:ea typeface="Aptos" panose="020B0004020202020204" pitchFamily="34" charset="0"/>
                        </a:rPr>
                        <a:t>/</a:t>
                      </a:r>
                      <a:r>
                        <a:rPr lang="en-US" sz="1100" dirty="0">
                          <a:effectLst/>
                          <a:latin typeface="Times New Roman" panose="02020603050405020304" pitchFamily="18" charset="0"/>
                          <a:ea typeface="Aptos" panose="020B0004020202020204" pitchFamily="34" charset="0"/>
                        </a:rPr>
                        <a:t>1 </a:t>
                      </a:r>
                      <a:r>
                        <a:rPr lang="en-US" sz="1100" dirty="0" err="1">
                          <a:effectLst/>
                          <a:latin typeface="Times New Roman" panose="02020603050405020304" pitchFamily="18" charset="0"/>
                          <a:ea typeface="Aptos" panose="020B0004020202020204" pitchFamily="34" charset="0"/>
                        </a:rPr>
                        <a:t>салбар</a:t>
                      </a:r>
                      <a:r>
                        <a:rPr lang="mn-MN" sz="1100" dirty="0">
                          <a:effectLst/>
                          <a:latin typeface="Times New Roman" panose="02020603050405020304" pitchFamily="18" charset="0"/>
                          <a:ea typeface="Aptos" panose="020B0004020202020204" pitchFamily="34" charset="0"/>
                        </a:rPr>
                        <a:t>/</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720.0</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1,628.5</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extLst>
                  <a:ext uri="{0D108BD9-81ED-4DB2-BD59-A6C34878D82A}">
                    <a16:rowId xmlns:a16="http://schemas.microsoft.com/office/drawing/2014/main" val="1160849560"/>
                  </a:ext>
                </a:extLst>
              </a:tr>
              <a:tr h="176599">
                <a:tc>
                  <a:txBody>
                    <a:bodyPr/>
                    <a:lstStyle/>
                    <a:p>
                      <a:pPr marL="0" marR="0">
                        <a:spcBef>
                          <a:spcPts val="0"/>
                        </a:spcBef>
                        <a:spcAft>
                          <a:spcPts val="0"/>
                        </a:spcAft>
                      </a:pPr>
                      <a:r>
                        <a:rPr lang="en-US" sz="1100">
                          <a:effectLst/>
                          <a:latin typeface="Times New Roman" panose="02020603050405020304" pitchFamily="18" charset="0"/>
                          <a:ea typeface="Aptos" panose="020B0004020202020204" pitchFamily="34" charset="0"/>
                        </a:rPr>
                        <a:t>Салбарын тоо</a:t>
                      </a:r>
                      <a:endParaRPr lang="en-US" sz="110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12</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16</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extLst>
                  <a:ext uri="{0D108BD9-81ED-4DB2-BD59-A6C34878D82A}">
                    <a16:rowId xmlns:a16="http://schemas.microsoft.com/office/drawing/2014/main" val="1772334252"/>
                  </a:ext>
                </a:extLst>
              </a:tr>
              <a:tr h="176599">
                <a:tc>
                  <a:txBody>
                    <a:bodyPr/>
                    <a:lstStyle/>
                    <a:p>
                      <a:pPr marL="0" marR="0">
                        <a:spcBef>
                          <a:spcPts val="0"/>
                        </a:spcBef>
                        <a:spcAft>
                          <a:spcPts val="0"/>
                        </a:spcAft>
                      </a:pPr>
                      <a:r>
                        <a:rPr lang="mn-MN" sz="1100" dirty="0">
                          <a:effectLst/>
                          <a:latin typeface="Times New Roman" panose="02020603050405020304" pitchFamily="18" charset="0"/>
                          <a:ea typeface="Aptos" panose="020B0004020202020204" pitchFamily="34" charset="0"/>
                        </a:rPr>
                        <a:t>Гадаад гуйвуулгын тоо</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34</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64</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extLst>
                  <a:ext uri="{0D108BD9-81ED-4DB2-BD59-A6C34878D82A}">
                    <a16:rowId xmlns:a16="http://schemas.microsoft.com/office/drawing/2014/main" val="4179187882"/>
                  </a:ext>
                </a:extLst>
              </a:tr>
              <a:tr h="181654">
                <a:tc>
                  <a:txBody>
                    <a:bodyPr/>
                    <a:lstStyle/>
                    <a:p>
                      <a:pPr marL="0" marR="0">
                        <a:spcBef>
                          <a:spcPts val="0"/>
                        </a:spcBef>
                        <a:spcAft>
                          <a:spcPts val="0"/>
                        </a:spcAft>
                      </a:pPr>
                      <a:r>
                        <a:rPr lang="mn-MN" sz="1100" dirty="0">
                          <a:effectLst/>
                          <a:latin typeface="Times New Roman" panose="02020603050405020304" pitchFamily="18" charset="0"/>
                          <a:ea typeface="Aptos" panose="020B0004020202020204" pitchFamily="34" charset="0"/>
                        </a:rPr>
                        <a:t>Гадаад гуйвуулгын шимтгэл</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a:effectLst/>
                          <a:latin typeface="Times New Roman" panose="02020603050405020304" pitchFamily="18" charset="0"/>
                          <a:ea typeface="Aptos" panose="020B0004020202020204" pitchFamily="34" charset="0"/>
                        </a:rPr>
                        <a:t>7.3</a:t>
                      </a:r>
                      <a:endParaRPr lang="en-US" sz="110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6.4</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extLst>
                  <a:ext uri="{0D108BD9-81ED-4DB2-BD59-A6C34878D82A}">
                    <a16:rowId xmlns:a16="http://schemas.microsoft.com/office/drawing/2014/main" val="2617913135"/>
                  </a:ext>
                </a:extLst>
              </a:tr>
              <a:tr h="176599">
                <a:tc>
                  <a:txBody>
                    <a:bodyPr/>
                    <a:lstStyle/>
                    <a:p>
                      <a:pPr marL="0" marR="0">
                        <a:spcBef>
                          <a:spcPts val="0"/>
                        </a:spcBef>
                        <a:spcAft>
                          <a:spcPts val="0"/>
                        </a:spcAft>
                      </a:pPr>
                      <a:r>
                        <a:rPr lang="mn-MN" sz="1100" dirty="0">
                          <a:effectLst/>
                          <a:latin typeface="Times New Roman" panose="02020603050405020304" pitchFamily="18" charset="0"/>
                          <a:ea typeface="Aptos" panose="020B0004020202020204" pitchFamily="34" charset="0"/>
                        </a:rPr>
                        <a:t>Посын тоо</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12</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16</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extLst>
                  <a:ext uri="{0D108BD9-81ED-4DB2-BD59-A6C34878D82A}">
                    <a16:rowId xmlns:a16="http://schemas.microsoft.com/office/drawing/2014/main" val="3163168029"/>
                  </a:ext>
                </a:extLst>
              </a:tr>
              <a:tr h="176599">
                <a:tc>
                  <a:txBody>
                    <a:bodyPr/>
                    <a:lstStyle/>
                    <a:p>
                      <a:pPr marL="0" marR="0">
                        <a:spcBef>
                          <a:spcPts val="0"/>
                        </a:spcBef>
                        <a:spcAft>
                          <a:spcPts val="0"/>
                        </a:spcAft>
                      </a:pPr>
                      <a:r>
                        <a:rPr lang="mn-MN" sz="1100">
                          <a:effectLst/>
                          <a:latin typeface="Times New Roman" panose="02020603050405020304" pitchFamily="18" charset="0"/>
                          <a:ea typeface="Aptos" panose="020B0004020202020204" pitchFamily="34" charset="0"/>
                        </a:rPr>
                        <a:t>Посын гүйлгээний тоо</a:t>
                      </a:r>
                      <a:endParaRPr lang="en-US" sz="110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220,210</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192,731</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extLst>
                  <a:ext uri="{0D108BD9-81ED-4DB2-BD59-A6C34878D82A}">
                    <a16:rowId xmlns:a16="http://schemas.microsoft.com/office/drawing/2014/main" val="139946789"/>
                  </a:ext>
                </a:extLst>
              </a:tr>
              <a:tr h="176599">
                <a:tc>
                  <a:txBody>
                    <a:bodyPr/>
                    <a:lstStyle/>
                    <a:p>
                      <a:pPr marL="0" marR="0">
                        <a:spcBef>
                          <a:spcPts val="0"/>
                        </a:spcBef>
                        <a:spcAft>
                          <a:spcPts val="0"/>
                        </a:spcAft>
                      </a:pPr>
                      <a:r>
                        <a:rPr lang="mn-MN" sz="1100" dirty="0">
                          <a:effectLst/>
                          <a:latin typeface="Times New Roman" panose="02020603050405020304" pitchFamily="18" charset="0"/>
                          <a:ea typeface="Aptos" panose="020B0004020202020204" pitchFamily="34" charset="0"/>
                        </a:rPr>
                        <a:t>Посын гүйлгээний дүн</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3,476.1</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5,240.5</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extLst>
                  <a:ext uri="{0D108BD9-81ED-4DB2-BD59-A6C34878D82A}">
                    <a16:rowId xmlns:a16="http://schemas.microsoft.com/office/drawing/2014/main" val="2773223658"/>
                  </a:ext>
                </a:extLst>
              </a:tr>
              <a:tr h="176599">
                <a:tc>
                  <a:txBody>
                    <a:bodyPr/>
                    <a:lstStyle/>
                    <a:p>
                      <a:pPr marL="0" marR="0">
                        <a:spcBef>
                          <a:spcPts val="0"/>
                        </a:spcBef>
                        <a:spcAft>
                          <a:spcPts val="0"/>
                        </a:spcAft>
                      </a:pPr>
                      <a:r>
                        <a:rPr lang="mn-MN" sz="1100">
                          <a:effectLst/>
                          <a:latin typeface="Times New Roman" panose="02020603050405020304" pitchFamily="18" charset="0"/>
                          <a:ea typeface="Aptos" panose="020B0004020202020204" pitchFamily="34" charset="0"/>
                        </a:rPr>
                        <a:t>Посын шимтгэл</a:t>
                      </a:r>
                      <a:endParaRPr lang="en-US" sz="110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9.0</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11.3</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extLst>
                  <a:ext uri="{0D108BD9-81ED-4DB2-BD59-A6C34878D82A}">
                    <a16:rowId xmlns:a16="http://schemas.microsoft.com/office/drawing/2014/main" val="295262017"/>
                  </a:ext>
                </a:extLst>
              </a:tr>
              <a:tr h="181654">
                <a:tc>
                  <a:txBody>
                    <a:bodyPr/>
                    <a:lstStyle/>
                    <a:p>
                      <a:pPr marL="0" marR="0">
                        <a:spcBef>
                          <a:spcPts val="0"/>
                        </a:spcBef>
                        <a:spcAft>
                          <a:spcPts val="0"/>
                        </a:spcAft>
                      </a:pPr>
                      <a:r>
                        <a:rPr lang="mn-MN" sz="1100" dirty="0">
                          <a:effectLst/>
                          <a:latin typeface="Times New Roman" panose="02020603050405020304" pitchFamily="18" charset="0"/>
                          <a:ea typeface="Aptos" panose="020B0004020202020204" pitchFamily="34" charset="0"/>
                        </a:rPr>
                        <a:t>Банканд оруулсан орлого </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525.1</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algn="ctr">
                        <a:spcBef>
                          <a:spcPts val="0"/>
                        </a:spcBef>
                        <a:spcAft>
                          <a:spcPts val="0"/>
                        </a:spcAft>
                      </a:pPr>
                      <a:r>
                        <a:rPr lang="mn-MN" sz="1100" dirty="0">
                          <a:effectLst/>
                          <a:latin typeface="Times New Roman" panose="02020603050405020304" pitchFamily="18" charset="0"/>
                          <a:ea typeface="Aptos" panose="020B0004020202020204" pitchFamily="34" charset="0"/>
                        </a:rPr>
                        <a:t>683.1</a:t>
                      </a:r>
                      <a:endParaRPr lang="en-US" sz="1100" dirty="0">
                        <a:effectLst/>
                        <a:latin typeface="Calibri" panose="020F0502020204030204" pitchFamily="34" charset="0"/>
                        <a:ea typeface="Aptos" panose="020B0004020202020204" pitchFamily="34" charset="0"/>
                      </a:endParaRPr>
                    </a:p>
                  </a:txBody>
                  <a:tcPr marL="68580" marR="68580" marT="0" marB="0" anchor="ct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extLst>
                  <a:ext uri="{0D108BD9-81ED-4DB2-BD59-A6C34878D82A}">
                    <a16:rowId xmlns:a16="http://schemas.microsoft.com/office/drawing/2014/main" val="1060226930"/>
                  </a:ext>
                </a:extLst>
              </a:tr>
            </a:tbl>
          </a:graphicData>
        </a:graphic>
      </p:graphicFrame>
      <p:sp>
        <p:nvSpPr>
          <p:cNvPr id="10" name="TextBox 9">
            <a:extLst>
              <a:ext uri="{FF2B5EF4-FFF2-40B4-BE49-F238E27FC236}">
                <a16:creationId xmlns:a16="http://schemas.microsoft.com/office/drawing/2014/main" id="{6DD9105C-B122-0B09-681B-3409F8F261E8}"/>
              </a:ext>
            </a:extLst>
          </p:cNvPr>
          <p:cNvSpPr txBox="1"/>
          <p:nvPr/>
        </p:nvSpPr>
        <p:spPr>
          <a:xfrm>
            <a:off x="5628741" y="5486962"/>
            <a:ext cx="934518" cy="246221"/>
          </a:xfrm>
          <a:prstGeom prst="rect">
            <a:avLst/>
          </a:prstGeom>
          <a:noFill/>
        </p:spPr>
        <p:txBody>
          <a:bodyPr wrap="square">
            <a:spAutoFit/>
          </a:bodyPr>
          <a:lstStyle/>
          <a:p>
            <a:pPr marL="0" marR="0">
              <a:spcBef>
                <a:spcPts val="0"/>
              </a:spcBef>
              <a:spcAft>
                <a:spcPts val="0"/>
              </a:spcAft>
            </a:pPr>
            <a:r>
              <a:rPr lang="en-US" sz="1000" dirty="0">
                <a:effectLst/>
                <a:latin typeface="Times New Roman" panose="02020603050405020304" pitchFamily="18" charset="0"/>
                <a:ea typeface="Aptos" panose="020B0004020202020204" pitchFamily="34" charset="0"/>
              </a:rPr>
              <a:t>/</a:t>
            </a:r>
            <a:r>
              <a:rPr lang="en-US" sz="1000" dirty="0" err="1">
                <a:effectLst/>
                <a:latin typeface="Times New Roman" panose="02020603050405020304" pitchFamily="18" charset="0"/>
                <a:ea typeface="Aptos" panose="020B0004020202020204" pitchFamily="34" charset="0"/>
              </a:rPr>
              <a:t>Сая</a:t>
            </a:r>
            <a:r>
              <a:rPr lang="en-US" sz="1000" dirty="0">
                <a:effectLst/>
                <a:latin typeface="Times New Roman" panose="02020603050405020304" pitchFamily="18" charset="0"/>
                <a:ea typeface="Aptos" panose="020B0004020202020204" pitchFamily="34" charset="0"/>
              </a:rPr>
              <a:t>.</a:t>
            </a:r>
            <a:r>
              <a:rPr lang="mn-MN" sz="1000" dirty="0">
                <a:effectLst/>
                <a:latin typeface="Times New Roman" panose="02020603050405020304" pitchFamily="18" charset="0"/>
                <a:ea typeface="Aptos" panose="020B0004020202020204" pitchFamily="34" charset="0"/>
              </a:rPr>
              <a:t>төгрөг</a:t>
            </a:r>
            <a:r>
              <a:rPr lang="en-US" sz="1000" dirty="0">
                <a:effectLst/>
                <a:latin typeface="Times New Roman" panose="02020603050405020304" pitchFamily="18" charset="0"/>
                <a:ea typeface="Aptos" panose="020B0004020202020204" pitchFamily="34" charset="0"/>
              </a:rPr>
              <a:t>/</a:t>
            </a:r>
            <a:endParaRPr lang="en-US" sz="1000" dirty="0">
              <a:effectLst/>
              <a:latin typeface="Calibri" panose="020F0502020204030204" pitchFamily="34" charset="0"/>
              <a:ea typeface="Aptos" panose="020B0004020202020204" pitchFamily="34" charset="0"/>
            </a:endParaRPr>
          </a:p>
        </p:txBody>
      </p:sp>
      <p:sp>
        <p:nvSpPr>
          <p:cNvPr id="12" name="TextBox 11">
            <a:extLst>
              <a:ext uri="{FF2B5EF4-FFF2-40B4-BE49-F238E27FC236}">
                <a16:creationId xmlns:a16="http://schemas.microsoft.com/office/drawing/2014/main" id="{E561D86C-D802-814F-9DFD-782F73103D55}"/>
              </a:ext>
            </a:extLst>
          </p:cNvPr>
          <p:cNvSpPr txBox="1"/>
          <p:nvPr/>
        </p:nvSpPr>
        <p:spPr>
          <a:xfrm>
            <a:off x="6862527" y="3704241"/>
            <a:ext cx="4816442" cy="1384995"/>
          </a:xfrm>
          <a:prstGeom prst="rect">
            <a:avLst/>
          </a:prstGeom>
          <a:noFill/>
        </p:spPr>
        <p:txBody>
          <a:bodyPr wrap="square">
            <a:spAutoFit/>
          </a:bodyPr>
          <a:lstStyle/>
          <a:p>
            <a:pPr algn="just"/>
            <a:r>
              <a:rPr lang="mn-MN" sz="1200" i="1" dirty="0">
                <a:latin typeface="+mj-lt"/>
                <a:cs typeface="Segoe UI Light" panose="020B0502040204020203" pitchFamily="34" charset="0"/>
              </a:rPr>
              <a:t>Тус </a:t>
            </a:r>
            <a:r>
              <a:rPr lang="en-US" sz="1200" i="1" dirty="0" err="1">
                <a:latin typeface="+mj-lt"/>
                <a:cs typeface="Segoe UI Light" panose="020B0502040204020203" pitchFamily="34" charset="0"/>
              </a:rPr>
              <a:t>Каппэ</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Бэнэ</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Монголиа</a:t>
            </a:r>
            <a:r>
              <a:rPr lang="en-US" sz="1200" i="1" dirty="0">
                <a:latin typeface="+mj-lt"/>
                <a:cs typeface="Segoe UI Light" panose="020B0502040204020203" pitchFamily="34" charset="0"/>
              </a:rPr>
              <a:t> ХХК</a:t>
            </a:r>
            <a:r>
              <a:rPr lang="mn-MN" sz="1200" i="1" dirty="0">
                <a:latin typeface="+mj-lt"/>
                <a:cs typeface="Segoe UI Light" panose="020B0502040204020203" pitchFamily="34" charset="0"/>
              </a:rPr>
              <a:t> </a:t>
            </a:r>
            <a:r>
              <a:rPr lang="en-US" sz="1200" i="1" dirty="0">
                <a:latin typeface="+mj-lt"/>
                <a:cs typeface="Segoe UI Light" panose="020B0502040204020203" pitchFamily="34" charset="0"/>
              </a:rPr>
              <a:t>/Café bene/, </a:t>
            </a:r>
            <a:r>
              <a:rPr lang="en-US" sz="1200" i="1" dirty="0" err="1">
                <a:latin typeface="+mj-lt"/>
                <a:cs typeface="Segoe UI Light" panose="020B0502040204020203" pitchFamily="34" charset="0"/>
              </a:rPr>
              <a:t>Гастрономи</a:t>
            </a:r>
            <a:r>
              <a:rPr lang="mn-MN" sz="1200" i="1" dirty="0">
                <a:latin typeface="+mj-lt"/>
                <a:cs typeface="Segoe UI Light" panose="020B0502040204020203" pitchFamily="34" charset="0"/>
              </a:rPr>
              <a:t> </a:t>
            </a:r>
            <a:r>
              <a:rPr lang="en-US" sz="1200" i="1" dirty="0">
                <a:latin typeface="+mj-lt"/>
                <a:cs typeface="Segoe UI Light" panose="020B0502040204020203" pitchFamily="34" charset="0"/>
              </a:rPr>
              <a:t>ХХК /Mom’s touch/-</a:t>
            </a:r>
            <a:r>
              <a:rPr lang="en-US" sz="1200" i="1" dirty="0" err="1">
                <a:latin typeface="+mj-lt"/>
                <a:cs typeface="Segoe UI Light" panose="020B0502040204020203" pitchFamily="34" charset="0"/>
              </a:rPr>
              <a:t>ууд</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нь</a:t>
            </a:r>
            <a:r>
              <a:rPr lang="mn-MN" sz="1200" i="1" dirty="0">
                <a:latin typeface="+mj-lt"/>
                <a:cs typeface="Segoe UI Light" panose="020B0502040204020203" pitchFamily="34" charset="0"/>
              </a:rPr>
              <a:t> </a:t>
            </a:r>
            <a:r>
              <a:rPr lang="en-US" sz="1200" i="1" dirty="0" err="1">
                <a:latin typeface="+mj-lt"/>
                <a:cs typeface="Segoe UI Light" panose="020B0502040204020203" pitchFamily="34" charset="0"/>
              </a:rPr>
              <a:t>ХХБанканд</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зээлтэй</a:t>
            </a:r>
            <a:r>
              <a:rPr lang="mn-MN" sz="1200" i="1" dirty="0">
                <a:latin typeface="+mj-lt"/>
                <a:cs typeface="Segoe UI Light" panose="020B0502040204020203" pitchFamily="34" charset="0"/>
              </a:rPr>
              <a:t>,</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борлуулалтын</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орлогыг</a:t>
            </a:r>
            <a:r>
              <a:rPr lang="mn-MN" sz="1200" i="1" dirty="0">
                <a:latin typeface="+mj-lt"/>
                <a:cs typeface="Segoe UI Light" panose="020B0502040204020203" pitchFamily="34" charset="0"/>
              </a:rPr>
              <a:t> </a:t>
            </a:r>
            <a:r>
              <a:rPr lang="en-US" sz="1200" i="1" dirty="0">
                <a:latin typeface="+mj-lt"/>
                <a:cs typeface="Segoe UI Light" panose="020B0502040204020203" pitchFamily="34" charset="0"/>
              </a:rPr>
              <a:t>100% </a:t>
            </a:r>
            <a:r>
              <a:rPr lang="mn-MN" sz="1200" i="1" dirty="0">
                <a:latin typeface="+mj-lt"/>
                <a:cs typeface="Segoe UI Light" panose="020B0502040204020203" pitchFamily="34" charset="0"/>
              </a:rPr>
              <a:t>ХХБанкны дансаар дамжуулдаг. Бүх салбаруудад ХХБ-ны постой, ажилтнуудын цалинг 100</a:t>
            </a:r>
            <a:r>
              <a:rPr lang="en-US" sz="1200" i="1" dirty="0">
                <a:latin typeface="+mj-lt"/>
                <a:cs typeface="Segoe UI Light" panose="020B0502040204020203" pitchFamily="34" charset="0"/>
              </a:rPr>
              <a:t>%</a:t>
            </a:r>
            <a:r>
              <a:rPr lang="mn-MN" sz="1200" i="1" dirty="0">
                <a:latin typeface="+mj-lt"/>
                <a:cs typeface="Segoe UI Light" panose="020B0502040204020203" pitchFamily="34" charset="0"/>
              </a:rPr>
              <a:t> дамжуулдаг ХХБ-ны сайн харилцагч юм. </a:t>
            </a:r>
          </a:p>
          <a:p>
            <a:pPr algn="just"/>
            <a:r>
              <a:rPr lang="mn-MN" sz="1200" i="1" dirty="0">
                <a:latin typeface="+mj-lt"/>
                <a:cs typeface="Segoe UI Light" panose="020B0502040204020203" pitchFamily="34" charset="0"/>
              </a:rPr>
              <a:t>Сүүлийн 12 сарын хугацаанд </a:t>
            </a:r>
            <a:r>
              <a:rPr lang="en-US" sz="1200" i="1" dirty="0" err="1">
                <a:latin typeface="+mj-lt"/>
                <a:cs typeface="Segoe UI Light" panose="020B0502040204020203" pitchFamily="34" charset="0"/>
              </a:rPr>
              <a:t>Каппэ</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Бэнэ</a:t>
            </a:r>
            <a:r>
              <a:rPr lang="en-US" sz="1200" i="1" dirty="0">
                <a:latin typeface="+mj-lt"/>
                <a:cs typeface="Segoe UI Light" panose="020B0502040204020203" pitchFamily="34" charset="0"/>
              </a:rPr>
              <a:t> </a:t>
            </a:r>
            <a:r>
              <a:rPr lang="en-US" sz="1200" i="1" dirty="0" err="1">
                <a:latin typeface="+mj-lt"/>
                <a:cs typeface="Segoe UI Light" panose="020B0502040204020203" pitchFamily="34" charset="0"/>
              </a:rPr>
              <a:t>Монголиа</a:t>
            </a:r>
            <a:r>
              <a:rPr lang="en-US" sz="1200" i="1" dirty="0">
                <a:latin typeface="+mj-lt"/>
                <a:cs typeface="Segoe UI Light" panose="020B0502040204020203" pitchFamily="34" charset="0"/>
              </a:rPr>
              <a:t> ХХК</a:t>
            </a:r>
            <a:r>
              <a:rPr lang="mn-MN" sz="1200" i="1" dirty="0">
                <a:latin typeface="+mj-lt"/>
                <a:cs typeface="Segoe UI Light" panose="020B0502040204020203" pitchFamily="34" charset="0"/>
              </a:rPr>
              <a:t> нь 525.1 сая төгрөг, </a:t>
            </a:r>
            <a:r>
              <a:rPr lang="en-US" sz="1200" i="1" dirty="0" err="1">
                <a:latin typeface="+mj-lt"/>
                <a:cs typeface="Segoe UI Light" panose="020B0502040204020203" pitchFamily="34" charset="0"/>
              </a:rPr>
              <a:t>Гастрономи</a:t>
            </a:r>
            <a:r>
              <a:rPr lang="mn-MN" sz="1200" i="1" dirty="0">
                <a:latin typeface="+mj-lt"/>
                <a:cs typeface="Segoe UI Light" panose="020B0502040204020203" pitchFamily="34" charset="0"/>
              </a:rPr>
              <a:t> </a:t>
            </a:r>
            <a:r>
              <a:rPr lang="en-US" sz="1200" i="1" dirty="0">
                <a:latin typeface="+mj-lt"/>
                <a:cs typeface="Segoe UI Light" panose="020B0502040204020203" pitchFamily="34" charset="0"/>
              </a:rPr>
              <a:t>ХХК </a:t>
            </a:r>
            <a:r>
              <a:rPr lang="mn-MN" sz="1200" i="1" dirty="0">
                <a:latin typeface="+mj-lt"/>
                <a:cs typeface="Segoe UI Light" panose="020B0502040204020203" pitchFamily="34" charset="0"/>
              </a:rPr>
              <a:t>нь 683.1 сая төгрөгийн орлого банканд оруулсан байна.</a:t>
            </a:r>
            <a:endParaRPr lang="en-US" sz="1200" i="1" dirty="0">
              <a:latin typeface="+mj-lt"/>
              <a:cs typeface="Segoe UI Light" panose="020B0502040204020203" pitchFamily="34" charset="0"/>
            </a:endParaRPr>
          </a:p>
        </p:txBody>
      </p:sp>
      <p:sp>
        <p:nvSpPr>
          <p:cNvPr id="14" name="TextBox 13">
            <a:extLst>
              <a:ext uri="{FF2B5EF4-FFF2-40B4-BE49-F238E27FC236}">
                <a16:creationId xmlns:a16="http://schemas.microsoft.com/office/drawing/2014/main" id="{0BE289CB-4ADC-40AA-1114-C951073A2BF8}"/>
              </a:ext>
            </a:extLst>
          </p:cNvPr>
          <p:cNvSpPr txBox="1"/>
          <p:nvPr/>
        </p:nvSpPr>
        <p:spPr>
          <a:xfrm>
            <a:off x="419323" y="2792179"/>
            <a:ext cx="6869861" cy="461665"/>
          </a:xfrm>
          <a:prstGeom prst="rect">
            <a:avLst/>
          </a:prstGeom>
          <a:noFill/>
        </p:spPr>
        <p:txBody>
          <a:bodyPr wrap="square">
            <a:spAutoFit/>
          </a:bodyPr>
          <a:lstStyle/>
          <a:p>
            <a:pPr algn="just"/>
            <a:r>
              <a:rPr lang="mn-MN" sz="1200" b="1" i="1" dirty="0">
                <a:latin typeface="+mj-lt"/>
                <a:cs typeface="Segoe UI Light" panose="020B0502040204020203" pitchFamily="34" charset="0"/>
              </a:rPr>
              <a:t>АХБ-ны эх үүсвэртэй Франчайзын батлан даалттай зээлийн бүтээгдэхүүнээр хамтран ажиллах компаниудын хамтын ажиллагааны мэдээллийг доорх хүснэгтэд оруулж өгөв</a:t>
            </a:r>
            <a:r>
              <a:rPr lang="mn-MN" sz="1200" dirty="0">
                <a:latin typeface="+mj-lt"/>
                <a:cs typeface="Segoe UI Light" panose="020B0502040204020203" pitchFamily="34" charset="0"/>
              </a:rPr>
              <a:t>.</a:t>
            </a:r>
          </a:p>
        </p:txBody>
      </p:sp>
    </p:spTree>
    <p:extLst>
      <p:ext uri="{BB962C8B-B14F-4D97-AF65-F5344CB8AC3E}">
        <p14:creationId xmlns:p14="http://schemas.microsoft.com/office/powerpoint/2010/main" val="658670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5426873C-D579-B249-1B39-1DB1A010F3CE}"/>
              </a:ext>
            </a:extLst>
          </p:cNvPr>
          <p:cNvGrpSpPr/>
          <p:nvPr/>
        </p:nvGrpSpPr>
        <p:grpSpPr>
          <a:xfrm>
            <a:off x="1983977" y="402273"/>
            <a:ext cx="8772686"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ЗАХ ЗЭЭЛ БОЛОН ХАРИЛЦАГЧ ТАЛ</a:t>
              </a:r>
            </a:p>
          </p:txBody>
        </p:sp>
      </p:grpSp>
      <p:sp>
        <p:nvSpPr>
          <p:cNvPr id="30" name="Slide Number Placeholder 1">
            <a:extLst>
              <a:ext uri="{FF2B5EF4-FFF2-40B4-BE49-F238E27FC236}">
                <a16:creationId xmlns:a16="http://schemas.microsoft.com/office/drawing/2014/main" id="{115B47EC-3EB2-E41E-861B-248B787B88A4}"/>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21</a:t>
            </a:fld>
            <a:endParaRPr lang="en-US" sz="1200" dirty="0">
              <a:solidFill>
                <a:schemeClr val="bg1">
                  <a:lumMod val="65000"/>
                </a:schemeClr>
              </a:solidFill>
              <a:cs typeface="Segoe UI Light" panose="020B0502040204020203" pitchFamily="34" charset="0"/>
            </a:endParaRPr>
          </a:p>
        </p:txBody>
      </p:sp>
      <p:graphicFrame>
        <p:nvGraphicFramePr>
          <p:cNvPr id="3" name="Table 2">
            <a:extLst>
              <a:ext uri="{FF2B5EF4-FFF2-40B4-BE49-F238E27FC236}">
                <a16:creationId xmlns:a16="http://schemas.microsoft.com/office/drawing/2014/main" id="{C9676A0F-005E-603B-AE53-1846E155512C}"/>
              </a:ext>
            </a:extLst>
          </p:cNvPr>
          <p:cNvGraphicFramePr>
            <a:graphicFrameLocks noGrp="1"/>
          </p:cNvGraphicFramePr>
          <p:nvPr/>
        </p:nvGraphicFramePr>
        <p:xfrm>
          <a:off x="1282462" y="2510745"/>
          <a:ext cx="7579360" cy="2743200"/>
        </p:xfrm>
        <a:graphic>
          <a:graphicData uri="http://schemas.openxmlformats.org/drawingml/2006/table">
            <a:tbl>
              <a:tblPr>
                <a:tableStyleId>{5C22544A-7EE6-4342-B048-85BDC9FD1C3A}</a:tableStyleId>
              </a:tblPr>
              <a:tblGrid>
                <a:gridCol w="947420">
                  <a:extLst>
                    <a:ext uri="{9D8B030D-6E8A-4147-A177-3AD203B41FA5}">
                      <a16:colId xmlns:a16="http://schemas.microsoft.com/office/drawing/2014/main" val="2415930476"/>
                    </a:ext>
                  </a:extLst>
                </a:gridCol>
                <a:gridCol w="947420">
                  <a:extLst>
                    <a:ext uri="{9D8B030D-6E8A-4147-A177-3AD203B41FA5}">
                      <a16:colId xmlns:a16="http://schemas.microsoft.com/office/drawing/2014/main" val="1598079375"/>
                    </a:ext>
                  </a:extLst>
                </a:gridCol>
                <a:gridCol w="947420">
                  <a:extLst>
                    <a:ext uri="{9D8B030D-6E8A-4147-A177-3AD203B41FA5}">
                      <a16:colId xmlns:a16="http://schemas.microsoft.com/office/drawing/2014/main" val="1677340359"/>
                    </a:ext>
                  </a:extLst>
                </a:gridCol>
                <a:gridCol w="947420">
                  <a:extLst>
                    <a:ext uri="{9D8B030D-6E8A-4147-A177-3AD203B41FA5}">
                      <a16:colId xmlns:a16="http://schemas.microsoft.com/office/drawing/2014/main" val="1720251625"/>
                    </a:ext>
                  </a:extLst>
                </a:gridCol>
                <a:gridCol w="947420">
                  <a:extLst>
                    <a:ext uri="{9D8B030D-6E8A-4147-A177-3AD203B41FA5}">
                      <a16:colId xmlns:a16="http://schemas.microsoft.com/office/drawing/2014/main" val="1326890667"/>
                    </a:ext>
                  </a:extLst>
                </a:gridCol>
                <a:gridCol w="947420">
                  <a:extLst>
                    <a:ext uri="{9D8B030D-6E8A-4147-A177-3AD203B41FA5}">
                      <a16:colId xmlns:a16="http://schemas.microsoft.com/office/drawing/2014/main" val="3120038564"/>
                    </a:ext>
                  </a:extLst>
                </a:gridCol>
                <a:gridCol w="947420">
                  <a:extLst>
                    <a:ext uri="{9D8B030D-6E8A-4147-A177-3AD203B41FA5}">
                      <a16:colId xmlns:a16="http://schemas.microsoft.com/office/drawing/2014/main" val="3417339719"/>
                    </a:ext>
                  </a:extLst>
                </a:gridCol>
                <a:gridCol w="947420">
                  <a:extLst>
                    <a:ext uri="{9D8B030D-6E8A-4147-A177-3AD203B41FA5}">
                      <a16:colId xmlns:a16="http://schemas.microsoft.com/office/drawing/2014/main" val="4158078154"/>
                    </a:ext>
                  </a:extLst>
                </a:gridCol>
              </a:tblGrid>
              <a:tr h="342900">
                <a:tc>
                  <a:txBody>
                    <a:bodyPr/>
                    <a:lstStyle/>
                    <a:p>
                      <a:pPr algn="ctr" fontAlgn="ctr"/>
                      <a:r>
                        <a:rPr lang="mn-MN" sz="1100" b="1" u="none" strike="noStrike">
                          <a:solidFill>
                            <a:schemeClr val="bg1"/>
                          </a:solidFill>
                          <a:effectLst/>
                        </a:rPr>
                        <a:t>Брэнд</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Өдрийн орлого</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1-р жил борлуулалт</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1-р жил ашиг</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Ашгийн хувь</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5-р жил борлуулалт</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5-р жил ашиг</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u="none" strike="noStrike">
                          <a:solidFill>
                            <a:schemeClr val="bg1"/>
                          </a:solidFill>
                          <a:effectLst/>
                        </a:rPr>
                        <a:t>Ашгийн хувь</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2464715307"/>
                  </a:ext>
                </a:extLst>
              </a:tr>
              <a:tr h="342900">
                <a:tc>
                  <a:txBody>
                    <a:bodyPr/>
                    <a:lstStyle/>
                    <a:p>
                      <a:pPr algn="ctr" fontAlgn="ctr"/>
                      <a:r>
                        <a:rPr lang="en-US" sz="1100" b="1" u="none" strike="noStrike">
                          <a:ln>
                            <a:noFill/>
                          </a:ln>
                          <a:solidFill>
                            <a:srgbClr val="FF0000"/>
                          </a:solidFill>
                          <a:effectLst/>
                        </a:rPr>
                        <a:t>Mom’s Touch</a:t>
                      </a:r>
                      <a:endParaRPr lang="en-US" sz="1100" b="1" i="0" u="none" strike="noStrike">
                        <a:ln>
                          <a:noFill/>
                        </a:ln>
                        <a:solidFill>
                          <a:srgbClr val="FF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1,095,000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176,100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16.10%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1,603,190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257,828</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16.10%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15410422"/>
                  </a:ext>
                </a:extLst>
              </a:tr>
              <a:tr h="342900">
                <a:tc>
                  <a:txBody>
                    <a:bodyPr/>
                    <a:lstStyle/>
                    <a:p>
                      <a:pPr algn="ctr" fontAlgn="ctr"/>
                      <a:r>
                        <a:rPr lang="en-US" sz="1100" b="1" u="none" strike="noStrike">
                          <a:ln>
                            <a:noFill/>
                          </a:ln>
                          <a:solidFill>
                            <a:srgbClr val="FF0000"/>
                          </a:solidFill>
                          <a:effectLst/>
                        </a:rPr>
                        <a:t>Mom’s Touch</a:t>
                      </a:r>
                      <a:endParaRPr lang="en-US" sz="1100" b="1" i="0" u="none" strike="noStrike">
                        <a:ln>
                          <a:noFill/>
                        </a:ln>
                        <a:solidFill>
                          <a:srgbClr val="FF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4,000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1,460,000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314,800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21.60%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2,137,586</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460,899</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21.60%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2176738913"/>
                  </a:ext>
                </a:extLst>
              </a:tr>
              <a:tr h="342900">
                <a:tc>
                  <a:txBody>
                    <a:bodyPr/>
                    <a:lstStyle/>
                    <a:p>
                      <a:pPr algn="ctr" fontAlgn="ctr"/>
                      <a:r>
                        <a:rPr lang="en-US" sz="1100" b="1" u="none" strike="noStrike">
                          <a:ln>
                            <a:noFill/>
                          </a:ln>
                          <a:solidFill>
                            <a:srgbClr val="FF0000"/>
                          </a:solidFill>
                          <a:effectLst/>
                        </a:rPr>
                        <a:t>Mom’s Touch</a:t>
                      </a:r>
                      <a:endParaRPr lang="en-US" sz="1100" b="1" i="0" u="none" strike="noStrike">
                        <a:ln>
                          <a:noFill/>
                        </a:ln>
                        <a:solidFill>
                          <a:srgbClr val="FF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u="none" strike="noStrike">
                          <a:effectLst/>
                        </a:rPr>
                        <a:t>5,000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u="none" strike="noStrike">
                          <a:effectLst/>
                        </a:rPr>
                        <a:t>1,825,000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u="none" strike="noStrike">
                          <a:effectLst/>
                        </a:rPr>
                        <a:t>453,500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u="none" strike="noStrike">
                          <a:effectLst/>
                        </a:rPr>
                        <a:t>24.80%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u="none" strike="noStrike">
                          <a:effectLst/>
                        </a:rPr>
                        <a:t>2,671,983</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u="none" strike="noStrike">
                          <a:effectLst/>
                        </a:rPr>
                        <a:t>663,969</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u="none" strike="noStrike">
                          <a:effectLst/>
                        </a:rPr>
                        <a:t>24.80%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extLst>
                  <a:ext uri="{0D108BD9-81ED-4DB2-BD59-A6C34878D82A}">
                    <a16:rowId xmlns:a16="http://schemas.microsoft.com/office/drawing/2014/main" val="214327829"/>
                  </a:ext>
                </a:extLst>
              </a:tr>
              <a:tr h="342900">
                <a:tc>
                  <a:txBody>
                    <a:bodyPr/>
                    <a:lstStyle/>
                    <a:p>
                      <a:pPr algn="ctr" fontAlgn="ctr"/>
                      <a:r>
                        <a:rPr lang="en-US" sz="1100" b="1" u="none" strike="noStrike">
                          <a:solidFill>
                            <a:srgbClr val="0080FF"/>
                          </a:solidFill>
                          <a:effectLst/>
                        </a:rPr>
                        <a:t>Caffe Bene</a:t>
                      </a:r>
                      <a:endParaRPr lang="en-US" sz="1100" b="1" i="0" u="none" strike="noStrike">
                        <a:solidFill>
                          <a:srgbClr val="0080FF"/>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1,500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547,500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85,650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15.60%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801,595</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125,400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15.60%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352345336"/>
                  </a:ext>
                </a:extLst>
              </a:tr>
              <a:tr h="342900">
                <a:tc>
                  <a:txBody>
                    <a:bodyPr/>
                    <a:lstStyle/>
                    <a:p>
                      <a:pPr algn="ctr" fontAlgn="ctr"/>
                      <a:r>
                        <a:rPr lang="en-US" sz="1100" b="1" u="none" strike="noStrike">
                          <a:solidFill>
                            <a:srgbClr val="0080FF"/>
                          </a:solidFill>
                          <a:effectLst/>
                        </a:rPr>
                        <a:t>Caffe Bene</a:t>
                      </a:r>
                      <a:endParaRPr lang="en-US" sz="1100" b="1" i="0" u="none" strike="noStrike">
                        <a:solidFill>
                          <a:srgbClr val="0080FF"/>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730,000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184,200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25.20%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1,068,793</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269,687</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25.20%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24127823"/>
                  </a:ext>
                </a:extLst>
              </a:tr>
              <a:tr h="342900">
                <a:tc>
                  <a:txBody>
                    <a:bodyPr/>
                    <a:lstStyle/>
                    <a:p>
                      <a:pPr algn="ctr" fontAlgn="ctr"/>
                      <a:r>
                        <a:rPr lang="en-US" sz="1100" b="1" u="none" strike="noStrike">
                          <a:solidFill>
                            <a:srgbClr val="0080FF"/>
                          </a:solidFill>
                          <a:effectLst/>
                        </a:rPr>
                        <a:t>Caffe Bene</a:t>
                      </a:r>
                      <a:endParaRPr lang="en-US" sz="1100" b="1" i="0" u="none" strike="noStrike">
                        <a:solidFill>
                          <a:srgbClr val="0080FF"/>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2,500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912,500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282,750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31.00%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1,335,991</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413,974</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31.00%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230660878"/>
                  </a:ext>
                </a:extLst>
              </a:tr>
              <a:tr h="342900">
                <a:tc>
                  <a:txBody>
                    <a:bodyPr/>
                    <a:lstStyle/>
                    <a:p>
                      <a:pPr algn="ctr" fontAlgn="ctr"/>
                      <a:r>
                        <a:rPr lang="en-US" sz="1100" b="1" u="none" strike="noStrike">
                          <a:solidFill>
                            <a:srgbClr val="0080FF"/>
                          </a:solidFill>
                          <a:effectLst/>
                        </a:rPr>
                        <a:t>Caffe Bene</a:t>
                      </a:r>
                      <a:endParaRPr lang="en-US" sz="1100" b="1" i="0" u="none" strike="noStrike">
                        <a:solidFill>
                          <a:srgbClr val="0080FF"/>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1,095,000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381,300</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34.80%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1,603,190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558,261</a:t>
                      </a:r>
                      <a:endParaRPr lang="en-US" sz="1100" b="1"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u="none" strike="noStrike">
                          <a:effectLst/>
                        </a:rPr>
                        <a:t>34.80%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8088176"/>
                  </a:ext>
                </a:extLst>
              </a:tr>
            </a:tbl>
          </a:graphicData>
        </a:graphic>
      </p:graphicFrame>
      <p:graphicFrame>
        <p:nvGraphicFramePr>
          <p:cNvPr id="4" name="Table 3">
            <a:extLst>
              <a:ext uri="{FF2B5EF4-FFF2-40B4-BE49-F238E27FC236}">
                <a16:creationId xmlns:a16="http://schemas.microsoft.com/office/drawing/2014/main" id="{07C9AA43-0196-B5D5-4B83-4D1E424DA668}"/>
              </a:ext>
            </a:extLst>
          </p:cNvPr>
          <p:cNvGraphicFramePr>
            <a:graphicFrameLocks noGrp="1"/>
          </p:cNvGraphicFramePr>
          <p:nvPr/>
        </p:nvGraphicFramePr>
        <p:xfrm>
          <a:off x="9569823" y="2510745"/>
          <a:ext cx="1894840" cy="2743200"/>
        </p:xfrm>
        <a:graphic>
          <a:graphicData uri="http://schemas.openxmlformats.org/drawingml/2006/table">
            <a:tbl>
              <a:tblPr>
                <a:tableStyleId>{5C22544A-7EE6-4342-B048-85BDC9FD1C3A}</a:tableStyleId>
              </a:tblPr>
              <a:tblGrid>
                <a:gridCol w="947420">
                  <a:extLst>
                    <a:ext uri="{9D8B030D-6E8A-4147-A177-3AD203B41FA5}">
                      <a16:colId xmlns:a16="http://schemas.microsoft.com/office/drawing/2014/main" val="2686888883"/>
                    </a:ext>
                  </a:extLst>
                </a:gridCol>
                <a:gridCol w="947420">
                  <a:extLst>
                    <a:ext uri="{9D8B030D-6E8A-4147-A177-3AD203B41FA5}">
                      <a16:colId xmlns:a16="http://schemas.microsoft.com/office/drawing/2014/main" val="3513098838"/>
                    </a:ext>
                  </a:extLst>
                </a:gridCol>
              </a:tblGrid>
              <a:tr h="342900">
                <a:tc>
                  <a:txBody>
                    <a:bodyPr/>
                    <a:lstStyle/>
                    <a:p>
                      <a:pPr algn="ctr" fontAlgn="ctr"/>
                      <a:r>
                        <a:rPr lang="en-US" sz="1100" b="1" u="none" strike="noStrike">
                          <a:solidFill>
                            <a:schemeClr val="bg1"/>
                          </a:solidFill>
                          <a:effectLst/>
                        </a:rPr>
                        <a:t>A</a:t>
                      </a:r>
                      <a:r>
                        <a:rPr lang="mn-MN" sz="1100" b="1" u="none" strike="noStrike">
                          <a:solidFill>
                            <a:schemeClr val="bg1"/>
                          </a:solidFill>
                          <a:effectLst/>
                        </a:rPr>
                        <a:t>ХО,$</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a:txBody>
                    <a:bodyPr/>
                    <a:lstStyle/>
                    <a:p>
                      <a:pPr algn="ctr" fontAlgn="ctr"/>
                      <a:r>
                        <a:rPr lang="mn-MN" sz="1100" b="1" i="0" u="none" strike="noStrike">
                          <a:solidFill>
                            <a:schemeClr val="bg1"/>
                          </a:solidFill>
                          <a:effectLst/>
                          <a:latin typeface="Segoe UI" panose="020B0502040204020203" pitchFamily="34" charset="0"/>
                        </a:rPr>
                        <a:t>АХО, </a:t>
                      </a:r>
                      <a:r>
                        <a:rPr lang="mn-MN" sz="1100" b="1" i="0">
                          <a:solidFill>
                            <a:schemeClr val="bg1"/>
                          </a:solidFill>
                          <a:cs typeface="Segoe UI" panose="020B0502040204020203" pitchFamily="34" charset="0"/>
                        </a:rPr>
                        <a:t>₮</a:t>
                      </a:r>
                      <a:endParaRPr lang="mn-MN" sz="1100" b="1" i="0" u="none" strike="noStrike">
                        <a:solidFill>
                          <a:schemeClr val="bg1"/>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extLst>
                  <a:ext uri="{0D108BD9-81ED-4DB2-BD59-A6C34878D82A}">
                    <a16:rowId xmlns:a16="http://schemas.microsoft.com/office/drawing/2014/main" val="2039584496"/>
                  </a:ext>
                </a:extLst>
              </a:tr>
              <a:tr h="342900">
                <a:tc>
                  <a:txBody>
                    <a:bodyPr/>
                    <a:lstStyle/>
                    <a:p>
                      <a:pPr algn="ctr" fontAlgn="ctr"/>
                      <a:r>
                        <a:rPr lang="en-US" sz="1100" u="none" strike="noStrike">
                          <a:effectLst/>
                        </a:rPr>
                        <a:t>125,762</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mn-lt"/>
                        </a:rPr>
                        <a:t>452,114,390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70157407"/>
                  </a:ext>
                </a:extLst>
              </a:tr>
              <a:tr h="342900">
                <a:tc>
                  <a:txBody>
                    <a:bodyPr/>
                    <a:lstStyle/>
                    <a:p>
                      <a:pPr algn="ctr" fontAlgn="ctr"/>
                      <a:r>
                        <a:rPr lang="en-US" sz="1100" u="none" strike="noStrike">
                          <a:effectLst/>
                        </a:rPr>
                        <a:t>125,762</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mn-lt"/>
                        </a:rPr>
                        <a:t>452,114,390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798175580"/>
                  </a:ext>
                </a:extLst>
              </a:tr>
              <a:tr h="342900">
                <a:tc>
                  <a:txBody>
                    <a:bodyPr/>
                    <a:lstStyle/>
                    <a:p>
                      <a:pPr algn="ctr" fontAlgn="ctr"/>
                      <a:r>
                        <a:rPr lang="en-US" sz="1100" u="none" strike="noStrike">
                          <a:effectLst/>
                        </a:rPr>
                        <a:t>125,762</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tc>
                  <a:txBody>
                    <a:bodyPr/>
                    <a:lstStyle/>
                    <a:p>
                      <a:pPr algn="ctr" fontAlgn="ctr"/>
                      <a:r>
                        <a:rPr lang="en-US" sz="1100" b="0" i="0" u="none" strike="noStrike">
                          <a:solidFill>
                            <a:srgbClr val="000000"/>
                          </a:solidFill>
                          <a:effectLst/>
                          <a:latin typeface="+mn-lt"/>
                        </a:rPr>
                        <a:t>452,114,390</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12700" cap="flat" cmpd="sng" algn="ctr">
                      <a:solidFill>
                        <a:srgbClr val="0080FF"/>
                      </a:solidFill>
                      <a:prstDash val="solid"/>
                      <a:round/>
                      <a:headEnd type="none" w="med" len="med"/>
                      <a:tailEnd type="none" w="med" len="med"/>
                    </a:lnB>
                    <a:solidFill>
                      <a:schemeClr val="bg1"/>
                    </a:solidFill>
                  </a:tcPr>
                </a:tc>
                <a:extLst>
                  <a:ext uri="{0D108BD9-81ED-4DB2-BD59-A6C34878D82A}">
                    <a16:rowId xmlns:a16="http://schemas.microsoft.com/office/drawing/2014/main" val="119075602"/>
                  </a:ext>
                </a:extLst>
              </a:tr>
              <a:tr h="342900">
                <a:tc>
                  <a:txBody>
                    <a:bodyPr/>
                    <a:lstStyle/>
                    <a:p>
                      <a:pPr algn="ctr" fontAlgn="ctr"/>
                      <a:r>
                        <a:rPr lang="en-US" sz="1100" u="none" strike="noStrike">
                          <a:effectLst/>
                        </a:rPr>
                        <a:t>140,988</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a:latin typeface="+mn-lt"/>
                          <a:cs typeface="Segoe UI" panose="020B0502040204020203" pitchFamily="34" charset="0"/>
                        </a:rPr>
                        <a:t>499,600,745</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12700" cap="flat" cmpd="sng" algn="ctr">
                      <a:solidFill>
                        <a:srgbClr val="0080FF"/>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233338333"/>
                  </a:ext>
                </a:extLst>
              </a:tr>
              <a:tr h="342900">
                <a:tc>
                  <a:txBody>
                    <a:bodyPr/>
                    <a:lstStyle/>
                    <a:p>
                      <a:pPr algn="ctr" fontAlgn="ctr"/>
                      <a:r>
                        <a:rPr lang="en-US" sz="1100" u="none" strike="noStrike">
                          <a:effectLst/>
                        </a:rPr>
                        <a:t>140,988</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a:latin typeface="+mn-lt"/>
                          <a:cs typeface="Segoe UI" panose="020B0502040204020203" pitchFamily="34" charset="0"/>
                        </a:rPr>
                        <a:t>499,600,745</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093011736"/>
                  </a:ext>
                </a:extLst>
              </a:tr>
              <a:tr h="342900">
                <a:tc>
                  <a:txBody>
                    <a:bodyPr/>
                    <a:lstStyle/>
                    <a:p>
                      <a:pPr algn="ctr" fontAlgn="ctr"/>
                      <a:r>
                        <a:rPr lang="en-US" sz="1100" u="none" strike="noStrike">
                          <a:effectLst/>
                        </a:rPr>
                        <a:t>140,988</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a:latin typeface="+mn-lt"/>
                          <a:cs typeface="Segoe UI" panose="020B0502040204020203" pitchFamily="34" charset="0"/>
                        </a:rPr>
                        <a:t>499,600,745</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581577267"/>
                  </a:ext>
                </a:extLst>
              </a:tr>
              <a:tr h="342900">
                <a:tc>
                  <a:txBody>
                    <a:bodyPr/>
                    <a:lstStyle/>
                    <a:p>
                      <a:pPr algn="ctr" fontAlgn="ctr"/>
                      <a:r>
                        <a:rPr lang="en-US" sz="1100" u="none" strike="noStrike">
                          <a:effectLst/>
                        </a:rPr>
                        <a:t>140,988</a:t>
                      </a:r>
                      <a:endParaRPr lang="en-US" sz="11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a:latin typeface="+mn-lt"/>
                          <a:cs typeface="Segoe UI" panose="020B0502040204020203" pitchFamily="34" charset="0"/>
                        </a:rPr>
                        <a:t>499,600,745</a:t>
                      </a: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041807018"/>
                  </a:ext>
                </a:extLst>
              </a:tr>
            </a:tbl>
          </a:graphicData>
        </a:graphic>
      </p:graphicFrame>
      <p:sp>
        <p:nvSpPr>
          <p:cNvPr id="5" name="TextBox 4">
            <a:extLst>
              <a:ext uri="{FF2B5EF4-FFF2-40B4-BE49-F238E27FC236}">
                <a16:creationId xmlns:a16="http://schemas.microsoft.com/office/drawing/2014/main" id="{20EE47F7-7AA9-FCEA-71BA-87DB47CFA206}"/>
              </a:ext>
            </a:extLst>
          </p:cNvPr>
          <p:cNvSpPr txBox="1"/>
          <p:nvPr/>
        </p:nvSpPr>
        <p:spPr>
          <a:xfrm>
            <a:off x="443134" y="1202481"/>
            <a:ext cx="5560176" cy="276999"/>
          </a:xfrm>
          <a:prstGeom prst="rect">
            <a:avLst/>
          </a:prstGeom>
          <a:noFill/>
        </p:spPr>
        <p:txBody>
          <a:bodyPr wrap="none" rtlCol="0">
            <a:spAutoFit/>
          </a:bodyPr>
          <a:lstStyle/>
          <a:p>
            <a:r>
              <a:rPr lang="mn-MN" sz="1200" b="1">
                <a:solidFill>
                  <a:srgbClr val="002060"/>
                </a:solidFill>
                <a:cs typeface="Segoe UI" panose="020B0502040204020203" pitchFamily="34" charset="0"/>
              </a:rPr>
              <a:t>ФРАНЧАЙЗ БАЙГУУЛАХ ТӨЛБӨРИЙН ЗАДАРГАА </a:t>
            </a:r>
            <a:r>
              <a:rPr lang="mn-MN" sz="1200" i="1">
                <a:solidFill>
                  <a:srgbClr val="002060"/>
                </a:solidFill>
                <a:cs typeface="Segoe UI" panose="020B0502040204020203" pitchFamily="34" charset="0"/>
              </a:rPr>
              <a:t>/1 САЛБАР,</a:t>
            </a:r>
            <a:r>
              <a:rPr lang="en-US" sz="1200" i="1">
                <a:solidFill>
                  <a:srgbClr val="002060"/>
                </a:solidFill>
                <a:cs typeface="Segoe UI" panose="020B0502040204020203" pitchFamily="34" charset="0"/>
              </a:rPr>
              <a:t> 100</a:t>
            </a:r>
            <a:r>
              <a:rPr lang="mn-MN" sz="1200" i="1">
                <a:solidFill>
                  <a:srgbClr val="002060"/>
                </a:solidFill>
                <a:cs typeface="Segoe UI" panose="020B0502040204020203" pitchFamily="34" charset="0"/>
              </a:rPr>
              <a:t>мкв талбай/</a:t>
            </a:r>
            <a:endParaRPr lang="en-US" sz="1200" i="1" dirty="0">
              <a:solidFill>
                <a:srgbClr val="002060"/>
              </a:solidFill>
              <a:cs typeface="Segoe UI" panose="020B0502040204020203" pitchFamily="34" charset="0"/>
            </a:endParaRPr>
          </a:p>
        </p:txBody>
      </p:sp>
    </p:spTree>
    <p:extLst>
      <p:ext uri="{BB962C8B-B14F-4D97-AF65-F5344CB8AC3E}">
        <p14:creationId xmlns:p14="http://schemas.microsoft.com/office/powerpoint/2010/main" val="1881292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14BE9A-26D2-F38B-F9D0-186E67A0A283}"/>
              </a:ext>
            </a:extLst>
          </p:cNvPr>
          <p:cNvSpPr txBox="1"/>
          <p:nvPr/>
        </p:nvSpPr>
        <p:spPr>
          <a:xfrm>
            <a:off x="482697" y="1217221"/>
            <a:ext cx="11353354" cy="3231654"/>
          </a:xfrm>
          <a:prstGeom prst="rect">
            <a:avLst/>
          </a:prstGeom>
          <a:noFill/>
        </p:spPr>
        <p:txBody>
          <a:bodyPr wrap="square" rtlCol="0">
            <a:spAutoFit/>
          </a:bodyPr>
          <a:lstStyle/>
          <a:p>
            <a:pPr algn="just"/>
            <a:r>
              <a:rPr lang="mn-MN" sz="1200" b="1" i="1" dirty="0">
                <a:latin typeface="+mj-lt"/>
                <a:cs typeface="Segoe UI Light" panose="020B0502040204020203" pitchFamily="34" charset="0"/>
              </a:rPr>
              <a:t>Зээлийн хүүгийн орлогоос гадна тус харилцагч нарын хамтын ажиллагааны хүрээнд олох орлогын төсөөллийг доорх хүгнэгтэд оруулав.</a:t>
            </a:r>
            <a:endParaRPr lang="en-US" sz="1200" b="1" i="1" dirty="0">
              <a:latin typeface="+mj-lt"/>
              <a:cs typeface="Segoe UI Light" panose="020B0502040204020203" pitchFamily="34" charset="0"/>
            </a:endParaRPr>
          </a:p>
          <a:p>
            <a:endParaRPr lang="mn-MN" sz="1200" dirty="0">
              <a:latin typeface="+mj-lt"/>
              <a:cs typeface="Segoe UI Light" panose="020B0502040204020203" pitchFamily="34" charset="0"/>
            </a:endParaRPr>
          </a:p>
          <a:p>
            <a:r>
              <a:rPr lang="mn-MN" sz="1200" b="1" dirty="0">
                <a:latin typeface="+mj-lt"/>
                <a:cs typeface="Segoe UI Light" panose="020B0502040204020203" pitchFamily="34" charset="0"/>
              </a:rPr>
              <a:t>Хамтын ажиллагааны хүрээнд бусад бүтээгдэхүүн үйлчилгээгээр дамжуулан олох орлогын төсөөлөл /төгрөгөөр/</a:t>
            </a:r>
            <a:r>
              <a:rPr lang="en-US" sz="1200" b="1" dirty="0">
                <a:latin typeface="+mj-lt"/>
                <a:cs typeface="Segoe UI Light" panose="020B0502040204020203" pitchFamily="34" charset="0"/>
              </a:rPr>
              <a:t>:</a:t>
            </a:r>
            <a:br>
              <a:rPr lang="en-US" sz="1200" b="1" dirty="0">
                <a:latin typeface="+mj-lt"/>
                <a:cs typeface="Segoe UI Light" panose="020B0502040204020203" pitchFamily="34" charset="0"/>
              </a:rPr>
            </a:br>
            <a:endParaRPr lang="mn-MN" sz="1200" b="1" dirty="0">
              <a:latin typeface="+mj-lt"/>
              <a:cs typeface="Segoe UI Light" panose="020B0502040204020203" pitchFamily="34" charset="0"/>
            </a:endParaRPr>
          </a:p>
          <a:p>
            <a:endParaRPr lang="mn-MN" sz="1200" b="1" dirty="0">
              <a:latin typeface="+mj-lt"/>
              <a:cs typeface="Segoe UI Light" panose="020B0502040204020203" pitchFamily="34" charset="0"/>
            </a:endParaRPr>
          </a:p>
          <a:p>
            <a:endParaRPr lang="en-US" sz="1200" b="1" dirty="0">
              <a:latin typeface="+mj-lt"/>
              <a:cs typeface="Segoe UI Light" panose="020B0502040204020203" pitchFamily="34" charset="0"/>
            </a:endParaRPr>
          </a:p>
          <a:p>
            <a:endParaRPr lang="en-US" sz="1200" dirty="0">
              <a:latin typeface="+mj-lt"/>
              <a:cs typeface="Segoe UI Light" panose="020B0502040204020203" pitchFamily="34" charset="0"/>
            </a:endParaRPr>
          </a:p>
          <a:p>
            <a:endParaRPr lang="en-US" sz="1200" dirty="0">
              <a:latin typeface="+mj-lt"/>
              <a:cs typeface="Segoe UI Light" panose="020B0502040204020203" pitchFamily="34" charset="0"/>
            </a:endParaRPr>
          </a:p>
          <a:p>
            <a:endParaRPr lang="en-US" sz="1200" dirty="0">
              <a:latin typeface="+mj-lt"/>
              <a:cs typeface="Segoe UI Light" panose="020B0502040204020203" pitchFamily="34" charset="0"/>
            </a:endParaRPr>
          </a:p>
          <a:p>
            <a:endParaRPr lang="en-US" sz="1200" dirty="0">
              <a:latin typeface="+mj-lt"/>
              <a:cs typeface="Segoe UI Light" panose="020B0502040204020203" pitchFamily="34" charset="0"/>
            </a:endParaRPr>
          </a:p>
          <a:p>
            <a:endParaRPr lang="en-US" sz="1200" dirty="0">
              <a:latin typeface="+mj-lt"/>
              <a:cs typeface="Segoe UI Light" panose="020B0502040204020203" pitchFamily="34" charset="0"/>
            </a:endParaRPr>
          </a:p>
          <a:p>
            <a:endParaRPr lang="mn-MN" sz="1200" dirty="0">
              <a:latin typeface="+mj-lt"/>
              <a:cs typeface="Segoe UI Light" panose="020B0502040204020203" pitchFamily="34" charset="0"/>
            </a:endParaRPr>
          </a:p>
          <a:p>
            <a:endParaRPr lang="mn-MN" sz="1200" dirty="0">
              <a:latin typeface="+mj-lt"/>
              <a:cs typeface="Segoe UI Light" panose="020B0502040204020203" pitchFamily="34" charset="0"/>
            </a:endParaRPr>
          </a:p>
          <a:p>
            <a:endParaRPr lang="mn-MN" sz="1200" dirty="0">
              <a:latin typeface="+mj-lt"/>
              <a:cs typeface="Segoe UI Light" panose="020B0502040204020203" pitchFamily="34" charset="0"/>
            </a:endParaRPr>
          </a:p>
          <a:p>
            <a:endParaRPr lang="mn-MN" sz="1200" dirty="0">
              <a:latin typeface="+mj-lt"/>
              <a:cs typeface="Segoe UI Light" panose="020B0502040204020203" pitchFamily="34" charset="0"/>
            </a:endParaRPr>
          </a:p>
          <a:p>
            <a:r>
              <a:rPr lang="mn-MN" sz="1200" dirty="0">
                <a:latin typeface="+mj-lt"/>
                <a:cs typeface="Segoe UI Light" panose="020B0502040204020203" pitchFamily="34" charset="0"/>
              </a:rPr>
              <a:t>Зээлийн хүүгийн орлого бага, бүтээгдэхүүний түвшинд ашигт ажиллагаа бага хэдий ч бусад бүтээгдэхүүн үйлчилгээний ашиглалтаараа тус алдагдлыг нөхөх боломжтой гэж дүгнэж байгаа тул хүүг 10.27%-12.34% байхаар шийдвэрлүүлэх саналтай байна. </a:t>
            </a:r>
            <a:endParaRPr lang="en-US" sz="1200" dirty="0">
              <a:latin typeface="+mj-lt"/>
              <a:cs typeface="Segoe UI Light" panose="020B0502040204020203" pitchFamily="34" charset="0"/>
            </a:endParaRPr>
          </a:p>
        </p:txBody>
      </p:sp>
      <p:sp>
        <p:nvSpPr>
          <p:cNvPr id="6" name="TextBox 5">
            <a:extLst>
              <a:ext uri="{FF2B5EF4-FFF2-40B4-BE49-F238E27FC236}">
                <a16:creationId xmlns:a16="http://schemas.microsoft.com/office/drawing/2014/main" id="{D224101D-BBC1-90A4-DD01-35F5B3D2CFB4}"/>
              </a:ext>
            </a:extLst>
          </p:cNvPr>
          <p:cNvSpPr txBox="1"/>
          <p:nvPr/>
        </p:nvSpPr>
        <p:spPr>
          <a:xfrm>
            <a:off x="3739081" y="347033"/>
            <a:ext cx="5758004" cy="369332"/>
          </a:xfrm>
          <a:prstGeom prst="rect">
            <a:avLst/>
          </a:prstGeom>
          <a:noFill/>
        </p:spPr>
        <p:txBody>
          <a:bodyPr wrap="square" rtlCol="0">
            <a:spAutoFit/>
          </a:bodyPr>
          <a:lstStyle/>
          <a:p>
            <a:r>
              <a:rPr lang="mn-MN" b="1" dirty="0">
                <a:solidFill>
                  <a:srgbClr val="023B80"/>
                </a:solidFill>
                <a:latin typeface="+mj-lt"/>
                <a:cs typeface="Segoe UI Light" panose="020B0502040204020203" pitchFamily="34" charset="0"/>
              </a:rPr>
              <a:t>ЖДББГ-н хүүгийн саналын үндэслэл, тайлбар</a:t>
            </a:r>
          </a:p>
        </p:txBody>
      </p:sp>
      <p:graphicFrame>
        <p:nvGraphicFramePr>
          <p:cNvPr id="7" name="Table 6">
            <a:extLst>
              <a:ext uri="{FF2B5EF4-FFF2-40B4-BE49-F238E27FC236}">
                <a16:creationId xmlns:a16="http://schemas.microsoft.com/office/drawing/2014/main" id="{51EE5026-C540-99DC-A70A-0C7B7AB23F26}"/>
              </a:ext>
            </a:extLst>
          </p:cNvPr>
          <p:cNvGraphicFramePr>
            <a:graphicFrameLocks noGrp="1"/>
          </p:cNvGraphicFramePr>
          <p:nvPr/>
        </p:nvGraphicFramePr>
        <p:xfrm>
          <a:off x="560271" y="1877711"/>
          <a:ext cx="7856394" cy="1325536"/>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583376153"/>
                    </a:ext>
                  </a:extLst>
                </a:gridCol>
                <a:gridCol w="1711105">
                  <a:extLst>
                    <a:ext uri="{9D8B030D-6E8A-4147-A177-3AD203B41FA5}">
                      <a16:colId xmlns:a16="http://schemas.microsoft.com/office/drawing/2014/main" val="3172766421"/>
                    </a:ext>
                  </a:extLst>
                </a:gridCol>
                <a:gridCol w="1783533">
                  <a:extLst>
                    <a:ext uri="{9D8B030D-6E8A-4147-A177-3AD203B41FA5}">
                      <a16:colId xmlns:a16="http://schemas.microsoft.com/office/drawing/2014/main" val="3182216383"/>
                    </a:ext>
                  </a:extLst>
                </a:gridCol>
                <a:gridCol w="1618556">
                  <a:extLst>
                    <a:ext uri="{9D8B030D-6E8A-4147-A177-3AD203B41FA5}">
                      <a16:colId xmlns:a16="http://schemas.microsoft.com/office/drawing/2014/main" val="3569738705"/>
                    </a:ext>
                  </a:extLst>
                </a:gridCol>
              </a:tblGrid>
              <a:tr h="200155">
                <a:tc>
                  <a:txBody>
                    <a:bodyPr/>
                    <a:lstStyle/>
                    <a:p>
                      <a:r>
                        <a:rPr lang="mn-MN" sz="1100" dirty="0">
                          <a:latin typeface="+mj-lt"/>
                        </a:rPr>
                        <a:t>Орлогын төрөл</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0055A7"/>
                    </a:solidFill>
                  </a:tcPr>
                </a:tc>
                <a:tc>
                  <a:txBody>
                    <a:bodyPr/>
                    <a:lstStyle/>
                    <a:p>
                      <a:pPr algn="ctr"/>
                      <a:r>
                        <a:rPr lang="en-US" sz="1100" dirty="0">
                          <a:latin typeface="+mj-lt"/>
                        </a:rPr>
                        <a:t>Café Bene</a:t>
                      </a:r>
                      <a:r>
                        <a:rPr lang="mn-MN" sz="1100" dirty="0">
                          <a:latin typeface="+mj-lt"/>
                        </a:rPr>
                        <a:t> 4 салбар</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0055A7"/>
                    </a:solidFill>
                  </a:tcPr>
                </a:tc>
                <a:tc>
                  <a:txBody>
                    <a:bodyPr/>
                    <a:lstStyle/>
                    <a:p>
                      <a:pPr algn="ctr"/>
                      <a:r>
                        <a:rPr lang="en-US" sz="1100" dirty="0">
                          <a:latin typeface="+mj-lt"/>
                        </a:rPr>
                        <a:t>Mom’s touch</a:t>
                      </a:r>
                      <a:r>
                        <a:rPr lang="mn-MN" sz="1100" dirty="0">
                          <a:latin typeface="+mj-lt"/>
                        </a:rPr>
                        <a:t> 6 салбар</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0055A7"/>
                    </a:solidFill>
                  </a:tcPr>
                </a:tc>
                <a:tc>
                  <a:txBody>
                    <a:bodyPr/>
                    <a:lstStyle/>
                    <a:p>
                      <a:pPr algn="ctr"/>
                      <a:r>
                        <a:rPr lang="mn-MN" sz="1100" dirty="0">
                          <a:latin typeface="+mj-lt"/>
                        </a:rPr>
                        <a:t>Нийт</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0055A7"/>
                    </a:solidFill>
                  </a:tcPr>
                </a:tc>
                <a:extLst>
                  <a:ext uri="{0D108BD9-81ED-4DB2-BD59-A6C34878D82A}">
                    <a16:rowId xmlns:a16="http://schemas.microsoft.com/office/drawing/2014/main" val="3723526438"/>
                  </a:ext>
                </a:extLst>
              </a:tr>
              <a:tr h="2666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100" dirty="0">
                          <a:latin typeface="+mj-lt"/>
                        </a:rPr>
                        <a:t>Нийт ХХБанкны дансаар дамжих БО</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algn="r"/>
                      <a:r>
                        <a:rPr lang="en-US" sz="1100" dirty="0">
                          <a:latin typeface="+mj-lt"/>
                        </a:rPr>
                        <a:t>2,880</a:t>
                      </a:r>
                      <a:r>
                        <a:rPr lang="mn-MN" sz="1100" dirty="0">
                          <a:latin typeface="+mj-lt"/>
                        </a:rPr>
                        <a:t>,000,000.00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algn="r"/>
                      <a:r>
                        <a:rPr lang="en-US" sz="1100" dirty="0">
                          <a:latin typeface="+mj-lt"/>
                        </a:rPr>
                        <a:t>8,6</a:t>
                      </a:r>
                      <a:r>
                        <a:rPr lang="mn-MN" sz="1100" dirty="0">
                          <a:latin typeface="+mj-lt"/>
                        </a:rPr>
                        <a:t>40,000,000.00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algn="r"/>
                      <a:r>
                        <a:rPr lang="mn-MN" sz="1100" dirty="0">
                          <a:latin typeface="+mj-lt"/>
                        </a:rPr>
                        <a:t>11,520,000,000.00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extLst>
                  <a:ext uri="{0D108BD9-81ED-4DB2-BD59-A6C34878D82A}">
                    <a16:rowId xmlns:a16="http://schemas.microsoft.com/office/drawing/2014/main" val="343438319"/>
                  </a:ext>
                </a:extLst>
              </a:tr>
              <a:tr h="266614">
                <a:tc>
                  <a:txBody>
                    <a:bodyPr/>
                    <a:lstStyle/>
                    <a:p>
                      <a:r>
                        <a:rPr lang="mn-MN" sz="1100" dirty="0">
                          <a:latin typeface="+mj-lt"/>
                        </a:rPr>
                        <a:t>ПОС-н шимтгэлийн орлого</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algn="r"/>
                      <a:r>
                        <a:rPr lang="en-US" sz="1100" dirty="0">
                          <a:latin typeface="+mj-lt"/>
                        </a:rPr>
                        <a:t>14,4</a:t>
                      </a:r>
                      <a:r>
                        <a:rPr lang="mn-MN" sz="1100" dirty="0">
                          <a:latin typeface="+mj-lt"/>
                        </a:rPr>
                        <a:t>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algn="r"/>
                      <a:r>
                        <a:rPr lang="en-US" sz="1100" dirty="0">
                          <a:latin typeface="+mj-lt"/>
                        </a:rPr>
                        <a:t>43</a:t>
                      </a:r>
                      <a:r>
                        <a:rPr lang="mn-MN" sz="1100" dirty="0">
                          <a:latin typeface="+mj-lt"/>
                        </a:rPr>
                        <a:t>,200,000.00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algn="r"/>
                      <a:r>
                        <a:rPr lang="mn-MN" sz="1100" dirty="0">
                          <a:latin typeface="+mj-lt"/>
                        </a:rPr>
                        <a:t>57,600,000.00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extLst>
                  <a:ext uri="{0D108BD9-81ED-4DB2-BD59-A6C34878D82A}">
                    <a16:rowId xmlns:a16="http://schemas.microsoft.com/office/drawing/2014/main" val="2773223658"/>
                  </a:ext>
                </a:extLst>
              </a:tr>
              <a:tr h="266614">
                <a:tc>
                  <a:txBody>
                    <a:bodyPr/>
                    <a:lstStyle/>
                    <a:p>
                      <a:r>
                        <a:rPr lang="en-US" sz="1100" dirty="0">
                          <a:latin typeface="+mj-lt"/>
                        </a:rPr>
                        <a:t>Q PAY</a:t>
                      </a:r>
                      <a:r>
                        <a:rPr lang="mn-MN" sz="1100" dirty="0">
                          <a:latin typeface="+mj-lt"/>
                        </a:rPr>
                        <a:t>-н шимтгэлийн орлого</a:t>
                      </a:r>
                      <a:endParaRPr lang="en-US" sz="1100" kern="1200" dirty="0">
                        <a:solidFill>
                          <a:schemeClr val="dk1"/>
                        </a:solidFill>
                        <a:latin typeface="+mj-lt"/>
                        <a:ea typeface="+mn-ea"/>
                        <a:cs typeface="+mn-cs"/>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algn="r"/>
                      <a:r>
                        <a:rPr lang="en-US" sz="1100" dirty="0">
                          <a:latin typeface="+mj-lt"/>
                        </a:rPr>
                        <a:t>1,440</a:t>
                      </a:r>
                      <a:r>
                        <a:rPr lang="mn-MN" sz="1100" dirty="0">
                          <a:latin typeface="+mj-lt"/>
                        </a:rPr>
                        <a:t>,000.00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algn="r"/>
                      <a:r>
                        <a:rPr lang="en-US" sz="1100" dirty="0">
                          <a:latin typeface="+mj-lt"/>
                        </a:rPr>
                        <a:t>2,700</a:t>
                      </a:r>
                      <a:r>
                        <a:rPr lang="mn-MN" sz="1100" dirty="0">
                          <a:latin typeface="+mj-lt"/>
                        </a:rPr>
                        <a:t>,000.00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tc>
                  <a:txBody>
                    <a:bodyPr/>
                    <a:lstStyle/>
                    <a:p>
                      <a:pPr algn="r"/>
                      <a:r>
                        <a:rPr lang="en-US" sz="1100" dirty="0">
                          <a:latin typeface="+mj-lt"/>
                        </a:rPr>
                        <a:t>4,14</a:t>
                      </a:r>
                      <a:r>
                        <a:rPr lang="mn-MN" sz="1100" dirty="0">
                          <a:latin typeface="+mj-lt"/>
                        </a:rPr>
                        <a:t>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noFill/>
                  </a:tcPr>
                </a:tc>
                <a:extLst>
                  <a:ext uri="{0D108BD9-81ED-4DB2-BD59-A6C34878D82A}">
                    <a16:rowId xmlns:a16="http://schemas.microsoft.com/office/drawing/2014/main" val="295262017"/>
                  </a:ext>
                </a:extLst>
              </a:tr>
              <a:tr h="2666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100" kern="1200" dirty="0">
                          <a:solidFill>
                            <a:schemeClr val="dk1"/>
                          </a:solidFill>
                          <a:latin typeface="+mj-lt"/>
                          <a:ea typeface="+mn-ea"/>
                          <a:cs typeface="+mn-cs"/>
                        </a:rPr>
                        <a:t>Ажилчдын цалин дамжуулах</a:t>
                      </a:r>
                      <a:endParaRPr lang="en-US" sz="1100" kern="1200" dirty="0">
                        <a:solidFill>
                          <a:schemeClr val="dk1"/>
                        </a:solidFill>
                        <a:latin typeface="+mj-lt"/>
                        <a:ea typeface="+mn-ea"/>
                        <a:cs typeface="+mn-cs"/>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algn="r"/>
                      <a:r>
                        <a:rPr lang="en-US" sz="1100" dirty="0">
                          <a:latin typeface="+mj-lt"/>
                        </a:rPr>
                        <a:t>48</a:t>
                      </a:r>
                      <a:r>
                        <a:rPr lang="mn-MN" sz="1100" dirty="0">
                          <a:latin typeface="+mj-lt"/>
                        </a:rPr>
                        <a:t>0,000,000.00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mj-lt"/>
                          <a:ea typeface="+mn-ea"/>
                          <a:cs typeface="+mn-cs"/>
                        </a:rPr>
                        <a:t>7</a:t>
                      </a:r>
                      <a:r>
                        <a:rPr lang="mn-MN" sz="1100" kern="1200" dirty="0">
                          <a:solidFill>
                            <a:schemeClr val="dk1"/>
                          </a:solidFill>
                          <a:latin typeface="+mj-lt"/>
                          <a:ea typeface="+mn-ea"/>
                          <a:cs typeface="+mn-cs"/>
                        </a:rPr>
                        <a:t>20,000,000.00</a:t>
                      </a:r>
                      <a:endParaRPr lang="en-US" sz="1100" kern="1200" dirty="0">
                        <a:solidFill>
                          <a:schemeClr val="dk1"/>
                        </a:solidFill>
                        <a:latin typeface="+mj-lt"/>
                        <a:ea typeface="+mn-ea"/>
                        <a:cs typeface="+mn-cs"/>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tc>
                  <a:txBody>
                    <a:bodyPr/>
                    <a:lstStyle/>
                    <a:p>
                      <a:pPr algn="r"/>
                      <a:r>
                        <a:rPr lang="en-US" sz="1100" dirty="0">
                          <a:latin typeface="+mj-lt"/>
                        </a:rPr>
                        <a:t>1,</a:t>
                      </a:r>
                      <a:r>
                        <a:rPr lang="mn-MN" sz="1100" dirty="0">
                          <a:latin typeface="+mj-lt"/>
                        </a:rPr>
                        <a:t>200,000,000.00</a:t>
                      </a:r>
                      <a:endParaRPr lang="en-US" sz="1100" dirty="0">
                        <a:latin typeface="+mj-lt"/>
                      </a:endParaRPr>
                    </a:p>
                  </a:txBody>
                  <a:tcPr>
                    <a:lnL w="6350" cap="flat" cmpd="sng" algn="ctr">
                      <a:solidFill>
                        <a:schemeClr val="tx1">
                          <a:lumMod val="50000"/>
                          <a:lumOff val="50000"/>
                        </a:schemeClr>
                      </a:solidFill>
                      <a:prstDash val="dot"/>
                      <a:round/>
                      <a:headEnd type="none" w="med" len="med"/>
                      <a:tailEnd type="none" w="med" len="med"/>
                    </a:lnL>
                    <a:lnR w="6350" cap="flat" cmpd="sng" algn="ctr">
                      <a:solidFill>
                        <a:schemeClr val="tx1">
                          <a:lumMod val="50000"/>
                          <a:lumOff val="50000"/>
                        </a:schemeClr>
                      </a:solidFill>
                      <a:prstDash val="dot"/>
                      <a:round/>
                      <a:headEnd type="none" w="med" len="med"/>
                      <a:tailEnd type="none" w="med" len="med"/>
                    </a:lnR>
                    <a:lnT w="6350" cap="flat" cmpd="sng" algn="ctr">
                      <a:solidFill>
                        <a:schemeClr val="tx1">
                          <a:lumMod val="50000"/>
                          <a:lumOff val="50000"/>
                        </a:schemeClr>
                      </a:solidFill>
                      <a:prstDash val="dot"/>
                      <a:round/>
                      <a:headEnd type="none" w="med" len="med"/>
                      <a:tailEnd type="none" w="med" len="med"/>
                    </a:lnT>
                    <a:lnB w="6350" cap="flat" cmpd="sng" algn="ctr">
                      <a:solidFill>
                        <a:schemeClr val="tx1">
                          <a:lumMod val="50000"/>
                          <a:lumOff val="50000"/>
                        </a:schemeClr>
                      </a:solidFill>
                      <a:prstDash val="dot"/>
                      <a:round/>
                      <a:headEnd type="none" w="med" len="med"/>
                      <a:tailEnd type="none" w="med" len="med"/>
                    </a:lnB>
                    <a:solidFill>
                      <a:srgbClr val="E8EFF3"/>
                    </a:solidFill>
                  </a:tcPr>
                </a:tc>
                <a:extLst>
                  <a:ext uri="{0D108BD9-81ED-4DB2-BD59-A6C34878D82A}">
                    <a16:rowId xmlns:a16="http://schemas.microsoft.com/office/drawing/2014/main" val="1060226930"/>
                  </a:ext>
                </a:extLst>
              </a:tr>
            </a:tbl>
          </a:graphicData>
        </a:graphic>
      </p:graphicFrame>
      <p:sp>
        <p:nvSpPr>
          <p:cNvPr id="8" name="Rectangle 7">
            <a:extLst>
              <a:ext uri="{FF2B5EF4-FFF2-40B4-BE49-F238E27FC236}">
                <a16:creationId xmlns:a16="http://schemas.microsoft.com/office/drawing/2014/main" id="{C610A825-91FA-7582-05D7-463B95FE568D}"/>
              </a:ext>
            </a:extLst>
          </p:cNvPr>
          <p:cNvSpPr>
            <a:spLocks noChangeArrowheads="1"/>
          </p:cNvSpPr>
          <p:nvPr/>
        </p:nvSpPr>
        <p:spPr bwMode="auto">
          <a:xfrm>
            <a:off x="482697" y="3225897"/>
            <a:ext cx="7783966"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mn-MN" altLang="en-US" sz="1100" b="0" i="1" u="none" strike="noStrike" cap="none" normalizeH="0" baseline="0" dirty="0">
                <a:ln>
                  <a:noFill/>
                </a:ln>
                <a:solidFill>
                  <a:schemeClr val="tx1"/>
                </a:solidFill>
                <a:effectLst/>
                <a:latin typeface="Segoe UI Light" panose="020B0502040204020203" pitchFamily="34" charset="0"/>
                <a:cs typeface="Segoe UI Light" panose="020B0502040204020203" pitchFamily="34" charset="0"/>
              </a:rPr>
              <a:t>*</a:t>
            </a:r>
            <a:r>
              <a:rPr kumimoji="0" lang="mn-MN" altLang="en-US" sz="1100" b="0" i="1" u="none" strike="noStrike" cap="none" normalizeH="0" baseline="0" dirty="0">
                <a:ln>
                  <a:noFill/>
                </a:ln>
                <a:solidFill>
                  <a:schemeClr val="tx1"/>
                </a:solidFill>
                <a:effectLst/>
                <a:latin typeface="+mj-lt"/>
                <a:cs typeface="Segoe UI Light" panose="020B0502040204020203" pitchFamily="34" charset="0"/>
              </a:rPr>
              <a:t>Бусад бүтээгдэхүүн үйлчилгээний хувьд </a:t>
            </a:r>
            <a:r>
              <a:rPr kumimoji="0" lang="en-US" altLang="en-US" sz="1100" b="0" i="1" u="none" strike="noStrike" cap="none" normalizeH="0" baseline="0" dirty="0">
                <a:ln>
                  <a:noFill/>
                </a:ln>
                <a:solidFill>
                  <a:schemeClr val="tx1"/>
                </a:solidFill>
                <a:effectLst/>
                <a:latin typeface="+mj-lt"/>
                <a:cs typeface="Segoe UI Light" panose="020B0502040204020203" pitchFamily="34" charset="0"/>
              </a:rPr>
              <a:t>Happy pay</a:t>
            </a:r>
            <a:r>
              <a:rPr kumimoji="0" lang="mn-MN" altLang="en-US" sz="1100" b="0" i="1" u="none" strike="noStrike" cap="none" normalizeH="0" baseline="0" dirty="0">
                <a:ln>
                  <a:noFill/>
                </a:ln>
                <a:solidFill>
                  <a:schemeClr val="tx1"/>
                </a:solidFill>
                <a:effectLst/>
                <a:latin typeface="+mj-lt"/>
                <a:cs typeface="Segoe UI Light" panose="020B0502040204020203" pitchFamily="34" charset="0"/>
              </a:rPr>
              <a:t> ашиглалт нэмэгдэнэ, тухайн байгууллагын ажилчдын цалинг дамжуулах, шинээр харилцагч татах, карт борлуулах гэх мэт бүтээгдэхүүн үйлчилгээг ашиглах боломжтой болох юм. Мөн нэг салбар 10 ажилтантай гэж тооцоолоход нийт 10 салбарын 200.0 сая төгрөгийн ХХБ-р дамжих боломжтой юм.</a:t>
            </a:r>
            <a:endParaRPr kumimoji="0" lang="en-US" altLang="en-US" sz="1100" b="0" i="1" u="none" strike="noStrike" cap="none" normalizeH="0" baseline="0" dirty="0">
              <a:ln>
                <a:noFill/>
              </a:ln>
              <a:solidFill>
                <a:schemeClr val="tx1"/>
              </a:solidFill>
              <a:effectLst/>
              <a:latin typeface="+mj-lt"/>
              <a:cs typeface="Segoe UI Light" panose="020B0502040204020203" pitchFamily="34" charset="0"/>
            </a:endParaRPr>
          </a:p>
        </p:txBody>
      </p:sp>
      <p:sp>
        <p:nvSpPr>
          <p:cNvPr id="9" name="Rectangle 8">
            <a:extLst>
              <a:ext uri="{FF2B5EF4-FFF2-40B4-BE49-F238E27FC236}">
                <a16:creationId xmlns:a16="http://schemas.microsoft.com/office/drawing/2014/main" id="{195A287A-DF0A-0895-F91C-3D34E8831C8C}"/>
              </a:ext>
            </a:extLst>
          </p:cNvPr>
          <p:cNvSpPr>
            <a:spLocks noChangeArrowheads="1"/>
          </p:cNvSpPr>
          <p:nvPr/>
        </p:nvSpPr>
        <p:spPr bwMode="auto">
          <a:xfrm>
            <a:off x="8492632" y="1813173"/>
            <a:ext cx="2967448"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100" i="1" dirty="0">
                <a:latin typeface="+mj-lt"/>
                <a:cs typeface="Segoe UI Light" panose="020B0502040204020203" pitchFamily="34" charset="0"/>
              </a:rPr>
              <a:t>Café Bene</a:t>
            </a:r>
            <a:r>
              <a:rPr lang="mn-MN" altLang="en-US" sz="1100" i="1" dirty="0">
                <a:latin typeface="+mj-lt"/>
                <a:cs typeface="Segoe UI Light" panose="020B0502040204020203" pitchFamily="34" charset="0"/>
              </a:rPr>
              <a:t>-н нэг салбарын жилийн борлуулалтын орлого ойролцоогоор 720.0 сая төгрөг, </a:t>
            </a:r>
            <a:r>
              <a:rPr lang="en-US" altLang="en-US" sz="1100" i="1" dirty="0">
                <a:latin typeface="+mj-lt"/>
                <a:cs typeface="Segoe UI Light" panose="020B0502040204020203" pitchFamily="34" charset="0"/>
              </a:rPr>
              <a:t>Mom’s touch-</a:t>
            </a:r>
            <a:r>
              <a:rPr lang="mn-MN" altLang="en-US" sz="1100" i="1" dirty="0">
                <a:latin typeface="+mj-lt"/>
                <a:cs typeface="Segoe UI Light" panose="020B0502040204020203" pitchFamily="34" charset="0"/>
              </a:rPr>
              <a:t>н нэг салбарын жилийн борлуулалтын орлого ойролцоогоор 1,440.0 сая төгрөг байдаг бөгөөд тус орлогуудын 50 хувь нь посоор, 50 хувь нь </a:t>
            </a:r>
            <a:r>
              <a:rPr lang="en-US" altLang="en-US" sz="1100" i="1" dirty="0">
                <a:latin typeface="+mj-lt"/>
                <a:cs typeface="Segoe UI Light" panose="020B0502040204020203" pitchFamily="34" charset="0"/>
              </a:rPr>
              <a:t>Q pay-</a:t>
            </a:r>
            <a:r>
              <a:rPr lang="mn-MN" altLang="en-US" sz="1100" i="1" dirty="0">
                <a:latin typeface="+mj-lt"/>
                <a:cs typeface="Segoe UI Light" panose="020B0502040204020203" pitchFamily="34" charset="0"/>
              </a:rPr>
              <a:t>р орж ирнэ төсөөлбөл нийт 10 салбарын хувьд </a:t>
            </a:r>
            <a:r>
              <a:rPr lang="en-US" altLang="en-US" sz="1100" i="1" dirty="0">
                <a:latin typeface="+mj-lt"/>
                <a:cs typeface="Segoe UI Light" panose="020B0502040204020203" pitchFamily="34" charset="0"/>
              </a:rPr>
              <a:t>57.6</a:t>
            </a:r>
            <a:r>
              <a:rPr lang="mn-MN" altLang="en-US" sz="1100" i="1" dirty="0">
                <a:latin typeface="+mj-lt"/>
                <a:cs typeface="Segoe UI Light" panose="020B0502040204020203" pitchFamily="34" charset="0"/>
              </a:rPr>
              <a:t> сая төгрөгийн шимтгэлийн орлого банканд оруулахаар байна.</a:t>
            </a:r>
            <a:endParaRPr lang="en-US" altLang="en-US" sz="1100" i="1" dirty="0">
              <a:latin typeface="+mj-lt"/>
              <a:cs typeface="Segoe UI Light" panose="020B0502040204020203" pitchFamily="34" charset="0"/>
            </a:endParaRPr>
          </a:p>
        </p:txBody>
      </p:sp>
    </p:spTree>
    <p:extLst>
      <p:ext uri="{BB962C8B-B14F-4D97-AF65-F5344CB8AC3E}">
        <p14:creationId xmlns:p14="http://schemas.microsoft.com/office/powerpoint/2010/main" val="8261448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descr="A blue and black logo&#10;&#10;AI-generated content may be incorrect.">
            <a:extLst>
              <a:ext uri="{FF2B5EF4-FFF2-40B4-BE49-F238E27FC236}">
                <a16:creationId xmlns:a16="http://schemas.microsoft.com/office/drawing/2014/main" id="{959762B2-24D8-00F3-0FC8-26F56D96F0A7}"/>
              </a:ext>
            </a:extLst>
          </p:cNvPr>
          <p:cNvPicPr>
            <a:picLocks noChangeAspect="1"/>
          </p:cNvPicPr>
          <p:nvPr/>
        </p:nvPicPr>
        <p:blipFill>
          <a:blip r:embed="rId2"/>
          <a:stretch>
            <a:fillRect/>
          </a:stretch>
        </p:blipFill>
        <p:spPr>
          <a:xfrm>
            <a:off x="313189" y="343598"/>
            <a:ext cx="1140210" cy="425077"/>
          </a:xfrm>
          <a:prstGeom prst="rect">
            <a:avLst/>
          </a:prstGeom>
          <a:noFill/>
        </p:spPr>
      </p:pic>
      <p:cxnSp>
        <p:nvCxnSpPr>
          <p:cNvPr id="22" name="Straight Connector 21">
            <a:extLst>
              <a:ext uri="{FF2B5EF4-FFF2-40B4-BE49-F238E27FC236}">
                <a16:creationId xmlns:a16="http://schemas.microsoft.com/office/drawing/2014/main" id="{2947C0F5-222A-F401-93DF-A8333ECC147A}"/>
              </a:ext>
            </a:extLst>
          </p:cNvPr>
          <p:cNvCxnSpPr>
            <a:cxnSpLocks/>
          </p:cNvCxnSpPr>
          <p:nvPr/>
        </p:nvCxnSpPr>
        <p:spPr>
          <a:xfrm>
            <a:off x="1681139" y="546198"/>
            <a:ext cx="9892816"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Slide Number Placeholder 1">
            <a:extLst>
              <a:ext uri="{FF2B5EF4-FFF2-40B4-BE49-F238E27FC236}">
                <a16:creationId xmlns:a16="http://schemas.microsoft.com/office/drawing/2014/main" id="{1DFB2DD5-048B-133E-A824-449C035A0081}"/>
              </a:ext>
            </a:extLst>
          </p:cNvPr>
          <p:cNvSpPr txBox="1">
            <a:spLocks/>
          </p:cNvSpPr>
          <p:nvPr/>
        </p:nvSpPr>
        <p:spPr>
          <a:xfrm>
            <a:off x="11811631" y="6481292"/>
            <a:ext cx="228689" cy="3256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58AB41-0EFE-4ABA-B5B9-FE6F944C252A}" type="slidenum">
              <a:rPr lang="en-US" sz="1200" smtClean="0">
                <a:solidFill>
                  <a:schemeClr val="bg1">
                    <a:lumMod val="65000"/>
                  </a:schemeClr>
                </a:solidFill>
                <a:cs typeface="Segoe UI Light" panose="020B0502040204020203" pitchFamily="34" charset="0"/>
              </a:rPr>
              <a:pPr/>
              <a:t>23</a:t>
            </a:fld>
            <a:endParaRPr lang="en-US" sz="1200" dirty="0">
              <a:solidFill>
                <a:schemeClr val="bg1">
                  <a:lumMod val="65000"/>
                </a:schemeClr>
              </a:solidFill>
              <a:cs typeface="Segoe UI Light" panose="020B0502040204020203" pitchFamily="34" charset="0"/>
            </a:endParaRPr>
          </a:p>
        </p:txBody>
      </p:sp>
      <p:grpSp>
        <p:nvGrpSpPr>
          <p:cNvPr id="2" name="Group 1">
            <a:extLst>
              <a:ext uri="{FF2B5EF4-FFF2-40B4-BE49-F238E27FC236}">
                <a16:creationId xmlns:a16="http://schemas.microsoft.com/office/drawing/2014/main" id="{5426873C-D579-B249-1B39-1DB1A010F3CE}"/>
              </a:ext>
            </a:extLst>
          </p:cNvPr>
          <p:cNvGrpSpPr/>
          <p:nvPr/>
        </p:nvGrpSpPr>
        <p:grpSpPr>
          <a:xfrm>
            <a:off x="3233651" y="402273"/>
            <a:ext cx="6273338" cy="322941"/>
            <a:chOff x="4033374" y="215436"/>
            <a:chExt cx="4065373" cy="338092"/>
          </a:xfrm>
        </p:grpSpPr>
        <p:sp>
          <p:nvSpPr>
            <p:cNvPr id="14" name="Rounded Rectangle 40">
              <a:extLst>
                <a:ext uri="{FF2B5EF4-FFF2-40B4-BE49-F238E27FC236}">
                  <a16:creationId xmlns:a16="http://schemas.microsoft.com/office/drawing/2014/main" id="{8144E64F-9373-F9BE-05FF-6CBFF87DA753}"/>
                </a:ext>
              </a:extLst>
            </p:cNvPr>
            <p:cNvSpPr/>
            <p:nvPr/>
          </p:nvSpPr>
          <p:spPr>
            <a:xfrm>
              <a:off x="4033374" y="215436"/>
              <a:ext cx="4065373" cy="338092"/>
            </a:xfrm>
            <a:prstGeom prst="roundRect">
              <a:avLst>
                <a:gd name="adj" fmla="val 50000"/>
              </a:avLst>
            </a:prstGeom>
            <a:gradFill>
              <a:gsLst>
                <a:gs pos="0">
                  <a:srgbClr val="00B0F0"/>
                </a:gs>
                <a:gs pos="55000">
                  <a:srgbClr val="0080FF"/>
                </a:gs>
                <a:gs pos="100000">
                  <a:srgbClr val="0086C5"/>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cs typeface="Segoe UI" panose="020B0502040204020203" pitchFamily="34" charset="0"/>
              </a:endParaRPr>
            </a:p>
          </p:txBody>
        </p:sp>
        <p:sp>
          <p:nvSpPr>
            <p:cNvPr id="17" name="Rectangle 16">
              <a:extLst>
                <a:ext uri="{FF2B5EF4-FFF2-40B4-BE49-F238E27FC236}">
                  <a16:creationId xmlns:a16="http://schemas.microsoft.com/office/drawing/2014/main" id="{31BA0E13-61CA-E596-A69B-66C4493AC977}"/>
                </a:ext>
              </a:extLst>
            </p:cNvPr>
            <p:cNvSpPr/>
            <p:nvPr/>
          </p:nvSpPr>
          <p:spPr>
            <a:xfrm>
              <a:off x="4244477" y="219924"/>
              <a:ext cx="3643166" cy="322217"/>
            </a:xfrm>
            <a:prstGeom prst="rect">
              <a:avLst/>
            </a:prstGeom>
          </p:spPr>
          <p:txBody>
            <a:bodyPr wrap="square" anchor="ctr">
              <a:spAutoFit/>
            </a:bodyPr>
            <a:lstStyle/>
            <a:p>
              <a:pPr algn="ctr"/>
              <a:r>
                <a:rPr lang="mn-MN" sz="1400" b="1">
                  <a:solidFill>
                    <a:schemeClr val="bg1"/>
                  </a:solidFill>
                  <a:cs typeface="Segoe UI" panose="020B0502040204020203" pitchFamily="34" charset="0"/>
                </a:rPr>
                <a:t>БАНКНЫ САНХҮҮГИЙН ҮР АШИГ</a:t>
              </a:r>
              <a:endParaRPr lang="en-US" sz="1400" b="1" dirty="0">
                <a:solidFill>
                  <a:schemeClr val="bg1"/>
                </a:solidFill>
                <a:cs typeface="Segoe UI" panose="020B0502040204020203" pitchFamily="34" charset="0"/>
              </a:endParaRPr>
            </a:p>
          </p:txBody>
        </p:sp>
      </p:grpSp>
      <p:sp>
        <p:nvSpPr>
          <p:cNvPr id="16" name="Rectangle 15">
            <a:extLst>
              <a:ext uri="{FF2B5EF4-FFF2-40B4-BE49-F238E27FC236}">
                <a16:creationId xmlns:a16="http://schemas.microsoft.com/office/drawing/2014/main" id="{020005E0-A527-6019-157E-BBAFFE5BBD30}"/>
              </a:ext>
            </a:extLst>
          </p:cNvPr>
          <p:cNvSpPr>
            <a:spLocks noChangeArrowheads="1"/>
          </p:cNvSpPr>
          <p:nvPr/>
        </p:nvSpPr>
        <p:spPr bwMode="auto">
          <a:xfrm>
            <a:off x="6887745" y="5616744"/>
            <a:ext cx="492388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mn-MN" altLang="en-US" sz="1100" b="0" i="1" u="none" strike="noStrike" cap="none" normalizeH="0" baseline="0">
                <a:ln>
                  <a:noFill/>
                </a:ln>
                <a:solidFill>
                  <a:schemeClr val="tx1"/>
                </a:solidFill>
                <a:effectLst/>
                <a:latin typeface="Segoe UI Light" panose="020B0502040204020203" pitchFamily="34" charset="0"/>
                <a:ea typeface="Calibri" panose="020F0502020204030204" pitchFamily="34" charset="0"/>
                <a:cs typeface="Segoe UI Light" panose="020B0502040204020203" pitchFamily="34" charset="0"/>
              </a:rPr>
              <a:t>*Хамтарч ажиллах франчайз үйл ажиллагаа явуулдаг байгууллагын франчайз нээх тоон дээр зээлийн багц бодогдсон болно </a:t>
            </a:r>
            <a:endParaRPr kumimoji="0" lang="en-US" altLang="en-US" sz="1100" b="0" i="1" u="none" strike="noStrike" cap="none" normalizeH="0" baseline="0" dirty="0">
              <a:ln>
                <a:noFill/>
              </a:ln>
              <a:solidFill>
                <a:schemeClr val="tx1"/>
              </a:solidFill>
              <a:effectLst/>
              <a:latin typeface="Segoe UI Light" panose="020B0502040204020203" pitchFamily="34" charset="0"/>
              <a:cs typeface="Segoe UI Light" panose="020B0502040204020203" pitchFamily="34" charset="0"/>
            </a:endParaRPr>
          </a:p>
        </p:txBody>
      </p:sp>
      <p:graphicFrame>
        <p:nvGraphicFramePr>
          <p:cNvPr id="3" name="Table 2">
            <a:extLst>
              <a:ext uri="{FF2B5EF4-FFF2-40B4-BE49-F238E27FC236}">
                <a16:creationId xmlns:a16="http://schemas.microsoft.com/office/drawing/2014/main" id="{3F39E070-78C4-DADF-DE80-063CD38E43E1}"/>
              </a:ext>
            </a:extLst>
          </p:cNvPr>
          <p:cNvGraphicFramePr>
            <a:graphicFrameLocks noGrp="1"/>
          </p:cNvGraphicFramePr>
          <p:nvPr>
            <p:extLst>
              <p:ext uri="{D42A27DB-BD31-4B8C-83A1-F6EECF244321}">
                <p14:modId xmlns:p14="http://schemas.microsoft.com/office/powerpoint/2010/main" val="2907474923"/>
              </p:ext>
            </p:extLst>
          </p:nvPr>
        </p:nvGraphicFramePr>
        <p:xfrm>
          <a:off x="618046" y="1812502"/>
          <a:ext cx="10955907" cy="3232996"/>
        </p:xfrm>
        <a:graphic>
          <a:graphicData uri="http://schemas.openxmlformats.org/drawingml/2006/table">
            <a:tbl>
              <a:tblPr>
                <a:tableStyleId>{5C22544A-7EE6-4342-B048-85BDC9FD1C3A}</a:tableStyleId>
              </a:tblPr>
              <a:tblGrid>
                <a:gridCol w="3130259">
                  <a:extLst>
                    <a:ext uri="{9D8B030D-6E8A-4147-A177-3AD203B41FA5}">
                      <a16:colId xmlns:a16="http://schemas.microsoft.com/office/drawing/2014/main" val="187108926"/>
                    </a:ext>
                  </a:extLst>
                </a:gridCol>
                <a:gridCol w="1956412">
                  <a:extLst>
                    <a:ext uri="{9D8B030D-6E8A-4147-A177-3AD203B41FA5}">
                      <a16:colId xmlns:a16="http://schemas.microsoft.com/office/drawing/2014/main" val="2922414143"/>
                    </a:ext>
                  </a:extLst>
                </a:gridCol>
                <a:gridCol w="1956412">
                  <a:extLst>
                    <a:ext uri="{9D8B030D-6E8A-4147-A177-3AD203B41FA5}">
                      <a16:colId xmlns:a16="http://schemas.microsoft.com/office/drawing/2014/main" val="1124036836"/>
                    </a:ext>
                  </a:extLst>
                </a:gridCol>
                <a:gridCol w="1956412">
                  <a:extLst>
                    <a:ext uri="{9D8B030D-6E8A-4147-A177-3AD203B41FA5}">
                      <a16:colId xmlns:a16="http://schemas.microsoft.com/office/drawing/2014/main" val="484853373"/>
                    </a:ext>
                  </a:extLst>
                </a:gridCol>
                <a:gridCol w="1956412">
                  <a:extLst>
                    <a:ext uri="{9D8B030D-6E8A-4147-A177-3AD203B41FA5}">
                      <a16:colId xmlns:a16="http://schemas.microsoft.com/office/drawing/2014/main" val="2985446706"/>
                    </a:ext>
                  </a:extLst>
                </a:gridCol>
              </a:tblGrid>
              <a:tr h="451924">
                <a:tc gridSpan="5">
                  <a:txBody>
                    <a:bodyPr/>
                    <a:lstStyle/>
                    <a:p>
                      <a:pPr algn="ctr" rtl="0" fontAlgn="ctr"/>
                      <a:r>
                        <a:rPr lang="mn-MN" sz="1200" b="1" u="none" strike="noStrike">
                          <a:solidFill>
                            <a:schemeClr val="bg1"/>
                          </a:solidFill>
                          <a:effectLst/>
                        </a:rPr>
                        <a:t>ТООЦООЛОЛ</a:t>
                      </a:r>
                      <a:endParaRPr lang="mn-MN" sz="1200" b="1" i="0" u="none" strike="noStrike">
                        <a:solidFill>
                          <a:schemeClr val="bg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48418144"/>
                  </a:ext>
                </a:extLst>
              </a:tr>
              <a:tr h="451924">
                <a:tc>
                  <a:txBody>
                    <a:bodyPr/>
                    <a:lstStyle/>
                    <a:p>
                      <a:pPr algn="ctr" rtl="0" fontAlgn="ctr"/>
                      <a:r>
                        <a:rPr lang="mn-MN" sz="1200" u="none" strike="noStrike">
                          <a:effectLst/>
                        </a:rPr>
                        <a:t>Батлан даалтын хувь</a:t>
                      </a:r>
                      <a:endParaRPr lang="mn-MN" sz="12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30%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40%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50%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rtl="0" fontAlgn="ctr"/>
                      <a:r>
                        <a:rPr lang="en-US" sz="1200" u="none" strike="noStrike">
                          <a:effectLst/>
                        </a:rPr>
                        <a:t>60%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379517307"/>
                  </a:ext>
                </a:extLst>
              </a:tr>
              <a:tr h="451924">
                <a:tc>
                  <a:txBody>
                    <a:bodyPr/>
                    <a:lstStyle/>
                    <a:p>
                      <a:pPr algn="ctr" rtl="0" fontAlgn="ctr"/>
                      <a:r>
                        <a:rPr lang="mn-MN" sz="1200" u="none" strike="noStrike">
                          <a:effectLst/>
                        </a:rPr>
                        <a:t>Зээлийн хүү</a:t>
                      </a:r>
                      <a:endParaRPr lang="mn-MN" sz="1200" b="0" i="0" u="none" strike="noStrike">
                        <a:solidFill>
                          <a:srgbClr val="00000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15.38%</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14.25%</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13.13%</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rtl="0" fontAlgn="ctr"/>
                      <a:r>
                        <a:rPr lang="en-US" sz="1200" u="none" strike="noStrike">
                          <a:effectLst/>
                        </a:rPr>
                        <a:t>12.00%</a:t>
                      </a:r>
                      <a:endParaRPr lang="en-US" sz="1200" b="1" i="0" u="none" strike="noStrike">
                        <a:solidFill>
                          <a:srgbClr val="002060"/>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30095529"/>
                  </a:ext>
                </a:extLst>
              </a:tr>
              <a:tr h="417160">
                <a:tc>
                  <a:txBody>
                    <a:bodyPr/>
                    <a:lstStyle/>
                    <a:p>
                      <a:pPr algn="ctr" fontAlgn="b"/>
                      <a:r>
                        <a:rPr lang="mn-MN" sz="1200" b="1" u="none" strike="noStrike">
                          <a:solidFill>
                            <a:schemeClr val="bg1"/>
                          </a:solidFill>
                          <a:effectLst/>
                        </a:rPr>
                        <a:t>Зээлийн багцын дүн</a:t>
                      </a:r>
                      <a:endParaRPr lang="mn-MN" sz="1200" b="1" i="0" u="none" strike="noStrike">
                        <a:solidFill>
                          <a:schemeClr val="bg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gridSpan="4">
                  <a:txBody>
                    <a:bodyPr/>
                    <a:lstStyle/>
                    <a:p>
                      <a:pPr algn="ctr" fontAlgn="b"/>
                      <a:r>
                        <a:rPr lang="mn-MN" sz="1200" b="1" u="none" strike="noStrike">
                          <a:solidFill>
                            <a:schemeClr val="bg1"/>
                          </a:solidFill>
                          <a:effectLst/>
                        </a:rPr>
                        <a:t>Татварын өмнөх ашиг</a:t>
                      </a:r>
                      <a:r>
                        <a:rPr lang="en-US" sz="1200" b="1" u="none" strike="noStrike">
                          <a:solidFill>
                            <a:schemeClr val="bg1"/>
                          </a:solidFill>
                          <a:effectLst/>
                        </a:rPr>
                        <a:t> /</a:t>
                      </a:r>
                      <a:r>
                        <a:rPr lang="mn-MN" sz="1200" b="1" u="none" strike="noStrike">
                          <a:solidFill>
                            <a:schemeClr val="bg1"/>
                          </a:solidFill>
                          <a:effectLst/>
                        </a:rPr>
                        <a:t>сая </a:t>
                      </a:r>
                      <a:r>
                        <a:rPr lang="en-US" sz="1200" b="1">
                          <a:solidFill>
                            <a:schemeClr val="bg1"/>
                          </a:solidFill>
                        </a:rPr>
                        <a:t>₮/</a:t>
                      </a:r>
                      <a:endParaRPr lang="mn-MN" sz="1200" b="1" i="0" u="none" strike="noStrike">
                        <a:solidFill>
                          <a:schemeClr val="bg1"/>
                        </a:solidFill>
                        <a:effectLst/>
                        <a:latin typeface="Aptos Narrow" panose="020B0004020202020204"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rgbClr val="00206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84580579"/>
                  </a:ext>
                </a:extLst>
              </a:tr>
              <a:tr h="486688">
                <a:tc>
                  <a:txBody>
                    <a:bodyPr/>
                    <a:lstStyle/>
                    <a:p>
                      <a:pPr algn="ctr" fontAlgn="ctr"/>
                      <a:r>
                        <a:rPr lang="mn-MN" sz="1200" u="none" strike="noStrike">
                          <a:effectLst/>
                        </a:rPr>
                        <a:t>1.1 тэрбум ₮</a:t>
                      </a:r>
                      <a:endParaRPr lang="mn-MN"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26.86</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20.97</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15.09</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9.2</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435979588"/>
                  </a:ext>
                </a:extLst>
              </a:tr>
              <a:tr h="486688">
                <a:tc>
                  <a:txBody>
                    <a:bodyPr/>
                    <a:lstStyle/>
                    <a:p>
                      <a:pPr algn="ctr" fontAlgn="ctr"/>
                      <a:r>
                        <a:rPr lang="mn-MN" sz="1200" u="none" strike="noStrike">
                          <a:effectLst/>
                        </a:rPr>
                        <a:t>2.5 тэрбум ₮</a:t>
                      </a:r>
                      <a:endParaRPr lang="mn-MN"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61.04</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47.66</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34.29</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tc>
                  <a:txBody>
                    <a:bodyPr/>
                    <a:lstStyle/>
                    <a:p>
                      <a:pPr algn="ctr" fontAlgn="ctr"/>
                      <a:r>
                        <a:rPr lang="en-US" sz="1200" u="none" strike="noStrike">
                          <a:effectLst/>
                        </a:rPr>
                        <a:t>20.91</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391444770"/>
                  </a:ext>
                </a:extLst>
              </a:tr>
              <a:tr h="486688">
                <a:tc>
                  <a:txBody>
                    <a:bodyPr/>
                    <a:lstStyle/>
                    <a:p>
                      <a:pPr algn="ctr" fontAlgn="ctr"/>
                      <a:r>
                        <a:rPr lang="mn-MN" sz="1200" u="none" strike="noStrike">
                          <a:effectLst/>
                        </a:rPr>
                        <a:t>5.5 тэрбум ₮</a:t>
                      </a:r>
                      <a:endParaRPr lang="mn-MN"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134.28</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104.85</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75.43</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tc>
                  <a:txBody>
                    <a:bodyPr/>
                    <a:lstStyle/>
                    <a:p>
                      <a:pPr algn="ctr" fontAlgn="ctr"/>
                      <a:r>
                        <a:rPr lang="en-US" sz="1200" u="none" strike="noStrike">
                          <a:effectLst/>
                        </a:rPr>
                        <a:t>46</a:t>
                      </a:r>
                      <a:endParaRPr lang="en-US" sz="1200" b="0" i="0" u="none" strike="noStrike">
                        <a:solidFill>
                          <a:srgbClr val="000000"/>
                        </a:solidFill>
                        <a:effectLst/>
                        <a:latin typeface="Segoe UI" panose="020B0502040204020203" pitchFamily="34" charset="0"/>
                      </a:endParaRPr>
                    </a:p>
                  </a:txBody>
                  <a:tcPr marL="7620" marR="7620" marT="7620" marB="0" anchor="ctr">
                    <a:lnL w="9525" cap="flat" cmpd="sng" algn="ctr">
                      <a:solidFill>
                        <a:schemeClr val="bg1">
                          <a:lumMod val="75000"/>
                        </a:schemeClr>
                      </a:solidFill>
                      <a:prstDash val="sysDash"/>
                      <a:round/>
                      <a:headEnd type="none" w="med" len="med"/>
                      <a:tailEnd type="none" w="med" len="med"/>
                    </a:lnL>
                    <a:lnR w="9525" cap="flat" cmpd="sng" algn="ctr">
                      <a:solidFill>
                        <a:schemeClr val="bg1">
                          <a:lumMod val="75000"/>
                        </a:schemeClr>
                      </a:solidFill>
                      <a:prstDash val="sysDash"/>
                      <a:round/>
                      <a:headEnd type="none" w="med" len="med"/>
                      <a:tailEnd type="none" w="med" len="med"/>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3203555226"/>
                  </a:ext>
                </a:extLst>
              </a:tr>
            </a:tbl>
          </a:graphicData>
        </a:graphic>
      </p:graphicFrame>
      <p:sp>
        <p:nvSpPr>
          <p:cNvPr id="4" name="Rectangle 3">
            <a:extLst>
              <a:ext uri="{FF2B5EF4-FFF2-40B4-BE49-F238E27FC236}">
                <a16:creationId xmlns:a16="http://schemas.microsoft.com/office/drawing/2014/main" id="{6A759A26-12A1-83EB-AA75-89FE6FDF576B}"/>
              </a:ext>
            </a:extLst>
          </p:cNvPr>
          <p:cNvSpPr/>
          <p:nvPr/>
        </p:nvSpPr>
        <p:spPr>
          <a:xfrm>
            <a:off x="618046" y="1481165"/>
            <a:ext cx="4712962" cy="276999"/>
          </a:xfrm>
          <a:prstGeom prst="rect">
            <a:avLst/>
          </a:prstGeom>
        </p:spPr>
        <p:txBody>
          <a:bodyPr wrap="square" anchor="ctr">
            <a:spAutoFit/>
          </a:bodyPr>
          <a:lstStyle/>
          <a:p>
            <a:r>
              <a:rPr lang="mn-MN" sz="1200" b="1" i="1">
                <a:solidFill>
                  <a:srgbClr val="002060"/>
                </a:solidFill>
                <a:cs typeface="Segoe UI" panose="020B0502040204020203" pitchFamily="34" charset="0"/>
              </a:rPr>
              <a:t>Үр ашгийн тооцоолол</a:t>
            </a:r>
            <a:endParaRPr lang="en-US" sz="1200" b="1" i="1" dirty="0">
              <a:solidFill>
                <a:srgbClr val="002060"/>
              </a:solidFill>
              <a:cs typeface="Segoe UI" panose="020B0502040204020203" pitchFamily="34" charset="0"/>
            </a:endParaRPr>
          </a:p>
        </p:txBody>
      </p:sp>
    </p:spTree>
    <p:extLst>
      <p:ext uri="{BB962C8B-B14F-4D97-AF65-F5344CB8AC3E}">
        <p14:creationId xmlns:p14="http://schemas.microsoft.com/office/powerpoint/2010/main" val="3559990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44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CE66084-ACCC-45FD-89A7-18661073BAFB}">
  <we:reference id="wa200006000" version="1.2.1.0" store="en-US" storeType="OMEX"/>
  <we:alternateReferences>
    <we:reference id="wa200006000" version="1.2.1.0" store="WA20000600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8ACD1ED7-4049-47DA-AF49-7A06AB0FDC43}">
  <we:reference id="wa200000113" version="1.0.0.0" store="en-US" storeType="OMEX"/>
  <we:alternateReferences>
    <we:reference id="WA200000113"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16744</TotalTime>
  <Words>4100</Words>
  <Application>Microsoft Office PowerPoint</Application>
  <PresentationFormat>Widescreen</PresentationFormat>
  <Paragraphs>1244</Paragraphs>
  <Slides>23</Slides>
  <Notes>2</Notes>
  <HiddenSlides>5</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Aptos</vt:lpstr>
      <vt:lpstr>Aptos Display</vt:lpstr>
      <vt:lpstr>Aptos Narrow</vt:lpstr>
      <vt:lpstr>Arial</vt:lpstr>
      <vt:lpstr>Calibri</vt:lpstr>
      <vt:lpstr>Segoe UI</vt:lpstr>
      <vt:lpstr>Segoe UI </vt:lpstr>
      <vt:lpstr>Segoe UI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TDB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Altantsetseg By</dc:creator>
  <cp:lastModifiedBy>Nyamdavaa E</cp:lastModifiedBy>
  <cp:revision>419</cp:revision>
  <dcterms:created xsi:type="dcterms:W3CDTF">2025-12-09T01:44:23Z</dcterms:created>
  <dcterms:modified xsi:type="dcterms:W3CDTF">2026-09-30T11:03:53Z</dcterms:modified>
</cp:coreProperties>
</file>