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a119c0b75848a0" /><Relationship Type="http://schemas.openxmlformats.org/officeDocument/2006/relationships/extended-properties" Target="/docProps/app.xml" Id="R20b3a8327165412d" /><Relationship Type="http://schemas.openxmlformats.org/officeDocument/2006/relationships/officeDocument" Target="/ppt/presentation.xml" Id="Rfaae3ce583794c8c" /></Relationships>
</file>

<file path=ppt/presentation.xml><?xml version="1.0" encoding="utf-8"?>
<p:presentation xmlns:p="http://schemas.openxmlformats.org/presentationml/2006/main">
  <p:sldMasterIdLst>
    <p:sldMasterId xmlns:r="http://schemas.openxmlformats.org/officeDocument/2006/relationships" id="2147483648" r:id="Reef5caffcdf848f8"/>
  </p:sldMasterIdLst>
  <p:notesMasterIdLst>
    <p:notesMasterId xmlns:r="http://schemas.openxmlformats.org/officeDocument/2006/relationships" r:id="R6f9a5799cdf443a8"/>
  </p:notesMasterIdLst>
  <p:sldIdLst>
    <p:sldId xmlns:r="http://schemas.openxmlformats.org/officeDocument/2006/relationships" id="256" r:id="Ra6484058a7194cf0"/>
    <p:sldId xmlns:r="http://schemas.openxmlformats.org/officeDocument/2006/relationships" id="257" r:id="R615d553633064dc6"/>
    <p:sldId xmlns:r="http://schemas.openxmlformats.org/officeDocument/2006/relationships" id="258" r:id="Rc390614a395e4d51"/>
    <p:sldId xmlns:r="http://schemas.openxmlformats.org/officeDocument/2006/relationships" id="259" r:id="R89fa698cfe61482e"/>
    <p:sldId xmlns:r="http://schemas.openxmlformats.org/officeDocument/2006/relationships" id="260" r:id="R21d50a7d320440ea"/>
    <p:sldId xmlns:r="http://schemas.openxmlformats.org/officeDocument/2006/relationships" id="261" r:id="Rd2fdb23e0851486b"/>
    <p:sldId xmlns:r="http://schemas.openxmlformats.org/officeDocument/2006/relationships" id="262" r:id="R498bb33e01f542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a0bd662c6940c4" /><Relationship Type="http://schemas.openxmlformats.org/officeDocument/2006/relationships/slideMaster" Target="/ppt/slideMasters/slideMaster1.xml" Id="Reef5caffcdf848f8" /><Relationship Type="http://schemas.openxmlformats.org/officeDocument/2006/relationships/notesMaster" Target="/ppt/notesMasters/notesMaster1.xml" Id="R6f9a5799cdf443a8" /><Relationship Type="http://schemas.openxmlformats.org/officeDocument/2006/relationships/presProps" Target="/ppt/presProps.xml" Id="R9cea8f7fd15c4376" /><Relationship Type="http://schemas.openxmlformats.org/officeDocument/2006/relationships/tableStyles" Target="/ppt/tableStyles.xml" Id="Rff4aaa9c82184cd5" /><Relationship Type="http://schemas.openxmlformats.org/officeDocument/2006/relationships/slide" Target="/ppt/slides/slide1.xml" Id="Ra6484058a7194cf0" /><Relationship Type="http://schemas.openxmlformats.org/officeDocument/2006/relationships/slide" Target="/ppt/slides/slide2.xml" Id="R615d553633064dc6" /><Relationship Type="http://schemas.openxmlformats.org/officeDocument/2006/relationships/slide" Target="/ppt/slides/slide3.xml" Id="Rc390614a395e4d51" /><Relationship Type="http://schemas.openxmlformats.org/officeDocument/2006/relationships/slide" Target="/ppt/slides/slide4.xml" Id="R89fa698cfe61482e" /><Relationship Type="http://schemas.openxmlformats.org/officeDocument/2006/relationships/slide" Target="/ppt/slides/slide5.xml" Id="R21d50a7d320440ea" /><Relationship Type="http://schemas.openxmlformats.org/officeDocument/2006/relationships/slide" Target="/ppt/slides/slide6.xml" Id="Rd2fdb23e0851486b" /><Relationship Type="http://schemas.openxmlformats.org/officeDocument/2006/relationships/slide" Target="/ppt/slides/slide7.xml" Id="R498bb33e01f542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ff3776179746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701f6a3b7a4702" /><Relationship Type="http://schemas.openxmlformats.org/officeDocument/2006/relationships/notesMaster" Target="/ppt/notesMasters/notesMaster1.xml" Id="R3a4bbca4ac6445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a1d19b4f264cd1" /><Relationship Type="http://schemas.openxmlformats.org/officeDocument/2006/relationships/notesMaster" Target="/ppt/notesMasters/notesMaster1.xml" Id="R736f7dd6121c44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0c9c4c8ee64c45" /><Relationship Type="http://schemas.openxmlformats.org/officeDocument/2006/relationships/notesMaster" Target="/ppt/notesMasters/notesMaster1.xml" Id="Rc6672a8977664d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7157c01fbe4db7" /><Relationship Type="http://schemas.openxmlformats.org/officeDocument/2006/relationships/notesMaster" Target="/ppt/notesMasters/notesMaster1.xml" Id="Rc5888a3b13f54b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4d41fc14474cb9" /><Relationship Type="http://schemas.openxmlformats.org/officeDocument/2006/relationships/notesMaster" Target="/ppt/notesMasters/notesMaster1.xml" Id="R1c8c040c0b954d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077df8df4e4ea0" /><Relationship Type="http://schemas.openxmlformats.org/officeDocument/2006/relationships/notesMaster" Target="/ppt/notesMasters/notesMaster1.xml" Id="R4c516d9a7a044c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49807c65fe4da8" /><Relationship Type="http://schemas.openxmlformats.org/officeDocument/2006/relationships/notesMaster" Target="/ppt/notesMasters/notesMaster1.xml" Id="Ra9ba2ce8fb394a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Судалгааны огноо: 2026-09-29. Энэ нь бодлогын санал бөгөөд батлагдсан тариф биш. Дотоод эх үүсвэрийн гэрээ, актив-пассивын үнэ тогтоолт, зээлийн багцын өгөгдөл ирээгүй. Тоон жишээ нь банкны бодит үзүүлэлт биш.</a:t>
            </a:r>
          </a:p>
          <a:p xmlns:a="http://schemas.openxmlformats.org/drawingml/2006/main">
            <a:r>
              <a:t>Банкны ΔNPV = PV(урьдчилсан төлөлт авсны дараах бүх цэвэр мөнгөн урсгал) − PV(хуучин зээлийг хадгалах бүх цэвэр мөнгөн урсгал). Ижил үнэлгээний огноо, валют, нийцтэй эрсдэл/дискаунтын суурь хэрэглэнэ. Эх үүсвэр буцаах, дахин байрлуулах хувилбараас гэрээгээр боломжтой хамгийн сайн хувилбарыг сонгоно. Алдагдсан нийт хүүг тэр чигээр нь зардал гэж үзэхгүй. Зээлийн эрсдэл, капитал, хяналтын зардлын бууралт болон хеджийн эерэг хаалтын дүнг тооцно. ΔNPV&lt;0 нь шимтгэл авах хууль зүйн зөвшөөрөлтэй адил утгатай биш.</a:t>
            </a:r>
          </a:p>
          <a:p xmlns:a="http://schemas.openxmlformats.org/drawingml/2006/main">
            <a:r>
              <a:t>Гадаад эх үүсвэртэй байна гэдэг нь заавал гадаад валютаар олгосон, тогтмол хүүтэй, эсвэл хөнгөлөлттэй зээл гэсэн үг биш. Эх үүсвэр ба харилцагчийн гэрээг тусад нь шалгана.</a:t>
            </a:r>
          </a:p>
          <a:p xmlns:a="http://schemas.openxmlformats.org/drawingml/2006/main">
            <a:r>
              <a:t>Эх сурвалж: EBRD зээлийн нөхцөлийг төсөл тус бүрээр хэлэлцдэг, урьдчилсан төлөлтийн төлбөр байж болохыг дурдсан: https://www.ebrd.com/home/what-we-do/products-and-services/ebrd-project-financing/loans.html. Хууль зүйн үндэс ба төслийн эрсдэл: слайд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Эх сурвалжууд:</a:t>
            </a:r>
          </a:p>
          <a:p xmlns:a="http://schemas.openxmlformats.org/drawingml/2006/main">
            <a:r>
              <a:t>1. Иргэний хууль 208.5: үүрэг гүйцэтгүүлэгч татгалзаагүй нөхцөлд хугацаанаас өмнө үүргээ гүйцэтгэх эрхийн суурь зохицуулалт. 202.1: шударга ёс, сайн санааны зарчим зөрчсөн, хүлээн авагчид хохиролтой стандарт нөхцөлийн хүчин төгөлдөр байдлыг шалгана. Legalinfo-ийн англи эхийг ашиглав: https://legalinfo.mn/mn/edtl/16532510240071; монгол үндсэн эх: https://legalinfo.mn/mn/detail/299.</a:t>
            </a:r>
          </a:p>
          <a:p xmlns:a="http://schemas.openxmlformats.org/drawingml/2006/main">
            <a:r>
              <a:t>2. Банк, эрх бүхий хуулийн этгээдийн мөнгөн хадгаламж, мөнгөн хөрөнгийн шилжүүлэг, зээлийн үйл ажиллагааны тухай хуулийн 6.5–6.7, 20.2.6, 21.1: https://legalinfo.mn/mn/detail/16230554816671. Гэрээнд бичсэн нь дангаараа аливаа төлбөрийг хууль ёсны болгохгүй. Ирээдүйн ашиглаагүй хугацааны хүүг автоматаар нэхэмжлэх санал өгөөгүй.</a:t>
            </a:r>
          </a:p>
          <a:p xmlns:a="http://schemas.openxmlformats.org/drawingml/2006/main">
            <a:r>
              <a:t>3. Санхүүгийн хэрэглэгчийн эрхийг хамгаалах тухай төсөл 6.1.5, 4.1.1: https://lawforum.parliament.mn/project/11054/. Хэрэглэгчийг үйлчилгээ сонирхож буй буюу авсан этгээд гэж өргөн тодорхойлжээ. Хуулийн этгээдийн зээлийг чөлөөлсөн гэж таамаглахгүй.</a:t>
            </a:r>
          </a:p>
          <a:p xmlns:a="http://schemas.openxmlformats.org/drawingml/2006/main">
            <a:r>
              <a:t>4. Өргөн мэдүүлсэн албан мэдээ: https://www.parliament.mn/nn/77334/ (2026-05-21). Хэлэлцэх эсэхийн тов: https://www.parliament.mn/nn/77431/ (2026-06-02–05).</a:t>
            </a:r>
          </a:p>
          <a:p xmlns:a="http://schemas.openxmlformats.org/drawingml/2006/main">
            <a:r>
              <a:t>Хайлтын хязгаар: батлагдсан эцсийн акт, хүчин төгөлдөр болох огноо олдоогүй нь батлагдаагүйг эцэслэн нотлохгүй. Хэрэгжүүлэх өдөр Хууль зүйн нэгж албан бүртгэл, хамгийн сүүлийн төслийн хувилбар, дагаж мөрдөх болон шилжилтийн заалтыг баталгаажуулна. “Нөхөн төлбөр” гэж нэр өөрчлөх нь хоригийн хүрээнээс гаргах баталгаа биш.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Эх сурвалж ба хамрах хүрээ:</a:t>
            </a:r>
          </a:p>
          <a:p xmlns:a="http://schemas.openxmlformats.org/drawingml/2006/main">
            <a:r>
              <a:t>EBRD албан бүтээгдэхүүн: https://www.ebrd.com/home/what-we-do/products-and-services/ebrd-project-financing/loans.html. Синдикат байдал нь дангаараа торгууль шаардахгүй. Агентын мэдэгдэл, хувь тэнцүүлсэн төлөлт, доод дүн, хүүгийн хугацааны төгсгөл, break cost зэргийг бодит синдикат гэрээнээс авна.</a:t>
            </a:r>
          </a:p>
          <a:p xmlns:a="http://schemas.openxmlformats.org/drawingml/2006/main">
            <a:r>
              <a:t>ЕХ Directive 2014/17/EU Article 25: https://eur-lex.europa.eu/legal-content/EN/ALL/?uri=CELEX:32014L0017. Үндэсний хууль хэрэгжилтийн нөхцөл тогтооно. Зөвшөөрсөн нөхөн төлбөр нь эрт төлөлттэй шууд холбоотой, бодитой үндэслэлтэй, санхүүгийн алдагдлаар хязгаарлагдана. Үүнийг Монголын бүх бизнесийн зээлд үйлчлэх хууль гэж үзэхгүй.</a:t>
            </a:r>
          </a:p>
          <a:p xmlns:a="http://schemas.openxmlformats.org/drawingml/2006/main">
            <a:r>
              <a:t>АНУ Regulation Z 1026.43(g): https://www.consumerfinance.gov/rules-policy/regulations/1026/2026-01-01/43/. Хуулиар өөрөөр зөвшөөрсөн, хүү өсөхгүй, qualified mortgage, higher-priced биш зэрэг шаардлагатай. 2%/1% нь эрт төлсөн дүнд үйлчилнэ. Бүх ипотек болон бизнесийн зээлд хамаарах ерөнхий дүрэм биш.</a:t>
            </a:r>
          </a:p>
          <a:p xmlns:a="http://schemas.openxmlformats.org/drawingml/2006/main">
            <a:r>
              <a:t>Хугацааны тодорхойлолт: https://www.worldbank.org/en/publication/gfdr/gfdr-2016/background/long-term-finance. Нэгдсэн нэг тодорхойлолт байхгүйг тайлбарладаг. 5 жилийн босго бол энэхүү бодлогын эхний шүүлтийн санал. 5 жилээс дээш боловч хүү 3 сар тутам шинэчлэгдэж, эх үүсвэрээ зардалгүй буцаадаг бол нөхөн төлбөрийн үндэслэл сул. 2 жилийн ч зээлд баталгаатай хеджийн хаалтын зардал гарвал үнэлэх шаардлагатай.</a:t>
            </a:r>
          </a:p>
          <a:p xmlns:a="http://schemas.openxmlformats.org/drawingml/2006/main">
            <a:r>
              <a:t>ХААН Банкны 12 сарын нөхцөл: хэрэглэгчийн дамжуулсан мэйлд дурдсан. Нийтэд нээлттэй гэрээ, тарифаар баталгаажуулаагүй тул батлагдсан өрсөлдөгчийн практик гэж ашиглаагүй.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Зөвхөн тайлбарлах зориулалттай, банкны бодит хүү/ашгийн тооцоо биш. Тоонууд жилийн хувь. Үндсэн үлдэгдэл 10 тэрбум төгрөгөөр нэг жил тогтмол, хүү жилийн эцэст, дахин олголт шууд, татвар ба нэг удаагийн шимтгэлгүй гэж үзэв. Хүснэгт нь дискаунт хийгээгүй нэг жилийн үр дүн. Үндсэн мөнгөний буцаалт/байршуулалт тэнцэх тул хүснэгтэд хүү, өртгийн ялгааг үзүүлэв.</a:t>
            </a:r>
          </a:p>
          <a:p xmlns:a="http://schemas.openxmlformats.org/drawingml/2006/main">
            <a:r>
              <a:t>Нийт эх үүсвэрийн өртөгт суурь хүү, нэмэгдэл, эх үүсвэрийн шимтгэлийн жилчилсэн хэмжээ, холбогдох татвар/суутгал, валютын хедж болон хөрвүүлэлтийн зардал орно. 6%=гадаад эх үүсвэрийн нэрлэсэн 4%+эдгээр нэмэлт зардал 2% гэж жишээлсэн. 2% бусад өртөгт хүлээгдэж буй зээлийн алдагдал, үйл ажиллагаа, капиталын өртгийг давхардуулахгүй оруулна.</a:t>
            </a:r>
          </a:p>
          <a:p xmlns:a="http://schemas.openxmlformats.org/drawingml/2006/main">
            <a:r>
              <a:t>Түр байршуулалтыг нэмэлт кредит/үйл ажиллагаа/капиталын өртөггүй гэж хялбарчилсан. Бодит тооцоонд тухайн хэрэгслийн өртөг орно. Шинэ 11%-ийн зээл нь хуучинтай ижил эрсдэл, өртөгтэй, шинэ олголтын зардалгүй гэсэн хатуу нөхцөлтэй.</a:t>
            </a:r>
          </a:p>
          <a:p xmlns:a="http://schemas.openxmlformats.org/drawingml/2006/main">
            <a:r>
              <a:t>Эх үүсвэрээ торгуульгүй буцааж чадвал санхүүжилтийн ирээдүйн зардлыг хэмнэнэ. Хадгалах байсан ашгаа алдах нь автоматаар харилцагчаас нөхөн төлүүлэх эрх үүсгэхгүй.</a:t>
            </a:r>
          </a:p>
          <a:p xmlns:a="http://schemas.openxmlformats.org/drawingml/2006/main">
            <a:r>
              <a:t>Банкны урьдчилсан төлөлт хүлээн авах шийдвэрт ΔNPV, эх үүсвэрийн хаалтын зардал, дахин байршуулалтын хугацаа, хүүгийн зөрүү, эрсдэл болон капиталын бууралтыг хамруулна. Ирээдүйн нийт хүү болон break cost-ийг давхар тооцохгүй. Валютын хеджтэй зээлд ханшийн сулралыг хеджийн өртөг дээр дахин бүхэлд нь нэмж болохгүй.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Өөрийн тооцоо, ханшийн төсөөлөл биш. Нэг жилийн эцэст үндсэн зээл ба хүү төлөгдөх, шимтгэл/татваргүй зээлүүдийг ижил суурьтай харьцуулсан. Валютын зээлийн төгрөгөөрх өртөг=(1+8%)×(1+d)−1; d нь нэг USD авахад шаардагдах төгрөгийн өсөлт. 0/5/10/15% хувилбаруудад 8/13.4/18.8/24.2%. Валютын зээл төгрөгийн 18%-тай тэнцэх ханшийн өсөлт=1.18/1.08−1=9.2593%. Сар бүр үндсэн төлбөртэй бол төлбөр бүрийн ханш, хугацаагаар NPV/IRR тооцож шинэчилнэ. Байгалийн хамгаалалттай экспортлогч болон хеджтэй харилцагчид энэ тооцоог шууд хэрэглэхгүй.</a:t>
            </a:r>
          </a:p>
          <a:p xmlns:a="http://schemas.openxmlformats.org/drawingml/2006/main">
            <a:r>
              <a:t>Төгрөгийн жишээ: 100 сая×(18%−6%)×1 жил−100 сая×1%=11 сая төгрөг. Дискаунтгүй ойролцоо дүн. Шимтгэлээ хэмнэлтээр нөхөх хугацаа=1%/(18%−6%)=0.0833 жил буюу ойролцоогоор 1 сар. Үлдэгдэл буурах хуваарь, дахин санхүүжилтийн шинэ шимтгэл, зайлшгүй мөнгөн нөөц, татварыг бодит тооцоонд оруулна.</a:t>
            </a:r>
          </a:p>
          <a:p xmlns:a="http://schemas.openxmlformats.org/drawingml/2006/main">
            <a:r>
              <a:t>Төгрөг сулрах нь банканд үргэлж шууд алдагдал биш. Төгрөгийн актив ба төгрөгийн эх үүсвэртэй бол валютын шууд зөрүү үүсэхгүй, харин инфляц, хүү, зээлийн чанарын нөлөө бий. USD актив ба USD эх үүсвэр таарсан ч MNT орлоготой зээлдэгчийн төлбөрийн чадвар доройтож банкны кредит эрсдэл өснө. Эрт төлөлтөөр ирсэн USD-г банк MNT болгоод, USD өрийг хэвээр үлдээвэл шинэ нээлттэй валютын эрсдэл бий болгож болно.</a:t>
            </a:r>
          </a:p>
          <a:p xmlns:a="http://schemas.openxmlformats.org/drawingml/2006/main">
            <a:r>
              <a:t>Бодлогын дүгнэлт: ханшийн эрсдэлээс гарах урьдчилсан төлөлтийг дэмжих нь зохистой боловч банкны эх үүсвэр/хеджийн бодит хаалтын зардлыг тусад нь үнэлнэ. Ханш байнга нэг чигт хөдөлнө гэж баталгаатай үзээгүй.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Эдгээр нь эдийн засгийн нөхцөлт дүгнэлт. Өндөр хүүгээр дахин олгох боломж нь шинэ зээлдэгчийн эрсдэл, эрэлт, зөвшөөрөгдөх зориулалт, мөнгө сул зогсох хугацаанаас хамаарна. Хүү өсөх нь бүх банканд эрт төлөлт ашигтай гэсэн баталгаа биш. Хувьсах хүүтэй зээлд ч эх үүсвэрийн гэрээний break cost, хүү шинэчлэх өдрийн зөрүү байж болно.</a:t>
            </a:r>
          </a:p>
          <a:p xmlns:a="http://schemas.openxmlformats.org/drawingml/2006/main">
            <a:r>
              <a:t>Бүтээгдэхүүний эхний хүрээ: баримтжуулсан гадаад/дотоод зориулалтын эх үүсвэртэй төслийн зээл, тогтмол хүүтэй хөрөнгө оруулалтын зээл, хеджтэй зээл, гэрээ нь тусгай зохицуулалттай синдикат зээл. Ердийн хэрэглээний, цалингийн, овердрафт/богино эргэлтийн зээлд шинэ ерөнхий хориг санал болгохгүй. Ипотекийн тусгай хөтөлбөр, санхүүжилт, үнэт цаасжуулалтын гэрээг тусад нь судална.</a:t>
            </a:r>
          </a:p>
          <a:p xmlns:a="http://schemas.openxmlformats.org/drawingml/2006/main">
            <a:r>
              <a:t>Харилцагчийн эрх: валютын эсвэл хувьсах хүүтэй зээлд нөхцөл оруулсан нь дангаараа эрх зөрчсөн гэж тогтоохгүй. Ил тод байдал, хууль зүйн үндэс, стандарт нөхцөлийн шударга байдал, төлбөрийн үндэслэл, сонголт, харьцаатай байдлыг үнэлнэ. Иргэний хууль 202.1 болон хүчин төгөлдөр шимтгэлийн зохицуулалтыг харна (слайд 2). Хуулийн төслийн 6.1.5 батлагдаж хамаарах бол зардал нөхөх нэртэй төлбөр ч хоригт орох боломжтой.</a:t>
            </a:r>
          </a:p>
          <a:p xmlns:a="http://schemas.openxmlformats.org/drawingml/2006/main">
            <a:r>
              <a:t>Гэрээнд бүрэн хориглох (lockout), доод ашиглалтын хугацаа, дүнгийн лимит, мэдэгдлийн хугацаа, нөхөн төлбөр зэрэг арга бий гэж ерөнхийлж болно. Гэхдээ энэ судалгааны санал нь бүрэн хориг болон бүх үлдэх хүү нэхэмжлэх арга биш. Худалдааны өрсөлдөөнөөс илүү хууль, бодит зардал, хүүгийн хөнгөлөлтийн үнэ цэнийг үндэс болгоно.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Бодлогын нарийвчилсан санал, батлагдаагүй параметрүүд:</a:t>
            </a:r>
          </a:p>
          <a:p xmlns:a="http://schemas.openxmlformats.org/drawingml/2006/main">
            <a:r>
              <a:t>1. Өмнөх гэрээнд нэг талын шийдвэрээр шинэ шимтгэл нэмэхгүй. Шинэ бүтээгдэхүүнд нөхцөлгүй/нөхцөлтэй хоёр үнийг нийт өртгөөр харьцуулах. Харилцагчийн хүүгийн хөнгөлөлтийн PV нь хүлээгдэж буй гарах зардлаас өндөр, мөн зээлийн хэрэгцээнд нийцсэн байх.</a:t>
            </a:r>
          </a:p>
          <a:p xmlns:a="http://schemas.openxmlformats.org/drawingml/2006/main">
            <a:r>
              <a:t>2. 30 хоногийн мэдэгдэл нь хэлэлцэх жишиг, ОУ-ын заавал мөрдөх стандарт биш. Хүү бодож өсгөх зориудын саатал болгохгүй. Хэрэгжүүлэх хугацааг эх үүсвэрийн мэдэгдэлтэй уялдуулна. 12 сарын бүх нийтийн lockout-ийг ХААН-ы баталгаажаагүй жишээнээс хуулж тогтоохгүй.</a:t>
            </a:r>
          </a:p>
          <a:p xmlns:a="http://schemas.openxmlformats.org/drawingml/2006/main">
            <a:r>
              <a:t>3. Шимтгэлийн жишиг зарчим: max(0, нотолсон хаалтын нэмэлт зардал − холбогдох хэмнэлт/орлого), гэрээ ба хуулийн дээд хязгаараар cap хийх. Алдагдсан бүх хүү, дахин байршуулалтын бүх зөрүүг заавал нөхөн төлүүлэхгүй. Хэрэв жилийн үнэгүй хэсэгчилсэн төлөлтийн лимит тогтоох бол жишиг 10%-ийг анхны үндсэн дүн эсвэл жилийн эхний үлдэгдлийн аль сууриас тооцохыг заана. 10% нь зөвхөн турших хувилбар бөгөөд хууль зүйн баталгаа, багцын симуляцгүй батлахгүй. Давсан хэсэгт л хүчинтэй, үндэслэлтэй нөхцөл хэрэглэх хувилбар судална.</a:t>
            </a:r>
          </a:p>
          <a:p xmlns:a="http://schemas.openxmlformats.org/drawingml/2006/main">
            <a:r>
              <a:t>4. 0%, 1%, 2% cap; 0/15/30 хоногийн мэдэгдэл; дахин олголтын 0/30/90 хоног; хүү ±2 нэгж хувь; ханш 0/5/10/15%-ийн мэдрэмжээр банк, харилцагчийн NPV-г харьцуулна. Эдгээр нь стрессийн таамаглал.</a:t>
            </a:r>
          </a:p>
          <a:p xmlns:a="http://schemas.openxmlformats.org/drawingml/2006/main">
            <a:r>
              <a:t>5. Treasury/ОУ санхүүжилтээс: гэрээний хүү, валют, хуваарь, хугацаанаас өмнө буцаах эрх, break cost, хеджийн хаалтын үнэ, өөр харилцагчид ашиглах эрх. Эрсдэлээс: expected loss, капиталын өртөг, валютын өрийн үйлчилгээний хамгаалалт. Хууль зүйн нэгжээс: төлбөрийн эрх зүй, төслийн төлөв/хамрах хүрээ, стандарт нөхцөл.</a:t>
            </a:r>
          </a:p>
          <a:p xmlns:a="http://schemas.openxmlformats.org/drawingml/2006/main">
            <a:r>
              <a:t>6. LOAN stream-д шалгуулах: хэсэгчилсэн төлөлт үндсэн үлдэгдлийг шууд бууруулах эсэх; ирээдүйн installment урьдчилж төлөхтэй ялгах; value date-ээс хүүг дахин бодох; хугацаа богиносгох/сарын төлбөр бууруулах; payoff quote, fee cap, free allowance, зөвшөөрөлтэй waiver, audit trail; валют/дугуйлалт; буцаалт, backdate; эх үүсвэртэй тулгах. Бодит UAT-ийн протокол шаардана. Нийтийн API байгаагаар банкны одоогийн тохиргоо ажиллана гэж дүгнээгүй.</a:t>
            </a:r>
          </a:p>
          <a:p xmlns:a="http://schemas.openxmlformats.org/drawingml/2006/main">
            <a:r>
              <a:t>Албан техникийн эх сурвалж: https://developer.temenos.com/solutions/business-corporate-enterprise-service (Payoff Loan, Repay Loan, Pay off simulation).</a:t>
            </a:r>
          </a:p>
          <a:p xmlns:a="http://schemas.openxmlformats.org/drawingml/2006/main">
            <a:r>
              <a:t>Эцсийн санал: эхлээд эх үүсвэрийн урьдчилсан төлөлтийн нөхцөлийг уян болгох, дахин ашиглах эрх тохирох, хедж ба зээлийн хугацааг тааруулах. Хууль зөвшөөрсөн хүрээнд л баримтжуулсан нөхөн төлбөртэй бүтээгдэхүүн турших.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0a22672fcb42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7157a21a7e468d" /><Relationship Type="http://schemas.openxmlformats.org/officeDocument/2006/relationships/slideLayout" Target="/ppt/slideLayouts/slideLayout1.xml" Id="R9265b5f8a58d48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65b5f8a58d48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e0f51890bc46f4" /><Relationship Type="http://schemas.openxmlformats.org/officeDocument/2006/relationships/notesSlide" Target="/ppt/notesSlides/notesSlide1.xml" Id="Rd7d7823fc6e94e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832162707548d2" /><Relationship Type="http://schemas.openxmlformats.org/officeDocument/2006/relationships/notesSlide" Target="/ppt/notesSlides/notesSlide2.xml" Id="R3e323a9fba6b42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ae2a10752b4060" /><Relationship Type="http://schemas.openxmlformats.org/officeDocument/2006/relationships/notesSlide" Target="/ppt/notesSlides/notesSlide3.xml" Id="Rc99caaae7eaf46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84a7afb4664992" /><Relationship Type="http://schemas.openxmlformats.org/officeDocument/2006/relationships/notesSlide" Target="/ppt/notesSlides/notesSlide4.xml" Id="Rc8f877dcf1f34f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f477ddf2674fe0" /><Relationship Type="http://schemas.openxmlformats.org/officeDocument/2006/relationships/notesSlide" Target="/ppt/notesSlides/notesSlide5.xml" Id="R1b23084bbe0244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0f03eec7b240f3" /><Relationship Type="http://schemas.openxmlformats.org/officeDocument/2006/relationships/notesSlide" Target="/ppt/notesSlides/notesSlide6.xml" Id="R781574ff193e40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1fcc4ae40f4065" /><Relationship Type="http://schemas.openxmlformats.org/officeDocument/2006/relationships/notesSlide" Target="/ppt/notesSlides/notesSlide7.xml" Id="Ra1a8ff82fcb3474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759132-1B0A-4FAA-A189-44DE20D0B11A}"/>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Зээлийн урьдчилсан төлөлтийн бодлогын санал</a:t>
            </a:r>
          </a:p>
        </p:txBody>
      </p:sp>
      <p:sp>
        <p:nvSpPr>
          <p:cNvPr id="2" name="">
            <a:extLst xmlns:a="http://schemas.openxmlformats.org/drawingml/2006/main">
              <a:ext uri="{FF2B5EF4-FFF2-40B4-BE49-F238E27FC236}">
                <a16:creationId xmlns:a16="http://schemas.microsoft.com/office/drawing/2014/main" id="{4C87A86A-60C2-47A9-BC5E-F65BC22856BB}"/>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Шийдвэрийн үндэс: эх үүсвэрийн бодит зардал, банкны цэвэр үр ашиг, харилцагчийн хэмнэлт</a:t>
            </a:r>
          </a:p>
        </p:txBody>
      </p:sp>
      <p:sp>
        <p:nvSpPr>
          <p:cNvPr id="3" name="">
            <a:extLst xmlns:a="http://schemas.openxmlformats.org/drawingml/2006/main">
              <a:ext uri="{FF2B5EF4-FFF2-40B4-BE49-F238E27FC236}">
                <a16:creationId xmlns:a16="http://schemas.microsoft.com/office/drawing/2014/main" id="{3F2E5AB3-2CE0-47EA-9DFA-8DF7F1D1C560}"/>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1 / 7    •    2026.09.29</a:t>
            </a:r>
          </a:p>
        </p:txBody>
      </p:sp>
      <p:sp>
        <p:nvSpPr>
          <p:cNvPr id="4" name="">
            <a:extLst xmlns:a="http://schemas.openxmlformats.org/drawingml/2006/main">
              <a:ext uri="{FF2B5EF4-FFF2-40B4-BE49-F238E27FC236}">
                <a16:creationId xmlns:a16="http://schemas.microsoft.com/office/drawing/2014/main" id="{A9CF4428-89D4-4566-A3ED-50B1BE45F17C}"/>
              </a:ext>
            </a:extLst>
          </p:cNvPr>
          <p:cNvSpPr>
            <a:spLocks xmlns:a="http://schemas.openxmlformats.org/drawingml/2006/main" noGrp="1"/>
          </p:cNvSpPr>
          <p:nvPr/>
        </p:nvSpPr>
        <p:spPr>
          <a:xfrm xmlns:a="http://schemas.openxmlformats.org/drawingml/2006/main">
            <a:off x="457200" y="16002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DejaVu Sans"/>
                <a:ea typeface="DejaVu Sans"/>
                <a:cs typeface="DejaVu Sans"/>
              </a:defRPr>
            </a:pPr>
            <a:r>
              <a:rPr sz="2175" b="1">
                <a:solidFill>
                  <a:srgbClr val="007F83"/>
                </a:solidFill>
                <a:latin typeface="DejaVu Sans"/>
                <a:ea typeface="DejaVu Sans"/>
                <a:cs typeface="DejaVu Sans"/>
              </a:rPr>
              <a:t>Сонгосон төслийн зээлд зардал нөхөх нөхцөл судлах</a:t>
            </a:r>
          </a:p>
        </p:txBody>
      </p:sp>
      <p:graphicFrame>
        <p:nvGraphicFramePr>
          <p:cNvPr id="11" name=""/>
          <p:cNvGraphicFramePr/>
          <p:nvPr/>
        </p:nvGraphicFramePr>
        <p:xfrm>
          <a:off xmlns:a="http://schemas.openxmlformats.org/drawingml/2006/main" x="457200" y="2209800"/>
          <a:ext xmlns:a="http://schemas.openxmlformats.org/drawingml/2006/main" cx="11277600" cy="3257550"/>
        </p:xfrm>
        <a:graphic xmlns:a="http://schemas.openxmlformats.org/drawingml/2006/main">
          <a:graphicData uri="http://schemas.openxmlformats.org/drawingml/2006/table">
            <a:tbl>
              <a:tblPr/>
              <a:tblGrid>
                <a:gridCol w="4238625"/>
                <a:gridCol w="7038975"/>
              </a:tblGrid>
              <a:tr h="542925">
                <a:tc>
                  <a:txBody>
                    <a:bodyPr/>
                    <a:lstStyle/>
                    <a:p>
                      <a:r>
                        <a:rPr sz="1500" b="1">
                          <a:solidFill>
                            <a:srgbClr val="FFFFFF"/>
                          </a:solidFill>
                          <a:latin typeface="DejaVu Sans"/>
                          <a:ea typeface="DejaVu Sans"/>
                          <a:cs typeface="DejaVu Sans"/>
                        </a:rPr>
                        <a:t>Хэмжих 5 үзүүлэлт</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Хэрхэн шийдвэрт ашиглах вэ?</a:t>
                      </a:r>
                    </a:p>
                  </a:txBody>
                  <a:tcPr marL="91440" marR="91440" marT="45720" marB="45720">
                    <a:solidFill>
                      <a:srgbClr val="153449"/>
                    </a:solidFill>
                  </a:tcPr>
                </a:tc>
              </a:tr>
              <a:tr h="542925">
                <a:tc>
                  <a:txBody>
                    <a:bodyPr/>
                    <a:lstStyle/>
                    <a:p>
                      <a:r>
                        <a:rPr sz="1500" b="0">
                          <a:solidFill>
                            <a:srgbClr val="153449"/>
                          </a:solidFill>
                          <a:latin typeface="DejaVu Sans"/>
                          <a:ea typeface="DejaVu Sans"/>
                          <a:cs typeface="DejaVu Sans"/>
                        </a:rPr>
                        <a:t>1. Банкны цэвэр өнөөгийн үнэ цэнэ (ΔNPV)</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Урьдчилж төлүүлсний дараах үнэ цэнэ − зээлийг хадгалах үнэ цэнэ</a:t>
                      </a:r>
                    </a:p>
                  </a:txBody>
                  <a:tcPr marL="91440" marR="91440" marT="45720" marB="45720">
                    <a:solidFill>
                      <a:srgbClr val="EDF4F5"/>
                    </a:solidFill>
                  </a:tcPr>
                </a:tc>
              </a:tr>
              <a:tr h="542925">
                <a:tc>
                  <a:txBody>
                    <a:bodyPr/>
                    <a:lstStyle/>
                    <a:p>
                      <a:r>
                        <a:rPr sz="1500" b="0">
                          <a:solidFill>
                            <a:srgbClr val="153449"/>
                          </a:solidFill>
                          <a:latin typeface="DejaVu Sans"/>
                          <a:ea typeface="DejaVu Sans"/>
                          <a:cs typeface="DejaVu Sans"/>
                        </a:rPr>
                        <a:t>2. Эх үүсвэрийн хаалтын цэвэр зардал</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Эрт төлөх төлбөр + хедж хаах зардал − холбогдох орлого, хэмнэлт</a:t>
                      </a:r>
                    </a:p>
                  </a:txBody>
                  <a:tcPr marL="91440" marR="91440" marT="45720" marB="45720">
                    <a:solidFill>
                      <a:srgbClr val="FFFFFF"/>
                    </a:solidFill>
                  </a:tcPr>
                </a:tc>
              </a:tr>
              <a:tr h="542925">
                <a:tc>
                  <a:txBody>
                    <a:bodyPr/>
                    <a:lstStyle/>
                    <a:p>
                      <a:r>
                        <a:rPr sz="1500" b="0">
                          <a:solidFill>
                            <a:srgbClr val="153449"/>
                          </a:solidFill>
                          <a:latin typeface="DejaVu Sans"/>
                          <a:ea typeface="DejaVu Sans"/>
                          <a:cs typeface="DejaVu Sans"/>
                        </a:rPr>
                        <a:t>3. Хүү тогтмол үлдэх хугацаа / сул зогсолт</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Хэдэн сар хүү өөрчлөгдөхгүй, хэдэн хоногт дахин олгох вэ?</a:t>
                      </a:r>
                    </a:p>
                  </a:txBody>
                  <a:tcPr marL="91440" marR="91440" marT="45720" marB="45720">
                    <a:solidFill>
                      <a:srgbClr val="EDF4F5"/>
                    </a:solidFill>
                  </a:tcPr>
                </a:tc>
              </a:tr>
              <a:tr h="542925">
                <a:tc>
                  <a:txBody>
                    <a:bodyPr/>
                    <a:lstStyle/>
                    <a:p>
                      <a:r>
                        <a:rPr sz="1500" b="0">
                          <a:solidFill>
                            <a:srgbClr val="153449"/>
                          </a:solidFill>
                          <a:latin typeface="DejaVu Sans"/>
                          <a:ea typeface="DejaVu Sans"/>
                          <a:cs typeface="DejaVu Sans"/>
                        </a:rPr>
                        <a:t>4. Валютын өрийн орлогын хамгаалалт</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Валютын орлого / тухайн валютын өрийн үйлчилгээ</a:t>
                      </a:r>
                    </a:p>
                  </a:txBody>
                  <a:tcPr marL="91440" marR="91440" marT="45720" marB="45720">
                    <a:solidFill>
                      <a:srgbClr val="FFFFFF"/>
                    </a:solidFill>
                  </a:tcPr>
                </a:tc>
              </a:tr>
              <a:tr h="542925">
                <a:tc>
                  <a:txBody>
                    <a:bodyPr/>
                    <a:lstStyle/>
                    <a:p>
                      <a:r>
                        <a:rPr sz="1500" b="0">
                          <a:solidFill>
                            <a:srgbClr val="153449"/>
                          </a:solidFill>
                          <a:latin typeface="DejaVu Sans"/>
                          <a:ea typeface="DejaVu Sans"/>
                          <a:cs typeface="DejaVu Sans"/>
                        </a:rPr>
                        <a:t>5. Харилцагчийн цэвэр хэмнэлт</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Хүү, ханшийн хэмнэлт − шимтгэл − мөнгөний өөр ашиглалтын өгөөж</a:t>
                      </a:r>
                    </a:p>
                  </a:txBody>
                  <a:tcPr marL="91440" marR="91440" marT="45720" marB="45720">
                    <a:solidFill>
                      <a:srgbClr val="EDF4F5"/>
                    </a:solidFill>
                  </a:tcPr>
                </a:tc>
              </a:tr>
            </a:tbl>
          </a:graphicData>
        </a:graphic>
      </p:graphicFrame>
      <p:sp>
        <p:nvSpPr>
          <p:cNvPr id="6" name="">
            <a:extLst xmlns:a="http://schemas.openxmlformats.org/drawingml/2006/main">
              <a:ext uri="{FF2B5EF4-FFF2-40B4-BE49-F238E27FC236}">
                <a16:creationId xmlns:a16="http://schemas.microsoft.com/office/drawing/2014/main" id="{1D408508-2DBA-48B4-A601-BB44A56299C2}"/>
              </a:ext>
            </a:extLst>
          </p:cNvPr>
          <p:cNvSpPr>
            <a:spLocks xmlns:a="http://schemas.openxmlformats.org/drawingml/2006/main" noGrp="1"/>
          </p:cNvSpPr>
          <p:nvPr/>
        </p:nvSpPr>
        <p:spPr>
          <a:xfrm xmlns:a="http://schemas.openxmlformats.org/drawingml/2006/main">
            <a:off x="457200" y="5743575"/>
            <a:ext cx="11277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3"/>
                </a:solidFill>
                <a:latin typeface="DejaVu Sans"/>
                <a:ea typeface="DejaVu Sans"/>
                <a:cs typeface="DejaVu Sans"/>
              </a:defRPr>
            </a:pPr>
            <a:r>
              <a:rPr sz="1725" b="1">
                <a:solidFill>
                  <a:srgbClr val="007F83"/>
                </a:solidFill>
                <a:latin typeface="DejaVu Sans"/>
                <a:ea typeface="DejaVu Sans"/>
                <a:cs typeface="DejaVu Sans"/>
              </a:rPr>
              <a:t>Санал: нийтээр хориглохгүй. Шинэ гэрээнд, хууль зүйн дүгнэлттэй, баримтжуулсан цэвэр зардлаар хязгаарлах.</a:t>
            </a:r>
          </a:p>
        </p:txBody>
      </p:sp>
    </p:spTree>
    <p:extLst>
      <p:ext uri="{BB962C8B-B14F-4D97-AF65-F5344CB8AC3E}">
        <p14:creationId xmlns:p14="http://schemas.microsoft.com/office/powerpoint/2010/main" val="1097951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F6FD39-596F-4D8C-B10B-B11160FF017D}"/>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Монголын хууль ба өөрчлөлтийн эрсдэл</a:t>
            </a:r>
          </a:p>
        </p:txBody>
      </p:sp>
      <p:sp>
        <p:nvSpPr>
          <p:cNvPr id="2" name="">
            <a:extLst xmlns:a="http://schemas.openxmlformats.org/drawingml/2006/main">
              <a:ext uri="{FF2B5EF4-FFF2-40B4-BE49-F238E27FC236}">
                <a16:creationId xmlns:a16="http://schemas.microsoft.com/office/drawing/2014/main" id="{92F86B2C-F8FA-4604-AD12-C790638EA9AB}"/>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“Хязгаарлалт байхгүй” гэсэн ерөнхий дүгнэлт хангалтгүй</a:t>
            </a:r>
          </a:p>
        </p:txBody>
      </p:sp>
      <p:sp>
        <p:nvSpPr>
          <p:cNvPr id="3" name="">
            <a:extLst xmlns:a="http://schemas.openxmlformats.org/drawingml/2006/main">
              <a:ext uri="{FF2B5EF4-FFF2-40B4-BE49-F238E27FC236}">
                <a16:creationId xmlns:a16="http://schemas.microsoft.com/office/drawing/2014/main" id="{E5BFC323-02AF-4FD4-904D-6B05D40BE015}"/>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2 / 7    •    2026.09.29</a:t>
            </a:r>
          </a:p>
        </p:txBody>
      </p:sp>
      <p:graphicFrame>
        <p:nvGraphicFramePr>
          <p:cNvPr id="11" name=""/>
          <p:cNvGraphicFramePr/>
          <p:nvPr/>
        </p:nvGraphicFramePr>
        <p:xfrm>
          <a:off xmlns:a="http://schemas.openxmlformats.org/drawingml/2006/main" x="457200" y="1581150"/>
          <a:ext xmlns:a="http://schemas.openxmlformats.org/drawingml/2006/main" cx="11277600" cy="2247900"/>
        </p:xfrm>
        <a:graphic xmlns:a="http://schemas.openxmlformats.org/drawingml/2006/main">
          <a:graphicData uri="http://schemas.openxmlformats.org/drawingml/2006/table">
            <a:tbl>
              <a:tblPr/>
              <a:tblGrid>
                <a:gridCol w="4333875"/>
                <a:gridCol w="6943725"/>
              </a:tblGrid>
              <a:tr h="749300">
                <a:tc>
                  <a:txBody>
                    <a:bodyPr/>
                    <a:lstStyle/>
                    <a:p>
                      <a:r>
                        <a:rPr sz="1500" b="1">
                          <a:solidFill>
                            <a:srgbClr val="FFFFFF"/>
                          </a:solidFill>
                          <a:latin typeface="DejaVu Sans"/>
                          <a:ea typeface="DejaVu Sans"/>
                          <a:cs typeface="DejaVu Sans"/>
                        </a:rPr>
                        <a:t>Хүчин төгөлдөр зохицуулалт</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Шийдвэрт үзүүлэх нөлөө</a:t>
                      </a:r>
                    </a:p>
                  </a:txBody>
                  <a:tcPr marL="91440" marR="91440" marT="45720" marB="45720">
                    <a:solidFill>
                      <a:srgbClr val="153449"/>
                    </a:solidFill>
                  </a:tcPr>
                </a:tc>
              </a:tr>
              <a:tr h="749300">
                <a:tc>
                  <a:txBody>
                    <a:bodyPr/>
                    <a:lstStyle/>
                    <a:p>
                      <a:r>
                        <a:rPr sz="1500" b="0">
                          <a:solidFill>
                            <a:srgbClr val="153449"/>
                          </a:solidFill>
                          <a:latin typeface="DejaVu Sans"/>
                          <a:ea typeface="DejaVu Sans"/>
                          <a:cs typeface="DejaVu Sans"/>
                        </a:rPr>
                        <a:t>Иргэний хууль 208.5, 202.1</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Зээлдүүлэгч татгалзаагүй бол эрт гүйцэтгэж болно. Шударга бус стандарт нөхцөл хүчин төгөлдөр бус болох эрсдэлтэй.</a:t>
                      </a:r>
                    </a:p>
                  </a:txBody>
                  <a:tcPr marL="91440" marR="91440" marT="45720" marB="45720">
                    <a:solidFill>
                      <a:srgbClr val="EDF4F5"/>
                    </a:solidFill>
                  </a:tcPr>
                </a:tc>
              </a:tr>
              <a:tr h="749300">
                <a:tc>
                  <a:txBody>
                    <a:bodyPr/>
                    <a:lstStyle/>
                    <a:p>
                      <a:r>
                        <a:rPr sz="1500" b="0">
                          <a:solidFill>
                            <a:srgbClr val="153449"/>
                          </a:solidFill>
                          <a:latin typeface="DejaVu Sans"/>
                          <a:ea typeface="DejaVu Sans"/>
                          <a:cs typeface="DejaVu Sans"/>
                        </a:rPr>
                        <a:t>Банкны зээлийн үйл ажиллагааны хууль</a:t>
                      </a:r>
                    </a:p>
                    <a:p>
                      <a:r>
                        <a:rPr sz="1500" b="0">
                          <a:solidFill>
                            <a:srgbClr val="153449"/>
                          </a:solidFill>
                          <a:latin typeface="DejaVu Sans"/>
                          <a:ea typeface="DejaVu Sans"/>
                          <a:cs typeface="DejaVu Sans"/>
                        </a:rPr>
                        <a:t>6.5–6.7, 20.2.6, 21.1</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Гэрээнд тусгасан, үндэслэлтэй шимтгэл. Давхар авахгүй. Хүүг ашигласан хугацаагаар тооцно.</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42209AA-31D7-4630-BD04-C124E09960F8}"/>
              </a:ext>
            </a:extLst>
          </p:cNvPr>
          <p:cNvSpPr>
            <a:spLocks xmlns:a="http://schemas.openxmlformats.org/drawingml/2006/main" noGrp="1"/>
          </p:cNvSpPr>
          <p:nvPr/>
        </p:nvSpPr>
        <p:spPr>
          <a:xfrm xmlns:a="http://schemas.openxmlformats.org/drawingml/2006/main">
            <a:off x="457200" y="40957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5B13"/>
                </a:solidFill>
                <a:latin typeface="DejaVu Sans"/>
                <a:ea typeface="DejaVu Sans"/>
                <a:cs typeface="DejaVu Sans"/>
              </a:defRPr>
            </a:pPr>
            <a:r>
              <a:rPr sz="1875" b="1">
                <a:solidFill>
                  <a:srgbClr val="A15B13"/>
                </a:solidFill>
                <a:latin typeface="DejaVu Sans"/>
                <a:ea typeface="DejaVu Sans"/>
                <a:cs typeface="DejaVu Sans"/>
              </a:rPr>
              <a:t>Санхүүгийн хэрэглэгчийн эрхийг хамгаалах тухай төсөл</a:t>
            </a:r>
          </a:p>
        </p:txBody>
      </p:sp>
      <p:sp>
        <p:nvSpPr>
          <p:cNvPr id="6" name="">
            <a:extLst xmlns:a="http://schemas.openxmlformats.org/drawingml/2006/main">
              <a:ext uri="{FF2B5EF4-FFF2-40B4-BE49-F238E27FC236}">
                <a16:creationId xmlns:a16="http://schemas.microsoft.com/office/drawing/2014/main" id="{6C3E3F81-3BD7-4499-80AE-2AFBFEAE6B42}"/>
              </a:ext>
            </a:extLst>
          </p:cNvPr>
          <p:cNvSpPr>
            <a:spLocks xmlns:a="http://schemas.openxmlformats.org/drawingml/2006/main" noGrp="1"/>
          </p:cNvSpPr>
          <p:nvPr/>
        </p:nvSpPr>
        <p:spPr>
          <a:xfrm xmlns:a="http://schemas.openxmlformats.org/drawingml/2006/main">
            <a:off x="457200" y="4591050"/>
            <a:ext cx="11277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9"/>
                </a:solidFill>
                <a:latin typeface="DejaVu Sans"/>
                <a:ea typeface="DejaVu Sans"/>
                <a:cs typeface="DejaVu Sans"/>
              </a:defRPr>
            </a:pPr>
            <a:r>
              <a:rPr sz="1725" b="0">
                <a:solidFill>
                  <a:srgbClr val="153449"/>
                </a:solidFill>
                <a:latin typeface="DejaVu Sans"/>
                <a:ea typeface="DejaVu Sans"/>
                <a:cs typeface="DejaVu Sans"/>
              </a:rPr>
              <a:t>2026.05.21-нд өргөн мэдүүлсэн. 6.1.5-д зээлийг бүхэлд нь, хэсэгчлэн хугацаанаас өмнө нэмэлт торгууль, хураамж, шимтгэлгүй төлөх эрх тусгасан.</a:t>
            </a:r>
          </a:p>
        </p:txBody>
      </p:sp>
      <p:sp>
        <p:nvSpPr>
          <p:cNvPr id="7" name="">
            <a:extLst xmlns:a="http://schemas.openxmlformats.org/drawingml/2006/main">
              <a:ext uri="{FF2B5EF4-FFF2-40B4-BE49-F238E27FC236}">
                <a16:creationId xmlns:a16="http://schemas.microsoft.com/office/drawing/2014/main" id="{4311388E-E482-4998-A781-0E0BA7B21510}"/>
              </a:ext>
            </a:extLst>
          </p:cNvPr>
          <p:cNvSpPr>
            <a:spLocks xmlns:a="http://schemas.openxmlformats.org/drawingml/2006/main" noGrp="1"/>
          </p:cNvSpPr>
          <p:nvPr/>
        </p:nvSpPr>
        <p:spPr>
          <a:xfrm xmlns:a="http://schemas.openxmlformats.org/drawingml/2006/main">
            <a:off x="457200" y="5476875"/>
            <a:ext cx="11277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A15B13"/>
                </a:solidFill>
                <a:latin typeface="DejaVu Sans"/>
                <a:ea typeface="DejaVu Sans"/>
                <a:cs typeface="DejaVu Sans"/>
              </a:defRPr>
            </a:pPr>
            <a:r>
              <a:rPr sz="1575" b="1">
                <a:solidFill>
                  <a:srgbClr val="A15B13"/>
                </a:solidFill>
                <a:latin typeface="DejaVu Sans"/>
                <a:ea typeface="DejaVu Sans"/>
                <a:cs typeface="DejaVu Sans"/>
              </a:rPr>
              <a:t>2026.09.29-ний хайлтаар батлагдсан акт баталгаажаагүй. Төслийн өргөн хүрээ нь бизнесийн зээлийг автоматаар чөлөөлөх үндэс болохгүй.</a:t>
            </a:r>
          </a:p>
        </p:txBody>
      </p:sp>
    </p:spTree>
    <p:extLst>
      <p:ext uri="{BB962C8B-B14F-4D97-AF65-F5344CB8AC3E}">
        <p14:creationId xmlns:p14="http://schemas.microsoft.com/office/powerpoint/2010/main" val="5112543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49A460-A9A0-458F-8B85-CDF9F5B827AB}"/>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Олон улсын практик ба хугацааны босго</a:t>
            </a:r>
          </a:p>
        </p:txBody>
      </p:sp>
      <p:sp>
        <p:nvSpPr>
          <p:cNvPr id="2" name="">
            <a:extLst xmlns:a="http://schemas.openxmlformats.org/drawingml/2006/main">
              <a:ext uri="{FF2B5EF4-FFF2-40B4-BE49-F238E27FC236}">
                <a16:creationId xmlns:a16="http://schemas.microsoft.com/office/drawing/2014/main" id="{1DCB28EA-27D6-4E92-8288-0351056E26DF}"/>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Хугацаа урт байх нь дангаараа урьдчилсан төлөлт хязгаарлах үндэслэл болохгүй</a:t>
            </a:r>
          </a:p>
        </p:txBody>
      </p:sp>
      <p:sp>
        <p:nvSpPr>
          <p:cNvPr id="3" name="">
            <a:extLst xmlns:a="http://schemas.openxmlformats.org/drawingml/2006/main">
              <a:ext uri="{FF2B5EF4-FFF2-40B4-BE49-F238E27FC236}">
                <a16:creationId xmlns:a16="http://schemas.microsoft.com/office/drawing/2014/main" id="{29BCC18D-1203-4053-BDCB-68C6AAC00055}"/>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3 / 7    •    2026.09.29</a:t>
            </a:r>
          </a:p>
        </p:txBody>
      </p:sp>
      <p:graphicFrame>
        <p:nvGraphicFramePr>
          <p:cNvPr id="11" name=""/>
          <p:cNvGraphicFramePr/>
          <p:nvPr/>
        </p:nvGraphicFramePr>
        <p:xfrm>
          <a:off xmlns:a="http://schemas.openxmlformats.org/drawingml/2006/main" x="457200" y="1590675"/>
          <a:ext xmlns:a="http://schemas.openxmlformats.org/drawingml/2006/main" cx="11277600" cy="3009900"/>
        </p:xfrm>
        <a:graphic xmlns:a="http://schemas.openxmlformats.org/drawingml/2006/main">
          <a:graphicData uri="http://schemas.openxmlformats.org/drawingml/2006/table">
            <a:tbl>
              <a:tblPr/>
              <a:tblGrid>
                <a:gridCol w="2524125"/>
                <a:gridCol w="5162550"/>
                <a:gridCol w="3590925"/>
              </a:tblGrid>
              <a:tr h="752475">
                <a:tc>
                  <a:txBody>
                    <a:bodyPr/>
                    <a:lstStyle/>
                    <a:p>
                      <a:r>
                        <a:rPr sz="1500" b="1">
                          <a:solidFill>
                            <a:srgbClr val="FFFFFF"/>
                          </a:solidFill>
                          <a:latin typeface="DejaVu Sans"/>
                          <a:ea typeface="DejaVu Sans"/>
                          <a:cs typeface="DejaVu Sans"/>
                        </a:rPr>
                        <a:t>Жишээ / хамрах хүрээ</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Бодит зохицуулалт</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ХХБ-д авах санаа</a:t>
                      </a:r>
                    </a:p>
                  </a:txBody>
                  <a:tcPr marL="91440" marR="91440" marT="45720" marB="45720">
                    <a:solidFill>
                      <a:srgbClr val="153449"/>
                    </a:solidFill>
                  </a:tcPr>
                </a:tc>
              </a:tr>
              <a:tr h="752475">
                <a:tc>
                  <a:txBody>
                    <a:bodyPr/>
                    <a:lstStyle/>
                    <a:p>
                      <a:r>
                        <a:rPr sz="1500" b="0">
                          <a:solidFill>
                            <a:srgbClr val="153449"/>
                          </a:solidFill>
                          <a:latin typeface="DejaVu Sans"/>
                          <a:ea typeface="DejaVu Sans"/>
                          <a:cs typeface="DejaVu Sans"/>
                        </a:rPr>
                        <a:t>EBRD • төслийн санхүүжилт</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Тогтмол/хувьсах хүү. Шаардлагатай үед эрт төлөлтийн төлбөр.</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Эх үүсвэрийн гэрээ тус бүрийг шалгах</a:t>
                      </a:r>
                    </a:p>
                  </a:txBody>
                  <a:tcPr marL="91440" marR="91440" marT="45720" marB="45720">
                    <a:solidFill>
                      <a:srgbClr val="EDF4F5"/>
                    </a:solidFill>
                  </a:tcPr>
                </a:tc>
              </a:tr>
              <a:tr h="752475">
                <a:tc>
                  <a:txBody>
                    <a:bodyPr/>
                    <a:lstStyle/>
                    <a:p>
                      <a:r>
                        <a:rPr sz="1500" b="0">
                          <a:solidFill>
                            <a:srgbClr val="153449"/>
                          </a:solidFill>
                          <a:latin typeface="DejaVu Sans"/>
                          <a:ea typeface="DejaVu Sans"/>
                          <a:cs typeface="DejaVu Sans"/>
                        </a:rPr>
                        <a:t>ЕХ • хэрэглэгчийн орон сууцны зээл</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Эрт төлөх эрхтэй. Зөвшөөрсөн нөхөн төлбөр нь санхүүгийн алдагдлаас хэтрэхгүй.</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Бодит зардал, ил тод тооцоо</a:t>
                      </a:r>
                    </a:p>
                  </a:txBody>
                  <a:tcPr marL="91440" marR="91440" marT="45720" marB="45720">
                    <a:solidFill>
                      <a:srgbClr val="FFFFFF"/>
                    </a:solidFill>
                  </a:tcPr>
                </a:tc>
              </a:tr>
              <a:tr h="752475">
                <a:tc>
                  <a:txBody>
                    <a:bodyPr/>
                    <a:lstStyle/>
                    <a:p>
                      <a:r>
                        <a:rPr sz="1500" b="0">
                          <a:solidFill>
                            <a:srgbClr val="153449"/>
                          </a:solidFill>
                          <a:latin typeface="DejaVu Sans"/>
                          <a:ea typeface="DejaVu Sans"/>
                          <a:cs typeface="DejaVu Sans"/>
                        </a:rPr>
                        <a:t>АНУ • шаардлага хангасан тодорхой ипотек</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Эхний 2 жил ≤2%, 3 дахь жил ≤1%, цааш 0%. Шимтгэлгүй хувилбар санал болгоно.</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Хязгаарын хугацаа, сонголт, дээд хэмжээ</a:t>
                      </a:r>
                    </a:p>
                  </a:txBody>
                  <a:tcPr marL="91440" marR="91440" marT="45720" marB="45720">
                    <a:solidFill>
                      <a:srgbClr val="EDF4F5"/>
                    </a:solidFill>
                  </a:tcPr>
                </a:tc>
              </a:tr>
            </a:tbl>
          </a:graphicData>
        </a:graphic>
      </p:graphicFrame>
      <p:sp>
        <p:nvSpPr>
          <p:cNvPr id="5" name="">
            <a:extLst xmlns:a="http://schemas.openxmlformats.org/drawingml/2006/main">
              <a:ext uri="{FF2B5EF4-FFF2-40B4-BE49-F238E27FC236}">
                <a16:creationId xmlns:a16="http://schemas.microsoft.com/office/drawing/2014/main" id="{485DFBE1-4F8E-49E9-9E36-7B684D63AE68}"/>
              </a:ext>
            </a:extLst>
          </p:cNvPr>
          <p:cNvSpPr>
            <a:spLocks xmlns:a="http://schemas.openxmlformats.org/drawingml/2006/main" noGrp="1"/>
          </p:cNvSpPr>
          <p:nvPr/>
        </p:nvSpPr>
        <p:spPr>
          <a:xfrm xmlns:a="http://schemas.openxmlformats.org/drawingml/2006/main">
            <a:off x="457200" y="48387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83"/>
                </a:solidFill>
                <a:latin typeface="DejaVu Sans"/>
                <a:ea typeface="DejaVu Sans"/>
                <a:cs typeface="DejaVu Sans"/>
              </a:defRPr>
            </a:pPr>
            <a:r>
              <a:rPr sz="1950" b="1">
                <a:solidFill>
                  <a:srgbClr val="007F83"/>
                </a:solidFill>
                <a:latin typeface="DejaVu Sans"/>
                <a:ea typeface="DejaVu Sans"/>
                <a:cs typeface="DejaVu Sans"/>
              </a:rPr>
              <a:t>Энэ судалгаанд санал болгох дотоод ангилал</a:t>
            </a:r>
          </a:p>
        </p:txBody>
      </p:sp>
      <p:sp>
        <p:nvSpPr>
          <p:cNvPr id="6" name="">
            <a:extLst xmlns:a="http://schemas.openxmlformats.org/drawingml/2006/main">
              <a:ext uri="{FF2B5EF4-FFF2-40B4-BE49-F238E27FC236}">
                <a16:creationId xmlns:a16="http://schemas.microsoft.com/office/drawing/2014/main" id="{F44DA90B-E818-4A2A-A10B-433B2FEFE766}"/>
              </a:ext>
            </a:extLst>
          </p:cNvPr>
          <p:cNvSpPr>
            <a:spLocks xmlns:a="http://schemas.openxmlformats.org/drawingml/2006/main" noGrp="1"/>
          </p:cNvSpPr>
          <p:nvPr/>
        </p:nvSpPr>
        <p:spPr>
          <a:xfrm xmlns:a="http://schemas.openxmlformats.org/drawingml/2006/main">
            <a:off x="457200" y="5276850"/>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9"/>
                </a:solidFill>
                <a:latin typeface="DejaVu Sans"/>
                <a:ea typeface="DejaVu Sans"/>
                <a:cs typeface="DejaVu Sans"/>
              </a:defRPr>
            </a:pPr>
            <a:r>
              <a:rPr sz="1725" b="0">
                <a:solidFill>
                  <a:srgbClr val="153449"/>
                </a:solidFill>
                <a:latin typeface="DejaVu Sans"/>
                <a:ea typeface="DejaVu Sans"/>
                <a:cs typeface="DejaVu Sans"/>
              </a:rPr>
              <a:t>Урт хугацаатай: 5 жилээс дээш. 3–5 жилийн зээлд тогтмол хүү / эх үүсвэрийн хаалтын зардал байвал тусгайлан үнэлнэ.</a:t>
            </a:r>
          </a:p>
        </p:txBody>
      </p:sp>
      <p:sp>
        <p:nvSpPr>
          <p:cNvPr id="7" name="">
            <a:extLst xmlns:a="http://schemas.openxmlformats.org/drawingml/2006/main">
              <a:ext uri="{FF2B5EF4-FFF2-40B4-BE49-F238E27FC236}">
                <a16:creationId xmlns:a16="http://schemas.microsoft.com/office/drawing/2014/main" id="{DB25254E-0BD5-4BD7-9F32-549B833FE161}"/>
              </a:ext>
            </a:extLst>
          </p:cNvPr>
          <p:cNvSpPr>
            <a:spLocks xmlns:a="http://schemas.openxmlformats.org/drawingml/2006/main" noGrp="1"/>
          </p:cNvSpPr>
          <p:nvPr/>
        </p:nvSpPr>
        <p:spPr>
          <a:xfrm xmlns:a="http://schemas.openxmlformats.org/drawingml/2006/main">
            <a:off x="457200" y="60674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572"/>
                </a:solidFill>
                <a:latin typeface="DejaVu Sans"/>
                <a:ea typeface="DejaVu Sans"/>
                <a:cs typeface="DejaVu Sans"/>
              </a:defRPr>
            </a:pPr>
            <a:r>
              <a:rPr sz="1275" b="0">
                <a:solidFill>
                  <a:srgbClr val="526572"/>
                </a:solidFill>
                <a:latin typeface="DejaVu Sans"/>
                <a:ea typeface="DejaVu Sans"/>
                <a:cs typeface="DejaVu Sans"/>
              </a:rPr>
              <a:t>Энэ нь хуульчилсан босго биш. Дэлхийн банк зарим судалгаандаа 1 жилээс дээш хугацааг урт хугацааны санхүүжилтэд тооцдог.</a:t>
            </a:r>
          </a:p>
        </p:txBody>
      </p:sp>
    </p:spTree>
    <p:extLst>
      <p:ext uri="{BB962C8B-B14F-4D97-AF65-F5344CB8AC3E}">
        <p14:creationId xmlns:p14="http://schemas.microsoft.com/office/powerpoint/2010/main" val="17745174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5C482B-19A1-4919-AF11-E840EBA0068B}"/>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Банкны ашигтай байх хүүгийн босго</a:t>
            </a:r>
          </a:p>
        </p:txBody>
      </p:sp>
      <p:sp>
        <p:nvSpPr>
          <p:cNvPr id="2" name="">
            <a:extLst xmlns:a="http://schemas.openxmlformats.org/drawingml/2006/main">
              <a:ext uri="{FF2B5EF4-FFF2-40B4-BE49-F238E27FC236}">
                <a16:creationId xmlns:a16="http://schemas.microsoft.com/office/drawing/2014/main" id="{FFAB9108-B234-4E94-9904-5D90BA9E9F24}"/>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Жишиг тооцоо • нэг валют • 10 тэрбум ₮ • 1 жилийн үлдсэн хугацаа • бодит тариф биш</a:t>
            </a:r>
          </a:p>
        </p:txBody>
      </p:sp>
      <p:sp>
        <p:nvSpPr>
          <p:cNvPr id="3" name="">
            <a:extLst xmlns:a="http://schemas.openxmlformats.org/drawingml/2006/main">
              <a:ext uri="{FF2B5EF4-FFF2-40B4-BE49-F238E27FC236}">
                <a16:creationId xmlns:a16="http://schemas.microsoft.com/office/drawing/2014/main" id="{6E81B32A-93F7-483A-B229-0DBB7C5AEEEB}"/>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4 / 7    •    2026.09.29</a:t>
            </a:r>
          </a:p>
        </p:txBody>
      </p:sp>
      <p:sp>
        <p:nvSpPr>
          <p:cNvPr id="4" name="">
            <a:extLst xmlns:a="http://schemas.openxmlformats.org/drawingml/2006/main">
              <a:ext uri="{FF2B5EF4-FFF2-40B4-BE49-F238E27FC236}">
                <a16:creationId xmlns:a16="http://schemas.microsoft.com/office/drawing/2014/main" id="{351A6937-982A-40F4-B814-2B54E3605FF9}"/>
              </a:ext>
            </a:extLst>
          </p:cNvPr>
          <p:cNvSpPr>
            <a:spLocks xmlns:a="http://schemas.openxmlformats.org/drawingml/2006/main" noGrp="1"/>
          </p:cNvSpPr>
          <p:nvPr/>
        </p:nvSpPr>
        <p:spPr>
          <a:xfrm xmlns:a="http://schemas.openxmlformats.org/drawingml/2006/main">
            <a:off x="457200" y="1562100"/>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83"/>
                </a:solidFill>
                <a:latin typeface="DejaVu Sans"/>
                <a:ea typeface="DejaVu Sans"/>
                <a:cs typeface="DejaVu Sans"/>
              </a:defRPr>
            </a:pPr>
            <a:r>
              <a:rPr sz="1800" b="1">
                <a:solidFill>
                  <a:srgbClr val="007F83"/>
                </a:solidFill>
                <a:latin typeface="DejaVu Sans"/>
                <a:ea typeface="DejaVu Sans"/>
                <a:cs typeface="DejaVu Sans"/>
              </a:rPr>
              <a:t>Алдагдалгүй хүү = эх үүсвэрийн нийт өртөг + эрсдэл, үйл ажиллагаа, капиталын өртөг</a:t>
            </a:r>
          </a:p>
        </p:txBody>
      </p:sp>
      <p:sp>
        <p:nvSpPr>
          <p:cNvPr id="5" name="">
            <a:extLst xmlns:a="http://schemas.openxmlformats.org/drawingml/2006/main">
              <a:ext uri="{FF2B5EF4-FFF2-40B4-BE49-F238E27FC236}">
                <a16:creationId xmlns:a16="http://schemas.microsoft.com/office/drawing/2014/main" id="{60FDE77B-613D-4756-8C79-C75BE6C45A6A}"/>
              </a:ext>
            </a:extLst>
          </p:cNvPr>
          <p:cNvSpPr>
            <a:spLocks xmlns:a="http://schemas.openxmlformats.org/drawingml/2006/main" noGrp="1"/>
          </p:cNvSpPr>
          <p:nvPr/>
        </p:nvSpPr>
        <p:spPr>
          <a:xfrm xmlns:a="http://schemas.openxmlformats.org/drawingml/2006/main">
            <a:off x="457200" y="223837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449"/>
                </a:solidFill>
                <a:latin typeface="DejaVu Sans"/>
                <a:ea typeface="DejaVu Sans"/>
                <a:cs typeface="DejaVu Sans"/>
              </a:defRPr>
            </a:pPr>
            <a:r>
              <a:rPr sz="2025" b="1">
                <a:solidFill>
                  <a:srgbClr val="153449"/>
                </a:solidFill>
                <a:latin typeface="DejaVu Sans"/>
                <a:ea typeface="DejaVu Sans"/>
                <a:cs typeface="DejaVu Sans"/>
              </a:rPr>
              <a:t>6% + 2% = 8%     |     Зорилтот ашиг 1% бол санал болгох хүү ≥9%</a:t>
            </a:r>
          </a:p>
        </p:txBody>
      </p:sp>
      <p:graphicFrame>
        <p:nvGraphicFramePr>
          <p:cNvPr id="14" name=""/>
          <p:cNvGraphicFramePr/>
          <p:nvPr/>
        </p:nvGraphicFramePr>
        <p:xfrm>
          <a:off xmlns:a="http://schemas.openxmlformats.org/drawingml/2006/main" x="457200" y="2876550"/>
          <a:ext xmlns:a="http://schemas.openxmlformats.org/drawingml/2006/main" cx="11277600" cy="2266950"/>
        </p:xfrm>
        <a:graphic xmlns:a="http://schemas.openxmlformats.org/drawingml/2006/main">
          <a:graphicData uri="http://schemas.openxmlformats.org/drawingml/2006/table">
            <a:tbl>
              <a:tblPr/>
              <a:tblGrid>
                <a:gridCol w="4457700"/>
                <a:gridCol w="3790950"/>
                <a:gridCol w="3028950"/>
              </a:tblGrid>
              <a:tr h="566738">
                <a:tc>
                  <a:txBody>
                    <a:bodyPr/>
                    <a:lstStyle/>
                    <a:p>
                      <a:r>
                        <a:rPr sz="1425" b="1">
                          <a:solidFill>
                            <a:srgbClr val="FFFFFF"/>
                          </a:solidFill>
                          <a:latin typeface="DejaVu Sans"/>
                          <a:ea typeface="DejaVu Sans"/>
                          <a:cs typeface="DejaVu Sans"/>
                        </a:rPr>
                        <a:t>Төлөлтийн дараах хувилбар</a:t>
                      </a:r>
                    </a:p>
                  </a:txBody>
                  <a:tcPr marL="91440" marR="91440" marT="45720" marB="45720">
                    <a:solidFill>
                      <a:srgbClr val="153449"/>
                    </a:solidFill>
                  </a:tcPr>
                </a:tc>
                <a:tc>
                  <a:txBody>
                    <a:bodyPr/>
                    <a:lstStyle/>
                    <a:p>
                      <a:r>
                        <a:rPr sz="1425" b="1">
                          <a:solidFill>
                            <a:srgbClr val="FFFFFF"/>
                          </a:solidFill>
                          <a:latin typeface="DejaVu Sans"/>
                          <a:ea typeface="DejaVu Sans"/>
                          <a:cs typeface="DejaVu Sans"/>
                        </a:rPr>
                        <a:t>Жилийн цэвэр үр дүн</a:t>
                      </a:r>
                    </a:p>
                  </a:txBody>
                  <a:tcPr marL="91440" marR="91440" marT="45720" marB="45720">
                    <a:solidFill>
                      <a:srgbClr val="153449"/>
                    </a:solidFill>
                  </a:tcPr>
                </a:tc>
                <a:tc>
                  <a:txBody>
                    <a:bodyPr/>
                    <a:lstStyle/>
                    <a:p>
                      <a:r>
                        <a:rPr sz="1425" b="1">
                          <a:solidFill>
                            <a:srgbClr val="FFFFFF"/>
                          </a:solidFill>
                          <a:latin typeface="DejaVu Sans"/>
                          <a:ea typeface="DejaVu Sans"/>
                          <a:cs typeface="DejaVu Sans"/>
                        </a:rPr>
                        <a:t>9%-ийн зээлийг хадгалахаас зөрөх</a:t>
                      </a:r>
                    </a:p>
                  </a:txBody>
                  <a:tcPr marL="91440" marR="91440" marT="45720" marB="45720">
                    <a:solidFill>
                      <a:srgbClr val="153449"/>
                    </a:solidFill>
                  </a:tcPr>
                </a:tc>
              </a:tr>
              <a:tr h="566738">
                <a:tc>
                  <a:txBody>
                    <a:bodyPr/>
                    <a:lstStyle/>
                    <a:p>
                      <a:r>
                        <a:rPr sz="1425" b="0">
                          <a:solidFill>
                            <a:srgbClr val="153449"/>
                          </a:solidFill>
                          <a:latin typeface="DejaVu Sans"/>
                          <a:ea typeface="DejaVu Sans"/>
                          <a:cs typeface="DejaVu Sans"/>
                        </a:rPr>
                        <a:t>Хуучин 9%-ийн зээлийг хадгална</a:t>
                      </a:r>
                    </a:p>
                  </a:txBody>
                  <a:tcPr marL="91440" marR="91440" marT="45720" marB="45720">
                    <a:solidFill>
                      <a:srgbClr val="EDF4F5"/>
                    </a:solidFill>
                  </a:tcPr>
                </a:tc>
                <a:tc>
                  <a:txBody>
                    <a:bodyPr/>
                    <a:lstStyle/>
                    <a:p>
                      <a:r>
                        <a:rPr sz="1425" b="0">
                          <a:solidFill>
                            <a:srgbClr val="153449"/>
                          </a:solidFill>
                          <a:latin typeface="DejaVu Sans"/>
                          <a:ea typeface="DejaVu Sans"/>
                          <a:cs typeface="DejaVu Sans"/>
                        </a:rPr>
                        <a:t>(9% − 6% − 2%) × 10 тэрбум = 100 сая ₮</a:t>
                      </a:r>
                    </a:p>
                  </a:txBody>
                  <a:tcPr marL="91440" marR="91440" marT="45720" marB="45720">
                    <a:solidFill>
                      <a:srgbClr val="EDF4F5"/>
                    </a:solidFill>
                  </a:tcPr>
                </a:tc>
                <a:tc>
                  <a:txBody>
                    <a:bodyPr/>
                    <a:lstStyle/>
                    <a:p>
                      <a:r>
                        <a:rPr sz="1425" b="0">
                          <a:solidFill>
                            <a:srgbClr val="153449"/>
                          </a:solidFill>
                          <a:latin typeface="DejaVu Sans"/>
                          <a:ea typeface="DejaVu Sans"/>
                          <a:cs typeface="DejaVu Sans"/>
                        </a:rPr>
                        <a:t>Суурь</a:t>
                      </a:r>
                    </a:p>
                  </a:txBody>
                  <a:tcPr marL="91440" marR="91440" marT="45720" marB="45720">
                    <a:solidFill>
                      <a:srgbClr val="EDF4F5"/>
                    </a:solidFill>
                  </a:tcPr>
                </a:tc>
              </a:tr>
              <a:tr h="566738">
                <a:tc>
                  <a:txBody>
                    <a:bodyPr/>
                    <a:lstStyle/>
                    <a:p>
                      <a:r>
                        <a:rPr sz="1425" b="0">
                          <a:solidFill>
                            <a:srgbClr val="153449"/>
                          </a:solidFill>
                          <a:latin typeface="DejaVu Sans"/>
                          <a:ea typeface="DejaVu Sans"/>
                          <a:cs typeface="DejaVu Sans"/>
                        </a:rPr>
                        <a:t>Эх үүсвэр буцаахгүй, 4%-д түр байршуулна</a:t>
                      </a:r>
                    </a:p>
                  </a:txBody>
                  <a:tcPr marL="91440" marR="91440" marT="45720" marB="45720">
                    <a:solidFill>
                      <a:srgbClr val="FFFFFF"/>
                    </a:solidFill>
                  </a:tcPr>
                </a:tc>
                <a:tc>
                  <a:txBody>
                    <a:bodyPr/>
                    <a:lstStyle/>
                    <a:p>
                      <a:r>
                        <a:rPr sz="1425" b="0">
                          <a:solidFill>
                            <a:srgbClr val="153449"/>
                          </a:solidFill>
                          <a:latin typeface="DejaVu Sans"/>
                          <a:ea typeface="DejaVu Sans"/>
                          <a:cs typeface="DejaVu Sans"/>
                        </a:rPr>
                        <a:t>(4% − 6%) × 10 тэрбум = −200 сая ₮</a:t>
                      </a:r>
                    </a:p>
                  </a:txBody>
                  <a:tcPr marL="91440" marR="91440" marT="45720" marB="45720">
                    <a:solidFill>
                      <a:srgbClr val="FFFFFF"/>
                    </a:solidFill>
                  </a:tcPr>
                </a:tc>
                <a:tc>
                  <a:txBody>
                    <a:bodyPr/>
                    <a:lstStyle/>
                    <a:p>
                      <a:r>
                        <a:rPr sz="1425" b="0">
                          <a:solidFill>
                            <a:srgbClr val="153449"/>
                          </a:solidFill>
                          <a:latin typeface="DejaVu Sans"/>
                          <a:ea typeface="DejaVu Sans"/>
                          <a:cs typeface="DejaVu Sans"/>
                        </a:rPr>
                        <a:t>−300 сая ₮</a:t>
                      </a:r>
                    </a:p>
                  </a:txBody>
                  <a:tcPr marL="91440" marR="91440" marT="45720" marB="45720">
                    <a:solidFill>
                      <a:srgbClr val="FFFFFF"/>
                    </a:solidFill>
                  </a:tcPr>
                </a:tc>
              </a:tr>
              <a:tr h="566738">
                <a:tc>
                  <a:txBody>
                    <a:bodyPr/>
                    <a:lstStyle/>
                    <a:p>
                      <a:r>
                        <a:rPr sz="1425" b="0">
                          <a:solidFill>
                            <a:srgbClr val="153449"/>
                          </a:solidFill>
                          <a:latin typeface="DejaVu Sans"/>
                          <a:ea typeface="DejaVu Sans"/>
                          <a:cs typeface="DejaVu Sans"/>
                        </a:rPr>
                        <a:t>Ижил эрсдэлтэй шинэ 11%-ийн зээлд шууд олгоно</a:t>
                      </a:r>
                    </a:p>
                  </a:txBody>
                  <a:tcPr marL="91440" marR="91440" marT="45720" marB="45720">
                    <a:solidFill>
                      <a:srgbClr val="EDF4F5"/>
                    </a:solidFill>
                  </a:tcPr>
                </a:tc>
                <a:tc>
                  <a:txBody>
                    <a:bodyPr/>
                    <a:lstStyle/>
                    <a:p>
                      <a:r>
                        <a:rPr sz="1425" b="0">
                          <a:solidFill>
                            <a:srgbClr val="153449"/>
                          </a:solidFill>
                          <a:latin typeface="DejaVu Sans"/>
                          <a:ea typeface="DejaVu Sans"/>
                          <a:cs typeface="DejaVu Sans"/>
                        </a:rPr>
                        <a:t>(11% − 6% − 2%) × 10 тэрбум = 300 сая ₮</a:t>
                      </a:r>
                    </a:p>
                  </a:txBody>
                  <a:tcPr marL="91440" marR="91440" marT="45720" marB="45720">
                    <a:solidFill>
                      <a:srgbClr val="EDF4F5"/>
                    </a:solidFill>
                  </a:tcPr>
                </a:tc>
                <a:tc>
                  <a:txBody>
                    <a:bodyPr/>
                    <a:lstStyle/>
                    <a:p>
                      <a:r>
                        <a:rPr sz="1425" b="0">
                          <a:solidFill>
                            <a:srgbClr val="153449"/>
                          </a:solidFill>
                          <a:latin typeface="DejaVu Sans"/>
                          <a:ea typeface="DejaVu Sans"/>
                          <a:cs typeface="DejaVu Sans"/>
                        </a:rPr>
                        <a:t>+200 сая ₮</a:t>
                      </a:r>
                    </a:p>
                  </a:txBody>
                  <a:tcPr marL="91440" marR="91440" marT="45720" marB="45720">
                    <a:solidFill>
                      <a:srgbClr val="EDF4F5"/>
                    </a:solidFill>
                  </a:tcPr>
                </a:tc>
              </a:tr>
            </a:tbl>
          </a:graphicData>
        </a:graphic>
      </p:graphicFrame>
      <p:sp>
        <p:nvSpPr>
          <p:cNvPr id="7" name="">
            <a:extLst xmlns:a="http://schemas.openxmlformats.org/drawingml/2006/main">
              <a:ext uri="{FF2B5EF4-FFF2-40B4-BE49-F238E27FC236}">
                <a16:creationId xmlns:a16="http://schemas.microsoft.com/office/drawing/2014/main" id="{D6DD7AD7-E766-4D1D-B5D0-11C0A9F4E71C}"/>
              </a:ext>
            </a:extLst>
          </p:cNvPr>
          <p:cNvSpPr>
            <a:spLocks xmlns:a="http://schemas.openxmlformats.org/drawingml/2006/main" noGrp="1"/>
          </p:cNvSpPr>
          <p:nvPr/>
        </p:nvSpPr>
        <p:spPr>
          <a:xfrm xmlns:a="http://schemas.openxmlformats.org/drawingml/2006/main">
            <a:off x="457200" y="53911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83"/>
                </a:solidFill>
                <a:latin typeface="DejaVu Sans"/>
                <a:ea typeface="DejaVu Sans"/>
                <a:cs typeface="DejaVu Sans"/>
              </a:defRPr>
            </a:pPr>
            <a:r>
              <a:rPr sz="1875" b="1">
                <a:solidFill>
                  <a:srgbClr val="007F83"/>
                </a:solidFill>
                <a:latin typeface="DejaVu Sans"/>
                <a:ea typeface="DejaVu Sans"/>
                <a:cs typeface="DejaVu Sans"/>
              </a:rPr>
              <a:t>Гадаад эх үүсвэрийн нэрлэсэн хүүд ганц босго байхгүй</a:t>
            </a:r>
          </a:p>
        </p:txBody>
      </p:sp>
      <p:sp>
        <p:nvSpPr>
          <p:cNvPr id="8" name="">
            <a:extLst xmlns:a="http://schemas.openxmlformats.org/drawingml/2006/main">
              <a:ext uri="{FF2B5EF4-FFF2-40B4-BE49-F238E27FC236}">
                <a16:creationId xmlns:a16="http://schemas.microsoft.com/office/drawing/2014/main" id="{F98E8E48-9660-4359-81D7-2A65E3663590}"/>
              </a:ext>
            </a:extLst>
          </p:cNvPr>
          <p:cNvSpPr>
            <a:spLocks xmlns:a="http://schemas.openxmlformats.org/drawingml/2006/main" noGrp="1"/>
          </p:cNvSpPr>
          <p:nvPr/>
        </p:nvSpPr>
        <p:spPr>
          <a:xfrm xmlns:a="http://schemas.openxmlformats.org/drawingml/2006/main">
            <a:off x="457200" y="5810250"/>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449"/>
                </a:solidFill>
                <a:latin typeface="DejaVu Sans"/>
                <a:ea typeface="DejaVu Sans"/>
                <a:cs typeface="DejaVu Sans"/>
              </a:defRPr>
            </a:pPr>
            <a:r>
              <a:rPr sz="1575" b="0">
                <a:solidFill>
                  <a:srgbClr val="153449"/>
                </a:solidFill>
                <a:latin typeface="DejaVu Sans"/>
                <a:ea typeface="DejaVu Sans"/>
                <a:cs typeface="DejaVu Sans"/>
              </a:rPr>
              <a:t>Жишээ: зээл 9%, нэмэлт санхүүжилтийн зардал 2%, бусад өртөг 2%, ашиг 1% гэвэл гадаад эх үүсвэрийн хүү ≤4%.</a:t>
            </a:r>
          </a:p>
        </p:txBody>
      </p:sp>
    </p:spTree>
    <p:extLst>
      <p:ext uri="{BB962C8B-B14F-4D97-AF65-F5344CB8AC3E}">
        <p14:creationId xmlns:p14="http://schemas.microsoft.com/office/powerpoint/2010/main" val="1673042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FE9918-A0C4-4ECF-A6BF-79DBAA20E335}"/>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Харилцагчийн хэмнэлт ба ханшийн эрсдэл</a:t>
            </a:r>
          </a:p>
        </p:txBody>
      </p:sp>
      <p:sp>
        <p:nvSpPr>
          <p:cNvPr id="2" name="">
            <a:extLst xmlns:a="http://schemas.openxmlformats.org/drawingml/2006/main">
              <a:ext uri="{FF2B5EF4-FFF2-40B4-BE49-F238E27FC236}">
                <a16:creationId xmlns:a16="http://schemas.microsoft.com/office/drawing/2014/main" id="{70153E60-FCDB-4CE9-AB9F-C917BAA8813C}"/>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Төгрөгийн орлоготой, валютын хамгаалалтгүй харилцагчийн жишээ</a:t>
            </a:r>
          </a:p>
        </p:txBody>
      </p:sp>
      <p:sp>
        <p:nvSpPr>
          <p:cNvPr id="3" name="">
            <a:extLst xmlns:a="http://schemas.openxmlformats.org/drawingml/2006/main">
              <a:ext uri="{FF2B5EF4-FFF2-40B4-BE49-F238E27FC236}">
                <a16:creationId xmlns:a16="http://schemas.microsoft.com/office/drawing/2014/main" id="{1CFA1141-8FE4-4D2C-AFB8-E2EB312D2C42}"/>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5 / 7    •    2026.09.29</a:t>
            </a:r>
          </a:p>
        </p:txBody>
      </p:sp>
      <p:sp>
        <p:nvSpPr>
          <p:cNvPr id="4" name="">
            <a:extLst xmlns:a="http://schemas.openxmlformats.org/drawingml/2006/main">
              <a:ext uri="{FF2B5EF4-FFF2-40B4-BE49-F238E27FC236}">
                <a16:creationId xmlns:a16="http://schemas.microsoft.com/office/drawing/2014/main" id="{17843D45-886A-4843-B626-9EE9B73D93C3}"/>
              </a:ext>
            </a:extLst>
          </p:cNvPr>
          <p:cNvSpPr>
            <a:spLocks xmlns:a="http://schemas.openxmlformats.org/drawingml/2006/main" noGrp="1"/>
          </p:cNvSpPr>
          <p:nvPr/>
        </p:nvSpPr>
        <p:spPr>
          <a:xfrm xmlns:a="http://schemas.openxmlformats.org/drawingml/2006/main">
            <a:off x="457200" y="157162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3"/>
                </a:solidFill>
                <a:latin typeface="DejaVu Sans"/>
                <a:ea typeface="DejaVu Sans"/>
                <a:cs typeface="DejaVu Sans"/>
              </a:defRPr>
            </a:pPr>
            <a:r>
              <a:rPr sz="2100" b="1">
                <a:solidFill>
                  <a:srgbClr val="007F83"/>
                </a:solidFill>
                <a:latin typeface="DejaVu Sans"/>
                <a:ea typeface="DejaVu Sans"/>
                <a:cs typeface="DejaVu Sans"/>
              </a:rPr>
              <a:t>USD зээл 8% ба төгрөгийн зээл 18%-ийн харьцуулалт</a:t>
            </a:r>
          </a:p>
        </p:txBody>
      </p:sp>
      <p:graphicFrame>
        <p:nvGraphicFramePr>
          <p:cNvPr id="13" name=""/>
          <p:cNvGraphicFramePr/>
          <p:nvPr/>
        </p:nvGraphicFramePr>
        <p:xfrm>
          <a:off xmlns:a="http://schemas.openxmlformats.org/drawingml/2006/main" x="457200" y="2152650"/>
          <a:ext xmlns:a="http://schemas.openxmlformats.org/drawingml/2006/main" cx="11277600" cy="2409825"/>
        </p:xfrm>
        <a:graphic xmlns:a="http://schemas.openxmlformats.org/drawingml/2006/main">
          <a:graphicData uri="http://schemas.openxmlformats.org/drawingml/2006/table">
            <a:tbl>
              <a:tblPr/>
              <a:tblGrid>
                <a:gridCol w="3143250"/>
                <a:gridCol w="3810000"/>
                <a:gridCol w="4324350"/>
              </a:tblGrid>
              <a:tr h="481965">
                <a:tc>
                  <a:txBody>
                    <a:bodyPr/>
                    <a:lstStyle/>
                    <a:p>
                      <a:r>
                        <a:rPr sz="1575" b="1">
                          <a:solidFill>
                            <a:srgbClr val="FFFFFF"/>
                          </a:solidFill>
                          <a:latin typeface="DejaVu Sans"/>
                          <a:ea typeface="DejaVu Sans"/>
                          <a:cs typeface="DejaVu Sans"/>
                        </a:rPr>
                        <a:t>USD/MNT жилийн өсөлт</a:t>
                      </a:r>
                    </a:p>
                  </a:txBody>
                  <a:tcPr marL="91440" marR="91440" marT="45720" marB="45720">
                    <a:solidFill>
                      <a:srgbClr val="153449"/>
                    </a:solidFill>
                  </a:tcPr>
                </a:tc>
                <a:tc>
                  <a:txBody>
                    <a:bodyPr/>
                    <a:lstStyle/>
                    <a:p>
                      <a:r>
                        <a:rPr sz="1575" b="1">
                          <a:solidFill>
                            <a:srgbClr val="FFFFFF"/>
                          </a:solidFill>
                          <a:latin typeface="DejaVu Sans"/>
                          <a:ea typeface="DejaVu Sans"/>
                          <a:cs typeface="DejaVu Sans"/>
                        </a:rPr>
                        <a:t>USD зээлийн төгрөгөөрх өртөг</a:t>
                      </a:r>
                    </a:p>
                  </a:txBody>
                  <a:tcPr marL="91440" marR="91440" marT="45720" marB="45720">
                    <a:solidFill>
                      <a:srgbClr val="153449"/>
                    </a:solidFill>
                  </a:tcPr>
                </a:tc>
                <a:tc>
                  <a:txBody>
                    <a:bodyPr/>
                    <a:lstStyle/>
                    <a:p>
                      <a:r>
                        <a:rPr sz="1575" b="1">
                          <a:solidFill>
                            <a:srgbClr val="FFFFFF"/>
                          </a:solidFill>
                          <a:latin typeface="DejaVu Sans"/>
                          <a:ea typeface="DejaVu Sans"/>
                          <a:cs typeface="DejaVu Sans"/>
                        </a:rPr>
                        <a:t>18%-ийн төгрөгийн зээлтэй харьцуулах</a:t>
                      </a:r>
                    </a:p>
                  </a:txBody>
                  <a:tcPr marL="91440" marR="91440" marT="45720" marB="45720">
                    <a:solidFill>
                      <a:srgbClr val="153449"/>
                    </a:solidFill>
                  </a:tcPr>
                </a:tc>
              </a:tr>
              <a:tr h="481965">
                <a:tc>
                  <a:txBody>
                    <a:bodyPr/>
                    <a:lstStyle/>
                    <a:p>
                      <a:r>
                        <a:rPr sz="1575" b="0">
                          <a:solidFill>
                            <a:srgbClr val="153449"/>
                          </a:solidFill>
                          <a:latin typeface="DejaVu Sans"/>
                          <a:ea typeface="DejaVu Sans"/>
                          <a:cs typeface="DejaVu Sans"/>
                        </a:rPr>
                        <a:t>0%</a:t>
                      </a:r>
                    </a:p>
                  </a:txBody>
                  <a:tcPr marL="91440" marR="91440" marT="45720" marB="45720">
                    <a:solidFill>
                      <a:srgbClr val="EDF4F5"/>
                    </a:solidFill>
                  </a:tcPr>
                </a:tc>
                <a:tc>
                  <a:txBody>
                    <a:bodyPr/>
                    <a:lstStyle/>
                    <a:p>
                      <a:r>
                        <a:rPr sz="1575" b="0">
                          <a:solidFill>
                            <a:srgbClr val="153449"/>
                          </a:solidFill>
                          <a:latin typeface="DejaVu Sans"/>
                          <a:ea typeface="DejaVu Sans"/>
                          <a:cs typeface="DejaVu Sans"/>
                        </a:rPr>
                        <a:t>8.0%</a:t>
                      </a:r>
                    </a:p>
                  </a:txBody>
                  <a:tcPr marL="91440" marR="91440" marT="45720" marB="45720">
                    <a:solidFill>
                      <a:srgbClr val="EDF4F5"/>
                    </a:solidFill>
                  </a:tcPr>
                </a:tc>
                <a:tc>
                  <a:txBody>
                    <a:bodyPr/>
                    <a:lstStyle/>
                    <a:p>
                      <a:r>
                        <a:rPr sz="1575" b="0">
                          <a:solidFill>
                            <a:srgbClr val="153449"/>
                          </a:solidFill>
                          <a:latin typeface="DejaVu Sans"/>
                          <a:ea typeface="DejaVu Sans"/>
                          <a:cs typeface="DejaVu Sans"/>
                        </a:rPr>
                        <a:t>10.0 нэгж хувиар бага</a:t>
                      </a:r>
                    </a:p>
                  </a:txBody>
                  <a:tcPr marL="91440" marR="91440" marT="45720" marB="45720">
                    <a:solidFill>
                      <a:srgbClr val="EDF4F5"/>
                    </a:solidFill>
                  </a:tcPr>
                </a:tc>
              </a:tr>
              <a:tr h="481965">
                <a:tc>
                  <a:txBody>
                    <a:bodyPr/>
                    <a:lstStyle/>
                    <a:p>
                      <a:r>
                        <a:rPr sz="1575" b="0">
                          <a:solidFill>
                            <a:srgbClr val="153449"/>
                          </a:solidFill>
                          <a:latin typeface="DejaVu Sans"/>
                          <a:ea typeface="DejaVu Sans"/>
                          <a:cs typeface="DejaVu Sans"/>
                        </a:rPr>
                        <a:t>5%</a:t>
                      </a:r>
                    </a:p>
                  </a:txBody>
                  <a:tcPr marL="91440" marR="91440" marT="45720" marB="45720">
                    <a:solidFill>
                      <a:srgbClr val="FFFFFF"/>
                    </a:solidFill>
                  </a:tcPr>
                </a:tc>
                <a:tc>
                  <a:txBody>
                    <a:bodyPr/>
                    <a:lstStyle/>
                    <a:p>
                      <a:r>
                        <a:rPr sz="1575" b="0">
                          <a:solidFill>
                            <a:srgbClr val="153449"/>
                          </a:solidFill>
                          <a:latin typeface="DejaVu Sans"/>
                          <a:ea typeface="DejaVu Sans"/>
                          <a:cs typeface="DejaVu Sans"/>
                        </a:rPr>
                        <a:t>13.4%</a:t>
                      </a:r>
                    </a:p>
                  </a:txBody>
                  <a:tcPr marL="91440" marR="91440" marT="45720" marB="45720">
                    <a:solidFill>
                      <a:srgbClr val="FFFFFF"/>
                    </a:solidFill>
                  </a:tcPr>
                </a:tc>
                <a:tc>
                  <a:txBody>
                    <a:bodyPr/>
                    <a:lstStyle/>
                    <a:p>
                      <a:r>
                        <a:rPr sz="1575" b="0">
                          <a:solidFill>
                            <a:srgbClr val="153449"/>
                          </a:solidFill>
                          <a:latin typeface="DejaVu Sans"/>
                          <a:ea typeface="DejaVu Sans"/>
                          <a:cs typeface="DejaVu Sans"/>
                        </a:rPr>
                        <a:t>4.6 нэгж хувиар бага</a:t>
                      </a:r>
                    </a:p>
                  </a:txBody>
                  <a:tcPr marL="91440" marR="91440" marT="45720" marB="45720">
                    <a:solidFill>
                      <a:srgbClr val="FFFFFF"/>
                    </a:solidFill>
                  </a:tcPr>
                </a:tc>
              </a:tr>
              <a:tr h="481965">
                <a:tc>
                  <a:txBody>
                    <a:bodyPr/>
                    <a:lstStyle/>
                    <a:p>
                      <a:r>
                        <a:rPr sz="1575" b="0">
                          <a:solidFill>
                            <a:srgbClr val="153449"/>
                          </a:solidFill>
                          <a:latin typeface="DejaVu Sans"/>
                          <a:ea typeface="DejaVu Sans"/>
                          <a:cs typeface="DejaVu Sans"/>
                        </a:rPr>
                        <a:t>10%</a:t>
                      </a:r>
                    </a:p>
                  </a:txBody>
                  <a:tcPr marL="91440" marR="91440" marT="45720" marB="45720">
                    <a:solidFill>
                      <a:srgbClr val="EDF4F5"/>
                    </a:solidFill>
                  </a:tcPr>
                </a:tc>
                <a:tc>
                  <a:txBody>
                    <a:bodyPr/>
                    <a:lstStyle/>
                    <a:p>
                      <a:r>
                        <a:rPr sz="1575" b="0">
                          <a:solidFill>
                            <a:srgbClr val="153449"/>
                          </a:solidFill>
                          <a:latin typeface="DejaVu Sans"/>
                          <a:ea typeface="DejaVu Sans"/>
                          <a:cs typeface="DejaVu Sans"/>
                        </a:rPr>
                        <a:t>18.8%</a:t>
                      </a:r>
                    </a:p>
                  </a:txBody>
                  <a:tcPr marL="91440" marR="91440" marT="45720" marB="45720">
                    <a:solidFill>
                      <a:srgbClr val="EDF4F5"/>
                    </a:solidFill>
                  </a:tcPr>
                </a:tc>
                <a:tc>
                  <a:txBody>
                    <a:bodyPr/>
                    <a:lstStyle/>
                    <a:p>
                      <a:r>
                        <a:rPr sz="1575" b="0">
                          <a:solidFill>
                            <a:srgbClr val="153449"/>
                          </a:solidFill>
                          <a:latin typeface="DejaVu Sans"/>
                          <a:ea typeface="DejaVu Sans"/>
                          <a:cs typeface="DejaVu Sans"/>
                        </a:rPr>
                        <a:t>0.8 нэгж хувиар их</a:t>
                      </a:r>
                    </a:p>
                  </a:txBody>
                  <a:tcPr marL="91440" marR="91440" marT="45720" marB="45720">
                    <a:solidFill>
                      <a:srgbClr val="EDF4F5"/>
                    </a:solidFill>
                  </a:tcPr>
                </a:tc>
              </a:tr>
              <a:tr h="481965">
                <a:tc>
                  <a:txBody>
                    <a:bodyPr/>
                    <a:lstStyle/>
                    <a:p>
                      <a:r>
                        <a:rPr sz="1575" b="0">
                          <a:solidFill>
                            <a:srgbClr val="153449"/>
                          </a:solidFill>
                          <a:latin typeface="DejaVu Sans"/>
                          <a:ea typeface="DejaVu Sans"/>
                          <a:cs typeface="DejaVu Sans"/>
                        </a:rPr>
                        <a:t>15%</a:t>
                      </a:r>
                    </a:p>
                  </a:txBody>
                  <a:tcPr marL="91440" marR="91440" marT="45720" marB="45720">
                    <a:solidFill>
                      <a:srgbClr val="FFFFFF"/>
                    </a:solidFill>
                  </a:tcPr>
                </a:tc>
                <a:tc>
                  <a:txBody>
                    <a:bodyPr/>
                    <a:lstStyle/>
                    <a:p>
                      <a:r>
                        <a:rPr sz="1575" b="0">
                          <a:solidFill>
                            <a:srgbClr val="153449"/>
                          </a:solidFill>
                          <a:latin typeface="DejaVu Sans"/>
                          <a:ea typeface="DejaVu Sans"/>
                          <a:cs typeface="DejaVu Sans"/>
                        </a:rPr>
                        <a:t>24.2%</a:t>
                      </a:r>
                    </a:p>
                  </a:txBody>
                  <a:tcPr marL="91440" marR="91440" marT="45720" marB="45720">
                    <a:solidFill>
                      <a:srgbClr val="FFFFFF"/>
                    </a:solidFill>
                  </a:tcPr>
                </a:tc>
                <a:tc>
                  <a:txBody>
                    <a:bodyPr/>
                    <a:lstStyle/>
                    <a:p>
                      <a:r>
                        <a:rPr sz="1575" b="0">
                          <a:solidFill>
                            <a:srgbClr val="153449"/>
                          </a:solidFill>
                          <a:latin typeface="DejaVu Sans"/>
                          <a:ea typeface="DejaVu Sans"/>
                          <a:cs typeface="DejaVu Sans"/>
                        </a:rPr>
                        <a:t>6.2 нэгж хувиар их</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FCC25DC-ADB2-4B0D-9D84-3F0551DC6901}"/>
              </a:ext>
            </a:extLst>
          </p:cNvPr>
          <p:cNvSpPr>
            <a:spLocks xmlns:a="http://schemas.openxmlformats.org/drawingml/2006/main" noGrp="1"/>
          </p:cNvSpPr>
          <p:nvPr/>
        </p:nvSpPr>
        <p:spPr>
          <a:xfrm xmlns:a="http://schemas.openxmlformats.org/drawingml/2006/main">
            <a:off x="457200" y="4743450"/>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449"/>
                </a:solidFill>
                <a:latin typeface="DejaVu Sans"/>
                <a:ea typeface="DejaVu Sans"/>
                <a:cs typeface="DejaVu Sans"/>
              </a:defRPr>
            </a:pPr>
            <a:r>
              <a:rPr sz="2100" b="1">
                <a:solidFill>
                  <a:srgbClr val="153449"/>
                </a:solidFill>
                <a:latin typeface="DejaVu Sans"/>
                <a:ea typeface="DejaVu Sans"/>
                <a:cs typeface="DejaVu Sans"/>
              </a:rPr>
              <a:t>Ханшийн босго: 9.26% = 1.18 / 1.08 − 1</a:t>
            </a:r>
          </a:p>
        </p:txBody>
      </p:sp>
      <p:sp>
        <p:nvSpPr>
          <p:cNvPr id="7" name="">
            <a:extLst xmlns:a="http://schemas.openxmlformats.org/drawingml/2006/main">
              <a:ext uri="{FF2B5EF4-FFF2-40B4-BE49-F238E27FC236}">
                <a16:creationId xmlns:a16="http://schemas.microsoft.com/office/drawing/2014/main" id="{4DF9AD16-06CB-41D9-9E27-78713A904BCE}"/>
              </a:ext>
            </a:extLst>
          </p:cNvPr>
          <p:cNvSpPr>
            <a:spLocks xmlns:a="http://schemas.openxmlformats.org/drawingml/2006/main" noGrp="1"/>
          </p:cNvSpPr>
          <p:nvPr/>
        </p:nvSpPr>
        <p:spPr>
          <a:xfrm xmlns:a="http://schemas.openxmlformats.org/drawingml/2006/main">
            <a:off x="457200" y="5257800"/>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9"/>
                </a:solidFill>
                <a:latin typeface="DejaVu Sans"/>
                <a:ea typeface="DejaVu Sans"/>
                <a:cs typeface="DejaVu Sans"/>
              </a:defRPr>
            </a:pPr>
            <a:r>
              <a:rPr sz="1725" b="0">
                <a:solidFill>
                  <a:srgbClr val="153449"/>
                </a:solidFill>
                <a:latin typeface="DejaVu Sans"/>
                <a:ea typeface="DejaVu Sans"/>
                <a:cs typeface="DejaVu Sans"/>
              </a:rPr>
              <a:t>Урьдчилж төлөх ашиг: хүү, ханшийн хэмнэлтээс шимтгэл болон өөр ашиглалтын өгөөжийг хасна.</a:t>
            </a:r>
          </a:p>
        </p:txBody>
      </p:sp>
      <p:sp>
        <p:nvSpPr>
          <p:cNvPr id="8" name="">
            <a:extLst xmlns:a="http://schemas.openxmlformats.org/drawingml/2006/main">
              <a:ext uri="{FF2B5EF4-FFF2-40B4-BE49-F238E27FC236}">
                <a16:creationId xmlns:a16="http://schemas.microsoft.com/office/drawing/2014/main" id="{88A7339B-D7CB-4047-8C6F-6A78D948B52F}"/>
              </a:ext>
            </a:extLst>
          </p:cNvPr>
          <p:cNvSpPr>
            <a:spLocks xmlns:a="http://schemas.openxmlformats.org/drawingml/2006/main" noGrp="1"/>
          </p:cNvSpPr>
          <p:nvPr/>
        </p:nvSpPr>
        <p:spPr>
          <a:xfrm xmlns:a="http://schemas.openxmlformats.org/drawingml/2006/main">
            <a:off x="457200" y="592455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7F83"/>
                </a:solidFill>
                <a:latin typeface="DejaVu Sans"/>
                <a:ea typeface="DejaVu Sans"/>
                <a:cs typeface="DejaVu Sans"/>
              </a:defRPr>
            </a:pPr>
            <a:r>
              <a:rPr sz="1575" b="1">
                <a:solidFill>
                  <a:srgbClr val="007F83"/>
                </a:solidFill>
                <a:latin typeface="DejaVu Sans"/>
                <a:ea typeface="DejaVu Sans"/>
                <a:cs typeface="DejaVu Sans"/>
              </a:rPr>
              <a:t>100 сая ₮ • хүү 18% • өөр өгөөж 6% • эрт төлөх шимтгэл 1%: нэг жилийн цэвэр хэмнэлт ≈11 сая ₮.</a:t>
            </a:r>
          </a:p>
        </p:txBody>
      </p:sp>
    </p:spTree>
    <p:extLst>
      <p:ext uri="{BB962C8B-B14F-4D97-AF65-F5344CB8AC3E}">
        <p14:creationId xmlns:p14="http://schemas.microsoft.com/office/powerpoint/2010/main" val="1883466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79FAED-CE26-4ECF-B46C-00585ACC4E09}"/>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Ямар үед хязгаарлалт үндэслэлтэй вэ?</a:t>
            </a:r>
          </a:p>
        </p:txBody>
      </p:sp>
      <p:sp>
        <p:nvSpPr>
          <p:cNvPr id="2" name="">
            <a:extLst xmlns:a="http://schemas.openxmlformats.org/drawingml/2006/main">
              <a:ext uri="{FF2B5EF4-FFF2-40B4-BE49-F238E27FC236}">
                <a16:creationId xmlns:a16="http://schemas.microsoft.com/office/drawing/2014/main" id="{A74942AE-5735-4B90-95A5-E38544D2CAAD}"/>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Эдийн засгийн үнэлгээ • эрх зүйн зөвшөөрлийг тусад нь баталгаажуулна</a:t>
            </a:r>
          </a:p>
        </p:txBody>
      </p:sp>
      <p:sp>
        <p:nvSpPr>
          <p:cNvPr id="3" name="">
            <a:extLst xmlns:a="http://schemas.openxmlformats.org/drawingml/2006/main">
              <a:ext uri="{FF2B5EF4-FFF2-40B4-BE49-F238E27FC236}">
                <a16:creationId xmlns:a16="http://schemas.microsoft.com/office/drawing/2014/main" id="{937B25E6-92C7-4DA0-9CF7-B3FB55EF5DAC}"/>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6 / 7    •    2026.09.29</a:t>
            </a:r>
          </a:p>
        </p:txBody>
      </p:sp>
      <p:graphicFrame>
        <p:nvGraphicFramePr>
          <p:cNvPr id="10" name=""/>
          <p:cNvGraphicFramePr/>
          <p:nvPr/>
        </p:nvGraphicFramePr>
        <p:xfrm>
          <a:off xmlns:a="http://schemas.openxmlformats.org/drawingml/2006/main" x="457200" y="1619250"/>
          <a:ext xmlns:a="http://schemas.openxmlformats.org/drawingml/2006/main" cx="11277600" cy="3571875"/>
        </p:xfrm>
        <a:graphic xmlns:a="http://schemas.openxmlformats.org/drawingml/2006/main">
          <a:graphicData uri="http://schemas.openxmlformats.org/drawingml/2006/table">
            <a:tbl>
              <a:tblPr/>
              <a:tblGrid>
                <a:gridCol w="3400425"/>
                <a:gridCol w="3762375"/>
                <a:gridCol w="4114800"/>
              </a:tblGrid>
              <a:tr h="714375">
                <a:tc>
                  <a:txBody>
                    <a:bodyPr/>
                    <a:lstStyle/>
                    <a:p>
                      <a:r>
                        <a:rPr sz="1500" b="1">
                          <a:solidFill>
                            <a:srgbClr val="FFFFFF"/>
                          </a:solidFill>
                          <a:latin typeface="DejaVu Sans"/>
                          <a:ea typeface="DejaVu Sans"/>
                          <a:cs typeface="DejaVu Sans"/>
                        </a:rPr>
                        <a:t>Нөхцөл</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Банканд</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Харилцагчид / санал</a:t>
                      </a:r>
                    </a:p>
                  </a:txBody>
                  <a:tcPr marL="91440" marR="91440" marT="45720" marB="45720">
                    <a:solidFill>
                      <a:srgbClr val="153449"/>
                    </a:solidFill>
                  </a:tcPr>
                </a:tc>
              </a:tr>
              <a:tr h="714375">
                <a:tc>
                  <a:txBody>
                    <a:bodyPr/>
                    <a:lstStyle/>
                    <a:p>
                      <a:r>
                        <a:rPr sz="1500" b="0">
                          <a:solidFill>
                            <a:srgbClr val="153449"/>
                          </a:solidFill>
                          <a:latin typeface="DejaVu Sans"/>
                          <a:ea typeface="DejaVu Sans"/>
                          <a:cs typeface="DejaVu Sans"/>
                        </a:rPr>
                        <a:t>Зах зээлийн хүү буурсан, хуучин зээл тогтмол хүүтэй</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Дахин олголтын өгөөж буурч, эх үүсвэрийн зардал үлдэж болно.</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Хямд зээлээр солих ашигтай. Нотолсон хаалтын зардлыг л үнэлэх.</a:t>
                      </a:r>
                    </a:p>
                  </a:txBody>
                  <a:tcPr marL="91440" marR="91440" marT="45720" marB="45720">
                    <a:solidFill>
                      <a:srgbClr val="EDF4F5"/>
                    </a:solidFill>
                  </a:tcPr>
                </a:tc>
              </a:tr>
              <a:tr h="714375">
                <a:tc>
                  <a:txBody>
                    <a:bodyPr/>
                    <a:lstStyle/>
                    <a:p>
                      <a:r>
                        <a:rPr sz="1500" b="0">
                          <a:solidFill>
                            <a:srgbClr val="153449"/>
                          </a:solidFill>
                          <a:latin typeface="DejaVu Sans"/>
                          <a:ea typeface="DejaVu Sans"/>
                          <a:cs typeface="DejaVu Sans"/>
                        </a:rPr>
                        <a:t>Зах зээлийн хүү өссөн, хуучин зээл тогтмол хүүтэй</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Өндөр хүүгээр дахин олгох боломж нэмэгдэнэ.</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Хямд зээлээ хадгалах ашигтай байж болно. Автоматаар шимтгэл авах үндэслэл сул.</a:t>
                      </a:r>
                    </a:p>
                  </a:txBody>
                  <a:tcPr marL="91440" marR="91440" marT="45720" marB="45720">
                    <a:solidFill>
                      <a:srgbClr val="FFFFFF"/>
                    </a:solidFill>
                  </a:tcPr>
                </a:tc>
              </a:tr>
              <a:tr h="714375">
                <a:tc>
                  <a:txBody>
                    <a:bodyPr/>
                    <a:lstStyle/>
                    <a:p>
                      <a:r>
                        <a:rPr sz="1500" b="0">
                          <a:solidFill>
                            <a:srgbClr val="153449"/>
                          </a:solidFill>
                          <a:latin typeface="DejaVu Sans"/>
                          <a:ea typeface="DejaVu Sans"/>
                          <a:cs typeface="DejaVu Sans"/>
                        </a:rPr>
                        <a:t>Зээлийн хүү хувьсах, хүү өсөж байгаа</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Хүү шинэчлэгдэнэ. Санхүүжилттэй зөрөх хугацааг шалгана.</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Өрийн дарамт өснө. Эрт төлөх гарцыг уян хатан байлгах.</a:t>
                      </a:r>
                    </a:p>
                  </a:txBody>
                  <a:tcPr marL="91440" marR="91440" marT="45720" marB="45720">
                    <a:solidFill>
                      <a:srgbClr val="EDF4F5"/>
                    </a:solidFill>
                  </a:tcPr>
                </a:tc>
              </a:tr>
              <a:tr h="714375">
                <a:tc>
                  <a:txBody>
                    <a:bodyPr/>
                    <a:lstStyle/>
                    <a:p>
                      <a:r>
                        <a:rPr sz="1500" b="0">
                          <a:solidFill>
                            <a:srgbClr val="153449"/>
                          </a:solidFill>
                          <a:latin typeface="DejaVu Sans"/>
                          <a:ea typeface="DejaVu Sans"/>
                          <a:cs typeface="DejaVu Sans"/>
                        </a:rPr>
                        <a:t>USD өртэй, MNT орлоготой, ханш суларсан</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Зээлдэгчийн эрсдэл буурч болох ч эх үүсвэрийн өр үлдэнэ.</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Валютын эрсдэлээс гарах ашигтай. Хатуу хориг санал болгохгүй.</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380941-DE87-4FFA-9F06-1E7DA24CCBAD}"/>
              </a:ext>
            </a:extLst>
          </p:cNvPr>
          <p:cNvSpPr>
            <a:spLocks xmlns:a="http://schemas.openxmlformats.org/drawingml/2006/main" noGrp="1"/>
          </p:cNvSpPr>
          <p:nvPr/>
        </p:nvSpPr>
        <p:spPr>
          <a:xfrm xmlns:a="http://schemas.openxmlformats.org/drawingml/2006/main">
            <a:off x="457200" y="54292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83"/>
                </a:solidFill>
                <a:latin typeface="DejaVu Sans"/>
                <a:ea typeface="DejaVu Sans"/>
                <a:cs typeface="DejaVu Sans"/>
              </a:defRPr>
            </a:pPr>
            <a:r>
              <a:rPr sz="1950" b="1">
                <a:solidFill>
                  <a:srgbClr val="007F83"/>
                </a:solidFill>
                <a:latin typeface="DejaVu Sans"/>
                <a:ea typeface="DejaVu Sans"/>
                <a:cs typeface="DejaVu Sans"/>
              </a:rPr>
              <a:t>Нөхцөл судлах эхний хүрээ</a:t>
            </a:r>
          </a:p>
        </p:txBody>
      </p:sp>
      <p:sp>
        <p:nvSpPr>
          <p:cNvPr id="6" name="">
            <a:extLst xmlns:a="http://schemas.openxmlformats.org/drawingml/2006/main">
              <a:ext uri="{FF2B5EF4-FFF2-40B4-BE49-F238E27FC236}">
                <a16:creationId xmlns:a16="http://schemas.microsoft.com/office/drawing/2014/main" id="{FA95D918-2C8B-4668-956A-A63AD997ABFF}"/>
              </a:ext>
            </a:extLst>
          </p:cNvPr>
          <p:cNvSpPr>
            <a:spLocks xmlns:a="http://schemas.openxmlformats.org/drawingml/2006/main" noGrp="1"/>
          </p:cNvSpPr>
          <p:nvPr/>
        </p:nvSpPr>
        <p:spPr>
          <a:xfrm xmlns:a="http://schemas.openxmlformats.org/drawingml/2006/main">
            <a:off x="457200" y="585787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9"/>
                </a:solidFill>
                <a:latin typeface="DejaVu Sans"/>
                <a:ea typeface="DejaVu Sans"/>
                <a:cs typeface="DejaVu Sans"/>
              </a:defRPr>
            </a:pPr>
            <a:r>
              <a:rPr sz="1725" b="0">
                <a:solidFill>
                  <a:srgbClr val="153449"/>
                </a:solidFill>
                <a:latin typeface="DejaVu Sans"/>
                <a:ea typeface="DejaVu Sans"/>
                <a:cs typeface="DejaVu Sans"/>
              </a:rPr>
              <a:t>Шинэ төслийн / хөрөнгө оруулалтын зээл + буцаахад зардалтай эх үүсвэр / хедж + хэмжигдэхүйц цэвэр алдагдал.</a:t>
            </a:r>
          </a:p>
        </p:txBody>
      </p:sp>
    </p:spTree>
    <p:extLst>
      <p:ext uri="{BB962C8B-B14F-4D97-AF65-F5344CB8AC3E}">
        <p14:creationId xmlns:p14="http://schemas.microsoft.com/office/powerpoint/2010/main" val="9743018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D94A95-03F7-43D1-A217-60E5408BA0F0}"/>
              </a:ext>
            </a:extLst>
          </p:cNvPr>
          <p:cNvSpPr>
            <a:spLocks xmlns:a="http://schemas.openxmlformats.org/drawingml/2006/main" noGrp="1"/>
          </p:cNvSpPr>
          <p:nvPr/>
        </p:nvSpPr>
        <p:spPr>
          <a:xfrm xmlns:a="http://schemas.openxmlformats.org/drawingml/2006/main">
            <a:off x="457200" y="3238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449"/>
                </a:solidFill>
                <a:latin typeface="DejaVu Sans"/>
                <a:ea typeface="DejaVu Sans"/>
                <a:cs typeface="DejaVu Sans"/>
              </a:defRPr>
            </a:pPr>
            <a:r>
              <a:rPr sz="2700" b="1">
                <a:solidFill>
                  <a:srgbClr val="153449"/>
                </a:solidFill>
                <a:latin typeface="DejaVu Sans"/>
                <a:ea typeface="DejaVu Sans"/>
                <a:cs typeface="DejaVu Sans"/>
              </a:rPr>
              <a:t>Хэрэгжүүлэх санал ба баталгаажуулах ажил</a:t>
            </a:r>
          </a:p>
        </p:txBody>
      </p:sp>
      <p:sp>
        <p:nvSpPr>
          <p:cNvPr id="2" name="">
            <a:extLst xmlns:a="http://schemas.openxmlformats.org/drawingml/2006/main">
              <a:ext uri="{FF2B5EF4-FFF2-40B4-BE49-F238E27FC236}">
                <a16:creationId xmlns:a16="http://schemas.microsoft.com/office/drawing/2014/main" id="{0DB8AF51-3DAF-4D6B-8B36-819ED15C7CE0}"/>
              </a:ext>
            </a:extLst>
          </p:cNvPr>
          <p:cNvSpPr>
            <a:spLocks xmlns:a="http://schemas.openxmlformats.org/drawingml/2006/main" noGrp="1"/>
          </p:cNvSpPr>
          <p:nvPr/>
        </p:nvSpPr>
        <p:spPr>
          <a:xfrm xmlns:a="http://schemas.openxmlformats.org/drawingml/2006/main">
            <a:off x="457200" y="9906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2"/>
                </a:solidFill>
                <a:latin typeface="DejaVu Sans"/>
                <a:ea typeface="DejaVu Sans"/>
                <a:cs typeface="DejaVu Sans"/>
              </a:defRPr>
            </a:pPr>
            <a:r>
              <a:rPr sz="1425" b="0">
                <a:solidFill>
                  <a:srgbClr val="526572"/>
                </a:solidFill>
                <a:latin typeface="DejaVu Sans"/>
                <a:ea typeface="DejaVu Sans"/>
                <a:cs typeface="DejaVu Sans"/>
              </a:rPr>
              <a:t>Тариф, системийн хоригийг шууд идэвхжүүлэхээс өмнөх шийдвэрийн багц</a:t>
            </a:r>
          </a:p>
        </p:txBody>
      </p:sp>
      <p:sp>
        <p:nvSpPr>
          <p:cNvPr id="3" name="">
            <a:extLst xmlns:a="http://schemas.openxmlformats.org/drawingml/2006/main">
              <a:ext uri="{FF2B5EF4-FFF2-40B4-BE49-F238E27FC236}">
                <a16:creationId xmlns:a16="http://schemas.microsoft.com/office/drawing/2014/main" id="{04DB6DAA-3497-4286-A52F-7AFFF7DEDEB0}"/>
              </a:ext>
            </a:extLst>
          </p:cNvPr>
          <p:cNvSpPr>
            <a:spLocks xmlns:a="http://schemas.openxmlformats.org/drawingml/2006/main" noGrp="1"/>
          </p:cNvSpPr>
          <p:nvPr/>
        </p:nvSpPr>
        <p:spPr>
          <a:xfrm xmlns:a="http://schemas.openxmlformats.org/drawingml/2006/main">
            <a:off x="457200" y="65151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572"/>
                </a:solidFill>
                <a:latin typeface="DejaVu Sans"/>
                <a:ea typeface="DejaVu Sans"/>
                <a:cs typeface="DejaVu Sans"/>
              </a:defRPr>
            </a:pPr>
            <a:r>
              <a:rPr sz="975" b="0">
                <a:solidFill>
                  <a:srgbClr val="526572"/>
                </a:solidFill>
                <a:latin typeface="DejaVu Sans"/>
                <a:ea typeface="DejaVu Sans"/>
                <a:cs typeface="DejaVu Sans"/>
              </a:rPr>
              <a:t>7 / 7    •    2026.09.29</a:t>
            </a:r>
          </a:p>
        </p:txBody>
      </p:sp>
      <p:graphicFrame>
        <p:nvGraphicFramePr>
          <p:cNvPr id="10" name=""/>
          <p:cNvGraphicFramePr/>
          <p:nvPr/>
        </p:nvGraphicFramePr>
        <p:xfrm>
          <a:off xmlns:a="http://schemas.openxmlformats.org/drawingml/2006/main" x="457200" y="1571625"/>
          <a:ext xmlns:a="http://schemas.openxmlformats.org/drawingml/2006/main" cx="11277600" cy="3228975"/>
        </p:xfrm>
        <a:graphic xmlns:a="http://schemas.openxmlformats.org/drawingml/2006/main">
          <a:graphicData uri="http://schemas.openxmlformats.org/drawingml/2006/table">
            <a:tbl>
              <a:tblPr/>
              <a:tblGrid>
                <a:gridCol w="5010150"/>
                <a:gridCol w="6267450"/>
              </a:tblGrid>
              <a:tr h="538163">
                <a:tc>
                  <a:txBody>
                    <a:bodyPr/>
                    <a:lstStyle/>
                    <a:p>
                      <a:r>
                        <a:rPr sz="1500" b="1">
                          <a:solidFill>
                            <a:srgbClr val="FFFFFF"/>
                          </a:solidFill>
                          <a:latin typeface="DejaVu Sans"/>
                          <a:ea typeface="DejaVu Sans"/>
                          <a:cs typeface="DejaVu Sans"/>
                        </a:rPr>
                        <a:t>Санал болгох нөхцөл</a:t>
                      </a:r>
                    </a:p>
                  </a:txBody>
                  <a:tcPr marL="91440" marR="91440" marT="45720" marB="45720">
                    <a:solidFill>
                      <a:srgbClr val="153449"/>
                    </a:solidFill>
                  </a:tcPr>
                </a:tc>
                <a:tc>
                  <a:txBody>
                    <a:bodyPr/>
                    <a:lstStyle/>
                    <a:p>
                      <a:r>
                        <a:rPr sz="1500" b="1">
                          <a:solidFill>
                            <a:srgbClr val="FFFFFF"/>
                          </a:solidFill>
                          <a:latin typeface="DejaVu Sans"/>
                          <a:ea typeface="DejaVu Sans"/>
                          <a:cs typeface="DejaVu Sans"/>
                        </a:rPr>
                        <a:t>Шалгах хэмжүүр / эзэн</a:t>
                      </a:r>
                    </a:p>
                  </a:txBody>
                  <a:tcPr marL="91440" marR="91440" marT="45720" marB="45720">
                    <a:solidFill>
                      <a:srgbClr val="153449"/>
                    </a:solidFill>
                  </a:tcPr>
                </a:tc>
              </a:tr>
              <a:tr h="538163">
                <a:tc>
                  <a:txBody>
                    <a:bodyPr/>
                    <a:lstStyle/>
                    <a:p>
                      <a:r>
                        <a:rPr sz="1500" b="0">
                          <a:solidFill>
                            <a:srgbClr val="153449"/>
                          </a:solidFill>
                          <a:latin typeface="DejaVu Sans"/>
                          <a:ea typeface="DejaVu Sans"/>
                          <a:cs typeface="DejaVu Sans"/>
                        </a:rPr>
                        <a:t>Шинэ гэрээнд ил тод, хязгаартай нөхцөл</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Шимтгэлгүй хувилбартай харьцуулсан хүүгийн хөнгөлөлт, нийт өртөг • Бүтээгдэхүүн</a:t>
                      </a:r>
                    </a:p>
                  </a:txBody>
                  <a:tcPr marL="91440" marR="91440" marT="45720" marB="45720">
                    <a:solidFill>
                      <a:srgbClr val="EDF4F5"/>
                    </a:solidFill>
                  </a:tcPr>
                </a:tc>
              </a:tr>
              <a:tr h="538163">
                <a:tc>
                  <a:txBody>
                    <a:bodyPr/>
                    <a:lstStyle/>
                    <a:p>
                      <a:r>
                        <a:rPr sz="1500" b="0">
                          <a:solidFill>
                            <a:srgbClr val="153449"/>
                          </a:solidFill>
                          <a:latin typeface="DejaVu Sans"/>
                          <a:ea typeface="DejaVu Sans"/>
                          <a:cs typeface="DejaVu Sans"/>
                        </a:rPr>
                        <a:t>Бүрэн хоригийн оронд мэдэгдэл ба зардлын тооцоо</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Жишиг 30 хоногийн мэдэгдэл, хүүгийн өдрийн уялдаа • ОУ санхүүжилт / Treasury</a:t>
                      </a:r>
                    </a:p>
                  </a:txBody>
                  <a:tcPr marL="91440" marR="91440" marT="45720" marB="45720">
                    <a:solidFill>
                      <a:srgbClr val="FFFFFF"/>
                    </a:solidFill>
                  </a:tcPr>
                </a:tc>
              </a:tr>
              <a:tr h="538163">
                <a:tc>
                  <a:txBody>
                    <a:bodyPr/>
                    <a:lstStyle/>
                    <a:p>
                      <a:r>
                        <a:rPr sz="1500" b="0">
                          <a:solidFill>
                            <a:srgbClr val="153449"/>
                          </a:solidFill>
                          <a:latin typeface="DejaVu Sans"/>
                          <a:ea typeface="DejaVu Sans"/>
                          <a:cs typeface="DejaVu Sans"/>
                        </a:rPr>
                        <a:t>Нөхөн төлбөр ≤ нотолсон цэвэр зардал ба гэрээний дээд хэмжээ</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Хэмнэлт, хеджийн орлогыг хасна. Давхар нэхэмжлэхгүй • ALM / Хууль</a:t>
                      </a:r>
                    </a:p>
                  </a:txBody>
                  <a:tcPr marL="91440" marR="91440" marT="45720" marB="45720">
                    <a:solidFill>
                      <a:srgbClr val="EDF4F5"/>
                    </a:solidFill>
                  </a:tcPr>
                </a:tc>
              </a:tr>
              <a:tr h="538163">
                <a:tc>
                  <a:txBody>
                    <a:bodyPr/>
                    <a:lstStyle/>
                    <a:p>
                      <a:r>
                        <a:rPr sz="1500" b="0">
                          <a:solidFill>
                            <a:srgbClr val="153449"/>
                          </a:solidFill>
                          <a:latin typeface="DejaVu Sans"/>
                          <a:ea typeface="DejaVu Sans"/>
                          <a:cs typeface="DejaVu Sans"/>
                        </a:rPr>
                        <a:t>Хөнгөлөлт, чөлөөлөлтийн хувилбар</a:t>
                      </a:r>
                    </a:p>
                  </a:txBody>
                  <a:tcPr marL="91440" marR="91440" marT="45720" marB="45720">
                    <a:solidFill>
                      <a:srgbClr val="FFFFFF"/>
                    </a:solidFill>
                  </a:tcPr>
                </a:tc>
                <a:tc>
                  <a:txBody>
                    <a:bodyPr/>
                    <a:lstStyle/>
                    <a:p>
                      <a:r>
                        <a:rPr sz="1500" b="0">
                          <a:solidFill>
                            <a:srgbClr val="153449"/>
                          </a:solidFill>
                          <a:latin typeface="DejaVu Sans"/>
                          <a:ea typeface="DejaVu Sans"/>
                          <a:cs typeface="DejaVu Sans"/>
                        </a:rPr>
                        <a:t>Эх үүсвэр зардалгүй хаагдах, эрсдэл буурах, хүндрэлтэй харилцагч • Эрсдэл</a:t>
                      </a:r>
                    </a:p>
                  </a:txBody>
                  <a:tcPr marL="91440" marR="91440" marT="45720" marB="45720">
                    <a:solidFill>
                      <a:srgbClr val="FFFFFF"/>
                    </a:solidFill>
                  </a:tcPr>
                </a:tc>
              </a:tr>
              <a:tr h="538163">
                <a:tc>
                  <a:txBody>
                    <a:bodyPr/>
                    <a:lstStyle/>
                    <a:p>
                      <a:r>
                        <a:rPr sz="1500" b="0">
                          <a:solidFill>
                            <a:srgbClr val="153449"/>
                          </a:solidFill>
                          <a:latin typeface="DejaVu Sans"/>
                          <a:ea typeface="DejaVu Sans"/>
                          <a:cs typeface="DejaVu Sans"/>
                        </a:rPr>
                        <a:t>Transact дээр бүтээгдэхүүн, гэрээний түвшний туршилт</a:t>
                      </a:r>
                    </a:p>
                  </a:txBody>
                  <a:tcPr marL="91440" marR="91440" marT="45720" marB="45720">
                    <a:solidFill>
                      <a:srgbClr val="EDF4F5"/>
                    </a:solidFill>
                  </a:tcPr>
                </a:tc>
                <a:tc>
                  <a:txBody>
                    <a:bodyPr/>
                    <a:lstStyle/>
                    <a:p>
                      <a:r>
                        <a:rPr sz="1500" b="0">
                          <a:solidFill>
                            <a:srgbClr val="153449"/>
                          </a:solidFill>
                          <a:latin typeface="DejaVu Sans"/>
                          <a:ea typeface="DejaVu Sans"/>
                          <a:cs typeface="DejaVu Sans"/>
                        </a:rPr>
                        <a:t>Хэсэгчилсэн/бүрэн төлөлт, хүү зогсоох, шинэ хуваарь, чөлөөлөлт • LOAN stream</a:t>
                      </a:r>
                    </a:p>
                  </a:txBody>
                  <a:tcPr marL="91440" marR="91440" marT="45720" marB="45720">
                    <a:solidFill>
                      <a:srgbClr val="EDF4F5"/>
                    </a:solidFill>
                  </a:tcPr>
                </a:tc>
              </a:tr>
            </a:tbl>
          </a:graphicData>
        </a:graphic>
      </p:graphicFrame>
      <p:sp>
        <p:nvSpPr>
          <p:cNvPr id="5" name="">
            <a:extLst xmlns:a="http://schemas.openxmlformats.org/drawingml/2006/main">
              <a:ext uri="{FF2B5EF4-FFF2-40B4-BE49-F238E27FC236}">
                <a16:creationId xmlns:a16="http://schemas.microsoft.com/office/drawing/2014/main" id="{9D74D0B6-A4C7-49BC-8C99-F59A6CD40E5A}"/>
              </a:ext>
            </a:extLst>
          </p:cNvPr>
          <p:cNvSpPr>
            <a:spLocks xmlns:a="http://schemas.openxmlformats.org/drawingml/2006/main" noGrp="1"/>
          </p:cNvSpPr>
          <p:nvPr/>
        </p:nvSpPr>
        <p:spPr>
          <a:xfrm xmlns:a="http://schemas.openxmlformats.org/drawingml/2006/main">
            <a:off x="457200" y="5067300"/>
            <a:ext cx="11277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83"/>
                </a:solidFill>
                <a:latin typeface="DejaVu Sans"/>
                <a:ea typeface="DejaVu Sans"/>
                <a:cs typeface="DejaVu Sans"/>
              </a:defRPr>
            </a:pPr>
            <a:r>
              <a:rPr sz="1950" b="1">
                <a:solidFill>
                  <a:srgbClr val="007F83"/>
                </a:solidFill>
                <a:latin typeface="DejaVu Sans"/>
                <a:ea typeface="DejaVu Sans"/>
                <a:cs typeface="DejaVu Sans"/>
              </a:rPr>
              <a:t>Transact: боломжийн шинж байна, ХХБ-ны тохиргоо баталгаажаагүй</a:t>
            </a:r>
          </a:p>
        </p:txBody>
      </p:sp>
      <p:sp>
        <p:nvSpPr>
          <p:cNvPr id="6" name="">
            <a:extLst xmlns:a="http://schemas.openxmlformats.org/drawingml/2006/main">
              <a:ext uri="{FF2B5EF4-FFF2-40B4-BE49-F238E27FC236}">
                <a16:creationId xmlns:a16="http://schemas.microsoft.com/office/drawing/2014/main" id="{0C0200FE-EF07-4766-B806-9820C7111C3C}"/>
              </a:ext>
            </a:extLst>
          </p:cNvPr>
          <p:cNvSpPr>
            <a:spLocks xmlns:a="http://schemas.openxmlformats.org/drawingml/2006/main" noGrp="1"/>
          </p:cNvSpPr>
          <p:nvPr/>
        </p:nvSpPr>
        <p:spPr>
          <a:xfrm xmlns:a="http://schemas.openxmlformats.org/drawingml/2006/main">
            <a:off x="457200" y="5534025"/>
            <a:ext cx="11277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9"/>
                </a:solidFill>
                <a:latin typeface="DejaVu Sans"/>
                <a:ea typeface="DejaVu Sans"/>
                <a:cs typeface="DejaVu Sans"/>
              </a:defRPr>
            </a:pPr>
            <a:r>
              <a:rPr sz="1650" b="0">
                <a:solidFill>
                  <a:srgbClr val="153449"/>
                </a:solidFill>
                <a:latin typeface="DejaVu Sans"/>
                <a:ea typeface="DejaVu Sans"/>
                <a:cs typeface="DejaVu Sans"/>
              </a:rPr>
              <a:t>Temenos-ийн албан баримт prepay, payoff simulation, settle payoff-ийг тайлбарладаг. Хувилбар, модуль, дүрэм, эрх, UAT-ийг LOAN stream батална.</a:t>
            </a:r>
          </a:p>
        </p:txBody>
      </p:sp>
    </p:spTree>
    <p:extLst>
      <p:ext uri="{BB962C8B-B14F-4D97-AF65-F5344CB8AC3E}">
        <p14:creationId xmlns:p14="http://schemas.microsoft.com/office/powerpoint/2010/main" val="100195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2026-09-29T01:54:21.2450000Z</dcterms:created>
  <dcterms:modified xsi:type="dcterms:W3CDTF">2026-09-29T01:54:21.2450000Z</dcterms:modified>
</coreProperties>
</file>