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Эх сурвалжийн холбоосууд:
1) Fannie Mae Structured Adjustable-Rate Mortgage term sheet: https://multifamily.fanniemae.com/financing-options/variable-rate-financing-options/structured-adjustable-rate-mortgage/structured-adjustable-rate-mortgage-loans-sarm-loans-term-sheet
2) SBA 7(a) terms and prepayment penalties: https://legacy.sba.gov/partners/lenders/7a-loan-program/terms-conditions-eligibility
3) World Bank Treasury IBRD financial products FAQs: https://treasury.worldbank.org/en/about/unit/treasury/ibrd-financial-products/financial-products-faqs
4) Halifax early repayment charges: https://www.halifax.co.uk/mortgages/existing-customers/early-repayment-charges.html
Тайлбар: Монголын банкны нийтэд нээлттэй нөхцөлийг бүрэн баталгаажуулахын тулд банк тус бүрийн хүчин төгөлдөр гэрээний загвар, тариф, бүтээгдэхүүний нөхцөлийг шалгах шаардлагатай.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ultifamily.fanniemae.com/financing-options/variable-rate-financing-options/structured-adjustable-rate-mortgage/structured-adjustable-rate-mortgage-loans-sarm-loans-term-sheet" TargetMode="External"/><Relationship Id="rId6" Type="http://schemas.openxmlformats.org/officeDocument/2006/relationships/hyperlink" Target="https://legacy.sba.gov/partners/lenders/7a-loan-program/terms-conditions-eligibility" TargetMode="External"/><Relationship Id="rId9" Type="http://schemas.openxmlformats.org/officeDocument/2006/relationships/hyperlink" Target="https://treasury.worldbank.org/en/about/unit/treasury/ibrd-financial-products/financial-products-faqs" TargetMode="External"/><Relationship Id="rId12" Type="http://schemas.openxmlformats.org/officeDocument/2006/relationships/hyperlink" Target="https://www.halifax.co.uk/mortgages/existing-customers/early-repayment-charges.html" TargetMode="External"/><Relationship Id="rId15" Type="http://schemas.openxmlformats.org/officeDocument/2006/relationships/hyperlink" Target="https://multifamily.fanniemae.com/financing-options/variable-rate-financing-options/structured-adjustable-rate-mortgage/structured-adjustable-rate-mortgage-loans-sarm-loans-term-sheet" TargetMode="External"/><Relationship Id="rId16" Type="http://schemas.openxmlformats.org/officeDocument/2006/relationships/hyperlink" Target="https://legacy.sba.gov/partners/lenders/7a-loan-program/terms-conditions-eligibility" TargetMode="External"/><Relationship Id="rId17" Type="http://schemas.openxmlformats.org/officeDocument/2006/relationships/hyperlink" Target="https://treasury.worldbank.org/en/about/unit/treasury/ibrd-financial-products/financial-products-faqs" TargetMode="External"/><Relationship Id="rId18" Type="http://schemas.openxmlformats.org/officeDocument/2006/relationships/hyperlink" Target="https://www.halifax.co.uk/mortgages/existing-customers/early-repayment-charges.html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4" Type="http://schemas.openxmlformats.org/officeDocument/2006/relationships/image" Target="../media/image-1-3.png"/><Relationship Id="rId5" Type="http://schemas.openxmlformats.org/officeDocument/2006/relationships/image" Target="../media/image-1-4.svg"/><Relationship Id="rId7" Type="http://schemas.openxmlformats.org/officeDocument/2006/relationships/image" Target="../media/image-1-5.png"/><Relationship Id="rId8" Type="http://schemas.openxmlformats.org/officeDocument/2006/relationships/image" Target="../media/image-1-6.svg"/><Relationship Id="rId10" Type="http://schemas.openxmlformats.org/officeDocument/2006/relationships/image" Target="../media/image-1-7.png"/><Relationship Id="rId11" Type="http://schemas.openxmlformats.org/officeDocument/2006/relationships/image" Target="../media/image-1-8.svg"/><Relationship Id="rId13" Type="http://schemas.openxmlformats.org/officeDocument/2006/relationships/image" Target="../media/image-1-9.png"/><Relationship Id="rId14" Type="http://schemas.openxmlformats.org/officeDocument/2006/relationships/image" Target="../media/image-1-10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90068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Олон улсын практик: ямар зээл дээр хугацаанаас өмнө төлөлтөд нөхцөл тавьдаг вэ?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4241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Зорилго нь харилцагчийг торгох биш, урт хугацааны эх үүсвэрийн бодит зардлыг хамгаалах юм.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6DCE5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61872"/>
            <a:ext cx="109728" cy="1737360"/>
          </a:xfrm>
          <a:prstGeom prst="roundRect">
            <a:avLst>
              <a:gd name="adj" fmla="val 75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481328"/>
            <a:ext cx="493776" cy="493776"/>
          </a:xfrm>
          <a:prstGeom prst="ellipse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2520" y="1594896"/>
            <a:ext cx="266639" cy="266639"/>
          </a:xfrm>
          <a:prstGeom prst="rect">
            <a:avLst/>
          </a:prstGeom>
        </p:spPr>
      </p:pic>
      <p:sp>
        <p:nvSpPr>
          <p:cNvPr id="10" name="Text 7">
            <a:hlinkClick r:id="rId3" tooltip=""/>
          </p:cNvPr>
          <p:cNvSpPr/>
          <p:nvPr/>
        </p:nvSpPr>
        <p:spPr>
          <a:xfrm>
            <a:off x="1362456" y="1426464"/>
            <a:ext cx="24688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Fannie Mae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362456" y="1700784"/>
            <a:ext cx="41148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АНУ • олон айлын үл хөдлөхийн санхүүжилт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813816" y="2066544"/>
            <a:ext cx="12344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Ямар зээл вэ?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813816" y="2267712"/>
            <a:ext cx="22128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Олон айлын үл хөдлөх хөрөнгийн урт хугацааны зээл. Зээлийн эхний жилд хөрөнгө оруулалтын эх үүсвэрийг тогтвортой ашиглуулах шаардлага тавьдаг.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218688" y="2066544"/>
            <a:ext cx="1783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Эрт төлөхөд яадаг вэ?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3218688" y="2267712"/>
            <a:ext cx="2240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Эхний 12 сард сайн дураар бүрэн хаахыг хязгаарладаг. Дараа нь хугацаанаас өмнө төлөх бол урьдчилан тохирсон төлбөр тооцож болно.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327648" y="1261872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6DCE5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27648" y="1261872"/>
            <a:ext cx="109728" cy="1737360"/>
          </a:xfrm>
          <a:prstGeom prst="roundRect">
            <a:avLst>
              <a:gd name="adj" fmla="val 75000"/>
            </a:avLst>
          </a:prstGeom>
          <a:solidFill>
            <a:srgbClr val="5B5F97"/>
          </a:solidFill>
          <a:ln w="12700">
            <a:solidFill>
              <a:srgbClr val="5B5F9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0" y="1481328"/>
            <a:ext cx="493776" cy="493776"/>
          </a:xfrm>
          <a:prstGeom prst="ellipse">
            <a:avLst/>
          </a:prstGeom>
          <a:solidFill>
            <a:srgbClr val="EEEFFC"/>
          </a:solidFill>
          <a:ln w="12700">
            <a:solidFill>
              <a:srgbClr val="EEEFFC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7248" y="1594896"/>
            <a:ext cx="266639" cy="266639"/>
          </a:xfrm>
          <a:prstGeom prst="rect">
            <a:avLst/>
          </a:prstGeom>
        </p:spPr>
      </p:pic>
      <p:sp>
        <p:nvSpPr>
          <p:cNvPr id="20" name="Text 16">
            <a:hlinkClick r:id="rId6" tooltip=""/>
          </p:cNvPr>
          <p:cNvSpPr/>
          <p:nvPr/>
        </p:nvSpPr>
        <p:spPr>
          <a:xfrm>
            <a:off x="7187184" y="1426464"/>
            <a:ext cx="24688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SBA 7(a)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7187184" y="1700784"/>
            <a:ext cx="41148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АНУ • жижиг бизнесийн урт хугацааны зээл</a:t>
            </a:r>
            <a:endParaRPr lang="en-US" sz="960" dirty="0"/>
          </a:p>
        </p:txBody>
      </p:sp>
      <p:sp>
        <p:nvSpPr>
          <p:cNvPr id="22" name="Text 18"/>
          <p:cNvSpPr/>
          <p:nvPr/>
        </p:nvSpPr>
        <p:spPr>
          <a:xfrm>
            <a:off x="6638544" y="2066544"/>
            <a:ext cx="12344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5B5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Ямар зээл вэ?</a:t>
            </a:r>
            <a:endParaRPr lang="en-US" sz="980" dirty="0"/>
          </a:p>
        </p:txBody>
      </p:sp>
      <p:sp>
        <p:nvSpPr>
          <p:cNvPr id="23" name="Text 19"/>
          <p:cNvSpPr/>
          <p:nvPr/>
        </p:nvSpPr>
        <p:spPr>
          <a:xfrm>
            <a:off x="6638544" y="2267712"/>
            <a:ext cx="22128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жилээс дээш хугацаатай бизнесийн зээлд том хэмжээний эрт төлөлт банкны мөнгөн урсгалд нөлөөлөх боломжтой гэж үздэг.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9043416" y="2066544"/>
            <a:ext cx="1783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5B5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Эрт төлөхөд яадаг вэ?</a:t>
            </a:r>
            <a:endParaRPr lang="en-US" sz="980" dirty="0"/>
          </a:p>
        </p:txBody>
      </p:sp>
      <p:sp>
        <p:nvSpPr>
          <p:cNvPr id="25" name="Text 21"/>
          <p:cNvSpPr/>
          <p:nvPr/>
        </p:nvSpPr>
        <p:spPr>
          <a:xfrm>
            <a:off x="9043416" y="2267712"/>
            <a:ext cx="2240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Эхний 3 жилд үлдэгдлийн 25 хувиас дээш төлбөл шаталсан төлбөр хэрэглэдэг: 1-р жил 5%, 2-р жил 3%, 3-р жил 1%.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502920" y="3364992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6DCE5">
                <a:alpha val="2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02920" y="3364992"/>
            <a:ext cx="109728" cy="1737360"/>
          </a:xfrm>
          <a:prstGeom prst="roundRect">
            <a:avLst>
              <a:gd name="adj" fmla="val 75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58952" y="3584448"/>
            <a:ext cx="493776" cy="493776"/>
          </a:xfrm>
          <a:prstGeom prst="ellipse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2520" y="3698016"/>
            <a:ext cx="266639" cy="266639"/>
          </a:xfrm>
          <a:prstGeom prst="rect">
            <a:avLst/>
          </a:prstGeom>
        </p:spPr>
      </p:pic>
      <p:sp>
        <p:nvSpPr>
          <p:cNvPr id="30" name="Text 25">
            <a:hlinkClick r:id="rId9" tooltip=""/>
          </p:cNvPr>
          <p:cNvSpPr/>
          <p:nvPr/>
        </p:nvSpPr>
        <p:spPr>
          <a:xfrm>
            <a:off x="1362456" y="3529584"/>
            <a:ext cx="24688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World Bank IBRD</a:t>
            </a:r>
            <a:endParaRPr lang="en-US" sz="1450" dirty="0"/>
          </a:p>
        </p:txBody>
      </p:sp>
      <p:sp>
        <p:nvSpPr>
          <p:cNvPr id="31" name="Text 26"/>
          <p:cNvSpPr/>
          <p:nvPr/>
        </p:nvSpPr>
        <p:spPr>
          <a:xfrm>
            <a:off x="1362456" y="3803904"/>
            <a:ext cx="41148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Олон улсын байгууллага • төсөл, улс орны санхүүжилт</a:t>
            </a:r>
            <a:endParaRPr lang="en-US" sz="960" dirty="0"/>
          </a:p>
        </p:txBody>
      </p:sp>
      <p:sp>
        <p:nvSpPr>
          <p:cNvPr id="32" name="Text 27"/>
          <p:cNvSpPr/>
          <p:nvPr/>
        </p:nvSpPr>
        <p:spPr>
          <a:xfrm>
            <a:off x="813816" y="4169664"/>
            <a:ext cx="12344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Ямар зээл вэ?</a:t>
            </a:r>
            <a:endParaRPr lang="en-US" sz="980" dirty="0"/>
          </a:p>
        </p:txBody>
      </p:sp>
      <p:sp>
        <p:nvSpPr>
          <p:cNvPr id="33" name="Text 28"/>
          <p:cNvSpPr/>
          <p:nvPr/>
        </p:nvSpPr>
        <p:spPr>
          <a:xfrm>
            <a:off x="813816" y="4370832"/>
            <a:ext cx="22128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Урт хугацааны томоохон төслийн санхүүжилт. Эх үүсвэр, хедж, дахин байршуулалтын нөхцөл нь зээлийн үнэд шууд нөлөөлдөг.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3218688" y="4169664"/>
            <a:ext cx="1783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Эрт төлөхөд яадаг вэ?</a:t>
            </a:r>
            <a:endParaRPr lang="en-US" sz="980" dirty="0"/>
          </a:p>
        </p:txBody>
      </p:sp>
      <p:sp>
        <p:nvSpPr>
          <p:cNvPr id="35" name="Text 30"/>
          <p:cNvSpPr/>
          <p:nvPr/>
        </p:nvSpPr>
        <p:spPr>
          <a:xfrm>
            <a:off x="3218688" y="4370832"/>
            <a:ext cx="2240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хоногийн өмнө мэдэгдэнэ. Төлбөрийг банканд бодитоор гарах санхүүгийн зардлаар тооцдог; алдагдал гарахгүй бол төлбөр авахгүй.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6327648" y="3364992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6DCE5">
                <a:alpha val="2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6327648" y="3364992"/>
            <a:ext cx="109728" cy="1737360"/>
          </a:xfrm>
          <a:prstGeom prst="roundRect">
            <a:avLst>
              <a:gd name="adj" fmla="val 7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583680" y="3584448"/>
            <a:ext cx="493776" cy="493776"/>
          </a:xfrm>
          <a:prstGeom prst="ellipse">
            <a:avLst/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97248" y="3698016"/>
            <a:ext cx="266639" cy="266639"/>
          </a:xfrm>
          <a:prstGeom prst="rect">
            <a:avLst/>
          </a:prstGeom>
        </p:spPr>
      </p:pic>
      <p:sp>
        <p:nvSpPr>
          <p:cNvPr id="40" name="Text 34">
            <a:hlinkClick r:id="rId12" tooltip=""/>
          </p:cNvPr>
          <p:cNvSpPr/>
          <p:nvPr/>
        </p:nvSpPr>
        <p:spPr>
          <a:xfrm>
            <a:off x="7187184" y="3529584"/>
            <a:ext cx="24688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Halifax</a:t>
            </a:r>
            <a:endParaRPr lang="en-US" sz="1450" dirty="0"/>
          </a:p>
        </p:txBody>
      </p:sp>
      <p:sp>
        <p:nvSpPr>
          <p:cNvPr id="41" name="Text 35"/>
          <p:cNvSpPr/>
          <p:nvPr/>
        </p:nvSpPr>
        <p:spPr>
          <a:xfrm>
            <a:off x="7187184" y="3803904"/>
            <a:ext cx="41148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Их Британи • тогтмол хүүтэй орон сууцны зээл</a:t>
            </a:r>
            <a:endParaRPr lang="en-US" sz="960" dirty="0"/>
          </a:p>
        </p:txBody>
      </p:sp>
      <p:sp>
        <p:nvSpPr>
          <p:cNvPr id="42" name="Text 36"/>
          <p:cNvSpPr/>
          <p:nvPr/>
        </p:nvSpPr>
        <p:spPr>
          <a:xfrm>
            <a:off x="6638544" y="4169664"/>
            <a:ext cx="12344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Ямар зээл вэ?</a:t>
            </a:r>
            <a:endParaRPr lang="en-US" sz="980" dirty="0"/>
          </a:p>
        </p:txBody>
      </p:sp>
      <p:sp>
        <p:nvSpPr>
          <p:cNvPr id="43" name="Text 37"/>
          <p:cNvSpPr/>
          <p:nvPr/>
        </p:nvSpPr>
        <p:spPr>
          <a:xfrm>
            <a:off x="6638544" y="4370832"/>
            <a:ext cx="22128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Тогтмол хүүтэй орон сууцны зээлд банк хүүгийн орлого, эх үүсвэрийн төлөвлөгөөг урьдчилан тооцсон байдаг.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9043416" y="4169664"/>
            <a:ext cx="1783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Эрт төлөхөд яадаг вэ?</a:t>
            </a:r>
            <a:endParaRPr lang="en-US" sz="980" dirty="0"/>
          </a:p>
        </p:txBody>
      </p:sp>
      <p:sp>
        <p:nvSpPr>
          <p:cNvPr id="45" name="Text 39"/>
          <p:cNvSpPr/>
          <p:nvPr/>
        </p:nvSpPr>
        <p:spPr>
          <a:xfrm>
            <a:off x="9043416" y="4370832"/>
            <a:ext cx="2240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Жил бүр үндсэн үлдэгдлийн 10 хувь хүртэл дүнг үнэгүй төлж болно. Энэ хэмжээнээс давсан хэсэгт хугацаанаас өмнө төлөх төлбөр ногдоно.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502920" y="5413248"/>
            <a:ext cx="11155680" cy="841248"/>
          </a:xfrm>
          <a:prstGeom prst="roundRect">
            <a:avLst>
              <a:gd name="adj" fmla="val 13043"/>
            </a:avLst>
          </a:prstGeom>
          <a:solidFill>
            <a:srgbClr val="EAF0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749808" y="5596128"/>
            <a:ext cx="438912" cy="438912"/>
          </a:xfrm>
          <a:prstGeom prst="ellipse">
            <a:avLst/>
          </a:prstGeom>
          <a:solidFill>
            <a:srgbClr val="DDE7F0"/>
          </a:solidFill>
          <a:ln w="12700">
            <a:solidFill>
              <a:srgbClr val="DDE7F0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0758" y="5697078"/>
            <a:ext cx="237012" cy="237012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1298448" y="5513832"/>
            <a:ext cx="29260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Монголын банкуудын одоогийн байдал</a:t>
            </a:r>
            <a:endParaRPr lang="en-US" sz="1250" dirty="0"/>
          </a:p>
        </p:txBody>
      </p:sp>
      <p:sp>
        <p:nvSpPr>
          <p:cNvPr id="50" name="Text 43"/>
          <p:cNvSpPr/>
          <p:nvPr/>
        </p:nvSpPr>
        <p:spPr>
          <a:xfrm>
            <a:off x="1298448" y="5769864"/>
            <a:ext cx="98298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Нийтэд нээлттэй мэдээллээр “12 сар заавал ашиглах + бодит зардлын нөхөн төлбөр + жил бүр үнэгүй хэсэгчилсэн төлөлт” гэсэн нэгтгэсэн стандарт нөхцөл түгээмэл ашиглагдаж байгаа нь харагдахгүй байна. Эцэслэхийн өмнө банк тус бүрийн гэрээний загвар, тариф, бүтээгдэхүүний нөхцөлөөр баталгаажуулна.</a:t>
            </a:r>
            <a:endParaRPr lang="en-US" sz="970" dirty="0"/>
          </a:p>
        </p:txBody>
      </p:sp>
      <p:sp>
        <p:nvSpPr>
          <p:cNvPr id="51" name="Text 44"/>
          <p:cNvSpPr/>
          <p:nvPr/>
        </p:nvSpPr>
        <p:spPr>
          <a:xfrm>
            <a:off x="521208" y="6473952"/>
            <a:ext cx="713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</a:t>
            </a:r>
            <a:endParaRPr lang="en-US" sz="850" dirty="0"/>
          </a:p>
        </p:txBody>
      </p:sp>
      <p:sp>
        <p:nvSpPr>
          <p:cNvPr id="52" name="Text 45">
            <a:hlinkClick r:id="rId15" tooltip=""/>
          </p:cNvPr>
          <p:cNvSpPr/>
          <p:nvPr/>
        </p:nvSpPr>
        <p:spPr>
          <a:xfrm>
            <a:off x="1243584" y="6473952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Fannie Mae</a:t>
            </a:r>
            <a:endParaRPr lang="en-US" sz="850" dirty="0"/>
          </a:p>
        </p:txBody>
      </p:sp>
      <p:sp>
        <p:nvSpPr>
          <p:cNvPr id="53" name="Text 46">
            <a:hlinkClick r:id="rId16" tooltip=""/>
          </p:cNvPr>
          <p:cNvSpPr/>
          <p:nvPr/>
        </p:nvSpPr>
        <p:spPr>
          <a:xfrm>
            <a:off x="2304288" y="6473952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SBA 7(a)</a:t>
            </a:r>
            <a:endParaRPr lang="en-US" sz="850" dirty="0"/>
          </a:p>
        </p:txBody>
      </p:sp>
      <p:sp>
        <p:nvSpPr>
          <p:cNvPr id="54" name="Text 47">
            <a:hlinkClick r:id="rId17" tooltip=""/>
          </p:cNvPr>
          <p:cNvSpPr/>
          <p:nvPr/>
        </p:nvSpPr>
        <p:spPr>
          <a:xfrm>
            <a:off x="3200400" y="6473952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World Bank Treasury</a:t>
            </a:r>
            <a:endParaRPr lang="en-US" sz="850" dirty="0"/>
          </a:p>
        </p:txBody>
      </p:sp>
      <p:sp>
        <p:nvSpPr>
          <p:cNvPr id="55" name="Text 48">
            <a:hlinkClick r:id="rId18" tooltip=""/>
          </p:cNvPr>
          <p:cNvSpPr/>
          <p:nvPr/>
        </p:nvSpPr>
        <p:spPr>
          <a:xfrm>
            <a:off x="4864608" y="6473952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Halifax</a:t>
            </a:r>
            <a:endParaRPr lang="en-US" sz="850" dirty="0"/>
          </a:p>
        </p:txBody>
      </p:sp>
      <p:sp>
        <p:nvSpPr>
          <p:cNvPr id="56" name="Text 49"/>
          <p:cNvSpPr/>
          <p:nvPr/>
        </p:nvSpPr>
        <p:spPr>
          <a:xfrm>
            <a:off x="5806440" y="6473952"/>
            <a:ext cx="49377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Судалгааны зориулалттай жишээ; хувь хэмжээг ХХБ-ны бодит датагаар тогтооно.</a:t>
            </a:r>
            <a:endParaRPr lang="en-US" sz="850" dirty="0"/>
          </a:p>
        </p:txBody>
      </p:sp>
      <p:sp>
        <p:nvSpPr>
          <p:cNvPr id="57" name="Shape 50"/>
          <p:cNvSpPr/>
          <p:nvPr/>
        </p:nvSpPr>
        <p:spPr>
          <a:xfrm>
            <a:off x="9784080" y="374904"/>
            <a:ext cx="1783080" cy="347472"/>
          </a:xfrm>
          <a:prstGeom prst="roundRect">
            <a:avLst>
              <a:gd name="adj" fmla="val 3157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9930384" y="438912"/>
            <a:ext cx="15087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слайдын 2-р слайд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TDBM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2 - Олон улсын практик</dc:title>
  <dc:subject>Зээлийн урьдчилсан төлөлтийн олон улсын жишээ</dc:subject>
  <dc:creator>OpenAI</dc:creator>
  <cp:lastModifiedBy>OpenAI</cp:lastModifiedBy>
  <cp:revision>1</cp:revision>
  <dcterms:created xsi:type="dcterms:W3CDTF">2026-09-30T15:37:29Z</dcterms:created>
  <dcterms:modified xsi:type="dcterms:W3CDTF">2026-09-30T15:37:29Z</dcterms:modified>
</cp:coreProperties>
</file>